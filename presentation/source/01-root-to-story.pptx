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Root to Story
A farm story that grows with you.
Audience: Visitors, buyers and anyone discovering the farm.
Tone: Magical, natural, distinctive.
Why choose it: The most memorable interactive experience.
Consideration: More animation to produce and maintain. A reading view supports simpler browsing.
Working prototype. The recording shows actual browser behavior. Sample copy and roles will need client confirmation.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prototype. The recording shows actual browser behavior. Sample copy and roles will need client confirmation.
Play the embedded H.264 MP4 in PowerPoint. The video captures the actual local browser prototype, scrolling from root planting through the lookup, story, growing, harvest, partners and leadership.
The PDF shows a still. The complete package includes the MP4.
The video can also be played separately from media/01-root-to-story-scroll.mp4.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jp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video" Target="../media/media-2-1.mp4"/><Relationship Id="rId2" Type="http://schemas.microsoft.com/office/2007/relationships/media" Target="../media/media-2-1.mp4"/><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01</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01 / BOTANICAL &amp; IMMERSIVE</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From Root to Story</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Plant an ube root, follow its vine into the sky, then discover the cooperative and its farms on connected leaves.</a:t>
            </a:r>
            <a:endParaRPr lang="en-US" sz="1440" dirty="0"/>
          </a:p>
        </p:txBody>
      </p:sp>
      <p:sp>
        <p:nvSpPr>
          <p:cNvPr id="7" name="Shape 5"/>
          <p:cNvSpPr/>
          <p:nvPr/>
        </p:nvSpPr>
        <p:spPr>
          <a:xfrm>
            <a:off x="562356" y="2235708"/>
            <a:ext cx="6601968" cy="3922776"/>
          </a:xfrm>
          <a:prstGeom prst="rect">
            <a:avLst/>
          </a:prstGeom>
          <a:solidFill>
            <a:srgbClr val="FFFFFF"/>
          </a:solidFill>
          <a:ln w="7620">
            <a:solidFill>
              <a:srgbClr val="D8D0BE"/>
            </a:solidFill>
            <a:prstDash val="solid"/>
          </a:ln>
        </p:spPr>
      </p:sp>
      <p:pic>
        <p:nvPicPr>
          <p:cNvPr id="8" name="Image 0" descr="01-root-to-story-desktop-hero.jpg">    </p:cNvPr>
          <p:cNvPicPr>
            <a:picLocks noChangeAspect="1"/>
          </p:cNvPicPr>
          <p:nvPr/>
        </p:nvPicPr>
        <p:blipFill>
          <a:blip r:embed="rId1"/>
          <a:stretch>
            <a:fillRect/>
          </a:stretch>
        </p:blipFill>
        <p:spPr>
          <a:xfrm>
            <a:off x="776326" y="2267712"/>
            <a:ext cx="6174029" cy="3858768"/>
          </a:xfrm>
          <a:prstGeom prst="rect">
            <a:avLst/>
          </a:prstGeom>
        </p:spPr>
      </p:pic>
      <p:sp>
        <p:nvSpPr>
          <p:cNvPr id="9" name="Shape 6"/>
          <p:cNvSpPr/>
          <p:nvPr/>
        </p:nvSpPr>
        <p:spPr>
          <a:xfrm>
            <a:off x="7319772" y="2235708"/>
            <a:ext cx="1847088" cy="3922776"/>
          </a:xfrm>
          <a:prstGeom prst="rect">
            <a:avLst/>
          </a:prstGeom>
          <a:solidFill>
            <a:srgbClr val="FFFFFF"/>
          </a:solidFill>
          <a:ln w="7620">
            <a:solidFill>
              <a:srgbClr val="D8D0BE"/>
            </a:solidFill>
            <a:prstDash val="solid"/>
          </a:ln>
        </p:spPr>
      </p:sp>
      <p:pic>
        <p:nvPicPr>
          <p:cNvPr id="10" name="Image 1" descr="01-root-to-story-mobile-hero.jpg">    </p:cNvPr>
          <p:cNvPicPr>
            <a:picLocks noChangeAspect="1"/>
          </p:cNvPicPr>
          <p:nvPr/>
        </p:nvPicPr>
        <p:blipFill>
          <a:blip r:embed="rId2"/>
          <a:stretch>
            <a:fillRect/>
          </a:stretch>
        </p:blipFill>
        <p:spPr>
          <a:xfrm>
            <a:off x="7351776" y="2267712"/>
            <a:ext cx="1783080" cy="3858768"/>
          </a:xfrm>
          <a:prstGeom prst="rect">
            <a:avLst/>
          </a:prstGeom>
        </p:spPr>
      </p:pic>
      <p:sp>
        <p:nvSpPr>
          <p:cNvPr id="11" name="Text 7"/>
          <p:cNvSpPr/>
          <p:nvPr/>
        </p:nvSpPr>
        <p:spPr>
          <a:xfrm>
            <a:off x="594360" y="6263640"/>
            <a:ext cx="6400800"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Desktop opening</a:t>
            </a:r>
            <a:endParaRPr lang="en-US" sz="930" dirty="0"/>
          </a:p>
        </p:txBody>
      </p:sp>
      <p:sp>
        <p:nvSpPr>
          <p:cNvPr id="12" name="Text 8"/>
          <p:cNvSpPr/>
          <p:nvPr/>
        </p:nvSpPr>
        <p:spPr>
          <a:xfrm>
            <a:off x="7351776" y="6263640"/>
            <a:ext cx="1792224" cy="173736"/>
          </a:xfrm>
          <a:prstGeom prst="rect">
            <a:avLst/>
          </a:prstGeom>
          <a:noFill/>
          <a:ln/>
        </p:spPr>
        <p:txBody>
          <a:bodyPr wrap="square" lIns="0" tIns="0" rIns="0" bIns="0" rtlCol="0" anchor="t"/>
          <a:lstStyle/>
          <a:p>
            <a:pPr indent="0" marL="0">
              <a:buNone/>
            </a:pPr>
            <a:r>
              <a:rPr lang="en-US" sz="930" dirty="0">
                <a:solidFill>
                  <a:srgbClr val="706B65"/>
                </a:solidFill>
                <a:latin typeface="Arial" pitchFamily="34" charset="0"/>
                <a:ea typeface="Arial" pitchFamily="34" charset="-122"/>
                <a:cs typeface="Arial" pitchFamily="34" charset="-120"/>
              </a:rPr>
              <a:t>Mobile opening</a:t>
            </a:r>
            <a:endParaRPr lang="en-US" sz="930" dirty="0"/>
          </a:p>
        </p:txBody>
      </p:sp>
      <p:sp>
        <p:nvSpPr>
          <p:cNvPr id="13" name="Text 9"/>
          <p:cNvSpPr/>
          <p:nvPr/>
        </p:nvSpPr>
        <p:spPr>
          <a:xfrm>
            <a:off x="9445752" y="2322576"/>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WHY CHOOSE IT</a:t>
            </a:r>
            <a:endParaRPr lang="en-US" sz="910" dirty="0"/>
          </a:p>
        </p:txBody>
      </p:sp>
      <p:sp>
        <p:nvSpPr>
          <p:cNvPr id="14" name="Text 10"/>
          <p:cNvSpPr/>
          <p:nvPr/>
        </p:nvSpPr>
        <p:spPr>
          <a:xfrm>
            <a:off x="9445752" y="2679192"/>
            <a:ext cx="2139696" cy="758952"/>
          </a:xfrm>
          <a:prstGeom prst="rect">
            <a:avLst/>
          </a:prstGeom>
          <a:noFill/>
          <a:ln/>
        </p:spPr>
        <p:txBody>
          <a:bodyPr wrap="square" lIns="0" tIns="0" rIns="0" bIns="0" rtlCol="0" anchor="t"/>
          <a:lstStyle/>
          <a:p>
            <a:pPr indent="0" marL="0">
              <a:buNone/>
            </a:pPr>
            <a:r>
              <a:rPr lang="en-US" sz="1510" dirty="0">
                <a:solidFill>
                  <a:srgbClr val="34233E"/>
                </a:solidFill>
                <a:latin typeface="Arial" pitchFamily="34" charset="0"/>
                <a:ea typeface="Arial" pitchFamily="34" charset="-122"/>
                <a:cs typeface="Arial" pitchFamily="34" charset="-120"/>
              </a:rPr>
              <a:t>The most memorable interactive experience.</a:t>
            </a:r>
            <a:endParaRPr lang="en-US" sz="1510" dirty="0"/>
          </a:p>
        </p:txBody>
      </p:sp>
      <p:sp>
        <p:nvSpPr>
          <p:cNvPr id="15" name="Shape 11"/>
          <p:cNvSpPr/>
          <p:nvPr/>
        </p:nvSpPr>
        <p:spPr>
          <a:xfrm>
            <a:off x="9445752" y="3584448"/>
            <a:ext cx="2139696" cy="0"/>
          </a:xfrm>
          <a:prstGeom prst="line">
            <a:avLst/>
          </a:prstGeom>
          <a:noFill/>
          <a:ln w="8890">
            <a:solidFill>
              <a:srgbClr val="D8D0BE"/>
            </a:solidFill>
            <a:prstDash val="solid"/>
          </a:ln>
        </p:spPr>
      </p:sp>
      <p:sp>
        <p:nvSpPr>
          <p:cNvPr id="16" name="Text 12"/>
          <p:cNvSpPr/>
          <p:nvPr/>
        </p:nvSpPr>
        <p:spPr>
          <a:xfrm>
            <a:off x="9445752" y="3813048"/>
            <a:ext cx="2139696" cy="173736"/>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DESIGNED FOR</a:t>
            </a:r>
            <a:endParaRPr lang="en-US" sz="910" dirty="0"/>
          </a:p>
        </p:txBody>
      </p:sp>
      <p:sp>
        <p:nvSpPr>
          <p:cNvPr id="17" name="Text 13"/>
          <p:cNvSpPr/>
          <p:nvPr/>
        </p:nvSpPr>
        <p:spPr>
          <a:xfrm>
            <a:off x="9445752" y="4133088"/>
            <a:ext cx="2139696" cy="886968"/>
          </a:xfrm>
          <a:prstGeom prst="rect">
            <a:avLst/>
          </a:prstGeom>
          <a:noFill/>
          <a:ln/>
        </p:spPr>
        <p:txBody>
          <a:bodyPr wrap="square" lIns="0" tIns="0" rIns="0" bIns="0" rtlCol="0" anchor="t"/>
          <a:lstStyle/>
          <a:p>
            <a:pPr indent="0" marL="0">
              <a:buNone/>
            </a:pPr>
            <a:r>
              <a:rPr lang="en-US" sz="1330" dirty="0">
                <a:solidFill>
                  <a:srgbClr val="706B65"/>
                </a:solidFill>
                <a:latin typeface="Arial" pitchFamily="34" charset="0"/>
                <a:ea typeface="Arial" pitchFamily="34" charset="-122"/>
                <a:cs typeface="Arial" pitchFamily="34" charset="-120"/>
              </a:rPr>
              <a:t>Visitors, buyers and anyone discovering the farm.</a:t>
            </a:r>
            <a:endParaRPr lang="en-US" sz="1330" dirty="0"/>
          </a:p>
        </p:txBody>
      </p:sp>
      <p:sp>
        <p:nvSpPr>
          <p:cNvPr id="18" name="Text 14"/>
          <p:cNvSpPr/>
          <p:nvPr/>
        </p:nvSpPr>
        <p:spPr>
          <a:xfrm>
            <a:off x="9445752" y="5340096"/>
            <a:ext cx="2139696" cy="164592"/>
          </a:xfrm>
          <a:prstGeom prst="rect">
            <a:avLst/>
          </a:prstGeom>
          <a:noFill/>
          <a:ln/>
        </p:spPr>
        <p:txBody>
          <a:bodyPr wrap="square" lIns="0" tIns="0" rIns="0" bIns="0" rtlCol="0" anchor="t"/>
          <a:lstStyle/>
          <a:p>
            <a:pPr indent="0" marL="0">
              <a:buNone/>
            </a:pPr>
            <a:r>
              <a:rPr lang="en-US" sz="910" b="1" spc="55" kern="0" dirty="0">
                <a:solidFill>
                  <a:srgbClr val="35583C"/>
                </a:solidFill>
                <a:latin typeface="Arial" pitchFamily="34" charset="0"/>
                <a:ea typeface="Arial" pitchFamily="34" charset="-122"/>
                <a:cs typeface="Arial" pitchFamily="34" charset="-120"/>
              </a:rPr>
              <a:t>COLOR DIRECTION</a:t>
            </a:r>
            <a:endParaRPr lang="en-US" sz="910" dirty="0"/>
          </a:p>
        </p:txBody>
      </p:sp>
      <p:sp>
        <p:nvSpPr>
          <p:cNvPr id="19" name="Shape 15"/>
          <p:cNvSpPr/>
          <p:nvPr/>
        </p:nvSpPr>
        <p:spPr>
          <a:xfrm>
            <a:off x="9445752" y="5669280"/>
            <a:ext cx="292608" cy="292608"/>
          </a:xfrm>
          <a:prstGeom prst="ellipse">
            <a:avLst/>
          </a:prstGeom>
          <a:solidFill>
            <a:srgbClr val="F6F3EA"/>
          </a:solidFill>
          <a:ln w="12700">
            <a:solidFill>
              <a:srgbClr val="F6F3EA"/>
            </a:solidFill>
            <a:prstDash val="solid"/>
          </a:ln>
        </p:spPr>
      </p:sp>
      <p:sp>
        <p:nvSpPr>
          <p:cNvPr id="20" name="Shape 16"/>
          <p:cNvSpPr/>
          <p:nvPr/>
        </p:nvSpPr>
        <p:spPr>
          <a:xfrm>
            <a:off x="9884664" y="5669280"/>
            <a:ext cx="292608" cy="292608"/>
          </a:xfrm>
          <a:prstGeom prst="ellipse">
            <a:avLst/>
          </a:prstGeom>
          <a:solidFill>
            <a:srgbClr val="542A69"/>
          </a:solidFill>
          <a:ln w="12700">
            <a:solidFill>
              <a:srgbClr val="542A69"/>
            </a:solidFill>
            <a:prstDash val="solid"/>
          </a:ln>
        </p:spPr>
      </p:sp>
      <p:sp>
        <p:nvSpPr>
          <p:cNvPr id="21" name="Shape 17"/>
          <p:cNvSpPr/>
          <p:nvPr/>
        </p:nvSpPr>
        <p:spPr>
          <a:xfrm>
            <a:off x="10323576" y="5669280"/>
            <a:ext cx="292608" cy="292608"/>
          </a:xfrm>
          <a:prstGeom prst="ellipse">
            <a:avLst/>
          </a:prstGeom>
          <a:solidFill>
            <a:srgbClr val="35583C"/>
          </a:solidFill>
          <a:ln w="12700">
            <a:solidFill>
              <a:srgbClr val="35583C"/>
            </a:solidFill>
            <a:prstDash val="solid"/>
          </a:ln>
        </p:spPr>
      </p:sp>
      <p:sp>
        <p:nvSpPr>
          <p:cNvPr id="22" name="Shape 18"/>
          <p:cNvSpPr/>
          <p:nvPr/>
        </p:nvSpPr>
        <p:spPr>
          <a:xfrm>
            <a:off x="10762488" y="5669280"/>
            <a:ext cx="292608" cy="292608"/>
          </a:xfrm>
          <a:prstGeom prst="ellipse">
            <a:avLst/>
          </a:prstGeom>
          <a:solidFill>
            <a:srgbClr val="C2CE9F"/>
          </a:solidFill>
          <a:ln w="12700">
            <a:solidFill>
              <a:srgbClr val="C2CE9F"/>
            </a:solidFill>
            <a:prstDash val="solid"/>
          </a:ln>
        </p:spPr>
      </p:sp>
      <p:sp>
        <p:nvSpPr>
          <p:cNvPr id="23" name="Shape 19"/>
          <p:cNvSpPr/>
          <p:nvPr/>
        </p:nvSpPr>
        <p:spPr>
          <a:xfrm>
            <a:off x="594360" y="1874520"/>
            <a:ext cx="1463040" cy="283464"/>
          </a:xfrm>
          <a:prstGeom prst="roundRect">
            <a:avLst>
              <a:gd name="adj" fmla="val 45161"/>
            </a:avLst>
          </a:prstGeom>
          <a:solidFill>
            <a:srgbClr val="35583C"/>
          </a:solidFill>
          <a:ln w="12700">
            <a:solidFill>
              <a:srgbClr val="35583C"/>
            </a:solidFill>
            <a:prstDash val="solid"/>
          </a:ln>
        </p:spPr>
      </p:sp>
      <p:sp>
        <p:nvSpPr>
          <p:cNvPr id="24" name="Text 20"/>
          <p:cNvSpPr/>
          <p:nvPr/>
        </p:nvSpPr>
        <p:spPr>
          <a:xfrm>
            <a:off x="704088" y="1938528"/>
            <a:ext cx="1243584" cy="155448"/>
          </a:xfrm>
          <a:prstGeom prst="rect">
            <a:avLst/>
          </a:prstGeom>
          <a:noFill/>
          <a:ln/>
        </p:spPr>
        <p:txBody>
          <a:bodyPr wrap="square" lIns="0" tIns="0" rIns="0" bIns="0" rtlCol="0" anchor="t"/>
          <a:lstStyle/>
          <a:p>
            <a:pPr indent="0" marL="0">
              <a:buNone/>
            </a:pPr>
            <a:r>
              <a:rPr lang="en-US" sz="870" b="1" dirty="0">
                <a:solidFill>
                  <a:srgbClr val="FFFFFF"/>
                </a:solidFill>
                <a:latin typeface="Arial" pitchFamily="34" charset="0"/>
                <a:ea typeface="Arial" pitchFamily="34" charset="-122"/>
                <a:cs typeface="Arial" pitchFamily="34" charset="-120"/>
              </a:rPr>
              <a:t>Working prototype</a:t>
            </a:r>
            <a:endParaRPr lang="en-US" sz="8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3EA"/>
        </a:solidFill>
      </p:bgPr>
    </p:bg>
    <p:spTree>
      <p:nvGrpSpPr>
        <p:cNvPr id="1" name=""/>
        <p:cNvGrpSpPr/>
        <p:nvPr/>
      </p:nvGrpSpPr>
      <p:grpSpPr>
        <a:xfrm>
          <a:off x="0" y="0"/>
          <a:ext cx="0" cy="0"/>
          <a:chOff x="0" y="0"/>
          <a:chExt cx="0" cy="0"/>
        </a:xfrm>
      </p:grpSpPr>
      <p:sp>
        <p:nvSpPr>
          <p:cNvPr id="2" name="Text 0"/>
          <p:cNvSpPr/>
          <p:nvPr/>
        </p:nvSpPr>
        <p:spPr>
          <a:xfrm>
            <a:off x="594360" y="6519672"/>
            <a:ext cx="9144000" cy="128016"/>
          </a:xfrm>
          <a:prstGeom prst="rect">
            <a:avLst/>
          </a:prstGeom>
          <a:noFill/>
          <a:ln/>
        </p:spPr>
        <p:txBody>
          <a:bodyPr wrap="square" lIns="0" tIns="0" rIns="0" bIns="0" rtlCol="0" anchor="t"/>
          <a:lstStyle/>
          <a:p>
            <a:pPr indent="0" marL="0">
              <a:buNone/>
            </a:pPr>
            <a:r>
              <a:rPr lang="en-US" sz="840" spc="80" kern="0" dirty="0">
                <a:solidFill>
                  <a:srgbClr val="706B65"/>
                </a:solidFill>
                <a:latin typeface="Arial" pitchFamily="34" charset="0"/>
                <a:ea typeface="Arial" pitchFamily="34" charset="-122"/>
                <a:cs typeface="Arial" pitchFamily="34" charset="-120"/>
              </a:rPr>
              <a:t>UBE FARM / DAVAO COOPERATIVE</a:t>
            </a:r>
            <a:endParaRPr lang="en-US" sz="840" dirty="0"/>
          </a:p>
        </p:txBody>
      </p:sp>
      <p:sp>
        <p:nvSpPr>
          <p:cNvPr id="3" name="Text 1"/>
          <p:cNvSpPr/>
          <p:nvPr/>
        </p:nvSpPr>
        <p:spPr>
          <a:xfrm>
            <a:off x="11109960" y="6501384"/>
            <a:ext cx="475488" cy="182880"/>
          </a:xfrm>
          <a:prstGeom prst="rect">
            <a:avLst/>
          </a:prstGeom>
          <a:noFill/>
          <a:ln/>
        </p:spPr>
        <p:txBody>
          <a:bodyPr wrap="square" lIns="0" tIns="0" rIns="0" bIns="0" rtlCol="0" anchor="t"/>
          <a:lstStyle/>
          <a:p>
            <a:pPr algn="r" indent="0" marL="0">
              <a:buNone/>
            </a:pPr>
            <a:r>
              <a:rPr lang="en-US" sz="1000" dirty="0">
                <a:solidFill>
                  <a:srgbClr val="706B65"/>
                </a:solidFill>
                <a:latin typeface="Arial" pitchFamily="34" charset="0"/>
                <a:ea typeface="Arial" pitchFamily="34" charset="-122"/>
                <a:cs typeface="Arial" pitchFamily="34" charset="-120"/>
              </a:rPr>
              <a:t>02</a:t>
            </a:r>
            <a:endParaRPr lang="en-US" sz="1000" dirty="0"/>
          </a:p>
        </p:txBody>
      </p:sp>
      <p:sp>
        <p:nvSpPr>
          <p:cNvPr id="4" name="Text 2"/>
          <p:cNvSpPr/>
          <p:nvPr/>
        </p:nvSpPr>
        <p:spPr>
          <a:xfrm>
            <a:off x="594360" y="457200"/>
            <a:ext cx="10972800" cy="164592"/>
          </a:xfrm>
          <a:prstGeom prst="rect">
            <a:avLst/>
          </a:prstGeom>
          <a:noFill/>
          <a:ln/>
        </p:spPr>
        <p:txBody>
          <a:bodyPr wrap="square" lIns="0" tIns="0" rIns="0" bIns="0" rtlCol="0" anchor="t"/>
          <a:lstStyle/>
          <a:p>
            <a:pPr indent="0" marL="0">
              <a:buNone/>
            </a:pPr>
            <a:r>
              <a:rPr lang="en-US" sz="950" b="1" spc="130" kern="0" dirty="0">
                <a:solidFill>
                  <a:srgbClr val="35583C"/>
                </a:solidFill>
                <a:latin typeface="Arial" pitchFamily="34" charset="0"/>
                <a:ea typeface="Arial" pitchFamily="34" charset="-122"/>
                <a:cs typeface="Arial" pitchFamily="34" charset="-120"/>
              </a:rPr>
              <a:t>01 / HOW THE JOURNEY UNFOLDS</a:t>
            </a:r>
            <a:endParaRPr lang="en-US" sz="950" dirty="0"/>
          </a:p>
        </p:txBody>
      </p:sp>
      <p:sp>
        <p:nvSpPr>
          <p:cNvPr id="5" name="Text 3"/>
          <p:cNvSpPr/>
          <p:nvPr/>
        </p:nvSpPr>
        <p:spPr>
          <a:xfrm>
            <a:off x="594360" y="832104"/>
            <a:ext cx="10972800" cy="585216"/>
          </a:xfrm>
          <a:prstGeom prst="rect">
            <a:avLst/>
          </a:prstGeom>
          <a:noFill/>
          <a:ln/>
        </p:spPr>
        <p:txBody>
          <a:bodyPr wrap="square" lIns="0" tIns="0" rIns="0" bIns="0" rtlCol="0" anchor="t"/>
          <a:lstStyle/>
          <a:p>
            <a:pPr indent="0" marL="0">
              <a:buNone/>
            </a:pPr>
            <a:r>
              <a:rPr lang="en-US" sz="3300" dirty="0">
                <a:solidFill>
                  <a:srgbClr val="542A69"/>
                </a:solidFill>
                <a:latin typeface="Georgia" pitchFamily="34" charset="0"/>
                <a:ea typeface="Georgia" pitchFamily="34" charset="-122"/>
                <a:cs typeface="Georgia" pitchFamily="34" charset="-120"/>
              </a:rPr>
              <a:t>Plant. Grow. Discover.</a:t>
            </a:r>
            <a:endParaRPr lang="en-US" sz="3300" dirty="0"/>
          </a:p>
        </p:txBody>
      </p:sp>
      <p:sp>
        <p:nvSpPr>
          <p:cNvPr id="6" name="Text 4"/>
          <p:cNvSpPr/>
          <p:nvPr/>
        </p:nvSpPr>
        <p:spPr>
          <a:xfrm>
            <a:off x="594360" y="1545336"/>
            <a:ext cx="10881360" cy="557784"/>
          </a:xfrm>
          <a:prstGeom prst="rect">
            <a:avLst/>
          </a:prstGeom>
          <a:noFill/>
          <a:ln/>
        </p:spPr>
        <p:txBody>
          <a:bodyPr wrap="square" lIns="0" tIns="0" rIns="0" bIns="0" rtlCol="0" anchor="t"/>
          <a:lstStyle/>
          <a:p>
            <a:pPr indent="0" marL="0">
              <a:buNone/>
            </a:pPr>
            <a:r>
              <a:rPr lang="en-US" sz="1440" dirty="0">
                <a:solidFill>
                  <a:srgbClr val="706B65"/>
                </a:solidFill>
                <a:latin typeface="Arial" pitchFamily="34" charset="0"/>
                <a:ea typeface="Arial" pitchFamily="34" charset="-122"/>
                <a:cs typeface="Arial" pitchFamily="34" charset="-120"/>
              </a:rPr>
              <a:t>The same plant connects the introduction, farm lookup, stories, partner farms and leadership.</a:t>
            </a:r>
            <a:endParaRPr lang="en-US" sz="1440" dirty="0"/>
          </a:p>
        </p:txBody>
      </p:sp>
      <p:pic>
        <p:nvPicPr>
          <p:cNvPr id="3" name="Actual prototype scroll video">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94360" y="2286000"/>
            <a:ext cx="6693408" cy="3765499"/>
          </a:xfrm>
          <a:prstGeom prst="rect">
            <a:avLst/>
          </a:prstGeom>
        </p:spPr>
      </p:pic>
      <p:sp>
        <p:nvSpPr>
          <p:cNvPr id="8" name="Text 5"/>
          <p:cNvSpPr/>
          <p:nvPr/>
        </p:nvSpPr>
        <p:spPr>
          <a:xfrm>
            <a:off x="594360" y="6163056"/>
            <a:ext cx="6812280" cy="201168"/>
          </a:xfrm>
          <a:prstGeom prst="rect">
            <a:avLst/>
          </a:prstGeom>
          <a:noFill/>
          <a:ln/>
        </p:spPr>
        <p:txBody>
          <a:bodyPr wrap="square" lIns="0" tIns="0" rIns="0" bIns="0" rtlCol="0" anchor="t"/>
          <a:lstStyle/>
          <a:p>
            <a:pPr indent="0" marL="0">
              <a:buNone/>
            </a:pPr>
            <a:r>
              <a:rPr lang="en-US" sz="1050" b="1" dirty="0">
                <a:solidFill>
                  <a:srgbClr val="35583C"/>
                </a:solidFill>
                <a:latin typeface="Arial" pitchFamily="34" charset="0"/>
                <a:ea typeface="Arial" pitchFamily="34" charset="-122"/>
                <a:cs typeface="Arial" pitchFamily="34" charset="-120"/>
              </a:rPr>
              <a:t>Actual prototype recording · play this video in PowerPoint</a:t>
            </a:r>
            <a:endParaRPr lang="en-US" sz="1050" dirty="0"/>
          </a:p>
        </p:txBody>
      </p:sp>
      <p:sp>
        <p:nvSpPr>
          <p:cNvPr id="9" name="Shape 6"/>
          <p:cNvSpPr/>
          <p:nvPr/>
        </p:nvSpPr>
        <p:spPr>
          <a:xfrm>
            <a:off x="7662672" y="2267712"/>
            <a:ext cx="292608" cy="292608"/>
          </a:xfrm>
          <a:prstGeom prst="ellipse">
            <a:avLst/>
          </a:prstGeom>
          <a:solidFill>
            <a:srgbClr val="35583C"/>
          </a:solidFill>
          <a:ln w="12700">
            <a:solidFill>
              <a:srgbClr val="35583C"/>
            </a:solidFill>
            <a:prstDash val="solid"/>
          </a:ln>
        </p:spPr>
      </p:sp>
      <p:sp>
        <p:nvSpPr>
          <p:cNvPr id="10" name="Text 7"/>
          <p:cNvSpPr/>
          <p:nvPr/>
        </p:nvSpPr>
        <p:spPr>
          <a:xfrm>
            <a:off x="7662672" y="22997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1" name="Text 8"/>
          <p:cNvSpPr/>
          <p:nvPr/>
        </p:nvSpPr>
        <p:spPr>
          <a:xfrm>
            <a:off x="8119872" y="22494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Root drops into the soil</a:t>
            </a:r>
            <a:endParaRPr lang="en-US" sz="1500" dirty="0"/>
          </a:p>
        </p:txBody>
      </p:sp>
      <p:sp>
        <p:nvSpPr>
          <p:cNvPr id="12" name="Text 9"/>
          <p:cNvSpPr/>
          <p:nvPr/>
        </p:nvSpPr>
        <p:spPr>
          <a:xfrm>
            <a:off x="8119872" y="26151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A purple yam drops beside the green trellis.</a:t>
            </a:r>
            <a:endParaRPr lang="en-US" sz="1290" dirty="0"/>
          </a:p>
        </p:txBody>
      </p:sp>
      <p:sp>
        <p:nvSpPr>
          <p:cNvPr id="13" name="Shape 10"/>
          <p:cNvSpPr/>
          <p:nvPr/>
        </p:nvSpPr>
        <p:spPr>
          <a:xfrm>
            <a:off x="7662672" y="3182112"/>
            <a:ext cx="292608" cy="292608"/>
          </a:xfrm>
          <a:prstGeom prst="ellipse">
            <a:avLst/>
          </a:prstGeom>
          <a:solidFill>
            <a:srgbClr val="35583C"/>
          </a:solidFill>
          <a:ln w="12700">
            <a:solidFill>
              <a:srgbClr val="35583C"/>
            </a:solidFill>
            <a:prstDash val="solid"/>
          </a:ln>
        </p:spPr>
      </p:sp>
      <p:sp>
        <p:nvSpPr>
          <p:cNvPr id="14" name="Text 11"/>
          <p:cNvSpPr/>
          <p:nvPr/>
        </p:nvSpPr>
        <p:spPr>
          <a:xfrm>
            <a:off x="7662672" y="32141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5" name="Text 12"/>
          <p:cNvSpPr/>
          <p:nvPr/>
        </p:nvSpPr>
        <p:spPr>
          <a:xfrm>
            <a:off x="8119872" y="31638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Vine grows to the lookup leaf</a:t>
            </a:r>
            <a:endParaRPr lang="en-US" sz="1500" dirty="0"/>
          </a:p>
        </p:txBody>
      </p:sp>
      <p:sp>
        <p:nvSpPr>
          <p:cNvPr id="16" name="Text 13"/>
          <p:cNvSpPr/>
          <p:nvPr/>
        </p:nvSpPr>
        <p:spPr>
          <a:xfrm>
            <a:off x="8119872" y="35295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The vine grows upward to the tip-leaf farm search.</a:t>
            </a:r>
            <a:endParaRPr lang="en-US" sz="1290" dirty="0"/>
          </a:p>
        </p:txBody>
      </p:sp>
      <p:sp>
        <p:nvSpPr>
          <p:cNvPr id="17" name="Shape 14"/>
          <p:cNvSpPr/>
          <p:nvPr/>
        </p:nvSpPr>
        <p:spPr>
          <a:xfrm>
            <a:off x="7662672" y="4096512"/>
            <a:ext cx="292608" cy="292608"/>
          </a:xfrm>
          <a:prstGeom prst="ellipse">
            <a:avLst/>
          </a:prstGeom>
          <a:solidFill>
            <a:srgbClr val="35583C"/>
          </a:solidFill>
          <a:ln w="12700">
            <a:solidFill>
              <a:srgbClr val="35583C"/>
            </a:solidFill>
            <a:prstDash val="solid"/>
          </a:ln>
        </p:spPr>
      </p:sp>
      <p:sp>
        <p:nvSpPr>
          <p:cNvPr id="18" name="Text 15"/>
          <p:cNvSpPr/>
          <p:nvPr/>
        </p:nvSpPr>
        <p:spPr>
          <a:xfrm>
            <a:off x="7662672" y="41285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9" name="Text 16"/>
          <p:cNvSpPr/>
          <p:nvPr/>
        </p:nvSpPr>
        <p:spPr>
          <a:xfrm>
            <a:off x="8119872" y="40782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Stories unfold during descent</a:t>
            </a:r>
            <a:endParaRPr lang="en-US" sz="1500" dirty="0"/>
          </a:p>
        </p:txBody>
      </p:sp>
      <p:sp>
        <p:nvSpPr>
          <p:cNvPr id="20" name="Text 17"/>
          <p:cNvSpPr/>
          <p:nvPr/>
        </p:nvSpPr>
        <p:spPr>
          <a:xfrm>
            <a:off x="8119872" y="44439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Scroll down through company, growing and harvest stories.</a:t>
            </a:r>
            <a:endParaRPr lang="en-US" sz="1290" dirty="0"/>
          </a:p>
        </p:txBody>
      </p:sp>
      <p:sp>
        <p:nvSpPr>
          <p:cNvPr id="21" name="Shape 18"/>
          <p:cNvSpPr/>
          <p:nvPr/>
        </p:nvSpPr>
        <p:spPr>
          <a:xfrm>
            <a:off x="7662672" y="5010912"/>
            <a:ext cx="292608" cy="292608"/>
          </a:xfrm>
          <a:prstGeom prst="ellipse">
            <a:avLst/>
          </a:prstGeom>
          <a:solidFill>
            <a:srgbClr val="35583C"/>
          </a:solidFill>
          <a:ln w="12700">
            <a:solidFill>
              <a:srgbClr val="35583C"/>
            </a:solidFill>
            <a:prstDash val="solid"/>
          </a:ln>
        </p:spPr>
      </p:sp>
      <p:sp>
        <p:nvSpPr>
          <p:cNvPr id="22" name="Text 19"/>
          <p:cNvSpPr/>
          <p:nvPr/>
        </p:nvSpPr>
        <p:spPr>
          <a:xfrm>
            <a:off x="7662672" y="5042916"/>
            <a:ext cx="292608" cy="192024"/>
          </a:xfrm>
          <a:prstGeom prst="rect">
            <a:avLst/>
          </a:prstGeom>
          <a:noFill/>
          <a:ln/>
        </p:spPr>
        <p:txBody>
          <a:bodyPr wrap="square" lIns="0" tIns="0" rIns="0" bIns="0" rtlCol="0" anchor="t"/>
          <a:lstStyle/>
          <a:p>
            <a:pPr algn="ctr" indent="0" marL="0">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23" name="Text 20"/>
          <p:cNvSpPr/>
          <p:nvPr/>
        </p:nvSpPr>
        <p:spPr>
          <a:xfrm>
            <a:off x="8119872" y="4992624"/>
            <a:ext cx="3456432" cy="283464"/>
          </a:xfrm>
          <a:prstGeom prst="rect">
            <a:avLst/>
          </a:prstGeom>
          <a:noFill/>
          <a:ln/>
        </p:spPr>
        <p:txBody>
          <a:bodyPr wrap="square" lIns="0" tIns="0" rIns="0" bIns="0" rtlCol="0" anchor="t"/>
          <a:lstStyle/>
          <a:p>
            <a:pPr indent="0" marL="0">
              <a:buNone/>
            </a:pPr>
            <a:r>
              <a:rPr lang="en-US" sz="1500" b="1" dirty="0">
                <a:solidFill>
                  <a:srgbClr val="542A69"/>
                </a:solidFill>
                <a:latin typeface="Arial" pitchFamily="34" charset="0"/>
                <a:ea typeface="Arial" pitchFamily="34" charset="-122"/>
                <a:cs typeface="Arial" pitchFamily="34" charset="-120"/>
              </a:rPr>
              <a:t>Partners and leadership resolve</a:t>
            </a:r>
            <a:endParaRPr lang="en-US" sz="1500" dirty="0"/>
          </a:p>
        </p:txBody>
      </p:sp>
      <p:sp>
        <p:nvSpPr>
          <p:cNvPr id="24" name="Text 21"/>
          <p:cNvSpPr/>
          <p:nvPr/>
        </p:nvSpPr>
        <p:spPr>
          <a:xfrm>
            <a:off x="8119872" y="5358384"/>
            <a:ext cx="3456432" cy="484632"/>
          </a:xfrm>
          <a:prstGeom prst="rect">
            <a:avLst/>
          </a:prstGeom>
          <a:noFill/>
          <a:ln/>
        </p:spPr>
        <p:txBody>
          <a:bodyPr wrap="square" lIns="0" tIns="0" rIns="0" bIns="0" rtlCol="0" anchor="t"/>
          <a:lstStyle/>
          <a:p>
            <a:pPr indent="0" marL="0">
              <a:buNone/>
            </a:pPr>
            <a:r>
              <a:rPr lang="en-US" sz="1290" dirty="0">
                <a:solidFill>
                  <a:srgbClr val="706B65"/>
                </a:solidFill>
                <a:latin typeface="Arial" pitchFamily="34" charset="0"/>
                <a:ea typeface="Arial" pitchFamily="34" charset="-122"/>
                <a:cs typeface="Arial" pitchFamily="34" charset="-120"/>
              </a:rPr>
              <a:t>Lower leaves reveal partners; the root becomes the leadership board.</a:t>
            </a:r>
            <a:endParaRPr lang="en-US" sz="129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ube farm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Root to Story</dc:title>
  <dc:subject>Three landing page design directions for a Davao cooperative</dc:subject>
  <dc:creator>Ube Farm design presentation</dc:creator>
  <cp:lastModifiedBy>Ube Farm design presentation</cp:lastModifiedBy>
  <cp:revision>1</cp:revision>
  <dcterms:created xsi:type="dcterms:W3CDTF">2026-10-01T08:53:14Z</dcterms:created>
  <dcterms:modified xsi:type="dcterms:W3CDTF">2026-10-01T08:53:14Z</dcterms:modified>
</cp:coreProperties>
</file>