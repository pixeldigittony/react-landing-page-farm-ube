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38757912ac874c26" /><Relationship Type="http://schemas.openxmlformats.org/officeDocument/2006/relationships/extended-properties" Target="/docProps/app.xml" Id="R736c636b5c1e4076" /><Relationship Type="http://schemas.openxmlformats.org/officeDocument/2006/relationships/officeDocument" Target="/ppt/presentation.xml" Id="Rf582cb81051f4f07" /></Relationships>
</file>

<file path=ppt/presentation.xml><?xml version="1.0" encoding="utf-8"?>
<p:presentation xmlns:p="http://schemas.openxmlformats.org/presentationml/2006/main">
  <p:sldMasterIdLst>
    <p:sldMasterId xmlns:r="http://schemas.openxmlformats.org/officeDocument/2006/relationships" id="2147483648" r:id="Rbfd3cc4d034548ef"/>
  </p:sldMasterIdLst>
  <p:notesMasterIdLst>
    <p:notesMasterId xmlns:r="http://schemas.openxmlformats.org/officeDocument/2006/relationships" r:id="Raa396481adbf423f"/>
  </p:notesMasterIdLst>
  <p:sldIdLst>
    <p:sldId xmlns:r="http://schemas.openxmlformats.org/officeDocument/2006/relationships" id="256" r:id="R87bc469342444cc5"/>
    <p:sldId xmlns:r="http://schemas.openxmlformats.org/officeDocument/2006/relationships" id="257" r:id="R8628b15e79dd4e54"/>
    <p:sldId xmlns:r="http://schemas.openxmlformats.org/officeDocument/2006/relationships" id="258" r:id="Rde688ffd44d04c2e"/>
    <p:sldId xmlns:r="http://schemas.openxmlformats.org/officeDocument/2006/relationships" id="259" r:id="R4ccb1c0766a04bff"/>
    <p:sldId xmlns:r="http://schemas.openxmlformats.org/officeDocument/2006/relationships" id="260" r:id="R45b70981988a4274"/>
    <p:sldId xmlns:r="http://schemas.openxmlformats.org/officeDocument/2006/relationships" id="261" r:id="Rd4e52b6d3ecd402e"/>
    <p:sldId xmlns:r="http://schemas.openxmlformats.org/officeDocument/2006/relationships" id="262" r:id="Ra9d0ebd686a843de"/>
    <p:sldId xmlns:r="http://schemas.openxmlformats.org/officeDocument/2006/relationships" id="263" r:id="Rc0f32a64211447fb"/>
    <p:sldId xmlns:r="http://schemas.openxmlformats.org/officeDocument/2006/relationships" id="264" r:id="R93c712d3eae64ee7"/>
    <p:sldId xmlns:r="http://schemas.openxmlformats.org/officeDocument/2006/relationships" id="265" r:id="Rf0fa32b4c17840b3"/>
    <p:sldId xmlns:r="http://schemas.openxmlformats.org/officeDocument/2006/relationships" id="266" r:id="R492f7f0cf8814b5f"/>
    <p:sldId xmlns:r="http://schemas.openxmlformats.org/officeDocument/2006/relationships" id="267" r:id="R1812a28494074486"/>
    <p:sldId xmlns:r="http://schemas.openxmlformats.org/officeDocument/2006/relationships" id="268" r:id="R0e7293f9ebe64812"/>
    <p:sldId xmlns:r="http://schemas.openxmlformats.org/officeDocument/2006/relationships" id="269" r:id="R4e662d4d222f43dd"/>
    <p:sldId xmlns:r="http://schemas.openxmlformats.org/officeDocument/2006/relationships" id="270" r:id="Re1c1696cb2a34bcb"/>
    <p:sldId xmlns:r="http://schemas.openxmlformats.org/officeDocument/2006/relationships" id="271" r:id="R3f0eea18a1784285"/>
    <p:sldId xmlns:r="http://schemas.openxmlformats.org/officeDocument/2006/relationships" id="272" r:id="Rd28b19bfed8b441c"/>
    <p:sldId xmlns:r="http://schemas.openxmlformats.org/officeDocument/2006/relationships" id="273" r:id="R7cfb8c2e705d4b7d"/>
    <p:sldId xmlns:r="http://schemas.openxmlformats.org/officeDocument/2006/relationships" id="274" r:id="Rb5ca5204e9764b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99c56672434097" /><Relationship Type="http://schemas.openxmlformats.org/officeDocument/2006/relationships/slideMaster" Target="/ppt/slideMasters/slideMaster1.xml" Id="Rbfd3cc4d034548ef" /><Relationship Type="http://schemas.openxmlformats.org/officeDocument/2006/relationships/notesMaster" Target="/ppt/notesMasters/notesMaster1.xml" Id="Raa396481adbf423f" /><Relationship Type="http://schemas.openxmlformats.org/officeDocument/2006/relationships/presProps" Target="/ppt/presProps.xml" Id="Rd00ab3d4115d48c2" /><Relationship Type="http://schemas.openxmlformats.org/officeDocument/2006/relationships/tableStyles" Target="/ppt/tableStyles.xml" Id="Ree12131745314659" /><Relationship Type="http://schemas.openxmlformats.org/officeDocument/2006/relationships/slide" Target="/ppt/slides/slide1.xml" Id="R87bc469342444cc5" /><Relationship Type="http://schemas.openxmlformats.org/officeDocument/2006/relationships/slide" Target="/ppt/slides/slide2.xml" Id="R8628b15e79dd4e54" /><Relationship Type="http://schemas.openxmlformats.org/officeDocument/2006/relationships/slide" Target="/ppt/slides/slide3.xml" Id="Rde688ffd44d04c2e" /><Relationship Type="http://schemas.openxmlformats.org/officeDocument/2006/relationships/slide" Target="/ppt/slides/slide4.xml" Id="R4ccb1c0766a04bff" /><Relationship Type="http://schemas.openxmlformats.org/officeDocument/2006/relationships/slide" Target="/ppt/slides/slide5.xml" Id="R45b70981988a4274" /><Relationship Type="http://schemas.openxmlformats.org/officeDocument/2006/relationships/slide" Target="/ppt/slides/slide6.xml" Id="Rd4e52b6d3ecd402e" /><Relationship Type="http://schemas.openxmlformats.org/officeDocument/2006/relationships/slide" Target="/ppt/slides/slide7.xml" Id="Ra9d0ebd686a843de" /><Relationship Type="http://schemas.openxmlformats.org/officeDocument/2006/relationships/slide" Target="/ppt/slides/slide8.xml" Id="Rc0f32a64211447fb" /><Relationship Type="http://schemas.openxmlformats.org/officeDocument/2006/relationships/slide" Target="/ppt/slides/slide9.xml" Id="R93c712d3eae64ee7" /><Relationship Type="http://schemas.openxmlformats.org/officeDocument/2006/relationships/slide" Target="/ppt/slides/slide10.xml" Id="Rf0fa32b4c17840b3" /><Relationship Type="http://schemas.openxmlformats.org/officeDocument/2006/relationships/slide" Target="/ppt/slides/slide11.xml" Id="R492f7f0cf8814b5f" /><Relationship Type="http://schemas.openxmlformats.org/officeDocument/2006/relationships/slide" Target="/ppt/slides/slide12.xml" Id="R1812a28494074486" /><Relationship Type="http://schemas.openxmlformats.org/officeDocument/2006/relationships/slide" Target="/ppt/slides/slide13.xml" Id="R0e7293f9ebe64812" /><Relationship Type="http://schemas.openxmlformats.org/officeDocument/2006/relationships/slide" Target="/ppt/slides/slide14.xml" Id="R4e662d4d222f43dd" /><Relationship Type="http://schemas.openxmlformats.org/officeDocument/2006/relationships/slide" Target="/ppt/slides/slide15.xml" Id="Re1c1696cb2a34bcb" /><Relationship Type="http://schemas.openxmlformats.org/officeDocument/2006/relationships/slide" Target="/ppt/slides/slide16.xml" Id="R3f0eea18a1784285" /><Relationship Type="http://schemas.openxmlformats.org/officeDocument/2006/relationships/slide" Target="/ppt/slides/slide17.xml" Id="Rd28b19bfed8b441c" /><Relationship Type="http://schemas.openxmlformats.org/officeDocument/2006/relationships/slide" Target="/ppt/slides/slide18.xml" Id="R7cfb8c2e705d4b7d" /><Relationship Type="http://schemas.openxmlformats.org/officeDocument/2006/relationships/slide" Target="/ppt/slides/slide19.xml" Id="Rb5ca5204e9764b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ae3c6067044d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2453aba8574501" /><Relationship Type="http://schemas.openxmlformats.org/officeDocument/2006/relationships/notesMaster" Target="/ppt/notesMasters/notesMaster1.xml" Id="R794303bd80114e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ef5a43a53c437c" /><Relationship Type="http://schemas.openxmlformats.org/officeDocument/2006/relationships/notesMaster" Target="/ppt/notesMasters/notesMaster1.xml" Id="Rc5074f1f654b45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ed67b2bc2c4acf" /><Relationship Type="http://schemas.openxmlformats.org/officeDocument/2006/relationships/notesMaster" Target="/ppt/notesMasters/notesMaster1.xml" Id="Rc89331485e6342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1667aae64b44c4" /><Relationship Type="http://schemas.openxmlformats.org/officeDocument/2006/relationships/notesMaster" Target="/ppt/notesMasters/notesMaster1.xml" Id="Rb92a6eeaa0b445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0b30d6b4c64446" /><Relationship Type="http://schemas.openxmlformats.org/officeDocument/2006/relationships/notesMaster" Target="/ppt/notesMasters/notesMaster1.xml" Id="R77099be1003946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d681edd556416e" /><Relationship Type="http://schemas.openxmlformats.org/officeDocument/2006/relationships/notesMaster" Target="/ppt/notesMasters/notesMaster1.xml" Id="R1261bc5b41874e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a8fc95c13d4106" /><Relationship Type="http://schemas.openxmlformats.org/officeDocument/2006/relationships/notesMaster" Target="/ppt/notesMasters/notesMaster1.xml" Id="R47d91e6773b44b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879307be44445a" /><Relationship Type="http://schemas.openxmlformats.org/officeDocument/2006/relationships/notesMaster" Target="/ppt/notesMasters/notesMaster1.xml" Id="R67511eb70a454f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1384bddfa045d3" /><Relationship Type="http://schemas.openxmlformats.org/officeDocument/2006/relationships/notesMaster" Target="/ppt/notesMasters/notesMaster1.xml" Id="Rc598d6243bb64c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228d8881b94870" /><Relationship Type="http://schemas.openxmlformats.org/officeDocument/2006/relationships/notesMaster" Target="/ppt/notesMasters/notesMaster1.xml" Id="R435712cb739745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657a63e57a401c" /><Relationship Type="http://schemas.openxmlformats.org/officeDocument/2006/relationships/notesMaster" Target="/ppt/notesMasters/notesMaster1.xml" Id="R2999e866f5aa43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a150c05aa145b6" /><Relationship Type="http://schemas.openxmlformats.org/officeDocument/2006/relationships/notesMaster" Target="/ppt/notesMasters/notesMaster1.xml" Id="R1b53c88a757f41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d8393dba3946be" /><Relationship Type="http://schemas.openxmlformats.org/officeDocument/2006/relationships/notesMaster" Target="/ppt/notesMasters/notesMaster1.xml" Id="Rdfa626bc5f3043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e2b272de334f88" /><Relationship Type="http://schemas.openxmlformats.org/officeDocument/2006/relationships/notesMaster" Target="/ppt/notesMasters/notesMaster1.xml" Id="R49a166913f1141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bd6100c89c144f4" /><Relationship Type="http://schemas.openxmlformats.org/officeDocument/2006/relationships/notesMaster" Target="/ppt/notesMasters/notesMaster1.xml" Id="R6d7a96add1124d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749b4919c64343" /><Relationship Type="http://schemas.openxmlformats.org/officeDocument/2006/relationships/notesMaster" Target="/ppt/notesMasters/notesMaster1.xml" Id="R101987e0aa5449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77e56e598a4057" /><Relationship Type="http://schemas.openxmlformats.org/officeDocument/2006/relationships/notesMaster" Target="/ppt/notesMasters/notesMaster1.xml" Id="R8b0dfec2ab8740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78c18bd76c4530" /><Relationship Type="http://schemas.openxmlformats.org/officeDocument/2006/relationships/notesMaster" Target="/ppt/notesMasters/notesMaster1.xml" Id="Ra197e8dc79ea4f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73bddab106947dd" /><Relationship Type="http://schemas.openxmlformats.org/officeDocument/2006/relationships/notesMaster" Target="/ppt/notesMasters/notesMaster1.xml" Id="R872ab6a699c345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Roote Origin MVP, choose one of the three public design directions, and confirm the intended working arrangement. The photograph is AI-generated illustrative imagery from the earlier concept deck, not actual cooperative members. Replace draft branding and photography with approved client material.</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public prototype supplies the visual foundation. The MVP builds a new backend. Only one chosen public design is implemented. Ordinary data entry happens in the protected dashboard.</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fictional example follows one source harvest batch through processing to its intended brand owner. Farm A, Processor B, Brand C, dates, quantities and identifiers are sample data. Authorized members can read the permitted origin history. The proposed pilot supports one source harvest batch per processed lot. Combined harvests or mixed-farm processing require a revised workflow and scope before commitment. The system records participant-supplied information and does not independently certify authenticity or export eligibility.</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access follows approved batch assignments. Enforce restrictions in the API as well as the interface. Consumers require no member account. Growers, processors, brand owners and distributors use the protected member portal.</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fictional example demonstrates two views of the same batch. Members see records their role and assignment permit. Personal contacts, internal notes and commercial details stay private unless the cooperative explicitly approves publication. Physical printing is outside the proposed MVP. Partners must display the QR for the relevant batch on packaging or at the cafe or restaurant. A farm QR opens a farm profile and does not identify a specific serving or batch. Confirm how partners replace displayed QR artwork when the batch changes.</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Plant an ube root, follow its vine into the sky, then discover the cooperative and its farms on connected leaves.</a:t>
            </a:r>
          </a:p>
          <a:p xmlns:a="http://schemas.openxmlformats.org/drawingml/2006/main">
            <a:r>
              <a:t>Tip-leaf ID or QR lookup opens the correct profile or batch summary. Partner leaves lead into the public farm catalogue.</a:t>
            </a:r>
          </a:p>
          <a:p xmlns:a="http://schemas.openxmlformats.org/drawingml/2006/main">
            <a:r>
              <a:t>Working prototype. The recording shows actual browser behavior. Sample copy and roles will need client confirmation.</a:t>
            </a:r>
          </a:p>
          <a:p xmlns:a="http://schemas.openxmlformats.org/drawingml/2006/main">
            <a:r>
              <a:t>The existing mockup labels show the original farm-focused concept. The proposed implementation adds batch discovery and catalogue access under Roote Origin. More animation to produce and maintain. A reading view supports simpler browsing.</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recording uses sample farm data. The new member portal and batch summaries are part of the planned MVP.</a:t>
            </a:r>
          </a:p>
          <a:p xmlns:a="http://schemas.openxmlformats.org/drawingml/2006/main">
            <a:r>
              <a:t>Click the native embedded MP4 to play the prototype recording. It shows the root, vine, lookup, growing, harvest, partners and leadership. Backend records and public batch pages are planned features.</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warm editorial website that introduces the cooperative through its people, Davao setting and shared growing story.</a:t>
            </a:r>
          </a:p>
          <a:p xmlns:a="http://schemas.openxmlformats.org/drawingml/2006/main">
            <a:r>
              <a:t>Grower stories connect to farm cards. A clear lookup area supports farm IDs and published batch QR summaries.</a:t>
            </a:r>
          </a:p>
          <a:p xmlns:a="http://schemas.openxmlformats.org/drawingml/2006/main">
            <a:r>
              <a:t>Concept preview. The farm photograph is AI-generated illustrative imagery, not actual cooperative members. Motion is proposed.</a:t>
            </a:r>
          </a:p>
          <a:p xmlns:a="http://schemas.openxmlformats.org/drawingml/2006/main">
            <a:r>
              <a:t>The existing mockup labels show the original farm-focused concept. The proposed implementation adds batch discovery and catalogue access under Roote Origin. Strongest with original photography of the cooperative and its members.</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preview. The farm photograph is AI-generated illustrative imagery, not actual cooperative members. Motion is proposed.</a:t>
            </a:r>
          </a:p>
          <a:p xmlns:a="http://schemas.openxmlformats.org/drawingml/2006/main">
            <a:r>
              <a:t>Photography and headlines move on separate planes. Chapters settle for reading as growing, harvest and farm discovery appear.</a:t>
            </a:r>
          </a:p>
          <a:p xmlns:a="http://schemas.openxmlformats.org/drawingml/2006/main">
            <a:r>
              <a:t>Grower stories connect to farm cards. A clear lookup area supports farm IDs and published batch QR summaries.</a:t>
            </a:r>
          </a:p>
          <a:p xmlns:a="http://schemas.openxmlformats.org/drawingml/2006/main">
            <a:r>
              <a:t>The MVP adapts the lookup section for farms and batch summaries. Reduced-motion visitors can read complete sections without movement.</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confident purple identity that brings the crop forward, then connects visitors to the people and farm information behind it.</a:t>
            </a:r>
          </a:p>
          <a:p xmlns:a="http://schemas.openxmlformats.org/drawingml/2006/main">
            <a:r>
              <a:t>A bold product opening leads to produce filters, farm profiles and approved batch summaries for prospective partners.</a:t>
            </a:r>
          </a:p>
          <a:p xmlns:a="http://schemas.openxmlformats.org/drawingml/2006/main">
            <a:r>
              <a:t>Concept preview. Global reach is a proposed brand direction, not a claim of existing export contracts or certification. Motion is proposed.</a:t>
            </a:r>
          </a:p>
          <a:p xmlns:a="http://schemas.openxmlformats.org/drawingml/2006/main">
            <a:r>
              <a:t>The existing mockup labels show the original farm-focused concept. The proposed implementation adds batch discovery and catalogue access under Roote Origin. Buyer-specific specifications and contact information need client-supplied content.</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preview. Global reach is a proposed brand direction, not a claim of existing export contracts or certification. Motion is proposed.</a:t>
            </a:r>
          </a:p>
          <a:p xmlns:a="http://schemas.openxmlformats.org/drawingml/2006/main">
            <a:r>
              <a:t>The yam shifts as product information arrives. Purple and pale sections guide the visitor toward farm and batch discovery.</a:t>
            </a:r>
          </a:p>
          <a:p xmlns:a="http://schemas.openxmlformats.org/drawingml/2006/main">
            <a:r>
              <a:t>A bold product opening leads to produce filters, farm profiles and approved batch summaries for prospective partners.</a:t>
            </a:r>
          </a:p>
          <a:p xmlns:a="http://schemas.openxmlformats.org/drawingml/2006/main">
            <a:r>
              <a:t>The MVP adapts the lookup section for farms and batch summaries. Reduced-motion visitors can read complete sections without movement.</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directions share the proposed system features. The client chooses one visual direction. From Root to Story reuses the existing prototype and needs careful motion and device checks. Grown Together depends on authentic grower photography and stories. Purple to the World depends on clear product information and origin content. The schedule assumes prototype reuse and needs reassessment for another choice. No design assumes export contracts or certification.</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ten-week plan based on reusing the current From Root to Story prototype. Reassess the schedule if another design is selected. Confirm weekly availability and the pilot workflow before committing to kickoff. Test each feature as it is built, including permission and persistence checks. First consolidated review is proposed in Week 8, with the second review and final acceptance in Week 9. Confirm the review cadence, support and handover after selecting the working arrangement. Request consolidated feedback within two working days of each review.</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ten-week plan based on reusing the current From Root to Story prototype. Reassess the schedule if another design is selected. Confirm weekly availability and the pilot workflow before committing to kickoff. Test each feature as it is built, including permission and persistence checks. First consolidated review is proposed in Week 8, with the second review and final acceptance in Week 9. Confirm the review cadence, support and handover after selecting the working arrangement. Request consolidated feedback within two working days of each review.</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delivery and support arrangements, not accepted engagement terms. Confirm revision rounds, training, support duration, handover and ongoing duties for the chosen arrangement. The pilot assumes one source harvest batch per processed lot. If processors combine harvests or farms, revise that workflow before commitment. Source files, HTTPS deployment, backups and one restore check remain proposed delivery items. Ongoing data entry and provider incidents need assigned responsibility.</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acceptance includes Android/Chrome and iPhone/Safari camera checks, a backup restore check, operator training and source/documentation handover. Onboarding numbers describe assisted setup, not software record limits. Confirm who maintains the data and which fields may be public. Launch support and its duration depend on the selected working arrangement. Warehouse stock control, external integrations, mixed-origin blending and independent certification remain outside the proposed initial workflow.</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Project-based work focuses on defined MVP deliverables and acceptance. A service contract provides development and support for an agreed period. Direct employment places ongoing system work within a team role. Confirm expected availability, reporting, responsibilities, handover and ongoing support before finalizing the schedule and engagement terms.</a:t>
            </a:r>
          </a:p>
          <a:p xmlns:a="http://schemas.openxmlformats.org/drawingml/2006/main">
            <a:r>
              <a:t>Confirm the arrangement, availability and responsibilities before agreeing final engagement terms.</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whether processors combine harvests and who supplies and approves batch records. Record the preferred design, proposed working arrangement, available weekly time and review contact. Reassess scope and delivery dates against those decisions before kickoff.</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hosting, authentication, file storage and backup retention at kickoff. Include HTTPS deployment, source files and editing/deployment documentation.</a:t>
            </a:r>
          </a:p>
          <a:p xmlns:a="http://schemas.openxmlformats.org/drawingml/2006/main">
            <a:r>
              <a:t/>
            </a:r>
          </a:p>
          <a:p xmlns:a="http://schemas.openxmlformats.org/drawingml/2006/main">
            <a:r>
              <a:t>Source: proposed Roote Origin MVP scope, MERN revision, 3 October 2026. Final scope and delivery arrangements are subject to client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05d53aa4914d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3b22e89fec4412" /><Relationship Type="http://schemas.openxmlformats.org/officeDocument/2006/relationships/slideLayout" Target="/ppt/slideLayouts/slideLayout1.xml" Id="R7bf8821330cd4f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8821330cd4f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fd055c069c489e" /><Relationship Type="http://schemas.openxmlformats.org/officeDocument/2006/relationships/image" Target="/ppt/media/image.jpeg" Id="Re0a5161cf95341eb" /><Relationship Type="http://schemas.openxmlformats.org/officeDocument/2006/relationships/notesSlide" Target="/ppt/notesSlides/notesSlide1.xml" Id="R97ae315fa95c45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c978acf7fd4ea3" /><Relationship Type="http://schemas.openxmlformats.org/officeDocument/2006/relationships/notesSlide" Target="/ppt/notesSlides/notesSlide2.xml" Id="R9d8d9fd92c334f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531a484a084b2e" /><Relationship Type="http://schemas.openxmlformats.org/officeDocument/2006/relationships/notesSlide" Target="/ppt/notesSlides/notesSlide3.xml" Id="R1a79593687a841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68bfc5defb4022" /><Relationship Type="http://schemas.openxmlformats.org/officeDocument/2006/relationships/notesSlide" Target="/ppt/notesSlides/notesSlide4.xml" Id="R22a03942700943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ec38a591f948ee" /><Relationship Type="http://schemas.openxmlformats.org/officeDocument/2006/relationships/notesSlide" Target="/ppt/notesSlides/notesSlide5.xml" Id="R60e04ac272df40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f916f10b7f4554" /><Relationship Type="http://schemas.openxmlformats.org/officeDocument/2006/relationships/image" Target="/ppt/media/image2.jpeg" Id="R7a380d86aca746f9" /><Relationship Type="http://schemas.openxmlformats.org/officeDocument/2006/relationships/image" Target="/ppt/media/image3.jpeg" Id="R0132afa4fc2842a6" /><Relationship Type="http://schemas.openxmlformats.org/officeDocument/2006/relationships/notesSlide" Target="/ppt/notesSlides/notesSlide6.xml" Id="Rf62cd39c45b34ae4"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9c0c9622440747d3" /><ns0:Relationship Type="http://schemas.openxmlformats.org/officeDocument/2006/relationships/notesSlide" Target="/ppt/notesSlides/notesSlide7.xml" Id="R161eba03e16644c1" /><ns0:Relationship Id="rIdRooteVideo" Type="http://schemas.openxmlformats.org/officeDocument/2006/relationships/video" Target="../media/roote-prototype.mp4" /><ns0:Relationship Id="rIdRooteMedia" Type="http://schemas.microsoft.com/office/2007/relationships/media" Target="../media/roote-prototype.mp4" /><ns0:Relationship Id="rIdRootePoster" Type="http://schemas.openxmlformats.org/officeDocument/2006/relationships/image" Target="../media/roote-prototype.png"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65a9a7992b48d2" /><Relationship Type="http://schemas.openxmlformats.org/officeDocument/2006/relationships/image" Target="/ppt/media/image4.jpeg" Id="R9054e19d741142b3" /><Relationship Type="http://schemas.openxmlformats.org/officeDocument/2006/relationships/image" Target="/ppt/media/image5.jpeg" Id="R81cd4349451a46ab" /><Relationship Type="http://schemas.openxmlformats.org/officeDocument/2006/relationships/notesSlide" Target="/ppt/notesSlides/notesSlide8.xml" Id="R17c3bf55a8f447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9dd18a0c7643fb" /><Relationship Type="http://schemas.openxmlformats.org/officeDocument/2006/relationships/image" Target="/ppt/media/image.png" Id="R579952e4416f477b" /><Relationship Type="http://schemas.openxmlformats.org/officeDocument/2006/relationships/image" Target="/ppt/media/image2.png" Id="Rb19519b4c7424523" /><Relationship Type="http://schemas.openxmlformats.org/officeDocument/2006/relationships/image" Target="/ppt/media/image3.png" Id="R7fe7e022c38e4fd0" /><Relationship Type="http://schemas.openxmlformats.org/officeDocument/2006/relationships/notesSlide" Target="/ppt/notesSlides/notesSlide9.xml" Id="R9e041069eb894a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a9021fe7b743f3" /><Relationship Type="http://schemas.openxmlformats.org/officeDocument/2006/relationships/image" Target="/ppt/media/image6.jpeg" Id="Rf5f26630cd2f4258" /><Relationship Type="http://schemas.openxmlformats.org/officeDocument/2006/relationships/image" Target="/ppt/media/image7.jpeg" Id="R1a6d33908f7a4065" /><Relationship Type="http://schemas.openxmlformats.org/officeDocument/2006/relationships/notesSlide" Target="/ppt/notesSlides/notesSlide10.xml" Id="R17beb1b8b41a48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94f1a235ee470d" /><Relationship Type="http://schemas.openxmlformats.org/officeDocument/2006/relationships/image" Target="/ppt/media/image4.png" Id="R1819642329fd4950" /><Relationship Type="http://schemas.openxmlformats.org/officeDocument/2006/relationships/image" Target="/ppt/media/image5.png" Id="Ra997c457688a40ed" /><Relationship Type="http://schemas.openxmlformats.org/officeDocument/2006/relationships/image" Target="/ppt/media/image6.png" Id="R9858df2107064a22" /><Relationship Type="http://schemas.openxmlformats.org/officeDocument/2006/relationships/notesSlide" Target="/ppt/notesSlides/notesSlide11.xml" Id="R1e092001edb740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90fedbf789e420d" /><Relationship Type="http://schemas.openxmlformats.org/officeDocument/2006/relationships/notesSlide" Target="/ppt/notesSlides/notesSlide12.xml" Id="Rf352fb72851143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49612ea207448e" /><Relationship Type="http://schemas.openxmlformats.org/officeDocument/2006/relationships/notesSlide" Target="/ppt/notesSlides/notesSlide13.xml" Id="Ra51a2664a3484b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f9a2dba403f4803" /><Relationship Type="http://schemas.openxmlformats.org/officeDocument/2006/relationships/notesSlide" Target="/ppt/notesSlides/notesSlide14.xml" Id="Re98aaa2da8924e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0e2019e9d64ce7" /><Relationship Type="http://schemas.openxmlformats.org/officeDocument/2006/relationships/notesSlide" Target="/ppt/notesSlides/notesSlide15.xml" Id="R234eb4a38fce47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e56a5bd90014611" /><Relationship Type="http://schemas.openxmlformats.org/officeDocument/2006/relationships/notesSlide" Target="/ppt/notesSlides/notesSlide16.xml" Id="R29c7cca439f0460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74a9803a095400c" /><Relationship Type="http://schemas.openxmlformats.org/officeDocument/2006/relationships/notesSlide" Target="/ppt/notesSlides/notesSlide17.xml" Id="R70845033b73c45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cf0b2beea2a47f1" /><Relationship Type="http://schemas.openxmlformats.org/officeDocument/2006/relationships/notesSlide" Target="/ppt/notesSlides/notesSlide18.xml" Id="Ra810f308d1f649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160149fac644ebe" /><Relationship Type="http://schemas.openxmlformats.org/officeDocument/2006/relationships/notesSlide" Target="/ppt/notesSlides/notesSlide19.xml" Id="Rf9b2f6ed93af4e50" /></Relationships>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9" name="footer">
            <a:extLst xmlns:a="http://schemas.openxmlformats.org/drawingml/2006/main">
              <a:ext uri="{FF2B5EF4-FFF2-40B4-BE49-F238E27FC236}">
                <a16:creationId xmlns:a16="http://schemas.microsoft.com/office/drawing/2014/main" id="{9D62271F-A46E-4C6B-9410-C5E42D4B0AAE}"/>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2" name="slide-number">
            <a:extLst xmlns:a="http://schemas.openxmlformats.org/drawingml/2006/main">
              <a:ext uri="{FF2B5EF4-FFF2-40B4-BE49-F238E27FC236}">
                <a16:creationId xmlns:a16="http://schemas.microsoft.com/office/drawing/2014/main" id="{15A361DA-0544-4235-BA09-BF664F10BC3F}"/>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0a5161cf95341eb"/>
          <a:srcRect xmlns:a="http://schemas.openxmlformats.org/drawingml/2006/main" l="4367" t="0" r="436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4" name="cover-title">
            <a:extLst xmlns:a="http://schemas.openxmlformats.org/drawingml/2006/main">
              <a:ext uri="{FF2B5EF4-FFF2-40B4-BE49-F238E27FC236}">
                <a16:creationId xmlns:a16="http://schemas.microsoft.com/office/drawing/2014/main" id="{FAB4917F-426E-4D55-B1F8-921783D9481C}"/>
              </a:ext>
            </a:extLst>
          </p:cNvPr>
          <p:cNvSpPr>
            <a:spLocks xmlns:a="http://schemas.openxmlformats.org/drawingml/2006/main" noGrp="1"/>
          </p:cNvSpPr>
          <p:nvPr/>
        </p:nvSpPr>
        <p:spPr>
          <a:xfrm xmlns:a="http://schemas.openxmlformats.org/drawingml/2006/main">
            <a:off x="609600" y="1028700"/>
            <a:ext cx="6000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Roote Origin</a:t>
            </a:r>
          </a:p>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System</a:t>
            </a:r>
          </a:p>
        </p:txBody>
      </p:sp>
      <p:sp>
        <p:nvSpPr>
          <p:cNvPr id="5" name="text-1">
            <a:extLst xmlns:a="http://schemas.openxmlformats.org/drawingml/2006/main">
              <a:ext uri="{FF2B5EF4-FFF2-40B4-BE49-F238E27FC236}">
                <a16:creationId xmlns:a16="http://schemas.microsoft.com/office/drawing/2014/main" id="{3486192F-E444-4E31-A647-F487DFBD5B91}"/>
              </a:ext>
            </a:extLst>
          </p:cNvPr>
          <p:cNvSpPr>
            <a:spLocks xmlns:a="http://schemas.openxmlformats.org/drawingml/2006/main" noGrp="1"/>
          </p:cNvSpPr>
          <p:nvPr/>
        </p:nvSpPr>
        <p:spPr>
          <a:xfrm xmlns:a="http://schemas.openxmlformats.org/drawingml/2006/main">
            <a:off x="609600" y="3343275"/>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5583C"/>
                </a:solidFill>
                <a:latin typeface="Arial"/>
                <a:ea typeface="Arial"/>
                <a:cs typeface="Arial"/>
              </a:defRPr>
            </a:pPr>
            <a:r>
              <a:rPr sz="2100" b="0">
                <a:solidFill>
                  <a:srgbClr val="35583C"/>
                </a:solidFill>
                <a:latin typeface="Arial"/>
                <a:ea typeface="Arial"/>
                <a:cs typeface="Arial"/>
              </a:rPr>
              <a:t>Minimum viable product (MVP)</a:t>
            </a:r>
          </a:p>
          <a:p xmlns:a="http://schemas.openxmlformats.org/drawingml/2006/main">
            <a:pPr algn="l">
              <a:defRPr sz="2100" b="0">
                <a:solidFill>
                  <a:srgbClr val="35583C"/>
                </a:solidFill>
                <a:latin typeface="Arial"/>
                <a:ea typeface="Arial"/>
                <a:cs typeface="Arial"/>
              </a:defRPr>
            </a:pPr>
            <a:r>
              <a:rPr sz="2100" b="0">
                <a:solidFill>
                  <a:srgbClr val="35583C"/>
                </a:solidFill>
                <a:latin typeface="Arial"/>
                <a:ea typeface="Arial"/>
                <a:cs typeface="Arial"/>
              </a:rPr>
              <a:t>and three design directions</a:t>
            </a:r>
          </a:p>
        </p:txBody>
      </p:sp>
      <p:sp>
        <p:nvSpPr>
          <p:cNvPr id="6" name="text-2">
            <a:extLst xmlns:a="http://schemas.openxmlformats.org/drawingml/2006/main">
              <a:ext uri="{FF2B5EF4-FFF2-40B4-BE49-F238E27FC236}">
                <a16:creationId xmlns:a16="http://schemas.microsoft.com/office/drawing/2014/main" id="{51E8234B-5F79-4F9C-8C43-CD21DB976302}"/>
              </a:ext>
            </a:extLst>
          </p:cNvPr>
          <p:cNvSpPr>
            <a:spLocks xmlns:a="http://schemas.openxmlformats.org/drawingml/2006/main" noGrp="1"/>
          </p:cNvSpPr>
          <p:nvPr/>
        </p:nvSpPr>
        <p:spPr>
          <a:xfrm xmlns:a="http://schemas.openxmlformats.org/drawingml/2006/main">
            <a:off x="609600" y="4381500"/>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Ube Farm Cooperative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Davao, Philippines</a:t>
            </a:r>
          </a:p>
        </p:txBody>
      </p:sp>
      <p:sp>
        <p:nvSpPr>
          <p:cNvPr id="7" name="text-3">
            <a:extLst xmlns:a="http://schemas.openxmlformats.org/drawingml/2006/main">
              <a:ext uri="{FF2B5EF4-FFF2-40B4-BE49-F238E27FC236}">
                <a16:creationId xmlns:a16="http://schemas.microsoft.com/office/drawing/2014/main" id="{55166582-F714-4907-8338-80EC89695336}"/>
              </a:ext>
            </a:extLst>
          </p:cNvPr>
          <p:cNvSpPr>
            <a:spLocks xmlns:a="http://schemas.openxmlformats.org/drawingml/2006/main" noGrp="1"/>
          </p:cNvSpPr>
          <p:nvPr/>
        </p:nvSpPr>
        <p:spPr>
          <a:xfrm xmlns:a="http://schemas.openxmlformats.org/drawingml/2006/main">
            <a:off x="609600" y="546735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Client discussion</a:t>
            </a:r>
          </a:p>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3 October 2026</a:t>
            </a:r>
          </a:p>
        </p:txBody>
      </p:sp>
      <p:sp>
        <p:nvSpPr>
          <p:cNvPr id="8" name="text-4">
            <a:extLst xmlns:a="http://schemas.openxmlformats.org/drawingml/2006/main">
              <a:ext uri="{FF2B5EF4-FFF2-40B4-BE49-F238E27FC236}">
                <a16:creationId xmlns:a16="http://schemas.microsoft.com/office/drawing/2014/main" id="{C92D0AF0-12A1-422E-9D11-5F11B0953FFB}"/>
              </a:ext>
            </a:extLst>
          </p:cNvPr>
          <p:cNvSpPr>
            <a:spLocks xmlns:a="http://schemas.openxmlformats.org/drawingml/2006/main" noGrp="1"/>
          </p:cNvSpPr>
          <p:nvPr/>
        </p:nvSpPr>
        <p:spPr>
          <a:xfrm xmlns:a="http://schemas.openxmlformats.org/drawingml/2006/main">
            <a:off x="7467600" y="639127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Illustrative concept photo</a:t>
            </a:r>
          </a:p>
        </p:txBody>
      </p:sp>
    </p:spTree>
    <p:extLst>
      <p:ext uri="{BB962C8B-B14F-4D97-AF65-F5344CB8AC3E}">
        <p14:creationId xmlns:p14="http://schemas.microsoft.com/office/powerpoint/2010/main" val="2014818343"/>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183F2BB3-A872-4A19-AE60-ABE56D28ADA5}"/>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Farm discovery and batch origin</a:t>
            </a:r>
          </a:p>
        </p:txBody>
      </p:sp>
      <p:sp>
        <p:nvSpPr>
          <p:cNvPr id="2" name="slide-subtitle">
            <a:extLst xmlns:a="http://schemas.openxmlformats.org/drawingml/2006/main">
              <a:ext uri="{FF2B5EF4-FFF2-40B4-BE49-F238E27FC236}">
                <a16:creationId xmlns:a16="http://schemas.microsoft.com/office/drawing/2014/main" id="{EA46F859-8BC7-46A0-905B-81D06E997BB5}"/>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Help people discover partner farms and follow the recorded origin of each produce batch.</a:t>
            </a:r>
          </a:p>
        </p:txBody>
      </p:sp>
      <p:sp>
        <p:nvSpPr>
          <p:cNvPr id="3" name="footer">
            <a:extLst xmlns:a="http://schemas.openxmlformats.org/drawingml/2006/main">
              <a:ext uri="{FF2B5EF4-FFF2-40B4-BE49-F238E27FC236}">
                <a16:creationId xmlns:a16="http://schemas.microsoft.com/office/drawing/2014/main" id="{1A487659-FE9B-4CF8-A023-256322965C5C}"/>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C5DAEBEC-49F5-4B79-8A55-77F4C22EE00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02</a:t>
            </a:r>
          </a:p>
        </p:txBody>
      </p:sp>
      <p:sp>
        <p:nvSpPr>
          <p:cNvPr id="5" name="text-5">
            <a:extLst xmlns:a="http://schemas.openxmlformats.org/drawingml/2006/main">
              <a:ext uri="{FF2B5EF4-FFF2-40B4-BE49-F238E27FC236}">
                <a16:creationId xmlns:a16="http://schemas.microsoft.com/office/drawing/2014/main" id="{28184428-9272-43AF-96CE-3E8534677832}"/>
              </a:ext>
            </a:extLst>
          </p:cNvPr>
          <p:cNvSpPr>
            <a:spLocks xmlns:a="http://schemas.openxmlformats.org/drawingml/2006/main" noGrp="1"/>
          </p:cNvSpPr>
          <p:nvPr/>
        </p:nvSpPr>
        <p:spPr>
          <a:xfrm xmlns:a="http://schemas.openxmlformats.org/drawingml/2006/main">
            <a:off x="609600" y="24003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Farm and produce catalogue</a:t>
            </a:r>
          </a:p>
        </p:txBody>
      </p:sp>
      <p:sp>
        <p:nvSpPr>
          <p:cNvPr id="6" name="text-6">
            <a:extLst xmlns:a="http://schemas.openxmlformats.org/drawingml/2006/main">
              <a:ext uri="{FF2B5EF4-FFF2-40B4-BE49-F238E27FC236}">
                <a16:creationId xmlns:a16="http://schemas.microsoft.com/office/drawing/2014/main" id="{E7E13345-1042-452B-987C-AB4200EC14C5}"/>
              </a:ext>
            </a:extLst>
          </p:cNvPr>
          <p:cNvSpPr>
            <a:spLocks xmlns:a="http://schemas.openxmlformats.org/drawingml/2006/main" noGrp="1"/>
          </p:cNvSpPr>
          <p:nvPr/>
        </p:nvSpPr>
        <p:spPr>
          <a:xfrm xmlns:a="http://schemas.openxmlformats.org/drawingml/2006/main">
            <a:off x="4181475" y="24193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Discover approved farms, crops and batch availability. Find a farm or published batch by ID, QR or partner link.</a:t>
            </a:r>
          </a:p>
        </p:txBody>
      </p:sp>
      <p:sp>
        <p:nvSpPr>
          <p:cNvPr id="7" name="divider-7">
            <a:extLst xmlns:a="http://schemas.openxmlformats.org/drawingml/2006/main">
              <a:ext uri="{FF2B5EF4-FFF2-40B4-BE49-F238E27FC236}">
                <a16:creationId xmlns:a16="http://schemas.microsoft.com/office/drawing/2014/main" id="{0A32F6C5-1429-4F2F-8938-0873A9B57600}"/>
              </a:ext>
            </a:extLst>
          </p:cNvPr>
          <p:cNvSpPr>
            <a:spLocks xmlns:a="http://schemas.openxmlformats.org/drawingml/2006/main" noGrp="1"/>
          </p:cNvSpPr>
          <p:nvPr/>
        </p:nvSpPr>
        <p:spPr>
          <a:xfrm xmlns:a="http://schemas.openxmlformats.org/drawingml/2006/main">
            <a:off x="609600" y="30956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8">
            <a:extLst xmlns:a="http://schemas.openxmlformats.org/drawingml/2006/main">
              <a:ext uri="{FF2B5EF4-FFF2-40B4-BE49-F238E27FC236}">
                <a16:creationId xmlns:a16="http://schemas.microsoft.com/office/drawing/2014/main" id="{951A3413-8678-4D14-ADF2-7EE917FE1BFE}"/>
              </a:ext>
            </a:extLst>
          </p:cNvPr>
          <p:cNvSpPr>
            <a:spLocks xmlns:a="http://schemas.openxmlformats.org/drawingml/2006/main" noGrp="1"/>
          </p:cNvSpPr>
          <p:nvPr/>
        </p:nvSpPr>
        <p:spPr>
          <a:xfrm xmlns:a="http://schemas.openxmlformats.org/drawingml/2006/main">
            <a:off x="609600" y="32385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Protected member portal</a:t>
            </a:r>
          </a:p>
        </p:txBody>
      </p:sp>
      <p:sp>
        <p:nvSpPr>
          <p:cNvPr id="9" name="text-9">
            <a:extLst xmlns:a="http://schemas.openxmlformats.org/drawingml/2006/main">
              <a:ext uri="{FF2B5EF4-FFF2-40B4-BE49-F238E27FC236}">
                <a16:creationId xmlns:a16="http://schemas.microsoft.com/office/drawing/2014/main" id="{537B4BDB-35BA-49F9-B003-487EAC126A8B}"/>
              </a:ext>
            </a:extLst>
          </p:cNvPr>
          <p:cNvSpPr>
            <a:spLocks xmlns:a="http://schemas.openxmlformats.org/drawingml/2006/main" noGrp="1"/>
          </p:cNvSpPr>
          <p:nvPr/>
        </p:nvSpPr>
        <p:spPr>
          <a:xfrm xmlns:a="http://schemas.openxmlformats.org/drawingml/2006/main">
            <a:off x="4181475" y="32575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Growers, processors and recipients manage their assigned records. Administrators control access and publication.</a:t>
            </a:r>
          </a:p>
        </p:txBody>
      </p:sp>
      <p:sp>
        <p:nvSpPr>
          <p:cNvPr id="10" name="divider-10">
            <a:extLst xmlns:a="http://schemas.openxmlformats.org/drawingml/2006/main">
              <a:ext uri="{FF2B5EF4-FFF2-40B4-BE49-F238E27FC236}">
                <a16:creationId xmlns:a16="http://schemas.microsoft.com/office/drawing/2014/main" id="{48F2A857-8D20-4878-A9E3-5D2CB27951DB}"/>
              </a:ext>
            </a:extLst>
          </p:cNvPr>
          <p:cNvSpPr>
            <a:spLocks xmlns:a="http://schemas.openxmlformats.org/drawingml/2006/main" noGrp="1"/>
          </p:cNvSpPr>
          <p:nvPr/>
        </p:nvSpPr>
        <p:spPr>
          <a:xfrm xmlns:a="http://schemas.openxmlformats.org/drawingml/2006/main">
            <a:off x="609600" y="39338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11">
            <a:extLst xmlns:a="http://schemas.openxmlformats.org/drawingml/2006/main">
              <a:ext uri="{FF2B5EF4-FFF2-40B4-BE49-F238E27FC236}">
                <a16:creationId xmlns:a16="http://schemas.microsoft.com/office/drawing/2014/main" id="{A9894CF9-D969-4153-8AEE-288698912540}"/>
              </a:ext>
            </a:extLst>
          </p:cNvPr>
          <p:cNvSpPr>
            <a:spLocks xmlns:a="http://schemas.openxmlformats.org/drawingml/2006/main" noGrp="1"/>
          </p:cNvSpPr>
          <p:nvPr/>
        </p:nvSpPr>
        <p:spPr>
          <a:xfrm xmlns:a="http://schemas.openxmlformats.org/drawingml/2006/main">
            <a:off x="609600" y="40767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Connected batch history</a:t>
            </a:r>
          </a:p>
        </p:txBody>
      </p:sp>
      <p:sp>
        <p:nvSpPr>
          <p:cNvPr id="12" name="text-12">
            <a:extLst xmlns:a="http://schemas.openxmlformats.org/drawingml/2006/main">
              <a:ext uri="{FF2B5EF4-FFF2-40B4-BE49-F238E27FC236}">
                <a16:creationId xmlns:a16="http://schemas.microsoft.com/office/drawing/2014/main" id="{B1D7C50C-1621-4085-9DD9-911EE7D11AC9}"/>
              </a:ext>
            </a:extLst>
          </p:cNvPr>
          <p:cNvSpPr>
            <a:spLocks xmlns:a="http://schemas.openxmlformats.org/drawingml/2006/main" noGrp="1"/>
          </p:cNvSpPr>
          <p:nvPr/>
        </p:nvSpPr>
        <p:spPr>
          <a:xfrm xmlns:a="http://schemas.openxmlformats.org/drawingml/2006/main">
            <a:off x="4181475" y="40957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Record farming details, harvest dates and quantities, then link each batch to its processor and intended brand owner or distributor.</a:t>
            </a:r>
          </a:p>
        </p:txBody>
      </p:sp>
      <p:sp>
        <p:nvSpPr>
          <p:cNvPr id="13" name="divider-13">
            <a:extLst xmlns:a="http://schemas.openxmlformats.org/drawingml/2006/main">
              <a:ext uri="{FF2B5EF4-FFF2-40B4-BE49-F238E27FC236}">
                <a16:creationId xmlns:a16="http://schemas.microsoft.com/office/drawing/2014/main" id="{CDBD9CF6-37CE-4AA4-B495-F7A907602EC7}"/>
              </a:ext>
            </a:extLst>
          </p:cNvPr>
          <p:cNvSpPr>
            <a:spLocks xmlns:a="http://schemas.openxmlformats.org/drawingml/2006/main" noGrp="1"/>
          </p:cNvSpPr>
          <p:nvPr/>
        </p:nvSpPr>
        <p:spPr>
          <a:xfrm xmlns:a="http://schemas.openxmlformats.org/drawingml/2006/main">
            <a:off x="609600" y="47720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14">
            <a:extLst xmlns:a="http://schemas.openxmlformats.org/drawingml/2006/main">
              <a:ext uri="{FF2B5EF4-FFF2-40B4-BE49-F238E27FC236}">
                <a16:creationId xmlns:a16="http://schemas.microsoft.com/office/drawing/2014/main" id="{CCCE17B5-7A7D-45CC-A5DC-76CD102C3FEB}"/>
              </a:ext>
            </a:extLst>
          </p:cNvPr>
          <p:cNvSpPr>
            <a:spLocks xmlns:a="http://schemas.openxmlformats.org/drawingml/2006/main" noGrp="1"/>
          </p:cNvSpPr>
          <p:nvPr/>
        </p:nvSpPr>
        <p:spPr>
          <a:xfrm xmlns:a="http://schemas.openxmlformats.org/drawingml/2006/main">
            <a:off x="609600" y="49149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Consumer QR summaries</a:t>
            </a:r>
          </a:p>
        </p:txBody>
      </p:sp>
      <p:sp>
        <p:nvSpPr>
          <p:cNvPr id="15" name="text-15">
            <a:extLst xmlns:a="http://schemas.openxmlformats.org/drawingml/2006/main">
              <a:ext uri="{FF2B5EF4-FFF2-40B4-BE49-F238E27FC236}">
                <a16:creationId xmlns:a16="http://schemas.microsoft.com/office/drawing/2014/main" id="{37EF855F-9A68-4F42-915E-93C425DC0A20}"/>
              </a:ext>
            </a:extLst>
          </p:cNvPr>
          <p:cNvSpPr>
            <a:spLocks xmlns:a="http://schemas.openxmlformats.org/drawingml/2006/main" noGrp="1"/>
          </p:cNvSpPr>
          <p:nvPr/>
        </p:nvSpPr>
        <p:spPr>
          <a:xfrm xmlns:a="http://schemas.openxmlformats.org/drawingml/2006/main">
            <a:off x="4181475" y="49339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Publish a selected summary for each batch. Consumers scan it at a cafe, restaurant or on packaging without logging in.</a:t>
            </a:r>
          </a:p>
        </p:txBody>
      </p:sp>
      <p:sp>
        <p:nvSpPr>
          <p:cNvPr id="16" name="text-16">
            <a:extLst xmlns:a="http://schemas.openxmlformats.org/drawingml/2006/main">
              <a:ext uri="{FF2B5EF4-FFF2-40B4-BE49-F238E27FC236}">
                <a16:creationId xmlns:a16="http://schemas.microsoft.com/office/drawing/2014/main" id="{5BDBF24F-7323-4706-848A-8353C1DFD434}"/>
              </a:ext>
            </a:extLst>
          </p:cNvPr>
          <p:cNvSpPr>
            <a:spLocks xmlns:a="http://schemas.openxmlformats.org/drawingml/2006/main" noGrp="1"/>
          </p:cNvSpPr>
          <p:nvPr/>
        </p:nvSpPr>
        <p:spPr>
          <a:xfrm xmlns:a="http://schemas.openxmlformats.org/drawingml/2006/main">
            <a:off x="609600" y="6115050"/>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5583C"/>
                </a:solidFill>
                <a:latin typeface="Arial"/>
                <a:ea typeface="Arial"/>
                <a:cs typeface="Arial"/>
              </a:defRPr>
            </a:pPr>
            <a:r>
              <a:rPr sz="1500" b="1">
                <a:solidFill>
                  <a:srgbClr val="35583C"/>
                </a:solidFill>
                <a:latin typeface="Arial"/>
                <a:ea typeface="Arial"/>
                <a:cs typeface="Arial"/>
              </a:rPr>
              <a:t>Starting with ube. Members record quantities and availability through the dashboard.</a:t>
            </a:r>
          </a:p>
        </p:txBody>
      </p:sp>
    </p:spTree>
    <p:extLst>
      <p:ext uri="{BB962C8B-B14F-4D97-AF65-F5344CB8AC3E}">
        <p14:creationId xmlns:p14="http://schemas.microsoft.com/office/powerpoint/2010/main" val="443907253"/>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C494F1A-F6EE-417C-87AB-F43F04C345DA}"/>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 sample batch journey</a:t>
            </a:r>
          </a:p>
        </p:txBody>
      </p:sp>
      <p:sp>
        <p:nvSpPr>
          <p:cNvPr id="2" name="slide-subtitle">
            <a:extLst xmlns:a="http://schemas.openxmlformats.org/drawingml/2006/main">
              <a:ext uri="{FF2B5EF4-FFF2-40B4-BE49-F238E27FC236}">
                <a16:creationId xmlns:a16="http://schemas.microsoft.com/office/drawing/2014/main" id="{392D7254-AEA3-4663-A4C3-3A73F76691AF}"/>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Illustrative example only. All names, dates and records below are fictional.</a:t>
            </a:r>
          </a:p>
        </p:txBody>
      </p:sp>
      <p:sp>
        <p:nvSpPr>
          <p:cNvPr id="3" name="footer">
            <a:extLst xmlns:a="http://schemas.openxmlformats.org/drawingml/2006/main">
              <a:ext uri="{FF2B5EF4-FFF2-40B4-BE49-F238E27FC236}">
                <a16:creationId xmlns:a16="http://schemas.microsoft.com/office/drawing/2014/main" id="{33F41DE6-3B5B-4344-896B-31250C57D774}"/>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786B6526-956F-4DA2-84C6-E2E0D2572973}"/>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03</a:t>
            </a:r>
          </a:p>
        </p:txBody>
      </p:sp>
      <p:graphicFrame>
        <p:nvGraphicFramePr>
          <p:cNvPr id="11" name=""/>
          <p:cNvGraphicFramePr/>
          <p:nvPr/>
        </p:nvGraphicFramePr>
        <p:xfrm>
          <a:off xmlns:a="http://schemas.openxmlformats.org/drawingml/2006/main" x="609600" y="2400300"/>
          <a:ext xmlns:a="http://schemas.openxmlformats.org/drawingml/2006/main" cx="10972800" cy="2619375"/>
        </p:xfrm>
        <a:graphic xmlns:a="http://schemas.openxmlformats.org/drawingml/2006/main">
          <a:graphicData uri="http://schemas.openxmlformats.org/drawingml/2006/table">
            <a:tbl>
              <a:tblPr firstRow="0" firstCol="0" bandRow="0"/>
              <a:tblGrid>
                <a:gridCol w="2743200"/>
                <a:gridCol w="2743200"/>
                <a:gridCol w="2743200"/>
                <a:gridCol w="2743200"/>
              </a:tblGrid>
              <a:tr h="523875">
                <a:tc>
                  <a:txBody>
                    <a:bodyPr wrap="square">
                      <a:noAutofit/>
                    </a:bodyPr>
                    <a:lstStyle/>
                    <a:p>
                      <a:r>
                        <a:rPr sz="1575" b="1">
                          <a:solidFill>
                            <a:srgbClr val="FFFFFF"/>
                          </a:solidFill>
                          <a:latin typeface="Arial"/>
                          <a:ea typeface="Arial"/>
                          <a:cs typeface="Arial"/>
                        </a:rPr>
                        <a:t>Farming</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Harvest batch</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Processing</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Brand or distributor</a:t>
                      </a:r>
                    </a:p>
                  </a:txBody>
                  <a:tcPr marL="133350" marR="133350" marT="95250" marB="95250" anchor="t">
                    <a:solidFill>
                      <a:srgbClr val="35583C"/>
                    </a:solidFill>
                  </a:tcPr>
                </a:tc>
              </a:tr>
              <a:tr h="2095500">
                <a:tc>
                  <a:txBody>
                    <a:bodyPr wrap="square">
                      <a:noAutofit/>
                    </a:bodyPr>
                    <a:lstStyle/>
                    <a:p>
                      <a:r>
                        <a:rPr sz="1575" b="0">
                          <a:solidFill>
                            <a:srgbClr val="35583C"/>
                          </a:solidFill>
                          <a:latin typeface="Arial"/>
                          <a:ea typeface="Arial"/>
                          <a:cs typeface="Arial"/>
                        </a:rPr>
                        <a:t>Farm A</a:t>
                      </a:r>
                    </a:p>
                    <a:p>
                      <a:r>
                        <a:rPr sz="1575" b="0">
                          <a:solidFill>
                            <a:srgbClr val="35583C"/>
                          </a:solidFill>
                          <a:latin typeface="Arial"/>
                          <a:ea typeface="Arial"/>
                          <a:cs typeface="Arial"/>
                        </a:rPr>
                        <a:t>Davao, Plot 01</a:t>
                      </a:r>
                    </a:p>
                    <a:p>
                      <a:r>
                        <a:rPr sz="1575" b="0">
                          <a:solidFill>
                            <a:srgbClr val="35583C"/>
                          </a:solidFill>
                          <a:latin typeface="Arial"/>
                          <a:ea typeface="Arial"/>
                          <a:cs typeface="Arial"/>
                        </a:rPr>
                        <a:t>Ube, trellis-grown</a:t>
                      </a:r>
                    </a:p>
                    <a:p>
                      <a:r>
                        <a:rPr sz="1575" b="0">
                          <a:solidFill>
                            <a:srgbClr val="35583C"/>
                          </a:solidFill>
                          <a:latin typeface="Arial"/>
                          <a:ea typeface="Arial"/>
                          <a:cs typeface="Arial"/>
                        </a:rPr>
                        <a:t>Planted 1 Feb 2026</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SAMPLE-UBE-001</a:t>
                      </a:r>
                    </a:p>
                    <a:p>
                      <a:r>
                        <a:rPr sz="1575" b="0">
                          <a:solidFill>
                            <a:srgbClr val="34233E"/>
                          </a:solidFill>
                          <a:latin typeface="Arial"/>
                          <a:ea typeface="Arial"/>
                          <a:cs typeface="Arial"/>
                        </a:rPr>
                        <a:t>Harvested 1 Oct 2026</a:t>
                      </a:r>
                    </a:p>
                    <a:p>
                      <a:r>
                        <a:rPr sz="1575" b="0">
                          <a:solidFill>
                            <a:srgbClr val="34233E"/>
                          </a:solidFill>
                          <a:latin typeface="Arial"/>
                          <a:ea typeface="Arial"/>
                          <a:cs typeface="Arial"/>
                        </a:rPr>
                        <a:t>100 kg recorded</a:t>
                      </a:r>
                    </a:p>
                    <a:p>
                      <a:r>
                        <a:rPr sz="1575" b="0">
                          <a:solidFill>
                            <a:srgbClr val="34233E"/>
                          </a:solidFill>
                          <a:latin typeface="Arial"/>
                          <a:ea typeface="Arial"/>
                          <a:cs typeface="Arial"/>
                        </a:rPr>
                        <a:t>Saved in batch history</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Processor B</a:t>
                      </a:r>
                    </a:p>
                    <a:p>
                      <a:r>
                        <a:rPr sz="1575" b="0">
                          <a:solidFill>
                            <a:srgbClr val="34233E"/>
                          </a:solidFill>
                          <a:latin typeface="Arial"/>
                          <a:ea typeface="Arial"/>
                          <a:cs typeface="Arial"/>
                        </a:rPr>
                        <a:t>Processed 2 Oct 2026</a:t>
                      </a:r>
                    </a:p>
                    <a:p>
                      <a:r>
                        <a:rPr sz="1575" b="0">
                          <a:solidFill>
                            <a:srgbClr val="34233E"/>
                          </a:solidFill>
                          <a:latin typeface="Arial"/>
                          <a:ea typeface="Arial"/>
                          <a:cs typeface="Arial"/>
                        </a:rPr>
                        <a:t>Lot PROC-001</a:t>
                      </a:r>
                    </a:p>
                    <a:p>
                      <a:r>
                        <a:rPr sz="1575" b="0">
                          <a:solidFill>
                            <a:srgbClr val="34233E"/>
                          </a:solidFill>
                          <a:latin typeface="Arial"/>
                          <a:ea typeface="Arial"/>
                          <a:cs typeface="Arial"/>
                        </a:rPr>
                        <a:t>Source SAMPLE-UBE-001</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Brand C</a:t>
                      </a:r>
                    </a:p>
                    <a:p>
                      <a:r>
                        <a:rPr sz="1575" b="0">
                          <a:solidFill>
                            <a:srgbClr val="34233E"/>
                          </a:solidFill>
                          <a:latin typeface="Arial"/>
                          <a:ea typeface="Arial"/>
                          <a:cs typeface="Arial"/>
                        </a:rPr>
                        <a:t>Intended recipient</a:t>
                      </a:r>
                    </a:p>
                    <a:p>
                      <a:r>
                        <a:rPr sz="1575" b="0">
                          <a:solidFill>
                            <a:srgbClr val="34233E"/>
                          </a:solidFill>
                          <a:latin typeface="Arial"/>
                          <a:ea typeface="Arial"/>
                          <a:cs typeface="Arial"/>
                        </a:rPr>
                        <a:t>Linked to PROC-001</a:t>
                      </a:r>
                    </a:p>
                    <a:p>
                      <a:r>
                        <a:rPr sz="1575" b="0">
                          <a:solidFill>
                            <a:srgbClr val="34233E"/>
                          </a:solidFill>
                          <a:latin typeface="Arial"/>
                          <a:ea typeface="Arial"/>
                          <a:cs typeface="Arial"/>
                        </a:rPr>
                        <a:t>Receives origin history</a:t>
                      </a:r>
                    </a:p>
                  </a:txBody>
                  <a:tcPr marL="133350" marR="133350" marT="95250" marB="95250" anchor="t">
                    <a:solidFill>
                      <a:srgbClr val="F6F3EA"/>
                    </a:solidFill>
                  </a:tcPr>
                </a:tc>
              </a:tr>
            </a:tbl>
          </a:graphicData>
        </a:graphic>
      </p:graphicFrame>
      <p:sp>
        <p:nvSpPr>
          <p:cNvPr id="6" name="text-17">
            <a:extLst xmlns:a="http://schemas.openxmlformats.org/drawingml/2006/main">
              <a:ext uri="{FF2B5EF4-FFF2-40B4-BE49-F238E27FC236}">
                <a16:creationId xmlns:a16="http://schemas.microsoft.com/office/drawing/2014/main" id="{6393FF6E-DAF4-4A14-919C-DB422784109B}"/>
              </a:ext>
            </a:extLst>
          </p:cNvPr>
          <p:cNvSpPr>
            <a:spLocks xmlns:a="http://schemas.openxmlformats.org/drawingml/2006/main" noGrp="1"/>
          </p:cNvSpPr>
          <p:nvPr/>
        </p:nvSpPr>
        <p:spPr>
          <a:xfrm xmlns:a="http://schemas.openxmlformats.org/drawingml/2006/main">
            <a:off x="609600" y="54102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5583C"/>
                </a:solidFill>
                <a:latin typeface="Arial"/>
                <a:ea typeface="Arial"/>
                <a:cs typeface="Arial"/>
              </a:defRPr>
            </a:pPr>
            <a:r>
              <a:rPr sz="1650" b="0">
                <a:solidFill>
                  <a:srgbClr val="35583C"/>
                </a:solidFill>
                <a:latin typeface="Arial"/>
                <a:ea typeface="Arial"/>
                <a:cs typeface="Arial"/>
              </a:rPr>
              <a:t>Decision before kickoff: does each processed lot use one harvest batch, or combine multiple harvests?</a:t>
            </a:r>
          </a:p>
        </p:txBody>
      </p:sp>
    </p:spTree>
    <p:extLst>
      <p:ext uri="{BB962C8B-B14F-4D97-AF65-F5344CB8AC3E}">
        <p14:creationId xmlns:p14="http://schemas.microsoft.com/office/powerpoint/2010/main" val="508110328"/>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E3839CC-F60B-4A17-9CA5-D60BE01E4CB6}"/>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Access across the ecosystem</a:t>
            </a:r>
          </a:p>
        </p:txBody>
      </p:sp>
      <p:sp>
        <p:nvSpPr>
          <p:cNvPr id="2" name="slide-subtitle">
            <a:extLst xmlns:a="http://schemas.openxmlformats.org/drawingml/2006/main">
              <a:ext uri="{FF2B5EF4-FFF2-40B4-BE49-F238E27FC236}">
                <a16:creationId xmlns:a16="http://schemas.microsoft.com/office/drawing/2014/main" id="{B2DAA967-F234-4483-B2AA-F11F68488D68}"/>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Proposed access rules for confirmation. The cooperative decides who can see and edit each record.</a:t>
            </a:r>
          </a:p>
        </p:txBody>
      </p:sp>
      <p:sp>
        <p:nvSpPr>
          <p:cNvPr id="3" name="footer">
            <a:extLst xmlns:a="http://schemas.openxmlformats.org/drawingml/2006/main">
              <a:ext uri="{FF2B5EF4-FFF2-40B4-BE49-F238E27FC236}">
                <a16:creationId xmlns:a16="http://schemas.microsoft.com/office/drawing/2014/main" id="{FA8070AA-E4C6-4F25-AD99-318D878E766C}"/>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B6D8754A-BE96-4CED-89AE-FF9C1CE8C761}"/>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04</a:t>
            </a:r>
          </a:p>
        </p:txBody>
      </p:sp>
      <p:graphicFrame>
        <p:nvGraphicFramePr>
          <p:cNvPr id="11" name=""/>
          <p:cNvGraphicFramePr/>
          <p:nvPr/>
        </p:nvGraphicFramePr>
        <p:xfrm>
          <a:off xmlns:a="http://schemas.openxmlformats.org/drawingml/2006/main" x="609600" y="2190750"/>
          <a:ext xmlns:a="http://schemas.openxmlformats.org/drawingml/2006/main" cx="10972800" cy="3943350"/>
        </p:xfrm>
        <a:graphic xmlns:a="http://schemas.openxmlformats.org/drawingml/2006/main">
          <a:graphicData uri="http://schemas.openxmlformats.org/drawingml/2006/table">
            <a:tbl>
              <a:tblPr firstRow="0" firstCol="0" bandRow="0"/>
              <a:tblGrid>
                <a:gridCol w="2352675"/>
                <a:gridCol w="3667125"/>
                <a:gridCol w="4953000"/>
              </a:tblGrid>
              <a:tr h="466725">
                <a:tc>
                  <a:txBody>
                    <a:bodyPr wrap="square">
                      <a:noAutofit/>
                    </a:bodyPr>
                    <a:lstStyle/>
                    <a:p>
                      <a:r>
                        <a:rPr sz="1500" b="1">
                          <a:solidFill>
                            <a:srgbClr val="FFFFFF"/>
                          </a:solidFill>
                          <a:latin typeface="Arial"/>
                          <a:ea typeface="Arial"/>
                          <a:cs typeface="Arial"/>
                        </a:rPr>
                        <a:t>Participant</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view</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manage</a:t>
                      </a:r>
                    </a:p>
                  </a:txBody>
                  <a:tcPr marL="133350" marR="133350" marT="95250" marB="95250" anchor="t">
                    <a:solidFill>
                      <a:srgbClr val="35583C"/>
                    </a:solidFill>
                  </a:tcPr>
                </a:tc>
              </a:tr>
              <a:tr h="695325">
                <a:tc>
                  <a:txBody>
                    <a:bodyPr wrap="square">
                      <a:noAutofit/>
                    </a:bodyPr>
                    <a:lstStyle/>
                    <a:p>
                      <a:r>
                        <a:rPr sz="1500" b="0">
                          <a:solidFill>
                            <a:srgbClr val="35583C"/>
                          </a:solidFill>
                          <a:latin typeface="Arial"/>
                          <a:ea typeface="Arial"/>
                          <a:cs typeface="Arial"/>
                        </a:rPr>
                        <a:t>Administrator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All ecosystem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Users, farms, produce, corrections and publication</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Grower or farm team</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batch history</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growing and harvest records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Processor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origin and harvest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processing, lot links and recipients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Brand owner or distributor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history of assigned batches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acknowledgement and own partner details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Consumer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Published profiles and batch summaries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None. Public viewing only</a:t>
                      </a:r>
                    </a:p>
                  </a:txBody>
                  <a:tcPr marL="133350" marR="133350" marT="95250" marB="95250" anchor="t">
                    <a:solidFill>
                      <a:srgbClr val="F6F3EA"/>
                    </a:solidFill>
                  </a:tcPr>
                </a:tc>
              </a:tr>
            </a:tbl>
          </a:graphicData>
        </a:graphic>
      </p:graphicFrame>
      <p:sp>
        <p:nvSpPr>
          <p:cNvPr id="6" name="text-18">
            <a:extLst xmlns:a="http://schemas.openxmlformats.org/drawingml/2006/main">
              <a:ext uri="{FF2B5EF4-FFF2-40B4-BE49-F238E27FC236}">
                <a16:creationId xmlns:a16="http://schemas.microsoft.com/office/drawing/2014/main" id="{AC9E31BD-EC93-40C5-90AA-5888A7DB2E00}"/>
              </a:ext>
            </a:extLst>
          </p:cNvPr>
          <p:cNvSpPr>
            <a:spLocks xmlns:a="http://schemas.openxmlformats.org/drawingml/2006/main" noGrp="1"/>
          </p:cNvSpPr>
          <p:nvPr/>
        </p:nvSpPr>
        <p:spPr>
          <a:xfrm xmlns:a="http://schemas.openxmlformats.org/drawingml/2006/main">
            <a:off x="609600" y="623887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Proposed MVP: login, password recovery and permission checks in the backend.</a:t>
            </a:r>
          </a:p>
        </p:txBody>
      </p:sp>
    </p:spTree>
    <p:extLst>
      <p:ext uri="{BB962C8B-B14F-4D97-AF65-F5344CB8AC3E}">
        <p14:creationId xmlns:p14="http://schemas.microsoft.com/office/powerpoint/2010/main" val="1525568188"/>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31D7389-0497-44EB-AECD-E0AB167C1F30}"/>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One batch, two views</a:t>
            </a:r>
          </a:p>
        </p:txBody>
      </p:sp>
      <p:sp>
        <p:nvSpPr>
          <p:cNvPr id="2" name="slide-subtitle">
            <a:extLst xmlns:a="http://schemas.openxmlformats.org/drawingml/2006/main">
              <a:ext uri="{FF2B5EF4-FFF2-40B4-BE49-F238E27FC236}">
                <a16:creationId xmlns:a16="http://schemas.microsoft.com/office/drawing/2014/main" id="{65ED6AD5-C330-491F-A793-7B8DAE96A793}"/>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SAMPLE-UBE-001 continues the fictional example. Consumers see only the approved public summary.</a:t>
            </a:r>
          </a:p>
        </p:txBody>
      </p:sp>
      <p:sp>
        <p:nvSpPr>
          <p:cNvPr id="3" name="footer">
            <a:extLst xmlns:a="http://schemas.openxmlformats.org/drawingml/2006/main">
              <a:ext uri="{FF2B5EF4-FFF2-40B4-BE49-F238E27FC236}">
                <a16:creationId xmlns:a16="http://schemas.microsoft.com/office/drawing/2014/main" id="{FB71CBF0-8BBD-49C3-845D-BB079EAD74DF}"/>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9EBC63D4-79DD-4AB1-A6B0-CCF262E1D981}"/>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05</a:t>
            </a:r>
          </a:p>
        </p:txBody>
      </p:sp>
      <p:sp>
        <p:nvSpPr>
          <p:cNvPr id="5" name="text-19">
            <a:extLst xmlns:a="http://schemas.openxmlformats.org/drawingml/2006/main">
              <a:ext uri="{FF2B5EF4-FFF2-40B4-BE49-F238E27FC236}">
                <a16:creationId xmlns:a16="http://schemas.microsoft.com/office/drawing/2014/main" id="{1D830C9C-3767-40DB-8F3A-C8ABF2AA89BF}"/>
              </a:ext>
            </a:extLst>
          </p:cNvPr>
          <p:cNvSpPr>
            <a:spLocks xmlns:a="http://schemas.openxmlformats.org/drawingml/2006/main" noGrp="1"/>
          </p:cNvSpPr>
          <p:nvPr/>
        </p:nvSpPr>
        <p:spPr>
          <a:xfrm xmlns:a="http://schemas.openxmlformats.org/drawingml/2006/main">
            <a:off x="609600" y="24193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Authorized member record</a:t>
            </a:r>
          </a:p>
        </p:txBody>
      </p:sp>
      <p:sp>
        <p:nvSpPr>
          <p:cNvPr id="6" name="text-20">
            <a:extLst xmlns:a="http://schemas.openxmlformats.org/drawingml/2006/main">
              <a:ext uri="{FF2B5EF4-FFF2-40B4-BE49-F238E27FC236}">
                <a16:creationId xmlns:a16="http://schemas.microsoft.com/office/drawing/2014/main" id="{6C1FB6EE-5D32-4DCC-BC1D-CB238B1271FD}"/>
              </a:ext>
            </a:extLst>
          </p:cNvPr>
          <p:cNvSpPr>
            <a:spLocks xmlns:a="http://schemas.openxmlformats.org/drawingml/2006/main" noGrp="1"/>
          </p:cNvSpPr>
          <p:nvPr/>
        </p:nvSpPr>
        <p:spPr>
          <a:xfrm xmlns:a="http://schemas.openxmlformats.org/drawingml/2006/main">
            <a:off x="609600" y="3114675"/>
            <a:ext cx="5105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Farm A, Davao, Plot 01</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Planted 1 February 2026</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Harvested 1 October 2026, 100 kg</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Processor B, Lot PROC-001</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Intended recipient: Brand C</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Care notes and correction history</a:t>
            </a:r>
          </a:p>
        </p:txBody>
      </p:sp>
      <p:sp>
        <p:nvSpPr>
          <p:cNvPr id="7" name="text-21">
            <a:extLst xmlns:a="http://schemas.openxmlformats.org/drawingml/2006/main">
              <a:ext uri="{FF2B5EF4-FFF2-40B4-BE49-F238E27FC236}">
                <a16:creationId xmlns:a16="http://schemas.microsoft.com/office/drawing/2014/main" id="{12F88FBC-89C8-455B-9901-D543E72B9DC5}"/>
              </a:ext>
            </a:extLst>
          </p:cNvPr>
          <p:cNvSpPr>
            <a:spLocks xmlns:a="http://schemas.openxmlformats.org/drawingml/2006/main" noGrp="1"/>
          </p:cNvSpPr>
          <p:nvPr/>
        </p:nvSpPr>
        <p:spPr>
          <a:xfrm xmlns:a="http://schemas.openxmlformats.org/drawingml/2006/main">
            <a:off x="6534150" y="24193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Public QR summary</a:t>
            </a:r>
          </a:p>
        </p:txBody>
      </p:sp>
      <p:sp>
        <p:nvSpPr>
          <p:cNvPr id="8" name="text-22">
            <a:extLst xmlns:a="http://schemas.openxmlformats.org/drawingml/2006/main">
              <a:ext uri="{FF2B5EF4-FFF2-40B4-BE49-F238E27FC236}">
                <a16:creationId xmlns:a16="http://schemas.microsoft.com/office/drawing/2014/main" id="{E42E5F5A-7A0F-4683-A7E3-52B843FE6FE4}"/>
              </a:ext>
            </a:extLst>
          </p:cNvPr>
          <p:cNvSpPr>
            <a:spLocks xmlns:a="http://schemas.openxmlformats.org/drawingml/2006/main" noGrp="1"/>
          </p:cNvSpPr>
          <p:nvPr/>
        </p:nvSpPr>
        <p:spPr>
          <a:xfrm xmlns:a="http://schemas.openxmlformats.org/drawingml/2006/main">
            <a:off x="6534150" y="3114675"/>
            <a:ext cx="5048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Batch SAMPLE-UBE-001</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Ube from Farm A, Davao</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Growing summary: trellis-grown ube</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Harvested 1 October 2026</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Processed by Processor B for Brand C</a:t>
            </a:r>
          </a:p>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Approved details, no login required</a:t>
            </a:r>
          </a:p>
        </p:txBody>
      </p:sp>
      <p:sp>
        <p:nvSpPr>
          <p:cNvPr id="9" name="divider-23">
            <a:extLst xmlns:a="http://schemas.openxmlformats.org/drawingml/2006/main">
              <a:ext uri="{FF2B5EF4-FFF2-40B4-BE49-F238E27FC236}">
                <a16:creationId xmlns:a16="http://schemas.microsoft.com/office/drawing/2014/main" id="{B6E772A2-8DA3-42A7-8927-00D2ACEE4DA0}"/>
              </a:ext>
            </a:extLst>
          </p:cNvPr>
          <p:cNvSpPr>
            <a:spLocks xmlns:a="http://schemas.openxmlformats.org/drawingml/2006/main" noGrp="1"/>
          </p:cNvSpPr>
          <p:nvPr/>
        </p:nvSpPr>
        <p:spPr>
          <a:xfrm xmlns:a="http://schemas.openxmlformats.org/drawingml/2006/main">
            <a:off x="609600" y="501015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0" name="text-24">
            <a:extLst xmlns:a="http://schemas.openxmlformats.org/drawingml/2006/main">
              <a:ext uri="{FF2B5EF4-FFF2-40B4-BE49-F238E27FC236}">
                <a16:creationId xmlns:a16="http://schemas.microsoft.com/office/drawing/2014/main" id="{2260312A-2A17-4599-BD13-DCC5F4246FEF}"/>
              </a:ext>
            </a:extLst>
          </p:cNvPr>
          <p:cNvSpPr>
            <a:spLocks xmlns:a="http://schemas.openxmlformats.org/drawingml/2006/main" noGrp="1"/>
          </p:cNvSpPr>
          <p:nvPr/>
        </p:nvSpPr>
        <p:spPr>
          <a:xfrm xmlns:a="http://schemas.openxmlformats.org/drawingml/2006/main">
            <a:off x="609600" y="5219700"/>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706B65"/>
                </a:solidFill>
                <a:latin typeface="Arial"/>
                <a:ea typeface="Arial"/>
                <a:cs typeface="Arial"/>
              </a:defRPr>
            </a:pPr>
            <a:r>
              <a:rPr sz="1575" b="0">
                <a:solidFill>
                  <a:srgbClr val="706B65"/>
                </a:solidFill>
                <a:latin typeface="Arial"/>
                <a:ea typeface="Arial"/>
                <a:cs typeface="Arial"/>
              </a:rPr>
              <a:t>Administrator preview, approval and publish/unpublish controls. Each batch has a stable URL and downloadable PNG/SVG QR artwork.</a:t>
            </a:r>
          </a:p>
        </p:txBody>
      </p:sp>
      <p:sp>
        <p:nvSpPr>
          <p:cNvPr id="11" name="text-25">
            <a:extLst xmlns:a="http://schemas.openxmlformats.org/drawingml/2006/main">
              <a:ext uri="{FF2B5EF4-FFF2-40B4-BE49-F238E27FC236}">
                <a16:creationId xmlns:a16="http://schemas.microsoft.com/office/drawing/2014/main" id="{4ABD1535-18C8-43B2-9961-C18C2569B509}"/>
              </a:ext>
            </a:extLst>
          </p:cNvPr>
          <p:cNvSpPr>
            <a:spLocks xmlns:a="http://schemas.openxmlformats.org/drawingml/2006/main" noGrp="1"/>
          </p:cNvSpPr>
          <p:nvPr/>
        </p:nvSpPr>
        <p:spPr>
          <a:xfrm xmlns:a="http://schemas.openxmlformats.org/drawingml/2006/main">
            <a:off x="609600" y="59055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583C"/>
                </a:solidFill>
                <a:latin typeface="Arial"/>
                <a:ea typeface="Arial"/>
                <a:cs typeface="Arial"/>
              </a:defRPr>
            </a:pPr>
            <a:r>
              <a:rPr sz="1650" b="1">
                <a:solidFill>
                  <a:srgbClr val="35583C"/>
                </a:solidFill>
                <a:latin typeface="Arial"/>
                <a:ea typeface="Arial"/>
                <a:cs typeface="Arial"/>
              </a:rPr>
              <a:t>Farm ID or QR opens a farm profile. Batch ID or QR opens that batch summary.</a:t>
            </a:r>
          </a:p>
        </p:txBody>
      </p:sp>
    </p:spTree>
    <p:extLst>
      <p:ext uri="{BB962C8B-B14F-4D97-AF65-F5344CB8AC3E}">
        <p14:creationId xmlns:p14="http://schemas.microsoft.com/office/powerpoint/2010/main" val="784232147"/>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452453A-052C-474D-AE62-EE3958719468}"/>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From Root to Story</a:t>
            </a:r>
          </a:p>
        </p:txBody>
      </p:sp>
      <p:sp>
        <p:nvSpPr>
          <p:cNvPr id="2" name="slide-subtitle">
            <a:extLst xmlns:a="http://schemas.openxmlformats.org/drawingml/2006/main">
              <a:ext uri="{FF2B5EF4-FFF2-40B4-BE49-F238E27FC236}">
                <a16:creationId xmlns:a16="http://schemas.microsoft.com/office/drawing/2014/main" id="{EBA835C8-C422-40A7-B612-6E6416C77181}"/>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vine becomes the way into farm and batch discovery.</a:t>
            </a:r>
          </a:p>
        </p:txBody>
      </p:sp>
      <p:sp>
        <p:nvSpPr>
          <p:cNvPr id="3" name="footer">
            <a:extLst xmlns:a="http://schemas.openxmlformats.org/drawingml/2006/main">
              <a:ext uri="{FF2B5EF4-FFF2-40B4-BE49-F238E27FC236}">
                <a16:creationId xmlns:a16="http://schemas.microsoft.com/office/drawing/2014/main" id="{2380C815-1E82-4DF6-812B-0F1580C839DC}"/>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830B1543-0BDE-4F99-875F-FBB8C326324F}"/>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380d86aca746f9"/>
          <a:stretch xmlns:a="http://schemas.openxmlformats.org/drawingml/2006/main"/>
        </p:blipFill>
        <p:spPr>
          <a:xfrm xmlns:a="http://schemas.openxmlformats.org/drawingml/2006/main">
            <a:off x="777240" y="2238375"/>
            <a:ext cx="6217920"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32afa4fc2842a6"/>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26">
            <a:extLst xmlns:a="http://schemas.openxmlformats.org/drawingml/2006/main">
              <a:ext uri="{FF2B5EF4-FFF2-40B4-BE49-F238E27FC236}">
                <a16:creationId xmlns:a16="http://schemas.microsoft.com/office/drawing/2014/main" id="{72A07C21-34DF-472D-919C-875FB1986B6E}"/>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27">
            <a:extLst xmlns:a="http://schemas.openxmlformats.org/drawingml/2006/main">
              <a:ext uri="{FF2B5EF4-FFF2-40B4-BE49-F238E27FC236}">
                <a16:creationId xmlns:a16="http://schemas.microsoft.com/office/drawing/2014/main" id="{D671BFDE-A8D3-4E77-B5DC-118B35EA5C6D}"/>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Tip-leaf ID or QR lookup opens the correct profile or batch summary. Partner leaves lead into the public farm catalogue.</a:t>
            </a:r>
          </a:p>
        </p:txBody>
      </p:sp>
      <p:sp>
        <p:nvSpPr>
          <p:cNvPr id="9" name="text-28">
            <a:extLst xmlns:a="http://schemas.openxmlformats.org/drawingml/2006/main">
              <a:ext uri="{FF2B5EF4-FFF2-40B4-BE49-F238E27FC236}">
                <a16:creationId xmlns:a16="http://schemas.microsoft.com/office/drawing/2014/main" id="{49F49171-73DA-4716-8081-3DD2BD00361C}"/>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Existing scroll prototype. Backend and batch features are planned.</a:t>
            </a:r>
          </a:p>
        </p:txBody>
      </p:sp>
    </p:spTree>
    <p:extLst>
      <p:ext uri="{BB962C8B-B14F-4D97-AF65-F5344CB8AC3E}">
        <p14:creationId xmlns:p14="http://schemas.microsoft.com/office/powerpoint/2010/main" val="1706396450"/>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6F3EA"/>
        </a:solidFill>
      </p:bgPr>
    </p:bg>
    <p:spTree>
      <p:nvGrpSpPr>
        <p:cNvPr id="1" name=""/>
        <p:cNvGrpSpPr/>
        <p:nvPr/>
      </p:nvGrpSpPr>
      <p:grpSpPr>
        <a:xfrm/>
      </p:grpSpPr>
      <p:sp>
        <p:nvSpPr>
          <p:cNvPr id="18" name="slide-title">
            <a:extLst>
              <a:ext uri="{FF2B5EF4-FFF2-40B4-BE49-F238E27FC236}">
                <ns2:creationId id="{AF5A6026-5947-48FF-961E-1BD7C8FBDD02}"/>
              </a:ext>
            </a:extLst>
          </p:cNvPr>
          <p:cNvSpPr>
            <a:spLocks noGrp="1"/>
          </p:cNvSpPr>
          <p:nvPr/>
        </p:nvSpPr>
        <p:spPr>
          <a:xfrm>
            <a:off x="609600" y="495300"/>
            <a:ext cx="10972800" cy="781050"/>
          </a:xfrm>
          <a:prstGeom prst="rect">
            <a:avLst/>
          </a:prstGeom>
          <a:noFill/>
          <a:ln w="0">
            <a:noFill/>
          </a:ln>
        </p:spPr>
        <p:txBody>
          <a:bodyPr wrap="square" lIns="0" tIns="0" rIns="0" bIns="0" anchor="t">
            <a:noAutofit/>
          </a:bodyPr>
          <a:lstStyle/>
          <a:p>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connected plant journey</a:t>
            </a:r>
          </a:p>
        </p:txBody>
      </p:sp>
      <p:sp>
        <p:nvSpPr>
          <p:cNvPr id="2" name="slide-subtitle">
            <a:extLst>
              <a:ext uri="{FF2B5EF4-FFF2-40B4-BE49-F238E27FC236}">
                <ns2:creationId id="{D06D13C2-2744-4B11-963C-E019680486A6}"/>
              </a:ext>
            </a:extLst>
          </p:cNvPr>
          <p:cNvSpPr>
            <a:spLocks noGrp="1"/>
          </p:cNvSpPr>
          <p:nvPr/>
        </p:nvSpPr>
        <p:spPr>
          <a:xfrm>
            <a:off x="609600" y="1428750"/>
            <a:ext cx="10715625" cy="762000"/>
          </a:xfrm>
          <a:prstGeom prst="rect">
            <a:avLst/>
          </a:prstGeom>
          <a:noFill/>
          <a:ln w="0">
            <a:noFill/>
          </a:ln>
        </p:spPr>
        <p:txBody>
          <a:bodyPr wrap="square" lIns="0" tIns="0" rIns="0" bIns="0" anchor="t">
            <a:noAutofit/>
          </a:bodyPr>
          <a:lstStyle/>
          <a:p>
            <a:pPr algn="l">
              <a:defRPr sz="1725" b="0">
                <a:solidFill>
                  <a:srgbClr val="706B65"/>
                </a:solidFill>
                <a:latin typeface="Arial"/>
                <a:ea typeface="Arial"/>
                <a:cs typeface="Arial"/>
              </a:defRPr>
            </a:pPr>
            <a:r>
              <a:rPr sz="1725" b="0">
                <a:solidFill>
                  <a:srgbClr val="706B65"/>
                </a:solidFill>
                <a:latin typeface="Arial"/>
                <a:ea typeface="Arial"/>
                <a:cs typeface="Arial"/>
              </a:rPr>
              <a:t>The existing prototype shows the proposed visual foundation in motion.</a:t>
            </a:r>
          </a:p>
        </p:txBody>
      </p:sp>
      <p:sp>
        <p:nvSpPr>
          <p:cNvPr id="3" name="footer">
            <a:extLst>
              <a:ext uri="{FF2B5EF4-FFF2-40B4-BE49-F238E27FC236}">
                <ns2:creationId id="{D4EDE75F-0EC4-4047-84E9-ABE4A157FEC4}"/>
              </a:ext>
            </a:extLst>
          </p:cNvPr>
          <p:cNvSpPr>
            <a:spLocks noGrp="1"/>
          </p:cNvSpPr>
          <p:nvPr/>
        </p:nvSpPr>
        <p:spPr>
          <a:xfrm>
            <a:off x="609600" y="6543675"/>
            <a:ext cx="7143750" cy="161925"/>
          </a:xfrm>
          <a:prstGeom prst="rect">
            <a:avLst/>
          </a:prstGeom>
          <a:noFill/>
          <a:ln w="0">
            <a:noFill/>
          </a:ln>
        </p:spPr>
        <p:txBody>
          <a:bodyPr wrap="square" lIns="0" tIns="0" rIns="0" bIns="0" anchor="t">
            <a:noAutofit/>
          </a:bodyPr>
          <a:lstStyle/>
          <a:p>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a:ext uri="{FF2B5EF4-FFF2-40B4-BE49-F238E27FC236}">
                <ns2:creationId id="{F8BB873F-479D-4D5A-854D-D92FB33669F4}"/>
              </a:ext>
            </a:extLst>
          </p:cNvPr>
          <p:cNvSpPr>
            <a:spLocks noGrp="1"/>
          </p:cNvSpPr>
          <p:nvPr/>
        </p:nvSpPr>
        <p:spPr>
          <a:xfrm>
            <a:off x="11106150" y="6505575"/>
            <a:ext cx="476250" cy="209550"/>
          </a:xfrm>
          <a:prstGeom prst="rect">
            <a:avLst/>
          </a:prstGeom>
          <a:noFill/>
          <a:ln w="0">
            <a:noFill/>
          </a:ln>
        </p:spPr>
        <p:txBody>
          <a:bodyPr wrap="square" lIns="0" tIns="0" rIns="0" bIns="0" anchor="t">
            <a:noAutofit/>
          </a:bodyPr>
          <a:lstStyle/>
          <a:p>
            <a:pPr algn="r">
              <a:defRPr sz="1125" b="0">
                <a:solidFill>
                  <a:srgbClr val="706B65"/>
                </a:solidFill>
                <a:latin typeface="Arial"/>
                <a:ea typeface="Arial"/>
                <a:cs typeface="Arial"/>
              </a:defRPr>
            </a:pPr>
            <a:r>
              <a:rPr sz="1125" b="0">
                <a:solidFill>
                  <a:srgbClr val="706B65"/>
                </a:solidFill>
                <a:latin typeface="Arial"/>
                <a:ea typeface="Arial"/>
                <a:cs typeface="Arial"/>
              </a:rPr>
              <a:t>07</a:t>
            </a:r>
          </a:p>
        </p:txBody>
      </p:sp>
      <p:sp>
        <p:nvSpPr>
          <p:cNvPr id="5" name="text-29">
            <a:extLst>
              <a:ext uri="{FF2B5EF4-FFF2-40B4-BE49-F238E27FC236}">
                <ns2:creationId id="{A60E4970-A937-4D3A-B92B-C650784F6FF8}"/>
              </a:ext>
            </a:extLst>
          </p:cNvPr>
          <p:cNvSpPr>
            <a:spLocks noGrp="1"/>
          </p:cNvSpPr>
          <p:nvPr/>
        </p:nvSpPr>
        <p:spPr>
          <a:xfrm>
            <a:off x="7620000" y="2381250"/>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01</a:t>
            </a:r>
          </a:p>
        </p:txBody>
      </p:sp>
      <p:sp>
        <p:nvSpPr>
          <p:cNvPr id="6" name="text-30">
            <a:extLst>
              <a:ext uri="{FF2B5EF4-FFF2-40B4-BE49-F238E27FC236}">
                <ns2:creationId id="{3BA5460C-A527-420F-BB87-DD97D0F58498}"/>
              </a:ext>
            </a:extLst>
          </p:cNvPr>
          <p:cNvSpPr>
            <a:spLocks noGrp="1"/>
          </p:cNvSpPr>
          <p:nvPr/>
        </p:nvSpPr>
        <p:spPr>
          <a:xfrm>
            <a:off x="8115300" y="2381250"/>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Root and trellis</a:t>
            </a:r>
          </a:p>
        </p:txBody>
      </p:sp>
      <p:sp>
        <p:nvSpPr>
          <p:cNvPr id="7" name="text-31">
            <a:extLst>
              <a:ext uri="{FF2B5EF4-FFF2-40B4-BE49-F238E27FC236}">
                <ns2:creationId id="{F3815DEA-F9A4-4787-B84B-E2F6F8D3DE87}"/>
              </a:ext>
            </a:extLst>
          </p:cNvPr>
          <p:cNvSpPr>
            <a:spLocks noGrp="1"/>
          </p:cNvSpPr>
          <p:nvPr/>
        </p:nvSpPr>
        <p:spPr>
          <a:xfrm>
            <a:off x="8115300" y="2762250"/>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The root drops into the soil.</a:t>
            </a:r>
          </a:p>
        </p:txBody>
      </p:sp>
      <p:sp>
        <p:nvSpPr>
          <p:cNvPr id="8" name="text-32">
            <a:extLst>
              <a:ext uri="{FF2B5EF4-FFF2-40B4-BE49-F238E27FC236}">
                <ns2:creationId id="{430900FA-8ED5-4C20-B077-E866F2DF0299}"/>
              </a:ext>
            </a:extLst>
          </p:cNvPr>
          <p:cNvSpPr>
            <a:spLocks noGrp="1"/>
          </p:cNvSpPr>
          <p:nvPr/>
        </p:nvSpPr>
        <p:spPr>
          <a:xfrm>
            <a:off x="7620000" y="3267075"/>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02</a:t>
            </a:r>
          </a:p>
        </p:txBody>
      </p:sp>
      <p:sp>
        <p:nvSpPr>
          <p:cNvPr id="9" name="text-33">
            <a:extLst>
              <a:ext uri="{FF2B5EF4-FFF2-40B4-BE49-F238E27FC236}">
                <ns2:creationId id="{3E3321DA-AAD0-4E94-96DF-2D20DE4D4E53}"/>
              </a:ext>
            </a:extLst>
          </p:cNvPr>
          <p:cNvSpPr>
            <a:spLocks noGrp="1"/>
          </p:cNvSpPr>
          <p:nvPr/>
        </p:nvSpPr>
        <p:spPr>
          <a:xfrm>
            <a:off x="8115300" y="3267075"/>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Vine and tip leaf</a:t>
            </a:r>
          </a:p>
        </p:txBody>
      </p:sp>
      <p:sp>
        <p:nvSpPr>
          <p:cNvPr id="10" name="text-34">
            <a:extLst>
              <a:ext uri="{FF2B5EF4-FFF2-40B4-BE49-F238E27FC236}">
                <ns2:creationId id="{C035C606-6463-4A8E-A166-71CF66C2ECF4}"/>
              </a:ext>
            </a:extLst>
          </p:cNvPr>
          <p:cNvSpPr>
            <a:spLocks noGrp="1"/>
          </p:cNvSpPr>
          <p:nvPr/>
        </p:nvSpPr>
        <p:spPr>
          <a:xfrm>
            <a:off x="8115300" y="3648075"/>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The growing vine reaches ID or QR lookup.</a:t>
            </a:r>
          </a:p>
        </p:txBody>
      </p:sp>
      <p:sp>
        <p:nvSpPr>
          <p:cNvPr id="11" name="text-35">
            <a:extLst>
              <a:ext uri="{FF2B5EF4-FFF2-40B4-BE49-F238E27FC236}">
                <ns2:creationId id="{D86EAC46-33DE-4C2C-9414-A2748DE68A47}"/>
              </a:ext>
            </a:extLst>
          </p:cNvPr>
          <p:cNvSpPr>
            <a:spLocks noGrp="1"/>
          </p:cNvSpPr>
          <p:nvPr/>
        </p:nvSpPr>
        <p:spPr>
          <a:xfrm>
            <a:off x="7620000" y="4152900"/>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03</a:t>
            </a:r>
          </a:p>
        </p:txBody>
      </p:sp>
      <p:sp>
        <p:nvSpPr>
          <p:cNvPr id="12" name="text-36">
            <a:extLst>
              <a:ext uri="{FF2B5EF4-FFF2-40B4-BE49-F238E27FC236}">
                <ns2:creationId id="{E0DDEDB6-CCB4-4316-A95F-07E3E5F96FA8}"/>
              </a:ext>
            </a:extLst>
          </p:cNvPr>
          <p:cNvSpPr>
            <a:spLocks noGrp="1"/>
          </p:cNvSpPr>
          <p:nvPr/>
        </p:nvSpPr>
        <p:spPr>
          <a:xfrm>
            <a:off x="8115300" y="4152900"/>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Stories during descent</a:t>
            </a:r>
          </a:p>
        </p:txBody>
      </p:sp>
      <p:sp>
        <p:nvSpPr>
          <p:cNvPr id="13" name="text-37">
            <a:extLst>
              <a:ext uri="{FF2B5EF4-FFF2-40B4-BE49-F238E27FC236}">
                <ns2:creationId id="{6E54D2A5-0458-4BBF-83FE-9982B1AD72E6}"/>
              </a:ext>
            </a:extLst>
          </p:cNvPr>
          <p:cNvSpPr>
            <a:spLocks noGrp="1"/>
          </p:cNvSpPr>
          <p:nvPr/>
        </p:nvSpPr>
        <p:spPr>
          <a:xfrm>
            <a:off x="8115300" y="4533900"/>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Company, growing and harvest details appear.</a:t>
            </a:r>
          </a:p>
        </p:txBody>
      </p:sp>
      <p:sp>
        <p:nvSpPr>
          <p:cNvPr id="14" name="text-38">
            <a:extLst>
              <a:ext uri="{FF2B5EF4-FFF2-40B4-BE49-F238E27FC236}">
                <ns2:creationId id="{2B83F1CE-5BAF-4DEC-BDD0-DC290650F7EE}"/>
              </a:ext>
            </a:extLst>
          </p:cNvPr>
          <p:cNvSpPr>
            <a:spLocks noGrp="1"/>
          </p:cNvSpPr>
          <p:nvPr/>
        </p:nvSpPr>
        <p:spPr>
          <a:xfrm>
            <a:off x="7620000" y="5038725"/>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04</a:t>
            </a:r>
          </a:p>
        </p:txBody>
      </p:sp>
      <p:sp>
        <p:nvSpPr>
          <p:cNvPr id="15" name="text-39">
            <a:extLst>
              <a:ext uri="{FF2B5EF4-FFF2-40B4-BE49-F238E27FC236}">
                <ns2:creationId id="{E04ABEF5-4747-420F-9065-BED09AE03ABE}"/>
              </a:ext>
            </a:extLst>
          </p:cNvPr>
          <p:cNvSpPr>
            <a:spLocks noGrp="1"/>
          </p:cNvSpPr>
          <p:nvPr/>
        </p:nvSpPr>
        <p:spPr>
          <a:xfrm>
            <a:off x="8115300" y="5038725"/>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Partners and leadership</a:t>
            </a:r>
          </a:p>
        </p:txBody>
      </p:sp>
      <p:sp>
        <p:nvSpPr>
          <p:cNvPr id="16" name="text-40">
            <a:extLst>
              <a:ext uri="{FF2B5EF4-FFF2-40B4-BE49-F238E27FC236}">
                <ns2:creationId id="{A6E5A3BB-0F2C-40E3-87A6-55E614B5F786}"/>
              </a:ext>
            </a:extLst>
          </p:cNvPr>
          <p:cNvSpPr>
            <a:spLocks noGrp="1"/>
          </p:cNvSpPr>
          <p:nvPr/>
        </p:nvSpPr>
        <p:spPr>
          <a:xfrm>
            <a:off x="8115300" y="5419725"/>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Lower leaves reveal partners. The root becomes the leadership board.</a:t>
            </a:r>
          </a:p>
        </p:txBody>
      </p:sp>
      <p:sp>
        <p:nvSpPr>
          <p:cNvPr id="17" name="text-41">
            <a:extLst>
              <a:ext uri="{FF2B5EF4-FFF2-40B4-BE49-F238E27FC236}">
                <ns2:creationId id="{DA3C2B7C-BEC7-41E2-8FB2-B772F505BE5B}"/>
              </a:ext>
            </a:extLst>
          </p:cNvPr>
          <p:cNvSpPr>
            <a:spLocks noGrp="1"/>
          </p:cNvSpPr>
          <p:nvPr/>
        </p:nvSpPr>
        <p:spPr>
          <a:xfrm>
            <a:off x="609600" y="6191250"/>
            <a:ext cx="6705600" cy="257175"/>
          </a:xfrm>
          <a:prstGeom prst="rect">
            <a:avLst/>
          </a:prstGeom>
          <a:noFill/>
          <a:ln w="0">
            <a:noFill/>
          </a:ln>
        </p:spPr>
        <p:txBody>
          <a:bodyPr wrap="square" lIns="0" tIns="0" rIns="0" bIns="0" anchor="t">
            <a:noAutofit/>
          </a:bodyPr>
          <a:lstStyle/>
          <a:p>
            <a:pPr algn="l">
              <a:defRPr sz="1275" b="0">
                <a:solidFill>
                  <a:srgbClr val="35583C"/>
                </a:solidFill>
                <a:latin typeface="Arial"/>
                <a:ea typeface="Arial"/>
                <a:cs typeface="Arial"/>
              </a:defRPr>
            </a:pPr>
            <a:r>
              <a:rPr sz="1275" b="0">
                <a:solidFill>
                  <a:srgbClr val="35583C"/>
                </a:solidFill>
                <a:latin typeface="Arial"/>
                <a:ea typeface="Arial"/>
                <a:cs typeface="Arial"/>
              </a:rPr>
              <a:t>Click the embedded video in PowerPoint to play the existing prototype.</a:t>
            </a:r>
          </a:p>
        </p:txBody>
      </p:sp>
      <p:pic>
        <p:nvPicPr>
          <p:cNvPr id="19" name="Existing From Root to Story prototype video">
            <a:hlinkClick action="ppaction://media"/>
          </p:cNvPr>
          <p:cNvPicPr>
            <a:picLocks noChangeAspect="1"/>
          </p:cNvPicPr>
          <p:nvPr>
            <a:videoFile r:link="rIdRooteVideo"/>
            <p:extLst>
              <p:ext uri="{DAA4B4D4-6D71-4841-9C94-3DE7FCFB9230}">
                <p14:media r:embed="rIdRooteMedia"/>
              </p:ext>
            </p:extLst>
          </p:nvPr>
        </p:nvPicPr>
        <p:blipFill>
          <a:blip r:embed="rIdRootePoster"/>
          <a:stretch>
            <a:fillRect/>
          </a:stretch>
        </p:blipFill>
        <p:spPr>
          <a:xfrm>
            <a:off x="609600" y="2381250"/>
            <a:ext cx="6667500" cy="3752850"/>
          </a:xfrm>
          <a:prstGeom prst="rect">
            <a:avLst/>
          </a:prstGeom>
        </p:spPr>
      </p:pic>
    </p:spTree>
    <p:extLst>
      <p:ext uri="{BB962C8B-B14F-4D97-AF65-F5344CB8AC3E}">
        <p14:creationId val="2090515822"/>
      </p:ext>
    </p:extLst>
  </p:cSld>
</p:sld>
</file>

<file path=ppt/slides/slide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0D8D014C-B5FA-44C2-BFAD-45D9F7721F6B}"/>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Grown Together in Davao</a:t>
            </a:r>
          </a:p>
        </p:txBody>
      </p:sp>
      <p:sp>
        <p:nvSpPr>
          <p:cNvPr id="2" name="slide-subtitle">
            <a:extLst xmlns:a="http://schemas.openxmlformats.org/drawingml/2006/main">
              <a:ext uri="{FF2B5EF4-FFF2-40B4-BE49-F238E27FC236}">
                <a16:creationId xmlns:a16="http://schemas.microsoft.com/office/drawing/2014/main" id="{3E31C005-8B55-4DF2-B34D-ACE6952D0DCC}"/>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People and place lead visitors into the farm catalogue.</a:t>
            </a:r>
          </a:p>
        </p:txBody>
      </p:sp>
      <p:sp>
        <p:nvSpPr>
          <p:cNvPr id="3" name="footer">
            <a:extLst xmlns:a="http://schemas.openxmlformats.org/drawingml/2006/main">
              <a:ext uri="{FF2B5EF4-FFF2-40B4-BE49-F238E27FC236}">
                <a16:creationId xmlns:a16="http://schemas.microsoft.com/office/drawing/2014/main" id="{6A9AF82E-909C-4F64-981A-51414E0979B8}"/>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91D8137E-4544-4DCA-ACBD-23D2A49C2C59}"/>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054e19d741142b3"/>
          <a:stretch xmlns:a="http://schemas.openxmlformats.org/drawingml/2006/main"/>
        </p:blipFill>
        <p:spPr>
          <a:xfrm xmlns:a="http://schemas.openxmlformats.org/drawingml/2006/main">
            <a:off x="1088136" y="2238375"/>
            <a:ext cx="5596128"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1cd4349451a46ab"/>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42">
            <a:extLst xmlns:a="http://schemas.openxmlformats.org/drawingml/2006/main">
              <a:ext uri="{FF2B5EF4-FFF2-40B4-BE49-F238E27FC236}">
                <a16:creationId xmlns:a16="http://schemas.microsoft.com/office/drawing/2014/main" id="{5EED57F7-B26C-4C77-AC09-63423F161F74}"/>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43">
            <a:extLst xmlns:a="http://schemas.openxmlformats.org/drawingml/2006/main">
              <a:ext uri="{FF2B5EF4-FFF2-40B4-BE49-F238E27FC236}">
                <a16:creationId xmlns:a16="http://schemas.microsoft.com/office/drawing/2014/main" id="{51CD9BA0-3917-43E9-B09C-AADCA8AA542D}"/>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Grower stories connect to farm cards. A clear lookup area supports farm IDs and published batch QR summaries.</a:t>
            </a:r>
          </a:p>
        </p:txBody>
      </p:sp>
      <p:sp>
        <p:nvSpPr>
          <p:cNvPr id="9" name="text-44">
            <a:extLst xmlns:a="http://schemas.openxmlformats.org/drawingml/2006/main">
              <a:ext uri="{FF2B5EF4-FFF2-40B4-BE49-F238E27FC236}">
                <a16:creationId xmlns:a16="http://schemas.microsoft.com/office/drawing/2014/main" id="{D1596665-105C-4E13-8494-E0DCBEBE0D58}"/>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Concept preview. Photography is illustrative. Motion and integration are proposed.</a:t>
            </a:r>
          </a:p>
        </p:txBody>
      </p:sp>
    </p:spTree>
    <p:extLst>
      <p:ext uri="{BB962C8B-B14F-4D97-AF65-F5344CB8AC3E}">
        <p14:creationId xmlns:p14="http://schemas.microsoft.com/office/powerpoint/2010/main" val="291646480"/>
      </p:ext>
    </p:extLst>
  </p:cSld>
</p:sld>
</file>

<file path=ppt/slides/slide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BB7E3EB9-0F57-4261-8F97-FB591B2AF1F9}"/>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People, place and farm discovery</a:t>
            </a:r>
          </a:p>
        </p:txBody>
      </p:sp>
      <p:sp>
        <p:nvSpPr>
          <p:cNvPr id="2" name="slide-subtitle">
            <a:extLst xmlns:a="http://schemas.openxmlformats.org/drawingml/2006/main">
              <a:ext uri="{FF2B5EF4-FFF2-40B4-BE49-F238E27FC236}">
                <a16:creationId xmlns:a16="http://schemas.microsoft.com/office/drawing/2014/main" id="{B7E7EAB5-E3FE-4EDA-BF70-4E8D32600349}"/>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Photography and headlines move on separate planes. Chapters settle for reading as growing, harvest and farm discovery appear.</a:t>
            </a:r>
          </a:p>
        </p:txBody>
      </p:sp>
      <p:sp>
        <p:nvSpPr>
          <p:cNvPr id="3" name="footer">
            <a:extLst xmlns:a="http://schemas.openxmlformats.org/drawingml/2006/main">
              <a:ext uri="{FF2B5EF4-FFF2-40B4-BE49-F238E27FC236}">
                <a16:creationId xmlns:a16="http://schemas.microsoft.com/office/drawing/2014/main" id="{F3CB585B-9A11-4C14-B7E9-637AE5F2B3F0}"/>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E8008DFE-45F7-4B26-8CC8-63B8234724C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09</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79952e4416f477b"/>
          <a:stretch xmlns:a="http://schemas.openxmlformats.org/drawingml/2006/main"/>
        </p:blipFill>
        <p:spPr>
          <a:xfrm xmlns:a="http://schemas.openxmlformats.org/drawingml/2006/main">
            <a:off x="609600" y="2618317"/>
            <a:ext cx="3352800" cy="1792817"/>
          </a:xfrm>
          <a:prstGeom xmlns:a="http://schemas.openxmlformats.org/drawingml/2006/main" prst="rect">
            <a:avLst/>
          </a:prstGeom>
        </p:spPr>
      </p:pic>
      <p:sp>
        <p:nvSpPr>
          <p:cNvPr id="6" name="text-45">
            <a:extLst xmlns:a="http://schemas.openxmlformats.org/drawingml/2006/main">
              <a:ext uri="{FF2B5EF4-FFF2-40B4-BE49-F238E27FC236}">
                <a16:creationId xmlns:a16="http://schemas.microsoft.com/office/drawing/2014/main" id="{827A83F9-913A-492A-9AA0-1A1099FEE40F}"/>
              </a:ext>
            </a:extLst>
          </p:cNvPr>
          <p:cNvSpPr>
            <a:spLocks xmlns:a="http://schemas.openxmlformats.org/drawingml/2006/main" noGrp="1"/>
          </p:cNvSpPr>
          <p:nvPr/>
        </p:nvSpPr>
        <p:spPr>
          <a:xfrm xmlns:a="http://schemas.openxmlformats.org/drawingml/2006/main">
            <a:off x="60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People &amp; place</a:t>
            </a:r>
          </a:p>
        </p:txBody>
      </p:sp>
      <p:sp>
        <p:nvSpPr>
          <p:cNvPr id="7" name="text-46">
            <a:extLst xmlns:a="http://schemas.openxmlformats.org/drawingml/2006/main">
              <a:ext uri="{FF2B5EF4-FFF2-40B4-BE49-F238E27FC236}">
                <a16:creationId xmlns:a16="http://schemas.microsoft.com/office/drawing/2014/main" id="{7BDA36C1-8AE0-41FA-9454-7BE0C97B54B5}"/>
              </a:ext>
            </a:extLst>
          </p:cNvPr>
          <p:cNvSpPr>
            <a:spLocks xmlns:a="http://schemas.openxmlformats.org/drawingml/2006/main" noGrp="1"/>
          </p:cNvSpPr>
          <p:nvPr/>
        </p:nvSpPr>
        <p:spPr>
          <a:xfrm xmlns:a="http://schemas.openxmlformats.org/drawingml/2006/main">
            <a:off x="60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The opening arch reveals the field. Photographs and headlines move on separate planes, then settle for reading.</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19519b4c7424523"/>
          <a:stretch xmlns:a="http://schemas.openxmlformats.org/drawingml/2006/main"/>
        </p:blipFill>
        <p:spPr>
          <a:xfrm xmlns:a="http://schemas.openxmlformats.org/drawingml/2006/main">
            <a:off x="4419600" y="2886075"/>
            <a:ext cx="3352800" cy="1257300"/>
          </a:xfrm>
          <a:prstGeom xmlns:a="http://schemas.openxmlformats.org/drawingml/2006/main" prst="rect">
            <a:avLst/>
          </a:prstGeom>
        </p:spPr>
      </p:pic>
      <p:sp>
        <p:nvSpPr>
          <p:cNvPr id="9" name="text-47">
            <a:extLst xmlns:a="http://schemas.openxmlformats.org/drawingml/2006/main">
              <a:ext uri="{FF2B5EF4-FFF2-40B4-BE49-F238E27FC236}">
                <a16:creationId xmlns:a16="http://schemas.microsoft.com/office/drawing/2014/main" id="{EC8A664A-25CC-4AD9-8413-EFFC2BB68C51}"/>
              </a:ext>
            </a:extLst>
          </p:cNvPr>
          <p:cNvSpPr>
            <a:spLocks xmlns:a="http://schemas.openxmlformats.org/drawingml/2006/main" noGrp="1"/>
          </p:cNvSpPr>
          <p:nvPr/>
        </p:nvSpPr>
        <p:spPr>
          <a:xfrm xmlns:a="http://schemas.openxmlformats.org/drawingml/2006/main">
            <a:off x="441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A connected growing story</a:t>
            </a:r>
          </a:p>
        </p:txBody>
      </p:sp>
      <p:sp>
        <p:nvSpPr>
          <p:cNvPr id="10" name="text-48">
            <a:extLst xmlns:a="http://schemas.openxmlformats.org/drawingml/2006/main">
              <a:ext uri="{FF2B5EF4-FFF2-40B4-BE49-F238E27FC236}">
                <a16:creationId xmlns:a16="http://schemas.microsoft.com/office/drawing/2014/main" id="{F1B957F2-D1AA-4AB7-A59D-D0D35638773A}"/>
              </a:ext>
            </a:extLst>
          </p:cNvPr>
          <p:cNvSpPr>
            <a:spLocks xmlns:a="http://schemas.openxmlformats.org/drawingml/2006/main" noGrp="1"/>
          </p:cNvSpPr>
          <p:nvPr/>
        </p:nvSpPr>
        <p:spPr>
          <a:xfrm xmlns:a="http://schemas.openxmlformats.org/drawingml/2006/main">
            <a:off x="441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A thin vine line leads into the soil, vine and harvest chapters. Each chapter arrives with a gentle upward reveal.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fe7e022c38e4fd0"/>
          <a:stretch xmlns:a="http://schemas.openxmlformats.org/drawingml/2006/main"/>
        </p:blipFill>
        <p:spPr>
          <a:xfrm xmlns:a="http://schemas.openxmlformats.org/drawingml/2006/main">
            <a:off x="8229600" y="2714942"/>
            <a:ext cx="3352800" cy="1599565"/>
          </a:xfrm>
          <a:prstGeom xmlns:a="http://schemas.openxmlformats.org/drawingml/2006/main" prst="rect">
            <a:avLst/>
          </a:prstGeom>
        </p:spPr>
      </p:pic>
      <p:sp>
        <p:nvSpPr>
          <p:cNvPr id="12" name="text-49">
            <a:extLst xmlns:a="http://schemas.openxmlformats.org/drawingml/2006/main">
              <a:ext uri="{FF2B5EF4-FFF2-40B4-BE49-F238E27FC236}">
                <a16:creationId xmlns:a16="http://schemas.microsoft.com/office/drawing/2014/main" id="{19D719C7-5BED-4489-8ED6-CF0E999E4CDC}"/>
              </a:ext>
            </a:extLst>
          </p:cNvPr>
          <p:cNvSpPr>
            <a:spLocks xmlns:a="http://schemas.openxmlformats.org/drawingml/2006/main" noGrp="1"/>
          </p:cNvSpPr>
          <p:nvPr/>
        </p:nvSpPr>
        <p:spPr>
          <a:xfrm xmlns:a="http://schemas.openxmlformats.org/drawingml/2006/main">
            <a:off x="822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Meet a partner farm</a:t>
            </a:r>
          </a:p>
        </p:txBody>
      </p:sp>
      <p:sp>
        <p:nvSpPr>
          <p:cNvPr id="13" name="text-50">
            <a:extLst xmlns:a="http://schemas.openxmlformats.org/drawingml/2006/main">
              <a:ext uri="{FF2B5EF4-FFF2-40B4-BE49-F238E27FC236}">
                <a16:creationId xmlns:a16="http://schemas.microsoft.com/office/drawing/2014/main" id="{523E8260-217B-4367-A97D-D033743A0796}"/>
              </a:ext>
            </a:extLst>
          </p:cNvPr>
          <p:cNvSpPr>
            <a:spLocks xmlns:a="http://schemas.openxmlformats.org/drawingml/2006/main" noGrp="1"/>
          </p:cNvSpPr>
          <p:nvPr/>
        </p:nvSpPr>
        <p:spPr>
          <a:xfrm xmlns:a="http://schemas.openxmlformats.org/drawingml/2006/main">
            <a:off x="822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Farm profiles and published batch summaries resolve through the ID, QR or partner entry point.</a:t>
            </a:r>
          </a:p>
        </p:txBody>
      </p:sp>
    </p:spTree>
    <p:extLst>
      <p:ext uri="{BB962C8B-B14F-4D97-AF65-F5344CB8AC3E}">
        <p14:creationId xmlns:p14="http://schemas.microsoft.com/office/powerpoint/2010/main" val="1897154616"/>
      </p:ext>
    </p:extLst>
  </p:cSld>
</p:sld>
</file>

<file path=ppt/slides/slide10.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3E37015-24C9-406D-8600-FC5C41139AD1}"/>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Purple to the World</a:t>
            </a:r>
          </a:p>
        </p:txBody>
      </p:sp>
      <p:sp>
        <p:nvSpPr>
          <p:cNvPr id="2" name="slide-subtitle">
            <a:extLst xmlns:a="http://schemas.openxmlformats.org/drawingml/2006/main">
              <a:ext uri="{FF2B5EF4-FFF2-40B4-BE49-F238E27FC236}">
                <a16:creationId xmlns:a16="http://schemas.microsoft.com/office/drawing/2014/main" id="{4A6E3671-6168-4BCD-972A-85E30AD0EBCD}"/>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Produce discovery leads into the crop and its origin.</a:t>
            </a:r>
          </a:p>
        </p:txBody>
      </p:sp>
      <p:sp>
        <p:nvSpPr>
          <p:cNvPr id="3" name="footer">
            <a:extLst xmlns:a="http://schemas.openxmlformats.org/drawingml/2006/main">
              <a:ext uri="{FF2B5EF4-FFF2-40B4-BE49-F238E27FC236}">
                <a16:creationId xmlns:a16="http://schemas.microsoft.com/office/drawing/2014/main" id="{C077948D-9899-48F7-A021-9B2331965C4F}"/>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E2F84B7E-0776-4F69-B57F-6FB9FEDA1B0F}"/>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f26630cd2f4258"/>
          <a:stretch xmlns:a="http://schemas.openxmlformats.org/drawingml/2006/main"/>
        </p:blipFill>
        <p:spPr>
          <a:xfrm xmlns:a="http://schemas.openxmlformats.org/drawingml/2006/main">
            <a:off x="1088136" y="2238375"/>
            <a:ext cx="5596128"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a6d33908f7a4065"/>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51">
            <a:extLst xmlns:a="http://schemas.openxmlformats.org/drawingml/2006/main">
              <a:ext uri="{FF2B5EF4-FFF2-40B4-BE49-F238E27FC236}">
                <a16:creationId xmlns:a16="http://schemas.microsoft.com/office/drawing/2014/main" id="{F0E7918A-707E-4252-9AA5-34AA9DD6ADA3}"/>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52">
            <a:extLst xmlns:a="http://schemas.openxmlformats.org/drawingml/2006/main">
              <a:ext uri="{FF2B5EF4-FFF2-40B4-BE49-F238E27FC236}">
                <a16:creationId xmlns:a16="http://schemas.microsoft.com/office/drawing/2014/main" id="{B70CE4AE-B492-4C37-80A1-B37FB4A5823E}"/>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A bold product opening leads to produce filters, farm profiles and approved batch summaries for prospective partners.</a:t>
            </a:r>
          </a:p>
        </p:txBody>
      </p:sp>
      <p:sp>
        <p:nvSpPr>
          <p:cNvPr id="9" name="text-53">
            <a:extLst xmlns:a="http://schemas.openxmlformats.org/drawingml/2006/main">
              <a:ext uri="{FF2B5EF4-FFF2-40B4-BE49-F238E27FC236}">
                <a16:creationId xmlns:a16="http://schemas.microsoft.com/office/drawing/2014/main" id="{AF619F7B-ED2D-4240-A2C1-A579F51E0826}"/>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Design concept. Motion and system integration are proposed.</a:t>
            </a:r>
          </a:p>
        </p:txBody>
      </p:sp>
    </p:spTree>
    <p:extLst>
      <p:ext uri="{BB962C8B-B14F-4D97-AF65-F5344CB8AC3E}">
        <p14:creationId xmlns:p14="http://schemas.microsoft.com/office/powerpoint/2010/main" val="338716648"/>
      </p:ext>
    </p:extLst>
  </p:cSld>
</p:sld>
</file>

<file path=ppt/slides/slide1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7F5FECAE-F9FF-41B8-9078-EB38CAE0A80B}"/>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Produce, origin and batch discovery</a:t>
            </a:r>
          </a:p>
        </p:txBody>
      </p:sp>
      <p:sp>
        <p:nvSpPr>
          <p:cNvPr id="2" name="slide-subtitle">
            <a:extLst xmlns:a="http://schemas.openxmlformats.org/drawingml/2006/main">
              <a:ext uri="{FF2B5EF4-FFF2-40B4-BE49-F238E27FC236}">
                <a16:creationId xmlns:a16="http://schemas.microsoft.com/office/drawing/2014/main" id="{BFB9A11E-7517-4A33-B07A-C97BEF9D16D5}"/>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yam shifts as product information arrives. Purple and pale sections guide the visitor toward farm and batch discovery.</a:t>
            </a:r>
          </a:p>
        </p:txBody>
      </p:sp>
      <p:sp>
        <p:nvSpPr>
          <p:cNvPr id="3" name="footer">
            <a:extLst xmlns:a="http://schemas.openxmlformats.org/drawingml/2006/main">
              <a:ext uri="{FF2B5EF4-FFF2-40B4-BE49-F238E27FC236}">
                <a16:creationId xmlns:a16="http://schemas.microsoft.com/office/drawing/2014/main" id="{C55F4238-06F8-47F7-B675-6B48B79AD420}"/>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18A4E399-9CD7-4B96-BDF2-ACFB560D7C3C}"/>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819642329fd4950"/>
          <a:stretch xmlns:a="http://schemas.openxmlformats.org/drawingml/2006/main"/>
        </p:blipFill>
        <p:spPr>
          <a:xfrm xmlns:a="http://schemas.openxmlformats.org/drawingml/2006/main">
            <a:off x="609600" y="2728913"/>
            <a:ext cx="3352800" cy="1571625"/>
          </a:xfrm>
          <a:prstGeom xmlns:a="http://schemas.openxmlformats.org/drawingml/2006/main" prst="rect">
            <a:avLst/>
          </a:prstGeom>
        </p:spPr>
      </p:pic>
      <p:sp>
        <p:nvSpPr>
          <p:cNvPr id="6" name="text-54">
            <a:extLst xmlns:a="http://schemas.openxmlformats.org/drawingml/2006/main">
              <a:ext uri="{FF2B5EF4-FFF2-40B4-BE49-F238E27FC236}">
                <a16:creationId xmlns:a16="http://schemas.microsoft.com/office/drawing/2014/main" id="{A69B4E19-CEB8-44E6-B873-9FD382EA8DFC}"/>
              </a:ext>
            </a:extLst>
          </p:cNvPr>
          <p:cNvSpPr>
            <a:spLocks xmlns:a="http://schemas.openxmlformats.org/drawingml/2006/main" noGrp="1"/>
          </p:cNvSpPr>
          <p:nvPr/>
        </p:nvSpPr>
        <p:spPr>
          <a:xfrm xmlns:a="http://schemas.openxmlformats.org/drawingml/2006/main">
            <a:off x="60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The crop comes forward</a:t>
            </a:r>
          </a:p>
        </p:txBody>
      </p:sp>
      <p:sp>
        <p:nvSpPr>
          <p:cNvPr id="7" name="text-55">
            <a:extLst xmlns:a="http://schemas.openxmlformats.org/drawingml/2006/main">
              <a:ext uri="{FF2B5EF4-FFF2-40B4-BE49-F238E27FC236}">
                <a16:creationId xmlns:a16="http://schemas.microsoft.com/office/drawing/2014/main" id="{ABDD3663-52F8-454A-8EE4-091245BE06A8}"/>
              </a:ext>
            </a:extLst>
          </p:cNvPr>
          <p:cNvSpPr>
            <a:spLocks xmlns:a="http://schemas.openxmlformats.org/drawingml/2006/main" noGrp="1"/>
          </p:cNvSpPr>
          <p:nvPr/>
        </p:nvSpPr>
        <p:spPr>
          <a:xfrm xmlns:a="http://schemas.openxmlformats.org/drawingml/2006/main">
            <a:off x="60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The large yam turns slightly as the hero gives way to clear product and origin information.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997c457688a40ed"/>
          <a:stretch xmlns:a="http://schemas.openxmlformats.org/drawingml/2006/main"/>
        </p:blipFill>
        <p:spPr>
          <a:xfrm xmlns:a="http://schemas.openxmlformats.org/drawingml/2006/main">
            <a:off x="4419600" y="2756853"/>
            <a:ext cx="3352800" cy="1515745"/>
          </a:xfrm>
          <a:prstGeom xmlns:a="http://schemas.openxmlformats.org/drawingml/2006/main" prst="rect">
            <a:avLst/>
          </a:prstGeom>
        </p:spPr>
      </p:pic>
      <p:sp>
        <p:nvSpPr>
          <p:cNvPr id="9" name="text-56">
            <a:extLst xmlns:a="http://schemas.openxmlformats.org/drawingml/2006/main">
              <a:ext uri="{FF2B5EF4-FFF2-40B4-BE49-F238E27FC236}">
                <a16:creationId xmlns:a16="http://schemas.microsoft.com/office/drawing/2014/main" id="{A676EEF9-06BF-4FD2-A886-E6C29D568851}"/>
              </a:ext>
            </a:extLst>
          </p:cNvPr>
          <p:cNvSpPr>
            <a:spLocks xmlns:a="http://schemas.openxmlformats.org/drawingml/2006/main" noGrp="1"/>
          </p:cNvSpPr>
          <p:nvPr/>
        </p:nvSpPr>
        <p:spPr>
          <a:xfrm xmlns:a="http://schemas.openxmlformats.org/drawingml/2006/main">
            <a:off x="441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Roots connect to growers</a:t>
            </a:r>
          </a:p>
        </p:txBody>
      </p:sp>
      <p:sp>
        <p:nvSpPr>
          <p:cNvPr id="10" name="text-57">
            <a:extLst xmlns:a="http://schemas.openxmlformats.org/drawingml/2006/main">
              <a:ext uri="{FF2B5EF4-FFF2-40B4-BE49-F238E27FC236}">
                <a16:creationId xmlns:a16="http://schemas.microsoft.com/office/drawing/2014/main" id="{F1A87455-4161-4C2A-A11A-A17BB1FE4F87}"/>
              </a:ext>
            </a:extLst>
          </p:cNvPr>
          <p:cNvSpPr>
            <a:spLocks xmlns:a="http://schemas.openxmlformats.org/drawingml/2006/main" noGrp="1"/>
          </p:cNvSpPr>
          <p:nvPr/>
        </p:nvSpPr>
        <p:spPr>
          <a:xfrm xmlns:a="http://schemas.openxmlformats.org/drawingml/2006/main">
            <a:off x="441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Purple and pale sections exchange focus. Grower photography enters as one bold visual panel.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858df2107064a22"/>
          <a:stretch xmlns:a="http://schemas.openxmlformats.org/drawingml/2006/main"/>
        </p:blipFill>
        <p:spPr>
          <a:xfrm xmlns:a="http://schemas.openxmlformats.org/drawingml/2006/main">
            <a:off x="8229600" y="2714942"/>
            <a:ext cx="3352800" cy="1599565"/>
          </a:xfrm>
          <a:prstGeom xmlns:a="http://schemas.openxmlformats.org/drawingml/2006/main" prst="rect">
            <a:avLst/>
          </a:prstGeom>
        </p:spPr>
      </p:pic>
      <p:sp>
        <p:nvSpPr>
          <p:cNvPr id="12" name="text-58">
            <a:extLst xmlns:a="http://schemas.openxmlformats.org/drawingml/2006/main">
              <a:ext uri="{FF2B5EF4-FFF2-40B4-BE49-F238E27FC236}">
                <a16:creationId xmlns:a16="http://schemas.microsoft.com/office/drawing/2014/main" id="{8D296497-FE8C-4A31-91E8-94024778F88C}"/>
              </a:ext>
            </a:extLst>
          </p:cNvPr>
          <p:cNvSpPr>
            <a:spLocks xmlns:a="http://schemas.openxmlformats.org/drawingml/2006/main" noGrp="1"/>
          </p:cNvSpPr>
          <p:nvPr/>
        </p:nvSpPr>
        <p:spPr>
          <a:xfrm xmlns:a="http://schemas.openxmlformats.org/drawingml/2006/main">
            <a:off x="822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From interest to discovery</a:t>
            </a:r>
          </a:p>
        </p:txBody>
      </p:sp>
      <p:sp>
        <p:nvSpPr>
          <p:cNvPr id="13" name="text-59">
            <a:extLst xmlns:a="http://schemas.openxmlformats.org/drawingml/2006/main">
              <a:ext uri="{FF2B5EF4-FFF2-40B4-BE49-F238E27FC236}">
                <a16:creationId xmlns:a16="http://schemas.microsoft.com/office/drawing/2014/main" id="{74C9A487-B75F-4F39-B60A-1806BA2B19CD}"/>
              </a:ext>
            </a:extLst>
          </p:cNvPr>
          <p:cNvSpPr>
            <a:spLocks xmlns:a="http://schemas.openxmlformats.org/drawingml/2006/main" noGrp="1"/>
          </p:cNvSpPr>
          <p:nvPr/>
        </p:nvSpPr>
        <p:spPr>
          <a:xfrm xmlns:a="http://schemas.openxmlformats.org/drawingml/2006/main">
            <a:off x="822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Farm profiles and published batch summaries resolve through the ID, QR or partner entry point.</a:t>
            </a:r>
          </a:p>
        </p:txBody>
      </p:sp>
    </p:spTree>
    <p:extLst>
      <p:ext uri="{BB962C8B-B14F-4D97-AF65-F5344CB8AC3E}">
        <p14:creationId xmlns:p14="http://schemas.microsoft.com/office/powerpoint/2010/main" val="1577221237"/>
      </p:ext>
    </p:extLst>
  </p:cSld>
</p:sld>
</file>

<file path=ppt/slides/slide1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7AAE64A-00D2-4F4E-972C-1BE3D6822058}"/>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Choosing the public experience</a:t>
            </a:r>
          </a:p>
        </p:txBody>
      </p:sp>
      <p:sp>
        <p:nvSpPr>
          <p:cNvPr id="2" name="slide-subtitle">
            <a:extLst xmlns:a="http://schemas.openxmlformats.org/drawingml/2006/main">
              <a:ext uri="{FF2B5EF4-FFF2-40B4-BE49-F238E27FC236}">
                <a16:creationId xmlns:a16="http://schemas.microsoft.com/office/drawing/2014/main" id="{A55CC8B7-ABB2-4C1B-92B8-91D3788CE511}"/>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All three directions use the proposed catalogue, member portal and batch QR features. Select one for implementation.</a:t>
            </a:r>
          </a:p>
        </p:txBody>
      </p:sp>
      <p:sp>
        <p:nvSpPr>
          <p:cNvPr id="3" name="footer">
            <a:extLst xmlns:a="http://schemas.openxmlformats.org/drawingml/2006/main">
              <a:ext uri="{FF2B5EF4-FFF2-40B4-BE49-F238E27FC236}">
                <a16:creationId xmlns:a16="http://schemas.microsoft.com/office/drawing/2014/main" id="{ACAABCC9-E0F4-426E-9402-3BF8012CA5E4}"/>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A6D73586-4CB5-420B-9399-EF91154DDCD3}"/>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12</a:t>
            </a:r>
          </a:p>
        </p:txBody>
      </p:sp>
      <p:graphicFrame>
        <p:nvGraphicFramePr>
          <p:cNvPr id="11" name=""/>
          <p:cNvGraphicFramePr/>
          <p:nvPr/>
        </p:nvGraphicFramePr>
        <p:xfrm>
          <a:off xmlns:a="http://schemas.openxmlformats.org/drawingml/2006/main" x="609600" y="2400300"/>
          <a:ext xmlns:a="http://schemas.openxmlformats.org/drawingml/2006/main" cx="10972800" cy="3267075"/>
        </p:xfrm>
        <a:graphic xmlns:a="http://schemas.openxmlformats.org/drawingml/2006/main">
          <a:graphicData uri="http://schemas.openxmlformats.org/drawingml/2006/table">
            <a:tbl>
              <a:tblPr firstRow="0" firstCol="0" bandRow="0"/>
              <a:tblGrid>
                <a:gridCol w="2667000"/>
                <a:gridCol w="3429000"/>
                <a:gridCol w="4876800"/>
              </a:tblGrid>
              <a:tr h="523875">
                <a:tc>
                  <a:txBody>
                    <a:bodyPr wrap="square">
                      <a:noAutofit/>
                    </a:bodyPr>
                    <a:lstStyle/>
                    <a:p>
                      <a:r>
                        <a:rPr sz="1650" b="1">
                          <a:solidFill>
                            <a:srgbClr val="FFFFFF"/>
                          </a:solidFill>
                          <a:latin typeface="Arial"/>
                          <a:ea typeface="Arial"/>
                          <a:cs typeface="Arial"/>
                        </a:rPr>
                        <a:t>Direction</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What it emphasizes</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What it needs</a:t>
                      </a:r>
                    </a:p>
                  </a:txBody>
                  <a:tcPr marL="133350" marR="133350" marT="95250" marB="95250" anchor="t">
                    <a:solidFill>
                      <a:srgbClr val="35583C"/>
                    </a:solidFill>
                  </a:tcPr>
                </a:tc>
              </a:tr>
              <a:tr h="914400">
                <a:tc>
                  <a:txBody>
                    <a:bodyPr wrap="square">
                      <a:noAutofit/>
                    </a:bodyPr>
                    <a:lstStyle/>
                    <a:p>
                      <a:r>
                        <a:rPr sz="1650" b="0">
                          <a:solidFill>
                            <a:srgbClr val="35583C"/>
                          </a:solidFill>
                          <a:latin typeface="Arial"/>
                          <a:ea typeface="Arial"/>
                          <a:cs typeface="Arial"/>
                        </a:rPr>
                        <a:t>From Root to Story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A distinctive, connected plant journey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Careful motion, mobile and reduced-motion testing</a:t>
                      </a:r>
                    </a:p>
                  </a:txBody>
                  <a:tcPr marL="133350" marR="133350" marT="95250" marB="95250" anchor="t">
                    <a:solidFill>
                      <a:srgbClr val="F6F3EA"/>
                    </a:solidFill>
                  </a:tcPr>
                </a:tc>
              </a:tr>
              <a:tr h="914400">
                <a:tc>
                  <a:txBody>
                    <a:bodyPr wrap="square">
                      <a:noAutofit/>
                    </a:bodyPr>
                    <a:lstStyle/>
                    <a:p>
                      <a:r>
                        <a:rPr sz="1650" b="0">
                          <a:solidFill>
                            <a:srgbClr val="35583C"/>
                          </a:solidFill>
                          <a:latin typeface="Arial"/>
                          <a:ea typeface="Arial"/>
                          <a:cs typeface="Arial"/>
                        </a:rPr>
                        <a:t>Grown Together in Davao</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Growers, place and the cooperative</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Authentic farm photography and grower stories</a:t>
                      </a:r>
                    </a:p>
                  </a:txBody>
                  <a:tcPr marL="133350" marR="133350" marT="95250" marB="95250" anchor="t">
                    <a:solidFill>
                      <a:srgbClr val="F6F3EA"/>
                    </a:solidFill>
                  </a:tcPr>
                </a:tc>
              </a:tr>
              <a:tr h="914400">
                <a:tc>
                  <a:txBody>
                    <a:bodyPr wrap="square">
                      <a:noAutofit/>
                    </a:bodyPr>
                    <a:lstStyle/>
                    <a:p>
                      <a:r>
                        <a:rPr sz="1650" b="0">
                          <a:solidFill>
                            <a:srgbClr val="35583C"/>
                          </a:solidFill>
                          <a:latin typeface="Arial"/>
                          <a:ea typeface="Arial"/>
                          <a:cs typeface="Arial"/>
                        </a:rPr>
                        <a:t>Purple to the World</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Produce and discovery for prospective buyers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Clear product information, origin content and product imagery</a:t>
                      </a:r>
                    </a:p>
                  </a:txBody>
                  <a:tcPr marL="133350" marR="133350" marT="95250" marB="95250" anchor="t">
                    <a:solidFill>
                      <a:srgbClr val="F6F3EA"/>
                    </a:solidFill>
                  </a:tcPr>
                </a:tc>
              </a:tr>
            </a:tbl>
          </a:graphicData>
        </a:graphic>
      </p:graphicFrame>
      <p:sp>
        <p:nvSpPr>
          <p:cNvPr id="6" name="text-60">
            <a:extLst xmlns:a="http://schemas.openxmlformats.org/drawingml/2006/main">
              <a:ext uri="{FF2B5EF4-FFF2-40B4-BE49-F238E27FC236}">
                <a16:creationId xmlns:a16="http://schemas.microsoft.com/office/drawing/2014/main" id="{AD6DFDE5-74ED-4D87-ADE7-06C0AA3F446F}"/>
              </a:ext>
            </a:extLst>
          </p:cNvPr>
          <p:cNvSpPr>
            <a:spLocks xmlns:a="http://schemas.openxmlformats.org/drawingml/2006/main" noGrp="1"/>
          </p:cNvSpPr>
          <p:nvPr/>
        </p:nvSpPr>
        <p:spPr>
          <a:xfrm xmlns:a="http://schemas.openxmlformats.org/drawingml/2006/main">
            <a:off x="609600" y="58864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The current schedule assumes reuse of From Root to Story. Reassess delivery if another direction is selected.</a:t>
            </a:r>
          </a:p>
        </p:txBody>
      </p:sp>
    </p:spTree>
    <p:extLst>
      <p:ext uri="{BB962C8B-B14F-4D97-AF65-F5344CB8AC3E}">
        <p14:creationId xmlns:p14="http://schemas.microsoft.com/office/powerpoint/2010/main" val="634038239"/>
      </p:ext>
    </p:extLst>
  </p:cSld>
</p:sld>
</file>

<file path=ppt/slides/slide1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406EB44-9530-4D16-B060-35371541CEFB}"/>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Proposed delivery: Weeks 1 to 5</a:t>
            </a:r>
          </a:p>
        </p:txBody>
      </p:sp>
      <p:sp>
        <p:nvSpPr>
          <p:cNvPr id="2" name="slide-subtitle">
            <a:extLst xmlns:a="http://schemas.openxmlformats.org/drawingml/2006/main">
              <a:ext uri="{FF2B5EF4-FFF2-40B4-BE49-F238E27FC236}">
                <a16:creationId xmlns:a16="http://schemas.microsoft.com/office/drawing/2014/main" id="{64BF52DB-4C29-4CF6-AA01-7E0D72A131E4}"/>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Target: 10 weeks, subject to the selected design, agreed working availability and confirmed pilot workflow.</a:t>
            </a:r>
          </a:p>
        </p:txBody>
      </p:sp>
      <p:sp>
        <p:nvSpPr>
          <p:cNvPr id="3" name="footer">
            <a:extLst xmlns:a="http://schemas.openxmlformats.org/drawingml/2006/main">
              <a:ext uri="{FF2B5EF4-FFF2-40B4-BE49-F238E27FC236}">
                <a16:creationId xmlns:a16="http://schemas.microsoft.com/office/drawing/2014/main" id="{566869A2-D95C-46D9-B64F-D9A6B1E14F0F}"/>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92305BDA-D249-4BE9-A74F-A0A96BF99264}"/>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13</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1</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Confirm the 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Confirm one design, pilot records, roles, public fields and whether processors combine harvests.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2</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the foundation</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MongoDB, the Express/Node.js API and sign-in. Test account access and role restrictions.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3</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Organize the ecosystem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farm, produce, partner and account forms. Test saving, editing and permitted access.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4</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Capture farming details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Add planting, plot and care records. Test required fields, dates and record corrections.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5</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Track harvest batches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Add harvest IDs, quantities and status. Review the growing-to-harvest workflow with pilot users.</a:t>
                      </a:r>
                    </a:p>
                  </a:txBody>
                  <a:tcPr marL="133350" marR="133350" marT="95250" marB="95250" anchor="t">
                    <a:solidFill>
                      <a:srgbClr val="F6F3EA"/>
                    </a:solidFill>
                  </a:tcPr>
                </a:tc>
              </a:tr>
            </a:tbl>
          </a:graphicData>
        </a:graphic>
      </p:graphicFrame>
      <p:sp>
        <p:nvSpPr>
          <p:cNvPr id="6" name="text-61">
            <a:extLst xmlns:a="http://schemas.openxmlformats.org/drawingml/2006/main">
              <a:ext uri="{FF2B5EF4-FFF2-40B4-BE49-F238E27FC236}">
                <a16:creationId xmlns:a16="http://schemas.microsoft.com/office/drawing/2014/main" id="{B5B6B05C-8188-4A65-9893-989ABDD43846}"/>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Baseline: reuse From Root to Story. Testing starts during development in Week 2.</a:t>
            </a:r>
          </a:p>
        </p:txBody>
      </p:sp>
    </p:spTree>
    <p:extLst>
      <p:ext uri="{BB962C8B-B14F-4D97-AF65-F5344CB8AC3E}">
        <p14:creationId xmlns:p14="http://schemas.microsoft.com/office/powerpoint/2010/main" val="205290479"/>
      </p:ext>
    </p:extLst>
  </p:cSld>
</p:sld>
</file>

<file path=ppt/slides/slide1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3F1FD62-C721-422D-9138-05484AC879AD}"/>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Proposed delivery: Weeks 6 to 10</a:t>
            </a:r>
          </a:p>
        </p:txBody>
      </p:sp>
      <p:sp>
        <p:nvSpPr>
          <p:cNvPr id="2" name="slide-subtitle">
            <a:extLst xmlns:a="http://schemas.openxmlformats.org/drawingml/2006/main">
              <a:ext uri="{FF2B5EF4-FFF2-40B4-BE49-F238E27FC236}">
                <a16:creationId xmlns:a16="http://schemas.microsoft.com/office/drawing/2014/main" id="{28E8B4CE-2C93-4FB5-9E8D-CCB739695056}"/>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Target: 10 weeks, subject to the selected design, agreed working availability and confirmed pilot workflow.</a:t>
            </a:r>
          </a:p>
        </p:txBody>
      </p:sp>
      <p:sp>
        <p:nvSpPr>
          <p:cNvPr id="3" name="footer">
            <a:extLst xmlns:a="http://schemas.openxmlformats.org/drawingml/2006/main">
              <a:ext uri="{FF2B5EF4-FFF2-40B4-BE49-F238E27FC236}">
                <a16:creationId xmlns:a16="http://schemas.microsoft.com/office/drawing/2014/main" id="{6BEAC890-246A-46E5-8560-37A0D295711D}"/>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7B56B4FD-2780-44BD-B4F9-AA94CFB5EFC0}"/>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14</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6</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processing &amp; recipients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Link processors, lots and recipients. Test origin links and each participant's permitted access.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7</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Publish the consumer view</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public summaries, approvals and QR downloads. Test published, private and unknown IDs.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8</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the landing experience</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the catalogue and chosen design. Check mobile, QR and reduced motion. First review round.</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9</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Review &amp; accept the pilot</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Complete the second review round, pilot acceptance and final workflow, permission and device checks.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10</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Launch &amp; transfer</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Launch with HTTPS and backups. Check restore, train operators and confirm the support handover.</a:t>
                      </a:r>
                    </a:p>
                  </a:txBody>
                  <a:tcPr marL="133350" marR="133350" marT="95250" marB="95250" anchor="t">
                    <a:solidFill>
                      <a:srgbClr val="F6F3EA"/>
                    </a:solidFill>
                  </a:tcPr>
                </a:tc>
              </a:tr>
            </a:tbl>
          </a:graphicData>
        </a:graphic>
      </p:graphicFrame>
      <p:sp>
        <p:nvSpPr>
          <p:cNvPr id="6" name="text-62">
            <a:extLst xmlns:a="http://schemas.openxmlformats.org/drawingml/2006/main">
              <a:ext uri="{FF2B5EF4-FFF2-40B4-BE49-F238E27FC236}">
                <a16:creationId xmlns:a16="http://schemas.microsoft.com/office/drawing/2014/main" id="{905216C4-F5F9-479C-A2CC-9C05458C3AA7}"/>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Review rounds are proposed for Weeks 8 and 9. Client feedback or scope changes may move launch.</a:t>
            </a:r>
          </a:p>
        </p:txBody>
      </p:sp>
    </p:spTree>
    <p:extLst>
      <p:ext uri="{BB962C8B-B14F-4D97-AF65-F5344CB8AC3E}">
        <p14:creationId xmlns:p14="http://schemas.microsoft.com/office/powerpoint/2010/main" val="253890893"/>
      </p:ext>
    </p:extLst>
  </p:cSld>
</p:sld>
</file>

<file path=ppt/slides/slide1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DE1A0132-4599-465D-A7E1-077C6138C395}"/>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Proposed delivery and support</a:t>
            </a:r>
          </a:p>
        </p:txBody>
      </p:sp>
      <p:sp>
        <p:nvSpPr>
          <p:cNvPr id="2" name="slide-subtitle">
            <a:extLst xmlns:a="http://schemas.openxmlformats.org/drawingml/2006/main">
              <a:ext uri="{FF2B5EF4-FFF2-40B4-BE49-F238E27FC236}">
                <a16:creationId xmlns:a16="http://schemas.microsoft.com/office/drawing/2014/main" id="{A130CE53-FD44-4771-9F68-0AAC5CF582E8}"/>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Confirm these arrangements after selecting how we will work together.</a:t>
            </a:r>
          </a:p>
        </p:txBody>
      </p:sp>
      <p:sp>
        <p:nvSpPr>
          <p:cNvPr id="3" name="footer">
            <a:extLst xmlns:a="http://schemas.openxmlformats.org/drawingml/2006/main">
              <a:ext uri="{FF2B5EF4-FFF2-40B4-BE49-F238E27FC236}">
                <a16:creationId xmlns:a16="http://schemas.microsoft.com/office/drawing/2014/main" id="{41480E23-4CFB-4AF6-A2C4-D53B8C1491D4}"/>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29FE42B6-3E81-4587-8B04-43E10ABA9CFC}"/>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15</a:t>
            </a:r>
          </a:p>
        </p:txBody>
      </p:sp>
      <p:sp>
        <p:nvSpPr>
          <p:cNvPr id="5" name="text-63">
            <a:extLst xmlns:a="http://schemas.openxmlformats.org/drawingml/2006/main">
              <a:ext uri="{FF2B5EF4-FFF2-40B4-BE49-F238E27FC236}">
                <a16:creationId xmlns:a16="http://schemas.microsoft.com/office/drawing/2014/main" id="{4A20DB95-1ECA-4E0A-91D0-199DF8D66CE8}"/>
              </a:ext>
            </a:extLst>
          </p:cNvPr>
          <p:cNvSpPr>
            <a:spLocks xmlns:a="http://schemas.openxmlformats.org/drawingml/2006/main" noGrp="1"/>
          </p:cNvSpPr>
          <p:nvPr/>
        </p:nvSpPr>
        <p:spPr>
          <a:xfrm xmlns:a="http://schemas.openxmlformats.org/drawingml/2006/main">
            <a:off x="609600" y="2495550"/>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Proposed delivery items</a:t>
            </a:r>
          </a:p>
        </p:txBody>
      </p:sp>
      <p:sp>
        <p:nvSpPr>
          <p:cNvPr id="6" name="text-64">
            <a:extLst xmlns:a="http://schemas.openxmlformats.org/drawingml/2006/main">
              <a:ext uri="{FF2B5EF4-FFF2-40B4-BE49-F238E27FC236}">
                <a16:creationId xmlns:a16="http://schemas.microsoft.com/office/drawing/2014/main" id="{0282276B-4D6A-4284-84A1-F6F6DAD30AD5}"/>
              </a:ext>
            </a:extLst>
          </p:cNvPr>
          <p:cNvSpPr>
            <a:spLocks xmlns:a="http://schemas.openxmlformats.org/drawingml/2006/main" noGrp="1"/>
          </p:cNvSpPr>
          <p:nvPr/>
        </p:nvSpPr>
        <p:spPr>
          <a:xfrm xmlns:a="http://schemas.openxmlformats.org/drawingml/2006/main">
            <a:off x="609600" y="32194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HTTPS production deployment</a:t>
            </a:r>
          </a:p>
        </p:txBody>
      </p:sp>
      <p:sp>
        <p:nvSpPr>
          <p:cNvPr id="7" name="text-65">
            <a:extLst xmlns:a="http://schemas.openxmlformats.org/drawingml/2006/main">
              <a:ext uri="{FF2B5EF4-FFF2-40B4-BE49-F238E27FC236}">
                <a16:creationId xmlns:a16="http://schemas.microsoft.com/office/drawing/2014/main" id="{C36E781C-A75E-4A3D-B93B-EA5386525902}"/>
              </a:ext>
            </a:extLst>
          </p:cNvPr>
          <p:cNvSpPr>
            <a:spLocks xmlns:a="http://schemas.openxmlformats.org/drawingml/2006/main" noGrp="1"/>
          </p:cNvSpPr>
          <p:nvPr/>
        </p:nvSpPr>
        <p:spPr>
          <a:xfrm xmlns:a="http://schemas.openxmlformats.org/drawingml/2006/main">
            <a:off x="609600" y="369570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Database backups and one restore check</a:t>
            </a:r>
          </a:p>
        </p:txBody>
      </p:sp>
      <p:sp>
        <p:nvSpPr>
          <p:cNvPr id="8" name="text-66">
            <a:extLst xmlns:a="http://schemas.openxmlformats.org/drawingml/2006/main">
              <a:ext uri="{FF2B5EF4-FFF2-40B4-BE49-F238E27FC236}">
                <a16:creationId xmlns:a16="http://schemas.microsoft.com/office/drawing/2014/main" id="{BF8E44EE-3D6D-4820-970F-91F702D05435}"/>
              </a:ext>
            </a:extLst>
          </p:cNvPr>
          <p:cNvSpPr>
            <a:spLocks xmlns:a="http://schemas.openxmlformats.org/drawingml/2006/main" noGrp="1"/>
          </p:cNvSpPr>
          <p:nvPr/>
        </p:nvSpPr>
        <p:spPr>
          <a:xfrm xmlns:a="http://schemas.openxmlformats.org/drawingml/2006/main">
            <a:off x="609600" y="41719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Source files and operator documentation</a:t>
            </a:r>
          </a:p>
        </p:txBody>
      </p:sp>
      <p:sp>
        <p:nvSpPr>
          <p:cNvPr id="9" name="text-67">
            <a:extLst xmlns:a="http://schemas.openxmlformats.org/drawingml/2006/main">
              <a:ext uri="{FF2B5EF4-FFF2-40B4-BE49-F238E27FC236}">
                <a16:creationId xmlns:a16="http://schemas.microsoft.com/office/drawing/2014/main" id="{9243D1FE-A328-40C8-B576-6FEECE5D9900}"/>
              </a:ext>
            </a:extLst>
          </p:cNvPr>
          <p:cNvSpPr>
            <a:spLocks xmlns:a="http://schemas.openxmlformats.org/drawingml/2006/main" noGrp="1"/>
          </p:cNvSpPr>
          <p:nvPr/>
        </p:nvSpPr>
        <p:spPr>
          <a:xfrm xmlns:a="http://schemas.openxmlformats.org/drawingml/2006/main">
            <a:off x="609600" y="464820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One training session and two revision rounds</a:t>
            </a:r>
          </a:p>
        </p:txBody>
      </p:sp>
      <p:sp>
        <p:nvSpPr>
          <p:cNvPr id="10" name="text-68">
            <a:extLst xmlns:a="http://schemas.openxmlformats.org/drawingml/2006/main">
              <a:ext uri="{FF2B5EF4-FFF2-40B4-BE49-F238E27FC236}">
                <a16:creationId xmlns:a16="http://schemas.microsoft.com/office/drawing/2014/main" id="{1DF10539-DEAB-4EC0-BC46-9D1F293A4482}"/>
              </a:ext>
            </a:extLst>
          </p:cNvPr>
          <p:cNvSpPr>
            <a:spLocks xmlns:a="http://schemas.openxmlformats.org/drawingml/2006/main" noGrp="1"/>
          </p:cNvSpPr>
          <p:nvPr/>
        </p:nvSpPr>
        <p:spPr>
          <a:xfrm xmlns:a="http://schemas.openxmlformats.org/drawingml/2006/main">
            <a:off x="609600" y="5124450"/>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30 days of support for delivered defects</a:t>
            </a:r>
          </a:p>
        </p:txBody>
      </p:sp>
      <p:sp>
        <p:nvSpPr>
          <p:cNvPr id="11" name="text-69">
            <a:extLst xmlns:a="http://schemas.openxmlformats.org/drawingml/2006/main">
              <a:ext uri="{FF2B5EF4-FFF2-40B4-BE49-F238E27FC236}">
                <a16:creationId xmlns:a16="http://schemas.microsoft.com/office/drawing/2014/main" id="{57AE7299-F885-485F-A571-C1B103779DF4}"/>
              </a:ext>
            </a:extLst>
          </p:cNvPr>
          <p:cNvSpPr>
            <a:spLocks xmlns:a="http://schemas.openxmlformats.org/drawingml/2006/main" noGrp="1"/>
          </p:cNvSpPr>
          <p:nvPr/>
        </p:nvSpPr>
        <p:spPr>
          <a:xfrm xmlns:a="http://schemas.openxmlformats.org/drawingml/2006/main">
            <a:off x="6619875" y="249555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Pilot scope to confirm</a:t>
            </a:r>
          </a:p>
        </p:txBody>
      </p:sp>
      <p:sp>
        <p:nvSpPr>
          <p:cNvPr id="12" name="text-70">
            <a:extLst xmlns:a="http://schemas.openxmlformats.org/drawingml/2006/main">
              <a:ext uri="{FF2B5EF4-FFF2-40B4-BE49-F238E27FC236}">
                <a16:creationId xmlns:a16="http://schemas.microsoft.com/office/drawing/2014/main" id="{63B5A0EA-C6E8-4FBF-AF2B-C003E60000E2}"/>
              </a:ext>
            </a:extLst>
          </p:cNvPr>
          <p:cNvSpPr>
            <a:spLocks xmlns:a="http://schemas.openxmlformats.org/drawingml/2006/main" noGrp="1"/>
          </p:cNvSpPr>
          <p:nvPr/>
        </p:nvSpPr>
        <p:spPr>
          <a:xfrm xmlns:a="http://schemas.openxmlformats.org/drawingml/2006/main">
            <a:off x="6619875" y="32194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 catalogue with manually recorded quantities and availability</a:t>
            </a:r>
          </a:p>
        </p:txBody>
      </p:sp>
      <p:sp>
        <p:nvSpPr>
          <p:cNvPr id="13" name="text-71">
            <a:extLst xmlns:a="http://schemas.openxmlformats.org/drawingml/2006/main">
              <a:ext uri="{FF2B5EF4-FFF2-40B4-BE49-F238E27FC236}">
                <a16:creationId xmlns:a16="http://schemas.microsoft.com/office/drawing/2014/main" id="{54C6C21E-35A4-4B25-B50E-B81A7EE8DA5B}"/>
              </a:ext>
            </a:extLst>
          </p:cNvPr>
          <p:cNvSpPr>
            <a:spLocks xmlns:a="http://schemas.openxmlformats.org/drawingml/2006/main" noGrp="1"/>
          </p:cNvSpPr>
          <p:nvPr/>
        </p:nvSpPr>
        <p:spPr>
          <a:xfrm xmlns:a="http://schemas.openxmlformats.org/drawingml/2006/main">
            <a:off x="6619875" y="38481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One harvest batch per processed lot, pending workflow confirmation</a:t>
            </a:r>
          </a:p>
        </p:txBody>
      </p:sp>
      <p:sp>
        <p:nvSpPr>
          <p:cNvPr id="14" name="text-72">
            <a:extLst xmlns:a="http://schemas.openxmlformats.org/drawingml/2006/main">
              <a:ext uri="{FF2B5EF4-FFF2-40B4-BE49-F238E27FC236}">
                <a16:creationId xmlns:a16="http://schemas.microsoft.com/office/drawing/2014/main" id="{12CCEA04-7216-456A-B1C7-E7C196B36278}"/>
              </a:ext>
            </a:extLst>
          </p:cNvPr>
          <p:cNvSpPr>
            <a:spLocks xmlns:a="http://schemas.openxmlformats.org/drawingml/2006/main" noGrp="1"/>
          </p:cNvSpPr>
          <p:nvPr/>
        </p:nvSpPr>
        <p:spPr>
          <a:xfrm xmlns:a="http://schemas.openxmlformats.org/drawingml/2006/main">
            <a:off x="6619875" y="44767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QR artwork included. Partners handle physical printing</a:t>
            </a:r>
          </a:p>
        </p:txBody>
      </p:sp>
      <p:sp>
        <p:nvSpPr>
          <p:cNvPr id="15" name="text-73">
            <a:extLst xmlns:a="http://schemas.openxmlformats.org/drawingml/2006/main">
              <a:ext uri="{FF2B5EF4-FFF2-40B4-BE49-F238E27FC236}">
                <a16:creationId xmlns:a16="http://schemas.microsoft.com/office/drawing/2014/main" id="{724C086D-4B81-4E4D-AC41-C323915AC030}"/>
              </a:ext>
            </a:extLst>
          </p:cNvPr>
          <p:cNvSpPr>
            <a:spLocks xmlns:a="http://schemas.openxmlformats.org/drawingml/2006/main" noGrp="1"/>
          </p:cNvSpPr>
          <p:nvPr/>
        </p:nvSpPr>
        <p:spPr>
          <a:xfrm xmlns:a="http://schemas.openxmlformats.org/drawingml/2006/main">
            <a:off x="6619875" y="51054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E-commerce, full ERP stock control and external integrations need separate scope</a:t>
            </a:r>
          </a:p>
        </p:txBody>
      </p:sp>
      <p:sp>
        <p:nvSpPr>
          <p:cNvPr id="16" name="divider-74">
            <a:extLst xmlns:a="http://schemas.openxmlformats.org/drawingml/2006/main">
              <a:ext uri="{FF2B5EF4-FFF2-40B4-BE49-F238E27FC236}">
                <a16:creationId xmlns:a16="http://schemas.microsoft.com/office/drawing/2014/main" id="{BE4F6837-4F86-4C53-B6B2-B62DB68D837F}"/>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7" name="text-75">
            <a:extLst xmlns:a="http://schemas.openxmlformats.org/drawingml/2006/main">
              <a:ext uri="{FF2B5EF4-FFF2-40B4-BE49-F238E27FC236}">
                <a16:creationId xmlns:a16="http://schemas.microsoft.com/office/drawing/2014/main" id="{43FB7C6B-7BC4-433C-87FE-482BBFED30B1}"/>
              </a:ext>
            </a:extLst>
          </p:cNvPr>
          <p:cNvSpPr>
            <a:spLocks xmlns:a="http://schemas.openxmlformats.org/drawingml/2006/main" noGrp="1"/>
          </p:cNvSpPr>
          <p:nvPr/>
        </p:nvSpPr>
        <p:spPr>
          <a:xfrm xmlns:a="http://schemas.openxmlformats.org/drawingml/2006/main">
            <a:off x="609600" y="60483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Combining harvests or adding new workflows requires revised scope and delivery planning.</a:t>
            </a:r>
          </a:p>
        </p:txBody>
      </p:sp>
    </p:spTree>
    <p:extLst>
      <p:ext uri="{BB962C8B-B14F-4D97-AF65-F5344CB8AC3E}">
        <p14:creationId xmlns:p14="http://schemas.microsoft.com/office/powerpoint/2010/main" val="1080985222"/>
      </p:ext>
    </p:extLst>
  </p:cSld>
</p:sld>
</file>

<file path=ppt/slides/slide1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4D3D23A2-BB07-4330-BDC3-2EB42EDE1F53}"/>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Pilot acceptance and client inputs</a:t>
            </a:r>
          </a:p>
        </p:txBody>
      </p:sp>
      <p:sp>
        <p:nvSpPr>
          <p:cNvPr id="2" name="slide-subtitle">
            <a:extLst xmlns:a="http://schemas.openxmlformats.org/drawingml/2006/main">
              <a:ext uri="{FF2B5EF4-FFF2-40B4-BE49-F238E27FC236}">
                <a16:creationId xmlns:a16="http://schemas.microsoft.com/office/drawing/2014/main" id="{07FAD08F-934C-4480-B8CF-AD12A2C73A43}"/>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Proposed acceptance checks for the pilot, to confirm before development starts.</a:t>
            </a:r>
          </a:p>
        </p:txBody>
      </p:sp>
      <p:sp>
        <p:nvSpPr>
          <p:cNvPr id="3" name="footer">
            <a:extLst xmlns:a="http://schemas.openxmlformats.org/drawingml/2006/main">
              <a:ext uri="{FF2B5EF4-FFF2-40B4-BE49-F238E27FC236}">
                <a16:creationId xmlns:a16="http://schemas.microsoft.com/office/drawing/2014/main" id="{CDC67C66-232E-46FB-983E-ED2E0330C933}"/>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C014A7E0-5C6F-420A-A653-E3038D162659}"/>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16</a:t>
            </a:r>
          </a:p>
        </p:txBody>
      </p:sp>
      <p:sp>
        <p:nvSpPr>
          <p:cNvPr id="5" name="text-76">
            <a:extLst xmlns:a="http://schemas.openxmlformats.org/drawingml/2006/main">
              <a:ext uri="{FF2B5EF4-FFF2-40B4-BE49-F238E27FC236}">
                <a16:creationId xmlns:a16="http://schemas.microsoft.com/office/drawing/2014/main" id="{53EFF471-BAE8-4B05-A0E5-2DDED699444C}"/>
              </a:ext>
            </a:extLst>
          </p:cNvPr>
          <p:cNvSpPr>
            <a:spLocks xmlns:a="http://schemas.openxmlformats.org/drawingml/2006/main" noGrp="1"/>
          </p:cNvSpPr>
          <p:nvPr/>
        </p:nvSpPr>
        <p:spPr>
          <a:xfrm xmlns:a="http://schemas.openxmlformats.org/drawingml/2006/main">
            <a:off x="609600" y="2495550"/>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Acceptance checks</a:t>
            </a:r>
          </a:p>
        </p:txBody>
      </p:sp>
      <p:sp>
        <p:nvSpPr>
          <p:cNvPr id="6" name="text-77">
            <a:extLst xmlns:a="http://schemas.openxmlformats.org/drawingml/2006/main">
              <a:ext uri="{FF2B5EF4-FFF2-40B4-BE49-F238E27FC236}">
                <a16:creationId xmlns:a16="http://schemas.microsoft.com/office/drawing/2014/main" id="{24FFA245-27FA-4DAC-AECA-B7EFCD2996E3}"/>
              </a:ext>
            </a:extLst>
          </p:cNvPr>
          <p:cNvSpPr>
            <a:spLocks xmlns:a="http://schemas.openxmlformats.org/drawingml/2006/main" noGrp="1"/>
          </p:cNvSpPr>
          <p:nvPr/>
        </p:nvSpPr>
        <p:spPr>
          <a:xfrm xmlns:a="http://schemas.openxmlformats.org/drawingml/2006/main">
            <a:off x="609600" y="32194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 complete farming-to-recipient batch journey</a:t>
            </a:r>
          </a:p>
        </p:txBody>
      </p:sp>
      <p:sp>
        <p:nvSpPr>
          <p:cNvPr id="7" name="text-78">
            <a:extLst xmlns:a="http://schemas.openxmlformats.org/drawingml/2006/main">
              <a:ext uri="{FF2B5EF4-FFF2-40B4-BE49-F238E27FC236}">
                <a16:creationId xmlns:a16="http://schemas.microsoft.com/office/drawing/2014/main" id="{E5F4D31F-4F71-4081-8276-6E3CE5433C5E}"/>
              </a:ext>
            </a:extLst>
          </p:cNvPr>
          <p:cNvSpPr>
            <a:spLocks xmlns:a="http://schemas.openxmlformats.org/drawingml/2006/main" noGrp="1"/>
          </p:cNvSpPr>
          <p:nvPr/>
        </p:nvSpPr>
        <p:spPr>
          <a:xfrm xmlns:a="http://schemas.openxmlformats.org/drawingml/2006/main">
            <a:off x="609600" y="37147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Saved records after refresh and re-login</a:t>
            </a:r>
          </a:p>
        </p:txBody>
      </p:sp>
      <p:sp>
        <p:nvSpPr>
          <p:cNvPr id="8" name="text-79">
            <a:extLst xmlns:a="http://schemas.openxmlformats.org/drawingml/2006/main">
              <a:ext uri="{FF2B5EF4-FFF2-40B4-BE49-F238E27FC236}">
                <a16:creationId xmlns:a16="http://schemas.microsoft.com/office/drawing/2014/main" id="{C33DD472-D80E-4A90-AD99-EF94EE413F53}"/>
              </a:ext>
            </a:extLst>
          </p:cNvPr>
          <p:cNvSpPr>
            <a:spLocks xmlns:a="http://schemas.openxmlformats.org/drawingml/2006/main" noGrp="1"/>
          </p:cNvSpPr>
          <p:nvPr/>
        </p:nvSpPr>
        <p:spPr>
          <a:xfrm xmlns:a="http://schemas.openxmlformats.org/drawingml/2006/main">
            <a:off x="609600" y="42100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Enforced public and private access</a:t>
            </a:r>
          </a:p>
        </p:txBody>
      </p:sp>
      <p:sp>
        <p:nvSpPr>
          <p:cNvPr id="9" name="text-80">
            <a:extLst xmlns:a="http://schemas.openxmlformats.org/drawingml/2006/main">
              <a:ext uri="{FF2B5EF4-FFF2-40B4-BE49-F238E27FC236}">
                <a16:creationId xmlns:a16="http://schemas.microsoft.com/office/drawing/2014/main" id="{E5A66994-3153-4025-BEA4-F9B274C7E1FE}"/>
              </a:ext>
            </a:extLst>
          </p:cNvPr>
          <p:cNvSpPr>
            <a:spLocks xmlns:a="http://schemas.openxmlformats.org/drawingml/2006/main" noGrp="1"/>
          </p:cNvSpPr>
          <p:nvPr/>
        </p:nvSpPr>
        <p:spPr>
          <a:xfrm xmlns:a="http://schemas.openxmlformats.org/drawingml/2006/main">
            <a:off x="609600" y="47053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Correct production QR destinations</a:t>
            </a:r>
          </a:p>
        </p:txBody>
      </p:sp>
      <p:sp>
        <p:nvSpPr>
          <p:cNvPr id="10" name="text-81">
            <a:extLst xmlns:a="http://schemas.openxmlformats.org/drawingml/2006/main">
              <a:ext uri="{FF2B5EF4-FFF2-40B4-BE49-F238E27FC236}">
                <a16:creationId xmlns:a16="http://schemas.microsoft.com/office/drawing/2014/main" id="{4559402E-DC28-4232-A2C4-7ADF1B6D3EF4}"/>
              </a:ext>
            </a:extLst>
          </p:cNvPr>
          <p:cNvSpPr>
            <a:spLocks xmlns:a="http://schemas.openxmlformats.org/drawingml/2006/main" noGrp="1"/>
          </p:cNvSpPr>
          <p:nvPr/>
        </p:nvSpPr>
        <p:spPr>
          <a:xfrm xmlns:a="http://schemas.openxmlformats.org/drawingml/2006/main">
            <a:off x="609600" y="52006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Mobile, keyboard and reduced-motion checks</a:t>
            </a:r>
          </a:p>
        </p:txBody>
      </p:sp>
      <p:sp>
        <p:nvSpPr>
          <p:cNvPr id="11" name="text-82">
            <a:extLst xmlns:a="http://schemas.openxmlformats.org/drawingml/2006/main">
              <a:ext uri="{FF2B5EF4-FFF2-40B4-BE49-F238E27FC236}">
                <a16:creationId xmlns:a16="http://schemas.microsoft.com/office/drawing/2014/main" id="{230E9B6E-1EE8-41AE-B311-BC2151BC05DE}"/>
              </a:ext>
            </a:extLst>
          </p:cNvPr>
          <p:cNvSpPr>
            <a:spLocks xmlns:a="http://schemas.openxmlformats.org/drawingml/2006/main" noGrp="1"/>
          </p:cNvSpPr>
          <p:nvPr/>
        </p:nvSpPr>
        <p:spPr>
          <a:xfrm xmlns:a="http://schemas.openxmlformats.org/drawingml/2006/main">
            <a:off x="6619875" y="249555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Client inputs</a:t>
            </a:r>
          </a:p>
        </p:txBody>
      </p:sp>
      <p:sp>
        <p:nvSpPr>
          <p:cNvPr id="12" name="text-83">
            <a:extLst xmlns:a="http://schemas.openxmlformats.org/drawingml/2006/main">
              <a:ext uri="{FF2B5EF4-FFF2-40B4-BE49-F238E27FC236}">
                <a16:creationId xmlns:a16="http://schemas.microsoft.com/office/drawing/2014/main" id="{4E57D3E1-38D2-4B27-864E-A6E7B7DBAEA5}"/>
              </a:ext>
            </a:extLst>
          </p:cNvPr>
          <p:cNvSpPr>
            <a:spLocks xmlns:a="http://schemas.openxmlformats.org/drawingml/2006/main" noGrp="1"/>
          </p:cNvSpPr>
          <p:nvPr/>
        </p:nvSpPr>
        <p:spPr>
          <a:xfrm xmlns:a="http://schemas.openxmlformats.org/drawingml/2006/main">
            <a:off x="6619875" y="32194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Approved identity, photographs and leadership roles</a:t>
            </a:r>
          </a:p>
        </p:txBody>
      </p:sp>
      <p:sp>
        <p:nvSpPr>
          <p:cNvPr id="13" name="text-84">
            <a:extLst xmlns:a="http://schemas.openxmlformats.org/drawingml/2006/main">
              <a:ext uri="{FF2B5EF4-FFF2-40B4-BE49-F238E27FC236}">
                <a16:creationId xmlns:a16="http://schemas.microsoft.com/office/drawing/2014/main" id="{9B06B396-51A7-49D1-B7A5-A2FCE6664CB5}"/>
              </a:ext>
            </a:extLst>
          </p:cNvPr>
          <p:cNvSpPr>
            <a:spLocks xmlns:a="http://schemas.openxmlformats.org/drawingml/2006/main" noGrp="1"/>
          </p:cNvSpPr>
          <p:nvPr/>
        </p:nvSpPr>
        <p:spPr>
          <a:xfrm xmlns:a="http://schemas.openxmlformats.org/drawingml/2006/main">
            <a:off x="6619875" y="38481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Sample farm, batch and partner records</a:t>
            </a:r>
          </a:p>
        </p:txBody>
      </p:sp>
      <p:sp>
        <p:nvSpPr>
          <p:cNvPr id="14" name="text-85">
            <a:extLst xmlns:a="http://schemas.openxmlformats.org/drawingml/2006/main">
              <a:ext uri="{FF2B5EF4-FFF2-40B4-BE49-F238E27FC236}">
                <a16:creationId xmlns:a16="http://schemas.microsoft.com/office/drawing/2014/main" id="{8E01F35D-0A3D-4C2C-88CF-2498E2FB2E0B}"/>
              </a:ext>
            </a:extLst>
          </p:cNvPr>
          <p:cNvSpPr>
            <a:spLocks xmlns:a="http://schemas.openxmlformats.org/drawingml/2006/main" noGrp="1"/>
          </p:cNvSpPr>
          <p:nvPr/>
        </p:nvSpPr>
        <p:spPr>
          <a:xfrm xmlns:a="http://schemas.openxmlformats.org/drawingml/2006/main">
            <a:off x="6619875" y="44767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Confirmed processing workflow and visibility rules</a:t>
            </a:r>
          </a:p>
        </p:txBody>
      </p:sp>
      <p:sp>
        <p:nvSpPr>
          <p:cNvPr id="15" name="text-86">
            <a:extLst xmlns:a="http://schemas.openxmlformats.org/drawingml/2006/main">
              <a:ext uri="{FF2B5EF4-FFF2-40B4-BE49-F238E27FC236}">
                <a16:creationId xmlns:a16="http://schemas.microsoft.com/office/drawing/2014/main" id="{14CE9CA8-E021-428F-8823-50211850C9F3}"/>
              </a:ext>
            </a:extLst>
          </p:cNvPr>
          <p:cNvSpPr>
            <a:spLocks xmlns:a="http://schemas.openxmlformats.org/drawingml/2006/main" noGrp="1"/>
          </p:cNvSpPr>
          <p:nvPr/>
        </p:nvSpPr>
        <p:spPr>
          <a:xfrm xmlns:a="http://schemas.openxmlformats.org/drawingml/2006/main">
            <a:off x="6619875" y="51054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Deployment accounts and one review contact</a:t>
            </a:r>
          </a:p>
        </p:txBody>
      </p:sp>
      <p:sp>
        <p:nvSpPr>
          <p:cNvPr id="16" name="divider-87">
            <a:extLst xmlns:a="http://schemas.openxmlformats.org/drawingml/2006/main">
              <a:ext uri="{FF2B5EF4-FFF2-40B4-BE49-F238E27FC236}">
                <a16:creationId xmlns:a16="http://schemas.microsoft.com/office/drawing/2014/main" id="{29FE01BF-A463-408E-825D-55A6D9436971}"/>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7" name="text-88">
            <a:extLst xmlns:a="http://schemas.openxmlformats.org/drawingml/2006/main">
              <a:ext uri="{FF2B5EF4-FFF2-40B4-BE49-F238E27FC236}">
                <a16:creationId xmlns:a16="http://schemas.microsoft.com/office/drawing/2014/main" id="{6D8AA0E6-4EEF-4D04-B939-11AB727C68D5}"/>
              </a:ext>
            </a:extLst>
          </p:cNvPr>
          <p:cNvSpPr>
            <a:spLocks xmlns:a="http://schemas.openxmlformats.org/drawingml/2006/main" noGrp="1"/>
          </p:cNvSpPr>
          <p:nvPr/>
        </p:nvSpPr>
        <p:spPr>
          <a:xfrm xmlns:a="http://schemas.openxmlformats.org/drawingml/2006/main">
            <a:off x="609600" y="60483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5583C"/>
                </a:solidFill>
                <a:latin typeface="Arial"/>
                <a:ea typeface="Arial"/>
                <a:cs typeface="Arial"/>
              </a:defRPr>
            </a:pPr>
            <a:r>
              <a:rPr sz="1425" b="0">
                <a:solidFill>
                  <a:srgbClr val="35583C"/>
                </a:solidFill>
                <a:latin typeface="Arial"/>
                <a:ea typeface="Arial"/>
                <a:cs typeface="Arial"/>
              </a:rPr>
              <a:t>Proposed assisted setup: 10 farms, 20 batches and 25 accounts. Ordinary records can be added afterward.</a:t>
            </a:r>
          </a:p>
        </p:txBody>
      </p:sp>
    </p:spTree>
    <p:extLst>
      <p:ext uri="{BB962C8B-B14F-4D97-AF65-F5344CB8AC3E}">
        <p14:creationId xmlns:p14="http://schemas.microsoft.com/office/powerpoint/2010/main" val="1868296911"/>
      </p:ext>
    </p:extLst>
  </p:cSld>
</p:sld>
</file>

<file path=ppt/slides/slide1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D4D8EDAC-DE8A-4A86-A3BA-25EBA762A8BC}"/>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How should we work together?</a:t>
            </a:r>
          </a:p>
        </p:txBody>
      </p:sp>
      <p:sp>
        <p:nvSpPr>
          <p:cNvPr id="2" name="footer">
            <a:extLst xmlns:a="http://schemas.openxmlformats.org/drawingml/2006/main">
              <a:ext uri="{FF2B5EF4-FFF2-40B4-BE49-F238E27FC236}">
                <a16:creationId xmlns:a16="http://schemas.microsoft.com/office/drawing/2014/main" id="{E45D58B1-410D-45CC-ADC0-8F6ED75E0FBD}"/>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E19E959A-C19B-4587-AB2E-A46FBCD7ED98}"/>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17</a:t>
            </a:r>
          </a:p>
        </p:txBody>
      </p:sp>
      <p:sp>
        <p:nvSpPr>
          <p:cNvPr id="4" name="text-89">
            <a:extLst xmlns:a="http://schemas.openxmlformats.org/drawingml/2006/main">
              <a:ext uri="{FF2B5EF4-FFF2-40B4-BE49-F238E27FC236}">
                <a16:creationId xmlns:a16="http://schemas.microsoft.com/office/drawing/2014/main" id="{D6D9313C-6D77-4A33-8941-1B4D84E6F365}"/>
              </a:ext>
            </a:extLst>
          </p:cNvPr>
          <p:cNvSpPr>
            <a:spLocks xmlns:a="http://schemas.openxmlformats.org/drawingml/2006/main" noGrp="1"/>
          </p:cNvSpPr>
          <p:nvPr/>
        </p:nvSpPr>
        <p:spPr>
          <a:xfrm xmlns:a="http://schemas.openxmlformats.org/drawingml/2006/main">
            <a:off x="609600" y="1619250"/>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35583C"/>
                </a:solidFill>
                <a:latin typeface="Arial"/>
                <a:ea typeface="Arial"/>
                <a:cs typeface="Arial"/>
              </a:defRPr>
            </a:pPr>
            <a:r>
              <a:rPr sz="2625" b="0">
                <a:solidFill>
                  <a:srgbClr val="35583C"/>
                </a:solidFill>
                <a:latin typeface="Arial"/>
                <a:ea typeface="Arial"/>
                <a:cs typeface="Arial"/>
              </a:rPr>
              <a:t>Will this be project-based, a service contract for an agreed period, or direct employment?</a:t>
            </a:r>
          </a:p>
        </p:txBody>
      </p:sp>
      <p:sp>
        <p:nvSpPr>
          <p:cNvPr id="5" name="text-90">
            <a:extLst xmlns:a="http://schemas.openxmlformats.org/drawingml/2006/main">
              <a:ext uri="{FF2B5EF4-FFF2-40B4-BE49-F238E27FC236}">
                <a16:creationId xmlns:a16="http://schemas.microsoft.com/office/drawing/2014/main" id="{2622F7B6-68B4-4A64-AEF0-57822450BE75}"/>
              </a:ext>
            </a:extLst>
          </p:cNvPr>
          <p:cNvSpPr>
            <a:spLocks xmlns:a="http://schemas.openxmlformats.org/drawingml/2006/main" noGrp="1"/>
          </p:cNvSpPr>
          <p:nvPr/>
        </p:nvSpPr>
        <p:spPr>
          <a:xfrm xmlns:a="http://schemas.openxmlformats.org/drawingml/2006/main">
            <a:off x="60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Project-based</a:t>
            </a:r>
          </a:p>
        </p:txBody>
      </p:sp>
      <p:sp>
        <p:nvSpPr>
          <p:cNvPr id="6" name="text-91">
            <a:extLst xmlns:a="http://schemas.openxmlformats.org/drawingml/2006/main">
              <a:ext uri="{FF2B5EF4-FFF2-40B4-BE49-F238E27FC236}">
                <a16:creationId xmlns:a16="http://schemas.microsoft.com/office/drawing/2014/main" id="{07E6F93E-2516-4082-BEA1-00DC91E66B43}"/>
              </a:ext>
            </a:extLst>
          </p:cNvPr>
          <p:cNvSpPr>
            <a:spLocks xmlns:a="http://schemas.openxmlformats.org/drawingml/2006/main" noGrp="1"/>
          </p:cNvSpPr>
          <p:nvPr/>
        </p:nvSpPr>
        <p:spPr>
          <a:xfrm xmlns:a="http://schemas.openxmlformats.org/drawingml/2006/main">
            <a:off x="60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Deliver the defined MVP through agreed milestones and a handover.</a:t>
            </a:r>
          </a:p>
        </p:txBody>
      </p:sp>
      <p:sp>
        <p:nvSpPr>
          <p:cNvPr id="7" name="divider-92">
            <a:extLst xmlns:a="http://schemas.openxmlformats.org/drawingml/2006/main">
              <a:ext uri="{FF2B5EF4-FFF2-40B4-BE49-F238E27FC236}">
                <a16:creationId xmlns:a16="http://schemas.microsoft.com/office/drawing/2014/main" id="{FFFF15D1-331C-4632-A815-06C9EE01EFAC}"/>
              </a:ext>
            </a:extLst>
          </p:cNvPr>
          <p:cNvSpPr>
            <a:spLocks xmlns:a="http://schemas.openxmlformats.org/drawingml/2006/main" noGrp="1"/>
          </p:cNvSpPr>
          <p:nvPr/>
        </p:nvSpPr>
        <p:spPr>
          <a:xfrm xmlns:a="http://schemas.openxmlformats.org/drawingml/2006/main">
            <a:off x="60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93">
            <a:extLst xmlns:a="http://schemas.openxmlformats.org/drawingml/2006/main">
              <a:ext uri="{FF2B5EF4-FFF2-40B4-BE49-F238E27FC236}">
                <a16:creationId xmlns:a16="http://schemas.microsoft.com/office/drawing/2014/main" id="{E85864FA-4558-47FF-AD3A-88F3EFDE7B1F}"/>
              </a:ext>
            </a:extLst>
          </p:cNvPr>
          <p:cNvSpPr>
            <a:spLocks xmlns:a="http://schemas.openxmlformats.org/drawingml/2006/main" noGrp="1"/>
          </p:cNvSpPr>
          <p:nvPr/>
        </p:nvSpPr>
        <p:spPr>
          <a:xfrm xmlns:a="http://schemas.openxmlformats.org/drawingml/2006/main">
            <a:off x="60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Does the engagement end after MVP acceptance and launch support?</a:t>
            </a:r>
          </a:p>
        </p:txBody>
      </p:sp>
      <p:sp>
        <p:nvSpPr>
          <p:cNvPr id="9" name="text-94">
            <a:extLst xmlns:a="http://schemas.openxmlformats.org/drawingml/2006/main">
              <a:ext uri="{FF2B5EF4-FFF2-40B4-BE49-F238E27FC236}">
                <a16:creationId xmlns:a16="http://schemas.microsoft.com/office/drawing/2014/main" id="{980744B6-A644-4B2C-A63A-9DA4492BF77E}"/>
              </a:ext>
            </a:extLst>
          </p:cNvPr>
          <p:cNvSpPr>
            <a:spLocks xmlns:a="http://schemas.openxmlformats.org/drawingml/2006/main" noGrp="1"/>
          </p:cNvSpPr>
          <p:nvPr/>
        </p:nvSpPr>
        <p:spPr>
          <a:xfrm xmlns:a="http://schemas.openxmlformats.org/drawingml/2006/main">
            <a:off x="441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Service contract</a:t>
            </a:r>
          </a:p>
        </p:txBody>
      </p:sp>
      <p:sp>
        <p:nvSpPr>
          <p:cNvPr id="10" name="text-95">
            <a:extLst xmlns:a="http://schemas.openxmlformats.org/drawingml/2006/main">
              <a:ext uri="{FF2B5EF4-FFF2-40B4-BE49-F238E27FC236}">
                <a16:creationId xmlns:a16="http://schemas.microsoft.com/office/drawing/2014/main" id="{EC27BC8F-90B4-4178-BCB1-243ECF88B8F2}"/>
              </a:ext>
            </a:extLst>
          </p:cNvPr>
          <p:cNvSpPr>
            <a:spLocks xmlns:a="http://schemas.openxmlformats.org/drawingml/2006/main" noGrp="1"/>
          </p:cNvSpPr>
          <p:nvPr/>
        </p:nvSpPr>
        <p:spPr>
          <a:xfrm xmlns:a="http://schemas.openxmlformats.org/drawingml/2006/main">
            <a:off x="441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Provide development and support over an agreed period.</a:t>
            </a:r>
          </a:p>
        </p:txBody>
      </p:sp>
      <p:sp>
        <p:nvSpPr>
          <p:cNvPr id="11" name="divider-96">
            <a:extLst xmlns:a="http://schemas.openxmlformats.org/drawingml/2006/main">
              <a:ext uri="{FF2B5EF4-FFF2-40B4-BE49-F238E27FC236}">
                <a16:creationId xmlns:a16="http://schemas.microsoft.com/office/drawing/2014/main" id="{79AD0D23-7045-4738-AFC2-9FE6ED4D2CD7}"/>
              </a:ext>
            </a:extLst>
          </p:cNvPr>
          <p:cNvSpPr>
            <a:spLocks xmlns:a="http://schemas.openxmlformats.org/drawingml/2006/main" noGrp="1"/>
          </p:cNvSpPr>
          <p:nvPr/>
        </p:nvSpPr>
        <p:spPr>
          <a:xfrm xmlns:a="http://schemas.openxmlformats.org/drawingml/2006/main">
            <a:off x="441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2" name="text-97">
            <a:extLst xmlns:a="http://schemas.openxmlformats.org/drawingml/2006/main">
              <a:ext uri="{FF2B5EF4-FFF2-40B4-BE49-F238E27FC236}">
                <a16:creationId xmlns:a16="http://schemas.microsoft.com/office/drawing/2014/main" id="{6BD57EF3-5FBE-4EC9-84F0-3251C0ACEF74}"/>
              </a:ext>
            </a:extLst>
          </p:cNvPr>
          <p:cNvSpPr>
            <a:spLocks xmlns:a="http://schemas.openxmlformats.org/drawingml/2006/main" noGrp="1"/>
          </p:cNvSpPr>
          <p:nvPr/>
        </p:nvSpPr>
        <p:spPr>
          <a:xfrm xmlns:a="http://schemas.openxmlformats.org/drawingml/2006/main">
            <a:off x="441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duration, work commitment and ongoing support do you expect?</a:t>
            </a:r>
          </a:p>
        </p:txBody>
      </p:sp>
      <p:sp>
        <p:nvSpPr>
          <p:cNvPr id="13" name="text-98">
            <a:extLst xmlns:a="http://schemas.openxmlformats.org/drawingml/2006/main">
              <a:ext uri="{FF2B5EF4-FFF2-40B4-BE49-F238E27FC236}">
                <a16:creationId xmlns:a16="http://schemas.microsoft.com/office/drawing/2014/main" id="{CD1F52DC-8CB0-45C6-AB6F-4CF3AD48608B}"/>
              </a:ext>
            </a:extLst>
          </p:cNvPr>
          <p:cNvSpPr>
            <a:spLocks xmlns:a="http://schemas.openxmlformats.org/drawingml/2006/main" noGrp="1"/>
          </p:cNvSpPr>
          <p:nvPr/>
        </p:nvSpPr>
        <p:spPr>
          <a:xfrm xmlns:a="http://schemas.openxmlformats.org/drawingml/2006/main">
            <a:off x="822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Direct employment</a:t>
            </a:r>
          </a:p>
        </p:txBody>
      </p:sp>
      <p:sp>
        <p:nvSpPr>
          <p:cNvPr id="14" name="text-99">
            <a:extLst xmlns:a="http://schemas.openxmlformats.org/drawingml/2006/main">
              <a:ext uri="{FF2B5EF4-FFF2-40B4-BE49-F238E27FC236}">
                <a16:creationId xmlns:a16="http://schemas.microsoft.com/office/drawing/2014/main" id="{5D1252DD-0FAB-4931-8F5C-EFA02D524A6F}"/>
              </a:ext>
            </a:extLst>
          </p:cNvPr>
          <p:cNvSpPr>
            <a:spLocks xmlns:a="http://schemas.openxmlformats.org/drawingml/2006/main" noGrp="1"/>
          </p:cNvSpPr>
          <p:nvPr/>
        </p:nvSpPr>
        <p:spPr>
          <a:xfrm xmlns:a="http://schemas.openxmlformats.org/drawingml/2006/main">
            <a:off x="822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Join the team in a role that supports the system and broader priorities.</a:t>
            </a:r>
          </a:p>
        </p:txBody>
      </p:sp>
      <p:sp>
        <p:nvSpPr>
          <p:cNvPr id="15" name="divider-100">
            <a:extLst xmlns:a="http://schemas.openxmlformats.org/drawingml/2006/main">
              <a:ext uri="{FF2B5EF4-FFF2-40B4-BE49-F238E27FC236}">
                <a16:creationId xmlns:a16="http://schemas.microsoft.com/office/drawing/2014/main" id="{D0D95E27-2F44-47AF-951B-42A7361DB69D}"/>
              </a:ext>
            </a:extLst>
          </p:cNvPr>
          <p:cNvSpPr>
            <a:spLocks xmlns:a="http://schemas.openxmlformats.org/drawingml/2006/main" noGrp="1"/>
          </p:cNvSpPr>
          <p:nvPr/>
        </p:nvSpPr>
        <p:spPr>
          <a:xfrm xmlns:a="http://schemas.openxmlformats.org/drawingml/2006/main">
            <a:off x="822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6" name="text-101">
            <a:extLst xmlns:a="http://schemas.openxmlformats.org/drawingml/2006/main">
              <a:ext uri="{FF2B5EF4-FFF2-40B4-BE49-F238E27FC236}">
                <a16:creationId xmlns:a16="http://schemas.microsoft.com/office/drawing/2014/main" id="{62DB746C-C851-43CB-AD3A-9E7C1093D04E}"/>
              </a:ext>
            </a:extLst>
          </p:cNvPr>
          <p:cNvSpPr>
            <a:spLocks xmlns:a="http://schemas.openxmlformats.org/drawingml/2006/main" noGrp="1"/>
          </p:cNvSpPr>
          <p:nvPr/>
        </p:nvSpPr>
        <p:spPr>
          <a:xfrm xmlns:a="http://schemas.openxmlformats.org/drawingml/2006/main">
            <a:off x="822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role, reporting line and responsibilities do you have in mind?</a:t>
            </a:r>
          </a:p>
        </p:txBody>
      </p:sp>
    </p:spTree>
    <p:extLst>
      <p:ext uri="{BB962C8B-B14F-4D97-AF65-F5344CB8AC3E}">
        <p14:creationId xmlns:p14="http://schemas.microsoft.com/office/powerpoint/2010/main" val="1221247047"/>
      </p:ext>
    </p:extLst>
  </p:cSld>
</p:sld>
</file>

<file path=ppt/slides/slide18.xml><?xml version="1.0" encoding="utf-8"?>
<p:sld xmlns:p="http://schemas.openxmlformats.org/presentationml/2006/main">
  <p:cSld>
    <p:bg>
      <p:bgPr>
        <a:solidFill xmlns:a="http://schemas.openxmlformats.org/drawingml/2006/main">
          <a:srgbClr val="542A69"/>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6FAED063-E4F9-4D20-9C5A-C8CE74127224}"/>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F6F3EA"/>
                </a:solidFill>
                <a:latin typeface="Georgia"/>
                <a:ea typeface="Georgia"/>
                <a:cs typeface="Georgia"/>
              </a:defRPr>
            </a:pPr>
            <a:r>
              <a:rPr sz="3300" b="0">
                <a:solidFill>
                  <a:srgbClr val="F6F3EA"/>
                </a:solidFill>
                <a:latin typeface="Georgia"/>
                <a:ea typeface="Georgia"/>
                <a:cs typeface="Georgia"/>
              </a:rPr>
              <a:t>Decisions for the client discussion</a:t>
            </a:r>
          </a:p>
        </p:txBody>
      </p:sp>
      <p:sp>
        <p:nvSpPr>
          <p:cNvPr id="2" name="footer">
            <a:extLst xmlns:a="http://schemas.openxmlformats.org/drawingml/2006/main">
              <a:ext uri="{FF2B5EF4-FFF2-40B4-BE49-F238E27FC236}">
                <a16:creationId xmlns:a16="http://schemas.microsoft.com/office/drawing/2014/main" id="{40A2E9D8-79E5-4860-8278-053A07A71E0F}"/>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C2CE9F"/>
                </a:solidFill>
                <a:latin typeface="Arial"/>
                <a:ea typeface="Arial"/>
                <a:cs typeface="Arial"/>
              </a:defRPr>
            </a:pPr>
            <a:r>
              <a:rPr sz="900" b="0">
                <a:solidFill>
                  <a:srgbClr val="C2CE9F"/>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3B0EE4A3-3DE1-4BD0-B5F5-031914562D14}"/>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C2CE9F"/>
                </a:solidFill>
                <a:latin typeface="Arial"/>
                <a:ea typeface="Arial"/>
                <a:cs typeface="Arial"/>
              </a:defRPr>
            </a:pPr>
            <a:r>
              <a:rPr sz="1125" b="0">
                <a:solidFill>
                  <a:srgbClr val="C2CE9F"/>
                </a:solidFill>
                <a:latin typeface="Arial"/>
                <a:ea typeface="Arial"/>
                <a:cs typeface="Arial"/>
              </a:rPr>
              <a:t>18</a:t>
            </a:r>
          </a:p>
        </p:txBody>
      </p:sp>
      <p:sp>
        <p:nvSpPr>
          <p:cNvPr id="4" name="text-102">
            <a:extLst xmlns:a="http://schemas.openxmlformats.org/drawingml/2006/main">
              <a:ext uri="{FF2B5EF4-FFF2-40B4-BE49-F238E27FC236}">
                <a16:creationId xmlns:a16="http://schemas.microsoft.com/office/drawing/2014/main" id="{D36D342A-D034-4B6B-9E0F-128081986A8F}"/>
              </a:ext>
            </a:extLst>
          </p:cNvPr>
          <p:cNvSpPr>
            <a:spLocks xmlns:a="http://schemas.openxmlformats.org/drawingml/2006/main" noGrp="1"/>
          </p:cNvSpPr>
          <p:nvPr/>
        </p:nvSpPr>
        <p:spPr>
          <a:xfrm xmlns:a="http://schemas.openxmlformats.org/drawingml/2006/main">
            <a:off x="6096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Preferred design</a:t>
            </a:r>
          </a:p>
        </p:txBody>
      </p:sp>
      <p:sp>
        <p:nvSpPr>
          <p:cNvPr id="5" name="text-103">
            <a:extLst xmlns:a="http://schemas.openxmlformats.org/drawingml/2006/main">
              <a:ext uri="{FF2B5EF4-FFF2-40B4-BE49-F238E27FC236}">
                <a16:creationId xmlns:a16="http://schemas.microsoft.com/office/drawing/2014/main" id="{302770A4-A947-43AB-ABAB-5F5CFB6B777A}"/>
              </a:ext>
            </a:extLst>
          </p:cNvPr>
          <p:cNvSpPr>
            <a:spLocks xmlns:a="http://schemas.openxmlformats.org/drawingml/2006/main" noGrp="1"/>
          </p:cNvSpPr>
          <p:nvPr/>
        </p:nvSpPr>
        <p:spPr>
          <a:xfrm xmlns:a="http://schemas.openxmlformats.org/drawingml/2006/main">
            <a:off x="6096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Which of the three directions best represents the cooperative?</a:t>
            </a:r>
          </a:p>
        </p:txBody>
      </p:sp>
      <p:sp>
        <p:nvSpPr>
          <p:cNvPr id="6" name="text-104">
            <a:extLst xmlns:a="http://schemas.openxmlformats.org/drawingml/2006/main">
              <a:ext uri="{FF2B5EF4-FFF2-40B4-BE49-F238E27FC236}">
                <a16:creationId xmlns:a16="http://schemas.microsoft.com/office/drawing/2014/main" id="{33A10CAF-F746-418E-B7C8-5754AD1201C8}"/>
              </a:ext>
            </a:extLst>
          </p:cNvPr>
          <p:cNvSpPr>
            <a:spLocks xmlns:a="http://schemas.openxmlformats.org/drawingml/2006/main" noGrp="1"/>
          </p:cNvSpPr>
          <p:nvPr/>
        </p:nvSpPr>
        <p:spPr>
          <a:xfrm xmlns:a="http://schemas.openxmlformats.org/drawingml/2006/main">
            <a:off x="63627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Pilot workflow</a:t>
            </a:r>
          </a:p>
        </p:txBody>
      </p:sp>
      <p:sp>
        <p:nvSpPr>
          <p:cNvPr id="7" name="text-105">
            <a:extLst xmlns:a="http://schemas.openxmlformats.org/drawingml/2006/main">
              <a:ext uri="{FF2B5EF4-FFF2-40B4-BE49-F238E27FC236}">
                <a16:creationId xmlns:a16="http://schemas.microsoft.com/office/drawing/2014/main" id="{E82F7FB3-ED84-4642-AC7D-5A7B265DA961}"/>
              </a:ext>
            </a:extLst>
          </p:cNvPr>
          <p:cNvSpPr>
            <a:spLocks xmlns:a="http://schemas.openxmlformats.org/drawingml/2006/main" noGrp="1"/>
          </p:cNvSpPr>
          <p:nvPr/>
        </p:nvSpPr>
        <p:spPr>
          <a:xfrm xmlns:a="http://schemas.openxmlformats.org/drawingml/2006/main">
            <a:off x="63627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Do processors combine harvests? Who records and approves the public batch details?</a:t>
            </a:r>
          </a:p>
        </p:txBody>
      </p:sp>
      <p:sp>
        <p:nvSpPr>
          <p:cNvPr id="8" name="text-106">
            <a:extLst xmlns:a="http://schemas.openxmlformats.org/drawingml/2006/main">
              <a:ext uri="{FF2B5EF4-FFF2-40B4-BE49-F238E27FC236}">
                <a16:creationId xmlns:a16="http://schemas.microsoft.com/office/drawing/2014/main" id="{DE3E9C07-23D9-4A75-818E-90ACA580478E}"/>
              </a:ext>
            </a:extLst>
          </p:cNvPr>
          <p:cNvSpPr>
            <a:spLocks xmlns:a="http://schemas.openxmlformats.org/drawingml/2006/main" noGrp="1"/>
          </p:cNvSpPr>
          <p:nvPr/>
        </p:nvSpPr>
        <p:spPr>
          <a:xfrm xmlns:a="http://schemas.openxmlformats.org/drawingml/2006/main">
            <a:off x="6096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Working arrangement</a:t>
            </a:r>
          </a:p>
        </p:txBody>
      </p:sp>
      <p:sp>
        <p:nvSpPr>
          <p:cNvPr id="9" name="text-107">
            <a:extLst xmlns:a="http://schemas.openxmlformats.org/drawingml/2006/main">
              <a:ext uri="{FF2B5EF4-FFF2-40B4-BE49-F238E27FC236}">
                <a16:creationId xmlns:a16="http://schemas.microsoft.com/office/drawing/2014/main" id="{DAECE51A-6041-4E82-9918-AE439F6A9671}"/>
              </a:ext>
            </a:extLst>
          </p:cNvPr>
          <p:cNvSpPr>
            <a:spLocks xmlns:a="http://schemas.openxmlformats.org/drawingml/2006/main" noGrp="1"/>
          </p:cNvSpPr>
          <p:nvPr/>
        </p:nvSpPr>
        <p:spPr>
          <a:xfrm xmlns:a="http://schemas.openxmlformats.org/drawingml/2006/main">
            <a:off x="6096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Project-based, a service contract for an agreed period, or direct employment?</a:t>
            </a:r>
          </a:p>
        </p:txBody>
      </p:sp>
      <p:sp>
        <p:nvSpPr>
          <p:cNvPr id="10" name="text-108">
            <a:extLst xmlns:a="http://schemas.openxmlformats.org/drawingml/2006/main">
              <a:ext uri="{FF2B5EF4-FFF2-40B4-BE49-F238E27FC236}">
                <a16:creationId xmlns:a16="http://schemas.microsoft.com/office/drawing/2014/main" id="{36C93AEC-80C3-46EA-B755-9B2BF2D4049A}"/>
              </a:ext>
            </a:extLst>
          </p:cNvPr>
          <p:cNvSpPr>
            <a:spLocks xmlns:a="http://schemas.openxmlformats.org/drawingml/2006/main" noGrp="1"/>
          </p:cNvSpPr>
          <p:nvPr/>
        </p:nvSpPr>
        <p:spPr>
          <a:xfrm xmlns:a="http://schemas.openxmlformats.org/drawingml/2006/main">
            <a:off x="63627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Kickoff readiness</a:t>
            </a:r>
          </a:p>
        </p:txBody>
      </p:sp>
      <p:sp>
        <p:nvSpPr>
          <p:cNvPr id="11" name="text-109">
            <a:extLst xmlns:a="http://schemas.openxmlformats.org/drawingml/2006/main">
              <a:ext uri="{FF2B5EF4-FFF2-40B4-BE49-F238E27FC236}">
                <a16:creationId xmlns:a16="http://schemas.microsoft.com/office/drawing/2014/main" id="{03A803BC-16CB-4837-96E2-D6EEC0B371A6}"/>
              </a:ext>
            </a:extLst>
          </p:cNvPr>
          <p:cNvSpPr>
            <a:spLocks xmlns:a="http://schemas.openxmlformats.org/drawingml/2006/main" noGrp="1"/>
          </p:cNvSpPr>
          <p:nvPr/>
        </p:nvSpPr>
        <p:spPr>
          <a:xfrm xmlns:a="http://schemas.openxmlformats.org/drawingml/2006/main">
            <a:off x="63627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What weekly availability and review schedule can we commit to?</a:t>
            </a:r>
          </a:p>
        </p:txBody>
      </p:sp>
      <p:sp>
        <p:nvSpPr>
          <p:cNvPr id="12" name="text-110">
            <a:extLst xmlns:a="http://schemas.openxmlformats.org/drawingml/2006/main">
              <a:ext uri="{FF2B5EF4-FFF2-40B4-BE49-F238E27FC236}">
                <a16:creationId xmlns:a16="http://schemas.microsoft.com/office/drawing/2014/main" id="{AE80ADCC-7E67-40CC-9F26-A1462F6A9CF6}"/>
              </a:ext>
            </a:extLst>
          </p:cNvPr>
          <p:cNvSpPr>
            <a:spLocks xmlns:a="http://schemas.openxmlformats.org/drawingml/2006/main" noGrp="1"/>
          </p:cNvSpPr>
          <p:nvPr/>
        </p:nvSpPr>
        <p:spPr>
          <a:xfrm xmlns:a="http://schemas.openxmlformats.org/drawingml/2006/main">
            <a:off x="609600" y="6038850"/>
            <a:ext cx="10648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C2CE9F"/>
                </a:solidFill>
                <a:latin typeface="Arial"/>
                <a:ea typeface="Arial"/>
                <a:cs typeface="Arial"/>
              </a:defRPr>
            </a:pPr>
            <a:r>
              <a:rPr sz="1500" b="0">
                <a:solidFill>
                  <a:srgbClr val="C2CE9F"/>
                </a:solidFill>
                <a:latin typeface="Arial"/>
                <a:ea typeface="Arial"/>
                <a:cs typeface="Arial"/>
              </a:rPr>
              <a:t>Confirm the design, workflow and working arrangement before finalizing scope and delivery dates.</a:t>
            </a:r>
          </a:p>
        </p:txBody>
      </p:sp>
    </p:spTree>
    <p:extLst>
      <p:ext uri="{BB962C8B-B14F-4D97-AF65-F5344CB8AC3E}">
        <p14:creationId xmlns:p14="http://schemas.microsoft.com/office/powerpoint/2010/main" val="2095824821"/>
      </p:ext>
    </p:extLst>
  </p:cSld>
</p:sld>
</file>

<file path=ppt/slides/slide1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EF94E2A-1187-4DE5-892F-AB79C91B895F}"/>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Appendix: MERN implementation</a:t>
            </a:r>
          </a:p>
        </p:txBody>
      </p:sp>
      <p:sp>
        <p:nvSpPr>
          <p:cNvPr id="2" name="slide-subtitle">
            <a:extLst xmlns:a="http://schemas.openxmlformats.org/drawingml/2006/main">
              <a:ext uri="{FF2B5EF4-FFF2-40B4-BE49-F238E27FC236}">
                <a16:creationId xmlns:a16="http://schemas.microsoft.com/office/drawing/2014/main" id="{2EE35D64-1E63-496C-8E7C-1B6B0589730C}"/>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MongoDB, Express, React and Node.js 26, with TypeScript across the frontend and backend.</a:t>
            </a:r>
          </a:p>
        </p:txBody>
      </p:sp>
      <p:sp>
        <p:nvSpPr>
          <p:cNvPr id="3" name="footer">
            <a:extLst xmlns:a="http://schemas.openxmlformats.org/drawingml/2006/main">
              <a:ext uri="{FF2B5EF4-FFF2-40B4-BE49-F238E27FC236}">
                <a16:creationId xmlns:a16="http://schemas.microsoft.com/office/drawing/2014/main" id="{3D9F89E5-C7D9-48C8-A55E-807F2EEF5BD3}"/>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ABB0B4E2-71A4-4ADB-B9AE-5B2E11F1E031}"/>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19</a:t>
            </a:r>
          </a:p>
        </p:txBody>
      </p:sp>
      <p:sp>
        <p:nvSpPr>
          <p:cNvPr id="5" name="text-111">
            <a:extLst xmlns:a="http://schemas.openxmlformats.org/drawingml/2006/main">
              <a:ext uri="{FF2B5EF4-FFF2-40B4-BE49-F238E27FC236}">
                <a16:creationId xmlns:a16="http://schemas.microsoft.com/office/drawing/2014/main" id="{98CB56D9-3637-4A27-9724-A2E70BB23D5A}"/>
              </a:ext>
            </a:extLst>
          </p:cNvPr>
          <p:cNvSpPr>
            <a:spLocks xmlns:a="http://schemas.openxmlformats.org/drawingml/2006/main" noGrp="1"/>
          </p:cNvSpPr>
          <p:nvPr/>
        </p:nvSpPr>
        <p:spPr>
          <a:xfrm xmlns:a="http://schemas.openxmlformats.org/drawingml/2006/main">
            <a:off x="609600" y="252412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React</a:t>
            </a:r>
          </a:p>
        </p:txBody>
      </p:sp>
      <p:sp>
        <p:nvSpPr>
          <p:cNvPr id="6" name="text-112">
            <a:extLst xmlns:a="http://schemas.openxmlformats.org/drawingml/2006/main">
              <a:ext uri="{FF2B5EF4-FFF2-40B4-BE49-F238E27FC236}">
                <a16:creationId xmlns:a16="http://schemas.microsoft.com/office/drawing/2014/main" id="{B31E0701-C47F-4EBB-A21F-3891B2714DD5}"/>
              </a:ext>
            </a:extLst>
          </p:cNvPr>
          <p:cNvSpPr>
            <a:spLocks xmlns:a="http://schemas.openxmlformats.org/drawingml/2006/main" noGrp="1"/>
          </p:cNvSpPr>
          <p:nvPr/>
        </p:nvSpPr>
        <p:spPr>
          <a:xfrm xmlns:a="http://schemas.openxmlformats.org/drawingml/2006/main">
            <a:off x="4181475" y="254317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Animated public website, farm catalogue, batch summaries and the member dashboard.</a:t>
            </a:r>
          </a:p>
        </p:txBody>
      </p:sp>
      <p:sp>
        <p:nvSpPr>
          <p:cNvPr id="7" name="divider-113">
            <a:extLst xmlns:a="http://schemas.openxmlformats.org/drawingml/2006/main">
              <a:ext uri="{FF2B5EF4-FFF2-40B4-BE49-F238E27FC236}">
                <a16:creationId xmlns:a16="http://schemas.microsoft.com/office/drawing/2014/main" id="{7767BD29-1DDE-4B3B-BC74-CD45C90C7C4D}"/>
              </a:ext>
            </a:extLst>
          </p:cNvPr>
          <p:cNvSpPr>
            <a:spLocks xmlns:a="http://schemas.openxmlformats.org/drawingml/2006/main" noGrp="1"/>
          </p:cNvSpPr>
          <p:nvPr/>
        </p:nvSpPr>
        <p:spPr>
          <a:xfrm xmlns:a="http://schemas.openxmlformats.org/drawingml/2006/main">
            <a:off x="609600" y="345757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114">
            <a:extLst xmlns:a="http://schemas.openxmlformats.org/drawingml/2006/main">
              <a:ext uri="{FF2B5EF4-FFF2-40B4-BE49-F238E27FC236}">
                <a16:creationId xmlns:a16="http://schemas.microsoft.com/office/drawing/2014/main" id="{DEFD9003-8330-4010-BAFC-833586A56D2C}"/>
              </a:ext>
            </a:extLst>
          </p:cNvPr>
          <p:cNvSpPr>
            <a:spLocks xmlns:a="http://schemas.openxmlformats.org/drawingml/2006/main" noGrp="1"/>
          </p:cNvSpPr>
          <p:nvPr/>
        </p:nvSpPr>
        <p:spPr>
          <a:xfrm xmlns:a="http://schemas.openxmlformats.org/drawingml/2006/main">
            <a:off x="609600" y="36004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Express and Node.js 26</a:t>
            </a:r>
          </a:p>
        </p:txBody>
      </p:sp>
      <p:sp>
        <p:nvSpPr>
          <p:cNvPr id="9" name="text-115">
            <a:extLst xmlns:a="http://schemas.openxmlformats.org/drawingml/2006/main">
              <a:ext uri="{FF2B5EF4-FFF2-40B4-BE49-F238E27FC236}">
                <a16:creationId xmlns:a16="http://schemas.microsoft.com/office/drawing/2014/main" id="{CA57B8F2-A0F7-47C1-8A52-E5DF5C31B013}"/>
              </a:ext>
            </a:extLst>
          </p:cNvPr>
          <p:cNvSpPr>
            <a:spLocks xmlns:a="http://schemas.openxmlformats.org/drawingml/2006/main" noGrp="1"/>
          </p:cNvSpPr>
          <p:nvPr/>
        </p:nvSpPr>
        <p:spPr>
          <a:xfrm xmlns:a="http://schemas.openxmlformats.org/drawingml/2006/main">
            <a:off x="4181475" y="361950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API validation, authenticated access, role permissions and publication controls.</a:t>
            </a:r>
          </a:p>
        </p:txBody>
      </p:sp>
      <p:sp>
        <p:nvSpPr>
          <p:cNvPr id="10" name="divider-116">
            <a:extLst xmlns:a="http://schemas.openxmlformats.org/drawingml/2006/main">
              <a:ext uri="{FF2B5EF4-FFF2-40B4-BE49-F238E27FC236}">
                <a16:creationId xmlns:a16="http://schemas.microsoft.com/office/drawing/2014/main" id="{194185A8-A50E-4374-9A23-1BC8F65573AC}"/>
              </a:ext>
            </a:extLst>
          </p:cNvPr>
          <p:cNvSpPr>
            <a:spLocks xmlns:a="http://schemas.openxmlformats.org/drawingml/2006/main" noGrp="1"/>
          </p:cNvSpPr>
          <p:nvPr/>
        </p:nvSpPr>
        <p:spPr>
          <a:xfrm xmlns:a="http://schemas.openxmlformats.org/drawingml/2006/main">
            <a:off x="609600" y="4533900"/>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117">
            <a:extLst xmlns:a="http://schemas.openxmlformats.org/drawingml/2006/main">
              <a:ext uri="{FF2B5EF4-FFF2-40B4-BE49-F238E27FC236}">
                <a16:creationId xmlns:a16="http://schemas.microsoft.com/office/drawing/2014/main" id="{9741D170-EF71-4B6A-A4B1-815E5D22D0BF}"/>
              </a:ext>
            </a:extLst>
          </p:cNvPr>
          <p:cNvSpPr>
            <a:spLocks xmlns:a="http://schemas.openxmlformats.org/drawingml/2006/main" noGrp="1"/>
          </p:cNvSpPr>
          <p:nvPr/>
        </p:nvSpPr>
        <p:spPr>
          <a:xfrm xmlns:a="http://schemas.openxmlformats.org/drawingml/2006/main">
            <a:off x="609600" y="467677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MongoDB</a:t>
            </a:r>
          </a:p>
        </p:txBody>
      </p:sp>
      <p:sp>
        <p:nvSpPr>
          <p:cNvPr id="12" name="text-118">
            <a:extLst xmlns:a="http://schemas.openxmlformats.org/drawingml/2006/main">
              <a:ext uri="{FF2B5EF4-FFF2-40B4-BE49-F238E27FC236}">
                <a16:creationId xmlns:a16="http://schemas.microsoft.com/office/drawing/2014/main" id="{197CBAE4-7058-4A25-81F9-7BA5DDB567E3}"/>
              </a:ext>
            </a:extLst>
          </p:cNvPr>
          <p:cNvSpPr>
            <a:spLocks xmlns:a="http://schemas.openxmlformats.org/drawingml/2006/main" noGrp="1"/>
          </p:cNvSpPr>
          <p:nvPr/>
        </p:nvSpPr>
        <p:spPr>
          <a:xfrm xmlns:a="http://schemas.openxmlformats.org/drawingml/2006/main">
            <a:off x="4181475" y="469582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Farms, produce, members, batches, processing links, recipients and record history.</a:t>
            </a:r>
          </a:p>
        </p:txBody>
      </p:sp>
      <p:sp>
        <p:nvSpPr>
          <p:cNvPr id="13" name="divider-119">
            <a:extLst xmlns:a="http://schemas.openxmlformats.org/drawingml/2006/main">
              <a:ext uri="{FF2B5EF4-FFF2-40B4-BE49-F238E27FC236}">
                <a16:creationId xmlns:a16="http://schemas.microsoft.com/office/drawing/2014/main" id="{0B1F18E8-F7A4-4492-826A-014D1B21AA75}"/>
              </a:ext>
            </a:extLst>
          </p:cNvPr>
          <p:cNvSpPr>
            <a:spLocks xmlns:a="http://schemas.openxmlformats.org/drawingml/2006/main" noGrp="1"/>
          </p:cNvSpPr>
          <p:nvPr/>
        </p:nvSpPr>
        <p:spPr>
          <a:xfrm xmlns:a="http://schemas.openxmlformats.org/drawingml/2006/main">
            <a:off x="609600" y="5724525"/>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120">
            <a:extLst xmlns:a="http://schemas.openxmlformats.org/drawingml/2006/main">
              <a:ext uri="{FF2B5EF4-FFF2-40B4-BE49-F238E27FC236}">
                <a16:creationId xmlns:a16="http://schemas.microsoft.com/office/drawing/2014/main" id="{51F7B677-E46A-41B2-A16F-38C43F50144E}"/>
              </a:ext>
            </a:extLst>
          </p:cNvPr>
          <p:cNvSpPr>
            <a:spLocks xmlns:a="http://schemas.openxmlformats.org/drawingml/2006/main" noGrp="1"/>
          </p:cNvSpPr>
          <p:nvPr/>
        </p:nvSpPr>
        <p:spPr>
          <a:xfrm xmlns:a="http://schemas.openxmlformats.org/drawingml/2006/main">
            <a:off x="609600" y="5953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UI text and colors stay in constants. Operators edit farm and batch data through the protected dashboard.</a:t>
            </a:r>
          </a:p>
        </p:txBody>
      </p:sp>
    </p:spTree>
    <p:extLst>
      <p:ext uri="{BB962C8B-B14F-4D97-AF65-F5344CB8AC3E}">
        <p14:creationId xmlns:p14="http://schemas.microsoft.com/office/powerpoint/2010/main" val="8681039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2026-10-03T11:01:36.6510000Z</dcterms:created>
  <dcterms:modified xsi:type="dcterms:W3CDTF">2026-10-03T11:01:36.6510000Z</dcterms:modified>
</coreProperties>
</file>