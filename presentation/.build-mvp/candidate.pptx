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935207717c4e18" /><Relationship Type="http://schemas.openxmlformats.org/officeDocument/2006/relationships/extended-properties" Target="/docProps/app.xml" Id="R0ba8af21f020481b" /><Relationship Type="http://schemas.openxmlformats.org/officeDocument/2006/relationships/officeDocument" Target="/ppt/presentation.xml" Id="Rb39253f21be6419a" /></Relationships>
</file>

<file path=ppt/presentation.xml><?xml version="1.0" encoding="utf-8"?>
<p:presentation xmlns:p="http://schemas.openxmlformats.org/presentationml/2006/main">
  <p:sldMasterIdLst>
    <p:sldMasterId xmlns:r="http://schemas.openxmlformats.org/officeDocument/2006/relationships" id="2147483648" r:id="Rceb3873eb7444914"/>
  </p:sldMasterIdLst>
  <p:notesMasterIdLst>
    <p:notesMasterId xmlns:r="http://schemas.openxmlformats.org/officeDocument/2006/relationships" r:id="R982342ec899c4763"/>
  </p:notesMasterIdLst>
  <p:sldIdLst>
    <p:sldId xmlns:r="http://schemas.openxmlformats.org/officeDocument/2006/relationships" id="256" r:id="Rfbe51ebf32514135"/>
    <p:sldId xmlns:r="http://schemas.openxmlformats.org/officeDocument/2006/relationships" id="257" r:id="R942cb5e90cc4437b"/>
    <p:sldId xmlns:r="http://schemas.openxmlformats.org/officeDocument/2006/relationships" id="258" r:id="R05259c975e8c4bbf"/>
    <p:sldId xmlns:r="http://schemas.openxmlformats.org/officeDocument/2006/relationships" id="259" r:id="Rb522edd1a1c24481"/>
    <p:sldId xmlns:r="http://schemas.openxmlformats.org/officeDocument/2006/relationships" id="260" r:id="Raeb499fff0434642"/>
    <p:sldId xmlns:r="http://schemas.openxmlformats.org/officeDocument/2006/relationships" id="261" r:id="Rc10a8149c5904e02"/>
    <p:sldId xmlns:r="http://schemas.openxmlformats.org/officeDocument/2006/relationships" id="262" r:id="Ra1bbfd3bf1494514"/>
    <p:sldId xmlns:r="http://schemas.openxmlformats.org/officeDocument/2006/relationships" id="263" r:id="R4111a97190ad4f86"/>
    <p:sldId xmlns:r="http://schemas.openxmlformats.org/officeDocument/2006/relationships" id="264" r:id="R3508bc420e7c4666"/>
    <p:sldId xmlns:r="http://schemas.openxmlformats.org/officeDocument/2006/relationships" id="265" r:id="Rf3bab640030348ca"/>
    <p:sldId xmlns:r="http://schemas.openxmlformats.org/officeDocument/2006/relationships" id="266" r:id="R0eb516595f8d45f8"/>
    <p:sldId xmlns:r="http://schemas.openxmlformats.org/officeDocument/2006/relationships" id="267" r:id="Rc627a74ddebc4f30"/>
    <p:sldId xmlns:r="http://schemas.openxmlformats.org/officeDocument/2006/relationships" id="268" r:id="Rd5f64fe3cd4d4b05"/>
    <p:sldId xmlns:r="http://schemas.openxmlformats.org/officeDocument/2006/relationships" id="269" r:id="R0f15feb4b5174e9c"/>
    <p:sldId xmlns:r="http://schemas.openxmlformats.org/officeDocument/2006/relationships" id="270" r:id="R4bbb85a6184e4cde"/>
    <p:sldId xmlns:r="http://schemas.openxmlformats.org/officeDocument/2006/relationships" id="271" r:id="R5eeef48ce2f340a3"/>
    <p:sldId xmlns:r="http://schemas.openxmlformats.org/officeDocument/2006/relationships" id="272" r:id="R4cb8dd8f165f4752"/>
    <p:sldId xmlns:r="http://schemas.openxmlformats.org/officeDocument/2006/relationships" id="273" r:id="R8c0fd34a39564685"/>
    <p:sldId xmlns:r="http://schemas.openxmlformats.org/officeDocument/2006/relationships" id="274" r:id="R6094afdcf3494f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e7cdb6c49c4e89" /><Relationship Type="http://schemas.openxmlformats.org/officeDocument/2006/relationships/slideMaster" Target="/ppt/slideMasters/slideMaster1.xml" Id="Rceb3873eb7444914" /><Relationship Type="http://schemas.openxmlformats.org/officeDocument/2006/relationships/notesMaster" Target="/ppt/notesMasters/notesMaster1.xml" Id="R982342ec899c4763" /><Relationship Type="http://schemas.openxmlformats.org/officeDocument/2006/relationships/presProps" Target="/ppt/presProps.xml" Id="Rd5f879195ac041ea" /><Relationship Type="http://schemas.openxmlformats.org/officeDocument/2006/relationships/tableStyles" Target="/ppt/tableStyles.xml" Id="R8cb2797d761b45dc" /><Relationship Type="http://schemas.openxmlformats.org/officeDocument/2006/relationships/slide" Target="/ppt/slides/slide1.xml" Id="Rfbe51ebf32514135" /><Relationship Type="http://schemas.openxmlformats.org/officeDocument/2006/relationships/slide" Target="/ppt/slides/slide2.xml" Id="R942cb5e90cc4437b" /><Relationship Type="http://schemas.openxmlformats.org/officeDocument/2006/relationships/slide" Target="/ppt/slides/slide3.xml" Id="R05259c975e8c4bbf" /><Relationship Type="http://schemas.openxmlformats.org/officeDocument/2006/relationships/slide" Target="/ppt/slides/slide4.xml" Id="Rb522edd1a1c24481" /><Relationship Type="http://schemas.openxmlformats.org/officeDocument/2006/relationships/slide" Target="/ppt/slides/slide5.xml" Id="Raeb499fff0434642" /><Relationship Type="http://schemas.openxmlformats.org/officeDocument/2006/relationships/slide" Target="/ppt/slides/slide6.xml" Id="Rc10a8149c5904e02" /><Relationship Type="http://schemas.openxmlformats.org/officeDocument/2006/relationships/slide" Target="/ppt/slides/slide7.xml" Id="Ra1bbfd3bf1494514" /><Relationship Type="http://schemas.openxmlformats.org/officeDocument/2006/relationships/slide" Target="/ppt/slides/slide8.xml" Id="R4111a97190ad4f86" /><Relationship Type="http://schemas.openxmlformats.org/officeDocument/2006/relationships/slide" Target="/ppt/slides/slide9.xml" Id="R3508bc420e7c4666" /><Relationship Type="http://schemas.openxmlformats.org/officeDocument/2006/relationships/slide" Target="/ppt/slides/slide10.xml" Id="Rf3bab640030348ca" /><Relationship Type="http://schemas.openxmlformats.org/officeDocument/2006/relationships/slide" Target="/ppt/slides/slide11.xml" Id="R0eb516595f8d45f8" /><Relationship Type="http://schemas.openxmlformats.org/officeDocument/2006/relationships/slide" Target="/ppt/slides/slide12.xml" Id="Rc627a74ddebc4f30" /><Relationship Type="http://schemas.openxmlformats.org/officeDocument/2006/relationships/slide" Target="/ppt/slides/slide13.xml" Id="Rd5f64fe3cd4d4b05" /><Relationship Type="http://schemas.openxmlformats.org/officeDocument/2006/relationships/slide" Target="/ppt/slides/slide14.xml" Id="R0f15feb4b5174e9c" /><Relationship Type="http://schemas.openxmlformats.org/officeDocument/2006/relationships/slide" Target="/ppt/slides/slide15.xml" Id="R4bbb85a6184e4cde" /><Relationship Type="http://schemas.openxmlformats.org/officeDocument/2006/relationships/slide" Target="/ppt/slides/slide16.xml" Id="R5eeef48ce2f340a3" /><Relationship Type="http://schemas.openxmlformats.org/officeDocument/2006/relationships/slide" Target="/ppt/slides/slide17.xml" Id="R4cb8dd8f165f4752" /><Relationship Type="http://schemas.openxmlformats.org/officeDocument/2006/relationships/slide" Target="/ppt/slides/slide18.xml" Id="R8c0fd34a39564685" /><Relationship Type="http://schemas.openxmlformats.org/officeDocument/2006/relationships/slide" Target="/ppt/slides/slide19.xml" Id="R6094afdcf3494f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97b9b2227c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f19d5585234db6" /><Relationship Type="http://schemas.openxmlformats.org/officeDocument/2006/relationships/notesMaster" Target="/ppt/notesMasters/notesMaster1.xml" Id="Ree5085b5723943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f1087d50ec4279" /><Relationship Type="http://schemas.openxmlformats.org/officeDocument/2006/relationships/notesMaster" Target="/ppt/notesMasters/notesMaster1.xml" Id="Raab3a72eac2a4c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f6f44e6d67446e" /><Relationship Type="http://schemas.openxmlformats.org/officeDocument/2006/relationships/notesMaster" Target="/ppt/notesMasters/notesMaster1.xml" Id="R8ca90b595ead41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217c5914f84749" /><Relationship Type="http://schemas.openxmlformats.org/officeDocument/2006/relationships/notesMaster" Target="/ppt/notesMasters/notesMaster1.xml" Id="R461ad6f6ca0148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1a37ccece044ee" /><Relationship Type="http://schemas.openxmlformats.org/officeDocument/2006/relationships/notesMaster" Target="/ppt/notesMasters/notesMaster1.xml" Id="Rff32d8832e174a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c88e6c4fc94c71" /><Relationship Type="http://schemas.openxmlformats.org/officeDocument/2006/relationships/notesMaster" Target="/ppt/notesMasters/notesMaster1.xml" Id="R40ffa6439d144f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be394b210b499f" /><Relationship Type="http://schemas.openxmlformats.org/officeDocument/2006/relationships/notesMaster" Target="/ppt/notesMasters/notesMaster1.xml" Id="R19a890f0f2f042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c7e04d30ec4380" /><Relationship Type="http://schemas.openxmlformats.org/officeDocument/2006/relationships/notesMaster" Target="/ppt/notesMasters/notesMaster1.xml" Id="R8f39457a6cd949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6982eb73f44438" /><Relationship Type="http://schemas.openxmlformats.org/officeDocument/2006/relationships/notesMaster" Target="/ppt/notesMasters/notesMaster1.xml" Id="R7c09b7083bf844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c4ae22fe4041e6" /><Relationship Type="http://schemas.openxmlformats.org/officeDocument/2006/relationships/notesMaster" Target="/ppt/notesMasters/notesMaster1.xml" Id="R7a891e3bb0424c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aecc4b32a641ca" /><Relationship Type="http://schemas.openxmlformats.org/officeDocument/2006/relationships/notesMaster" Target="/ppt/notesMasters/notesMaster1.xml" Id="R455d5a0efe404d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ab5226980b42b4" /><Relationship Type="http://schemas.openxmlformats.org/officeDocument/2006/relationships/notesMaster" Target="/ppt/notesMasters/notesMaster1.xml" Id="R0fa24225e7da4e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8151f216ca4114" /><Relationship Type="http://schemas.openxmlformats.org/officeDocument/2006/relationships/notesMaster" Target="/ppt/notesMasters/notesMaster1.xml" Id="R093a8e4cafb244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c979a8de904555" /><Relationship Type="http://schemas.openxmlformats.org/officeDocument/2006/relationships/notesMaster" Target="/ppt/notesMasters/notesMaster1.xml" Id="Rc9dd43a4020b4a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f3f99fb99d4428" /><Relationship Type="http://schemas.openxmlformats.org/officeDocument/2006/relationships/notesMaster" Target="/ppt/notesMasters/notesMaster1.xml" Id="R0540ea4a58424e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b94ad28fb94f42" /><Relationship Type="http://schemas.openxmlformats.org/officeDocument/2006/relationships/notesMaster" Target="/ppt/notesMasters/notesMaster1.xml" Id="Rd5c3fbe88cec44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4188a5530d40b8" /><Relationship Type="http://schemas.openxmlformats.org/officeDocument/2006/relationships/notesMaster" Target="/ppt/notesMasters/notesMaster1.xml" Id="Rd293585c97bf48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628248857c4bbb" /><Relationship Type="http://schemas.openxmlformats.org/officeDocument/2006/relationships/notesMaster" Target="/ppt/notesMasters/notesMaster1.xml" Id="R53ef4a9ed5244b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c1356e0c354f8a" /><Relationship Type="http://schemas.openxmlformats.org/officeDocument/2006/relationships/notesMaster" Target="/ppt/notesMasters/notesMaster1.xml" Id="R575049f55ec34f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Roote Origin MVP, choose one of the three public design directions, and confirm the intended working arrangement. The photograph is AI-generated illustrative imagery from the earlier concept deck, not actual cooperative members. Replace draft branding and photography with approved client material.</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public prototype supplies the visual foundation. The MVP builds a new backend. Only one chosen public design is implemented. Ordinary data entry happens in the protected dashboard.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fictional example follows one source harvest batch through processing to its intended brand owner. Farm A, Processor B, Brand C, dates, quantities and identifiers are sample data. Authorized members can read the permitted origin history. The proposed pilot supports one source harvest batch per processed lot. Combined harvests or mixed-farm processing require a revised workflow and scope before commitment. The system records participant-supplied information and does not independently certify authenticity or export eligibility.</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access follows approved batch assignments. Enforce restrictions in the API as well as the interface. Consumers require no member account. Growers, processors, brand owners and distributors use the protected member portal.</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fictional example demonstrates two views of the same batch. Members see records their role and assignment permit. Personal contacts, internal notes and commercial details stay private unless the cooperative explicitly approves publication. Physical printing is outside the proposed MVP. Partners must display the QR for the relevant batch on packaging or at the cafe or restaurant. A farm QR opens a farm profile and does not identify a specific serving or batch. Confirm how partners replace displayed QR artwork when the batch changes.</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visual direction: From Root to Story. A forest-green world where one vine connects origin lookup, partner farms and the cooperative.</a:t>
            </a:r>
          </a:p>
          <a:p xmlns:a="http://schemas.openxmlformats.org/drawingml/2006/main">
            <a:r>
              <a:t>A prominent leaf holds farm or batch lookup. Farm previews follow the vine down to the people behind the roots.</a:t>
            </a:r>
          </a:p>
          <a:p xmlns:a="http://schemas.openxmlformats.org/drawingml/2006/main">
            <a:r>
              <a:t>A root drops beside the green trellis. The vine rises to the lookup leaf, then the scroll descends through stories, partner farms and leadership.</a:t>
            </a:r>
          </a:p>
          <a:p xmlns:a="http://schemas.openxmlformats.org/drawingml/2006/main">
            <a:r>
              <a:t>The complete desktop image is a static concept generated with the built-in image tool. Photography and records are illustrative. Mobile layouts, animation and system integration are proposed. Image source: presentation/design-redesign/01-root-to-story.png. Generation brief: presentation/design-redesign/prompts.md.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root drops beside the green trellis. The vine rises to the lookup leaf, then the scroll descends through stories, partner farms and leadership.</a:t>
            </a:r>
          </a:p>
          <a:p xmlns:a="http://schemas.openxmlformats.org/drawingml/2006/main">
            <a:r>
              <a:t>Lookup in the leaf: Enter a farm or batch ID, or scan its QR, to open the corresponding public page.</a:t>
            </a:r>
          </a:p>
          <a:p xmlns:a="http://schemas.openxmlformats.org/drawingml/2006/main">
            <a:r>
              <a:t>Farms along the vine: Scroll downward through the cooperative story and partner farm previews.</a:t>
            </a:r>
          </a:p>
          <a:p xmlns:a="http://schemas.openxmlformats.org/drawingml/2006/main">
            <a:r>
              <a:t>People at the roots: The soil and root section introduces cooperative leadership.</a:t>
            </a:r>
          </a:p>
          <a:p xmlns:a="http://schemas.openxmlformats.org/drawingml/2006/main">
            <a:r>
              <a:t>The image is an enlarged native PowerPoint crop of the new static desktop concept. The complete image appears on the preceding slide. Motion is proposed and reduced-motion visitors will have a complete reading view. Image source: presentation/design-redesign/01-root-to-story.png. Generation brief: presentation/design-redesign/prompts.md.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visual direction: Grown Together in Davao. Warm grower photography and an early farm directory make the cooperative easy to explore.</a:t>
            </a:r>
          </a:p>
          <a:p xmlns:a="http://schemas.openxmlformats.org/drawingml/2006/main">
            <a:r>
              <a:t>Visitors search farms or produce, filter the catalogue and open a farm profile. A separate lookup area resolves farm and batch IDs.</a:t>
            </a:r>
          </a:p>
          <a:p xmlns:a="http://schemas.openxmlformats.org/drawingml/2006/main">
            <a:r>
              <a:t>Photographs reveal gently as the page moves. Farm records settle into readable rows, while origin lookup stays easy to reach.</a:t>
            </a:r>
          </a:p>
          <a:p xmlns:a="http://schemas.openxmlformats.org/drawingml/2006/main">
            <a:r>
              <a:t>The complete desktop image is a static concept generated with the built-in image tool. Photography and records are illustrative. Mobile layouts, animation and system integration are proposed. Image source: presentation/design-redesign/02-grown-together.png. Generation brief: presentation/design-redesign/prompts.md.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Photographs reveal gently as the page moves. Farm records settle into readable rows, while origin lookup stays easy to reach.</a:t>
            </a:r>
          </a:p>
          <a:p xmlns:a="http://schemas.openxmlformats.org/drawingml/2006/main">
            <a:r>
              <a:t>Meet the growers: A warm portrait and a clear farm link introduce the cooperative.</a:t>
            </a:r>
          </a:p>
          <a:p xmlns:a="http://schemas.openxmlformats.org/drawingml/2006/main">
            <a:r>
              <a:t>Browse the catalogue: Search farms or produce, then filter by crop and location.</a:t>
            </a:r>
          </a:p>
          <a:p xmlns:a="http://schemas.openxmlformats.org/drawingml/2006/main">
            <a:r>
              <a:t>Open the origin: Farm and batch IDs lead to the right public profile or approved summary.</a:t>
            </a:r>
          </a:p>
          <a:p xmlns:a="http://schemas.openxmlformats.org/drawingml/2006/main">
            <a:r>
              <a:t>The image is an enlarged native PowerPoint crop of the new static desktop concept. The complete image appears on the preceding slide. Motion is proposed and reduced-motion visitors will have a complete reading view. Image source: presentation/design-redesign/02-grown-together.png. Generation brief: presentation/design-redesign/prompts.md.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visual direction: Purple to the World. Bold purple-yam imagery leads into the recorded origin behind each harvest.</a:t>
            </a:r>
          </a:p>
          <a:p xmlns:a="http://schemas.openxmlformats.org/drawingml/2006/main">
            <a:r>
              <a:t>A sample batch summary introduces the farm, harvest, processor and recipient. Visitors can explore produce or find a specific batch.</a:t>
            </a:r>
          </a:p>
          <a:p xmlns:a="http://schemas.openxmlformats.org/drawingml/2006/main">
            <a:r>
              <a:t>The yam moves as the product story opens into its origin record. Purple and pale sections guide visitors toward farms and batch lookup.</a:t>
            </a:r>
          </a:p>
          <a:p xmlns:a="http://schemas.openxmlformats.org/drawingml/2006/main">
            <a:r>
              <a:t>The complete desktop image is a static concept generated with the built-in image tool. Photography and records are illustrative. Mobile layouts, animation and system integration are proposed. Image source: presentation/design-redesign/03-purple-to-world.png. Generation brief: presentation/design-redesign/prompts.md.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yam moves as the product story opens into its origin record. Purple and pale sections guide visitors toward farms and batch lookup.</a:t>
            </a:r>
          </a:p>
          <a:p xmlns:a="http://schemas.openxmlformats.org/drawingml/2006/main">
            <a:r>
              <a:t>Ube in focus: The crop takes center stage with routes to produce and batch discovery.</a:t>
            </a:r>
          </a:p>
          <a:p xmlns:a="http://schemas.openxmlformats.org/drawingml/2006/main">
            <a:r>
              <a:t>A clear origin record: An illustrative summary shows a farm, harvest, processor and recipient.</a:t>
            </a:r>
          </a:p>
          <a:p xmlns:a="http://schemas.openxmlformats.org/drawingml/2006/main">
            <a:r>
              <a:t>Continue to a farm: Public farm and batch links connect the product to its growing story.</a:t>
            </a:r>
          </a:p>
          <a:p xmlns:a="http://schemas.openxmlformats.org/drawingml/2006/main">
            <a:r>
              <a:t>The image is an enlarged native PowerPoint crop of the new static desktop concept. The complete image appears on the preceding slide. Motion is proposed and reduced-motion visitors will have a complete reading view. Image source: presentation/design-redesign/03-purple-to-world.png. Generation brief: presentation/design-redesign/prompts.md.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new visual directions share the proposed system features. The client chooses one. From Root to Story emphasizes an immersive vine journey and visible lookup. Grown Together emphasizes growers and a farm catalogue. Purple to the World emphasizes produce and approved batch summaries. Confirm redesign, motion and mobile work before finalizing the schedule. All images are static concepts. No direction assumes export contracts or certification.</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ten-week plan. The three new visual concepts are static proposals. Confirm how much of the existing prototype can be reused and estimate the chosen redesign, motion and mobile work before committing to the schedule. Confirm weekly availability and the pilot workflow before kickoff. Test each feature as it is built, including permission and persistence checks. First consolidated review is proposed in Week 8, with the second review and final acceptance in Week 9. Confirm the review cadence, support and handover after selecting the working arrangement. Request consolidated feedback within two working days of each review.</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ten-week plan. The three new visual concepts are static proposals. Confirm how much of the existing prototype can be reused and estimate the chosen redesign, motion and mobile work before committing to the schedule. Confirm weekly availability and the pilot workflow before kickoff. Test each feature as it is built, including permission and persistence checks. First consolidated review is proposed in Week 8, with the second review and final acceptance in Week 9. Confirm the review cadence, support and handover after selecting the working arrangement. Request consolidated feedback within two working days of each review.</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delivery and support arrangements, not accepted engagement terms. Confirm revision rounds, training, support duration, handover and ongoing duties for the chosen arrangement. The pilot assumes one source harvest batch per processed lot. If processors combine harvests or farms, revise that workflow before commitment. Source files, HTTPS deployment, backups and one restore check remain proposed delivery items. Ongoing data entry and provider incidents need assigned responsibility.</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acceptance includes Android/Chrome and iPhone/Safari camera checks, a backup restore check, operator training and source/documentation handover. Onboarding numbers describe assisted setup, not software record limits. Confirm who maintains the data and which fields may be public. Launch support and its duration depend on the selected working arrangement. Warehouse stock control, external integrations, mixed-origin blending and independent certification remain outside the proposed initial workflow.</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Project-based work focuses on defined MVP deliverables and acceptance. A service contract provides development and support for an agreed period. Direct employment places ongoing system work within a team role. Confirm expected availability, reporting, responsibilities, handover and ongoing support before finalizing the schedule and engagement terms.</a:t>
            </a:r>
          </a:p>
          <a:p xmlns:a="http://schemas.openxmlformats.org/drawingml/2006/main">
            <a:r>
              <a:t>Confirm the arrangement, availability and responsibilities before agreeing final engagement terms.</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whether processors combine harvests and who supplies and approves batch records. Record the preferred design, proposed working arrangement, available weekly time and review contact. Reassess scope and delivery dates against those decisions before kickoff.</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hosting, authentication, file storage and backup retention at kickoff. Include HTTPS deployment, source files and editing/deployment documentation.</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14f41c5d7949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919ff42d4d4926" /><Relationship Type="http://schemas.openxmlformats.org/officeDocument/2006/relationships/slideLayout" Target="/ppt/slideLayouts/slideLayout1.xml" Id="Ra93b9c3789ab4d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3b9c3789ab4d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c9730bb89142e6" /><Relationship Type="http://schemas.openxmlformats.org/officeDocument/2006/relationships/image" Target="/ppt/media/image.jpeg" Id="Rc3ceae8bba864ed5" /><Relationship Type="http://schemas.openxmlformats.org/officeDocument/2006/relationships/notesSlide" Target="/ppt/notesSlides/notesSlide1.xml" Id="Radeaa13fe15f4d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5cf3cf32244bc1" /><Relationship Type="http://schemas.openxmlformats.org/officeDocument/2006/relationships/notesSlide" Target="/ppt/notesSlides/notesSlide2.xml" Id="R989bbac4a5e243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90f01a5bf0421d" /><Relationship Type="http://schemas.openxmlformats.org/officeDocument/2006/relationships/notesSlide" Target="/ppt/notesSlides/notesSlide3.xml" Id="R042bd9695a6349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ae8572f9fe4ca0" /><Relationship Type="http://schemas.openxmlformats.org/officeDocument/2006/relationships/notesSlide" Target="/ppt/notesSlides/notesSlide4.xml" Id="R9ed4d841db9646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bc0276f35143ab" /><Relationship Type="http://schemas.openxmlformats.org/officeDocument/2006/relationships/notesSlide" Target="/ppt/notesSlides/notesSlide5.xml" Id="R62df5708756847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54c9fd1a484f7a" /><Relationship Type="http://schemas.openxmlformats.org/officeDocument/2006/relationships/image" Target="/ppt/media/image.png" Id="R104858cf7ea14e43" /><Relationship Type="http://schemas.openxmlformats.org/officeDocument/2006/relationships/notesSlide" Target="/ppt/notesSlides/notesSlide6.xml" Id="R54fa1003d38b41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db63f7cebc42c3" /><Relationship Type="http://schemas.openxmlformats.org/officeDocument/2006/relationships/image" Target="/ppt/media/image2.png" Id="R304df8234f15493b" /><Relationship Type="http://schemas.openxmlformats.org/officeDocument/2006/relationships/notesSlide" Target="/ppt/notesSlides/notesSlide7.xml" Id="R7233428d359148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7e5d5a16464332" /><Relationship Type="http://schemas.openxmlformats.org/officeDocument/2006/relationships/image" Target="/ppt/media/image3.png" Id="Ra2d6e71ac1244dc9" /><Relationship Type="http://schemas.openxmlformats.org/officeDocument/2006/relationships/notesSlide" Target="/ppt/notesSlides/notesSlide8.xml" Id="R178e1ddc31dd4b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6846faa7f6425f" /><Relationship Type="http://schemas.openxmlformats.org/officeDocument/2006/relationships/image" Target="/ppt/media/image4.png" Id="Ra0c02a5fbfb64d5c" /><Relationship Type="http://schemas.openxmlformats.org/officeDocument/2006/relationships/notesSlide" Target="/ppt/notesSlides/notesSlide9.xml" Id="Rdddf4d0a355f4d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af476caedd4cba" /><Relationship Type="http://schemas.openxmlformats.org/officeDocument/2006/relationships/image" Target="/ppt/media/image5.png" Id="R08cd1528f46045b1" /><Relationship Type="http://schemas.openxmlformats.org/officeDocument/2006/relationships/notesSlide" Target="/ppt/notesSlides/notesSlide10.xml" Id="Re2091789345f44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fe6dd6c53e4ba8" /><Relationship Type="http://schemas.openxmlformats.org/officeDocument/2006/relationships/image" Target="/ppt/media/image6.png" Id="R76e7905700d543e0" /><Relationship Type="http://schemas.openxmlformats.org/officeDocument/2006/relationships/notesSlide" Target="/ppt/notesSlides/notesSlide11.xml" Id="R975298ce393b4a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b6f8f665ec4f11" /><Relationship Type="http://schemas.openxmlformats.org/officeDocument/2006/relationships/notesSlide" Target="/ppt/notesSlides/notesSlide12.xml" Id="Rbbcc82c0b62e4b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a500398d3c4427" /><Relationship Type="http://schemas.openxmlformats.org/officeDocument/2006/relationships/notesSlide" Target="/ppt/notesSlides/notesSlide13.xml" Id="Rb6d4d8ba6f9742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848dc180f894718" /><Relationship Type="http://schemas.openxmlformats.org/officeDocument/2006/relationships/notesSlide" Target="/ppt/notesSlides/notesSlide14.xml" Id="R5494a76ed22645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992867370f4815" /><Relationship Type="http://schemas.openxmlformats.org/officeDocument/2006/relationships/notesSlide" Target="/ppt/notesSlides/notesSlide15.xml" Id="R204b7ac4b27f4d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6b3c5b0a9546ee" /><Relationship Type="http://schemas.openxmlformats.org/officeDocument/2006/relationships/notesSlide" Target="/ppt/notesSlides/notesSlide16.xml" Id="Rc1c8fcb9dc4c48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c7b29d9ae934377" /><Relationship Type="http://schemas.openxmlformats.org/officeDocument/2006/relationships/notesSlide" Target="/ppt/notesSlides/notesSlide17.xml" Id="R17d240a5d74e43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817eed075648cf" /><Relationship Type="http://schemas.openxmlformats.org/officeDocument/2006/relationships/notesSlide" Target="/ppt/notesSlides/notesSlide18.xml" Id="R2c19fe0f75d24d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680232a326b44db" /><Relationship Type="http://schemas.openxmlformats.org/officeDocument/2006/relationships/notesSlide" Target="/ppt/notesSlides/notesSlide19.xml" Id="R6c4e626c31214fdd"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9" name="footer">
            <a:extLst xmlns:a="http://schemas.openxmlformats.org/drawingml/2006/main">
              <a:ext uri="{FF2B5EF4-FFF2-40B4-BE49-F238E27FC236}">
                <a16:creationId xmlns:a16="http://schemas.microsoft.com/office/drawing/2014/main" id="{2CE5696D-E017-486A-985A-D6D98AD5EA6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7F1FB914-B04E-4788-A311-83D725F1A6E5}"/>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3ceae8bba864ed5"/>
          <a:srcRect xmlns:a="http://schemas.openxmlformats.org/drawingml/2006/main" l="4367" t="0" r="436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4" name="cover-title">
            <a:extLst xmlns:a="http://schemas.openxmlformats.org/drawingml/2006/main">
              <a:ext uri="{FF2B5EF4-FFF2-40B4-BE49-F238E27FC236}">
                <a16:creationId xmlns:a16="http://schemas.microsoft.com/office/drawing/2014/main" id="{B9B5EEEF-3662-46BC-AE45-EE018146587A}"/>
              </a:ext>
            </a:extLst>
          </p:cNvPr>
          <p:cNvSpPr>
            <a:spLocks xmlns:a="http://schemas.openxmlformats.org/drawingml/2006/main" noGrp="1"/>
          </p:cNvSpPr>
          <p:nvPr/>
        </p:nvSpPr>
        <p:spPr>
          <a:xfrm xmlns:a="http://schemas.openxmlformats.org/drawingml/2006/main">
            <a:off x="609600" y="1028700"/>
            <a:ext cx="6000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Roote Origin</a:t>
            </a:r>
          </a:p>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System</a:t>
            </a:r>
          </a:p>
        </p:txBody>
      </p:sp>
      <p:sp>
        <p:nvSpPr>
          <p:cNvPr id="5" name="text-1">
            <a:extLst xmlns:a="http://schemas.openxmlformats.org/drawingml/2006/main">
              <a:ext uri="{FF2B5EF4-FFF2-40B4-BE49-F238E27FC236}">
                <a16:creationId xmlns:a16="http://schemas.microsoft.com/office/drawing/2014/main" id="{82D7B268-1BA6-4D98-BA7F-79D852337460}"/>
              </a:ext>
            </a:extLst>
          </p:cNvPr>
          <p:cNvSpPr>
            <a:spLocks xmlns:a="http://schemas.openxmlformats.org/drawingml/2006/main" noGrp="1"/>
          </p:cNvSpPr>
          <p:nvPr/>
        </p:nvSpPr>
        <p:spPr>
          <a:xfrm xmlns:a="http://schemas.openxmlformats.org/drawingml/2006/main">
            <a:off x="609600" y="33432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Minimum viable product (MVP)</a:t>
            </a:r>
          </a:p>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and three design directions</a:t>
            </a:r>
          </a:p>
        </p:txBody>
      </p:sp>
      <p:sp>
        <p:nvSpPr>
          <p:cNvPr id="6" name="text-2">
            <a:extLst xmlns:a="http://schemas.openxmlformats.org/drawingml/2006/main">
              <a:ext uri="{FF2B5EF4-FFF2-40B4-BE49-F238E27FC236}">
                <a16:creationId xmlns:a16="http://schemas.microsoft.com/office/drawing/2014/main" id="{AEC2AC5D-6CB6-4DAC-B75D-C5BC45CAEE65}"/>
              </a:ext>
            </a:extLst>
          </p:cNvPr>
          <p:cNvSpPr>
            <a:spLocks xmlns:a="http://schemas.openxmlformats.org/drawingml/2006/main" noGrp="1"/>
          </p:cNvSpPr>
          <p:nvPr/>
        </p:nvSpPr>
        <p:spPr>
          <a:xfrm xmlns:a="http://schemas.openxmlformats.org/drawingml/2006/main">
            <a:off x="609600" y="43815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Ube Farm Cooperative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Davao, Philippines</a:t>
            </a:r>
          </a:p>
        </p:txBody>
      </p:sp>
      <p:sp>
        <p:nvSpPr>
          <p:cNvPr id="7" name="text-3">
            <a:extLst xmlns:a="http://schemas.openxmlformats.org/drawingml/2006/main">
              <a:ext uri="{FF2B5EF4-FFF2-40B4-BE49-F238E27FC236}">
                <a16:creationId xmlns:a16="http://schemas.microsoft.com/office/drawing/2014/main" id="{08FFDE4C-0197-4751-A332-D72DC520B8BC}"/>
              </a:ext>
            </a:extLst>
          </p:cNvPr>
          <p:cNvSpPr>
            <a:spLocks xmlns:a="http://schemas.openxmlformats.org/drawingml/2006/main" noGrp="1"/>
          </p:cNvSpPr>
          <p:nvPr/>
        </p:nvSpPr>
        <p:spPr>
          <a:xfrm xmlns:a="http://schemas.openxmlformats.org/drawingml/2006/main">
            <a:off x="609600" y="5467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Client discussion</a:t>
            </a:r>
          </a:p>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3 October 2026</a:t>
            </a:r>
          </a:p>
        </p:txBody>
      </p:sp>
      <p:sp>
        <p:nvSpPr>
          <p:cNvPr id="8" name="text-4">
            <a:extLst xmlns:a="http://schemas.openxmlformats.org/drawingml/2006/main">
              <a:ext uri="{FF2B5EF4-FFF2-40B4-BE49-F238E27FC236}">
                <a16:creationId xmlns:a16="http://schemas.microsoft.com/office/drawing/2014/main" id="{69DD8A87-4D1C-4A7D-A033-AFE5839B7C17}"/>
              </a:ext>
            </a:extLst>
          </p:cNvPr>
          <p:cNvSpPr>
            <a:spLocks xmlns:a="http://schemas.openxmlformats.org/drawingml/2006/main" noGrp="1"/>
          </p:cNvSpPr>
          <p:nvPr/>
        </p:nvSpPr>
        <p:spPr>
          <a:xfrm xmlns:a="http://schemas.openxmlformats.org/drawingml/2006/main">
            <a:off x="7467600" y="63912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Illustrative concept photo</a:t>
            </a:r>
          </a:p>
        </p:txBody>
      </p:sp>
    </p:spTree>
    <p:extLst>
      <p:ext uri="{BB962C8B-B14F-4D97-AF65-F5344CB8AC3E}">
        <p14:creationId xmlns:p14="http://schemas.microsoft.com/office/powerpoint/2010/main" val="245793801"/>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77EA5566-BF2E-4E8B-9E9B-218C3051A4D4}"/>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Farm discovery and batch origin</a:t>
            </a:r>
          </a:p>
        </p:txBody>
      </p:sp>
      <p:sp>
        <p:nvSpPr>
          <p:cNvPr id="2" name="slide-subtitle">
            <a:extLst xmlns:a="http://schemas.openxmlformats.org/drawingml/2006/main">
              <a:ext uri="{FF2B5EF4-FFF2-40B4-BE49-F238E27FC236}">
                <a16:creationId xmlns:a16="http://schemas.microsoft.com/office/drawing/2014/main" id="{5CE029EC-7810-402A-8801-F80D16ABCA4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Help people discover partner farms and follow the recorded origin of each produce batch.</a:t>
            </a:r>
          </a:p>
        </p:txBody>
      </p:sp>
      <p:sp>
        <p:nvSpPr>
          <p:cNvPr id="3" name="footer">
            <a:extLst xmlns:a="http://schemas.openxmlformats.org/drawingml/2006/main">
              <a:ext uri="{FF2B5EF4-FFF2-40B4-BE49-F238E27FC236}">
                <a16:creationId xmlns:a16="http://schemas.microsoft.com/office/drawing/2014/main" id="{F60E946B-DA82-4648-8847-8102D2D143C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3E2FBBEF-2228-4AEE-814A-7503A436329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02</a:t>
            </a:r>
          </a:p>
        </p:txBody>
      </p:sp>
      <p:sp>
        <p:nvSpPr>
          <p:cNvPr id="5" name="text-5">
            <a:extLst xmlns:a="http://schemas.openxmlformats.org/drawingml/2006/main">
              <a:ext uri="{FF2B5EF4-FFF2-40B4-BE49-F238E27FC236}">
                <a16:creationId xmlns:a16="http://schemas.microsoft.com/office/drawing/2014/main" id="{B517BC6A-2A0A-43AF-921F-0D7D24F19CDC}"/>
              </a:ext>
            </a:extLst>
          </p:cNvPr>
          <p:cNvSpPr>
            <a:spLocks xmlns:a="http://schemas.openxmlformats.org/drawingml/2006/main" noGrp="1"/>
          </p:cNvSpPr>
          <p:nvPr/>
        </p:nvSpPr>
        <p:spPr>
          <a:xfrm xmlns:a="http://schemas.openxmlformats.org/drawingml/2006/main">
            <a:off x="609600" y="2400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Farm and produce catalogue</a:t>
            </a:r>
          </a:p>
        </p:txBody>
      </p:sp>
      <p:sp>
        <p:nvSpPr>
          <p:cNvPr id="6" name="text-6">
            <a:extLst xmlns:a="http://schemas.openxmlformats.org/drawingml/2006/main">
              <a:ext uri="{FF2B5EF4-FFF2-40B4-BE49-F238E27FC236}">
                <a16:creationId xmlns:a16="http://schemas.microsoft.com/office/drawing/2014/main" id="{BA90EDDA-4E25-4302-8599-E50E689A35E4}"/>
              </a:ext>
            </a:extLst>
          </p:cNvPr>
          <p:cNvSpPr>
            <a:spLocks xmlns:a="http://schemas.openxmlformats.org/drawingml/2006/main" noGrp="1"/>
          </p:cNvSpPr>
          <p:nvPr/>
        </p:nvSpPr>
        <p:spPr>
          <a:xfrm xmlns:a="http://schemas.openxmlformats.org/drawingml/2006/main">
            <a:off x="4181475" y="24193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Discover approved farms, crops and batch availability. Find a farm or published batch by ID, QR or partner link.</a:t>
            </a:r>
          </a:p>
        </p:txBody>
      </p:sp>
      <p:sp>
        <p:nvSpPr>
          <p:cNvPr id="7" name="divider-7">
            <a:extLst xmlns:a="http://schemas.openxmlformats.org/drawingml/2006/main">
              <a:ext uri="{FF2B5EF4-FFF2-40B4-BE49-F238E27FC236}">
                <a16:creationId xmlns:a16="http://schemas.microsoft.com/office/drawing/2014/main" id="{E282506D-1DC0-48D0-8771-5FF22A049C96}"/>
              </a:ext>
            </a:extLst>
          </p:cNvPr>
          <p:cNvSpPr>
            <a:spLocks xmlns:a="http://schemas.openxmlformats.org/drawingml/2006/main" noGrp="1"/>
          </p:cNvSpPr>
          <p:nvPr/>
        </p:nvSpPr>
        <p:spPr>
          <a:xfrm xmlns:a="http://schemas.openxmlformats.org/drawingml/2006/main">
            <a:off x="609600" y="30956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8">
            <a:extLst xmlns:a="http://schemas.openxmlformats.org/drawingml/2006/main">
              <a:ext uri="{FF2B5EF4-FFF2-40B4-BE49-F238E27FC236}">
                <a16:creationId xmlns:a16="http://schemas.microsoft.com/office/drawing/2014/main" id="{C3EA1937-2626-4A49-8500-C2E17AD86507}"/>
              </a:ext>
            </a:extLst>
          </p:cNvPr>
          <p:cNvSpPr>
            <a:spLocks xmlns:a="http://schemas.openxmlformats.org/drawingml/2006/main" noGrp="1"/>
          </p:cNvSpPr>
          <p:nvPr/>
        </p:nvSpPr>
        <p:spPr>
          <a:xfrm xmlns:a="http://schemas.openxmlformats.org/drawingml/2006/main">
            <a:off x="609600" y="32385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Protected member portal</a:t>
            </a:r>
          </a:p>
        </p:txBody>
      </p:sp>
      <p:sp>
        <p:nvSpPr>
          <p:cNvPr id="9" name="text-9">
            <a:extLst xmlns:a="http://schemas.openxmlformats.org/drawingml/2006/main">
              <a:ext uri="{FF2B5EF4-FFF2-40B4-BE49-F238E27FC236}">
                <a16:creationId xmlns:a16="http://schemas.microsoft.com/office/drawing/2014/main" id="{E398FD00-1243-4367-8BE9-4C8B8CF3B456}"/>
              </a:ext>
            </a:extLst>
          </p:cNvPr>
          <p:cNvSpPr>
            <a:spLocks xmlns:a="http://schemas.openxmlformats.org/drawingml/2006/main" noGrp="1"/>
          </p:cNvSpPr>
          <p:nvPr/>
        </p:nvSpPr>
        <p:spPr>
          <a:xfrm xmlns:a="http://schemas.openxmlformats.org/drawingml/2006/main">
            <a:off x="4181475" y="32575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Growers, processors and recipients manage their assigned records. Administrators control access and publication.</a:t>
            </a:r>
          </a:p>
        </p:txBody>
      </p:sp>
      <p:sp>
        <p:nvSpPr>
          <p:cNvPr id="10" name="divider-10">
            <a:extLst xmlns:a="http://schemas.openxmlformats.org/drawingml/2006/main">
              <a:ext uri="{FF2B5EF4-FFF2-40B4-BE49-F238E27FC236}">
                <a16:creationId xmlns:a16="http://schemas.microsoft.com/office/drawing/2014/main" id="{15A0C37B-43CC-41D4-B8EC-650E82E13BB4}"/>
              </a:ext>
            </a:extLst>
          </p:cNvPr>
          <p:cNvSpPr>
            <a:spLocks xmlns:a="http://schemas.openxmlformats.org/drawingml/2006/main" noGrp="1"/>
          </p:cNvSpPr>
          <p:nvPr/>
        </p:nvSpPr>
        <p:spPr>
          <a:xfrm xmlns:a="http://schemas.openxmlformats.org/drawingml/2006/main">
            <a:off x="609600" y="39338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1">
            <a:extLst xmlns:a="http://schemas.openxmlformats.org/drawingml/2006/main">
              <a:ext uri="{FF2B5EF4-FFF2-40B4-BE49-F238E27FC236}">
                <a16:creationId xmlns:a16="http://schemas.microsoft.com/office/drawing/2014/main" id="{8A3C7376-C0F7-4D6D-8840-150824298E36}"/>
              </a:ext>
            </a:extLst>
          </p:cNvPr>
          <p:cNvSpPr>
            <a:spLocks xmlns:a="http://schemas.openxmlformats.org/drawingml/2006/main" noGrp="1"/>
          </p:cNvSpPr>
          <p:nvPr/>
        </p:nvSpPr>
        <p:spPr>
          <a:xfrm xmlns:a="http://schemas.openxmlformats.org/drawingml/2006/main">
            <a:off x="609600" y="40767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Connected batch history</a:t>
            </a:r>
          </a:p>
        </p:txBody>
      </p:sp>
      <p:sp>
        <p:nvSpPr>
          <p:cNvPr id="12" name="text-12">
            <a:extLst xmlns:a="http://schemas.openxmlformats.org/drawingml/2006/main">
              <a:ext uri="{FF2B5EF4-FFF2-40B4-BE49-F238E27FC236}">
                <a16:creationId xmlns:a16="http://schemas.microsoft.com/office/drawing/2014/main" id="{EB368872-7232-4DE8-AEDB-6583EE99702D}"/>
              </a:ext>
            </a:extLst>
          </p:cNvPr>
          <p:cNvSpPr>
            <a:spLocks xmlns:a="http://schemas.openxmlformats.org/drawingml/2006/main" noGrp="1"/>
          </p:cNvSpPr>
          <p:nvPr/>
        </p:nvSpPr>
        <p:spPr>
          <a:xfrm xmlns:a="http://schemas.openxmlformats.org/drawingml/2006/main">
            <a:off x="4181475" y="40957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Record farming details, harvest dates and quantities, then link each batch to its processor and intended brand owner or distributor.</a:t>
            </a:r>
          </a:p>
        </p:txBody>
      </p:sp>
      <p:sp>
        <p:nvSpPr>
          <p:cNvPr id="13" name="divider-13">
            <a:extLst xmlns:a="http://schemas.openxmlformats.org/drawingml/2006/main">
              <a:ext uri="{FF2B5EF4-FFF2-40B4-BE49-F238E27FC236}">
                <a16:creationId xmlns:a16="http://schemas.microsoft.com/office/drawing/2014/main" id="{C3E6F3FD-7993-4437-9DA5-304EAAAD8FB9}"/>
              </a:ext>
            </a:extLst>
          </p:cNvPr>
          <p:cNvSpPr>
            <a:spLocks xmlns:a="http://schemas.openxmlformats.org/drawingml/2006/main" noGrp="1"/>
          </p:cNvSpPr>
          <p:nvPr/>
        </p:nvSpPr>
        <p:spPr>
          <a:xfrm xmlns:a="http://schemas.openxmlformats.org/drawingml/2006/main">
            <a:off x="609600" y="47720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4">
            <a:extLst xmlns:a="http://schemas.openxmlformats.org/drawingml/2006/main">
              <a:ext uri="{FF2B5EF4-FFF2-40B4-BE49-F238E27FC236}">
                <a16:creationId xmlns:a16="http://schemas.microsoft.com/office/drawing/2014/main" id="{AE4F71BF-EFD8-47C5-8949-E3FA21A188D3}"/>
              </a:ext>
            </a:extLst>
          </p:cNvPr>
          <p:cNvSpPr>
            <a:spLocks xmlns:a="http://schemas.openxmlformats.org/drawingml/2006/main" noGrp="1"/>
          </p:cNvSpPr>
          <p:nvPr/>
        </p:nvSpPr>
        <p:spPr>
          <a:xfrm xmlns:a="http://schemas.openxmlformats.org/drawingml/2006/main">
            <a:off x="609600" y="49149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Consumer QR summaries</a:t>
            </a:r>
          </a:p>
        </p:txBody>
      </p:sp>
      <p:sp>
        <p:nvSpPr>
          <p:cNvPr id="15" name="text-15">
            <a:extLst xmlns:a="http://schemas.openxmlformats.org/drawingml/2006/main">
              <a:ext uri="{FF2B5EF4-FFF2-40B4-BE49-F238E27FC236}">
                <a16:creationId xmlns:a16="http://schemas.microsoft.com/office/drawing/2014/main" id="{5A50869A-1A4D-4267-A635-864534D22850}"/>
              </a:ext>
            </a:extLst>
          </p:cNvPr>
          <p:cNvSpPr>
            <a:spLocks xmlns:a="http://schemas.openxmlformats.org/drawingml/2006/main" noGrp="1"/>
          </p:cNvSpPr>
          <p:nvPr/>
        </p:nvSpPr>
        <p:spPr>
          <a:xfrm xmlns:a="http://schemas.openxmlformats.org/drawingml/2006/main">
            <a:off x="4181475" y="49339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Publish a selected summary for each batch. Consumers scan it at a cafe, restaurant or on packaging without logging in.</a:t>
            </a:r>
          </a:p>
        </p:txBody>
      </p:sp>
      <p:sp>
        <p:nvSpPr>
          <p:cNvPr id="16" name="text-16">
            <a:extLst xmlns:a="http://schemas.openxmlformats.org/drawingml/2006/main">
              <a:ext uri="{FF2B5EF4-FFF2-40B4-BE49-F238E27FC236}">
                <a16:creationId xmlns:a16="http://schemas.microsoft.com/office/drawing/2014/main" id="{00302E2C-2B28-419B-B10E-F6A5A605AC71}"/>
              </a:ext>
            </a:extLst>
          </p:cNvPr>
          <p:cNvSpPr>
            <a:spLocks xmlns:a="http://schemas.openxmlformats.org/drawingml/2006/main" noGrp="1"/>
          </p:cNvSpPr>
          <p:nvPr/>
        </p:nvSpPr>
        <p:spPr>
          <a:xfrm xmlns:a="http://schemas.openxmlformats.org/drawingml/2006/main">
            <a:off x="609600" y="611505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5583C"/>
                </a:solidFill>
                <a:latin typeface="Arial"/>
                <a:ea typeface="Arial"/>
                <a:cs typeface="Arial"/>
              </a:defRPr>
            </a:pPr>
            <a:r>
              <a:rPr sz="1500" b="1">
                <a:solidFill>
                  <a:srgbClr val="35583C"/>
                </a:solidFill>
                <a:latin typeface="Arial"/>
                <a:ea typeface="Arial"/>
                <a:cs typeface="Arial"/>
              </a:rPr>
              <a:t>Starting with ube. Members record quantities and availability through the dashboard.</a:t>
            </a:r>
          </a:p>
        </p:txBody>
      </p:sp>
    </p:spTree>
    <p:extLst>
      <p:ext uri="{BB962C8B-B14F-4D97-AF65-F5344CB8AC3E}">
        <p14:creationId xmlns:p14="http://schemas.microsoft.com/office/powerpoint/2010/main" val="515781422"/>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11F5A11-EC66-424A-A099-2CEDC4ABC61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 sample batch journey</a:t>
            </a:r>
          </a:p>
        </p:txBody>
      </p:sp>
      <p:sp>
        <p:nvSpPr>
          <p:cNvPr id="2" name="slide-subtitle">
            <a:extLst xmlns:a="http://schemas.openxmlformats.org/drawingml/2006/main">
              <a:ext uri="{FF2B5EF4-FFF2-40B4-BE49-F238E27FC236}">
                <a16:creationId xmlns:a16="http://schemas.microsoft.com/office/drawing/2014/main" id="{C50F47B7-BD5E-4380-B241-0CE3749ECE66}"/>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Illustrative example only. All names, dates and records below are fictional.</a:t>
            </a:r>
          </a:p>
        </p:txBody>
      </p:sp>
      <p:sp>
        <p:nvSpPr>
          <p:cNvPr id="3" name="footer">
            <a:extLst xmlns:a="http://schemas.openxmlformats.org/drawingml/2006/main">
              <a:ext uri="{FF2B5EF4-FFF2-40B4-BE49-F238E27FC236}">
                <a16:creationId xmlns:a16="http://schemas.microsoft.com/office/drawing/2014/main" id="{2E78F54B-BDBE-4708-8B1B-52ACF84CFE68}"/>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72B39B79-4D0E-4591-B7A7-47B732FD4073}"/>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03</a:t>
            </a:r>
          </a:p>
        </p:txBody>
      </p:sp>
      <p:graphicFrame>
        <p:nvGraphicFramePr>
          <p:cNvPr id="11" name=""/>
          <p:cNvGraphicFramePr/>
          <p:nvPr/>
        </p:nvGraphicFramePr>
        <p:xfrm>
          <a:off xmlns:a="http://schemas.openxmlformats.org/drawingml/2006/main" x="609600" y="2400300"/>
          <a:ext xmlns:a="http://schemas.openxmlformats.org/drawingml/2006/main" cx="10972800" cy="2619375"/>
        </p:xfrm>
        <a:graphic xmlns:a="http://schemas.openxmlformats.org/drawingml/2006/main">
          <a:graphicData uri="http://schemas.openxmlformats.org/drawingml/2006/table">
            <a:tbl>
              <a:tblPr firstRow="0" firstCol="0" bandRow="0"/>
              <a:tblGrid>
                <a:gridCol w="2743200"/>
                <a:gridCol w="2743200"/>
                <a:gridCol w="2743200"/>
                <a:gridCol w="2743200"/>
              </a:tblGrid>
              <a:tr h="523875">
                <a:tc>
                  <a:txBody>
                    <a:bodyPr wrap="square">
                      <a:noAutofit/>
                    </a:bodyPr>
                    <a:lstStyle/>
                    <a:p>
                      <a:r>
                        <a:rPr sz="1575" b="1">
                          <a:solidFill>
                            <a:srgbClr val="FFFFFF"/>
                          </a:solidFill>
                          <a:latin typeface="Arial"/>
                          <a:ea typeface="Arial"/>
                          <a:cs typeface="Arial"/>
                        </a:rPr>
                        <a:t>Farming</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Harvest batch</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Processing</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Brand or distributor</a:t>
                      </a:r>
                    </a:p>
                  </a:txBody>
                  <a:tcPr marL="133350" marR="133350" marT="95250" marB="95250" anchor="t">
                    <a:solidFill>
                      <a:srgbClr val="35583C"/>
                    </a:solidFill>
                  </a:tcPr>
                </a:tc>
              </a:tr>
              <a:tr h="2095500">
                <a:tc>
                  <a:txBody>
                    <a:bodyPr wrap="square">
                      <a:noAutofit/>
                    </a:bodyPr>
                    <a:lstStyle/>
                    <a:p>
                      <a:r>
                        <a:rPr sz="1575" b="0">
                          <a:solidFill>
                            <a:srgbClr val="35583C"/>
                          </a:solidFill>
                          <a:latin typeface="Arial"/>
                          <a:ea typeface="Arial"/>
                          <a:cs typeface="Arial"/>
                        </a:rPr>
                        <a:t>Farm A</a:t>
                      </a:r>
                    </a:p>
                    <a:p>
                      <a:r>
                        <a:rPr sz="1575" b="0">
                          <a:solidFill>
                            <a:srgbClr val="35583C"/>
                          </a:solidFill>
                          <a:latin typeface="Arial"/>
                          <a:ea typeface="Arial"/>
                          <a:cs typeface="Arial"/>
                        </a:rPr>
                        <a:t>Davao, Plot 01</a:t>
                      </a:r>
                    </a:p>
                    <a:p>
                      <a:r>
                        <a:rPr sz="1575" b="0">
                          <a:solidFill>
                            <a:srgbClr val="35583C"/>
                          </a:solidFill>
                          <a:latin typeface="Arial"/>
                          <a:ea typeface="Arial"/>
                          <a:cs typeface="Arial"/>
                        </a:rPr>
                        <a:t>Ube, trellis-grown</a:t>
                      </a:r>
                    </a:p>
                    <a:p>
                      <a:r>
                        <a:rPr sz="1575" b="0">
                          <a:solidFill>
                            <a:srgbClr val="35583C"/>
                          </a:solidFill>
                          <a:latin typeface="Arial"/>
                          <a:ea typeface="Arial"/>
                          <a:cs typeface="Arial"/>
                        </a:rPr>
                        <a:t>Planted 1 Feb 2026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SAMPLE-UBE-001</a:t>
                      </a:r>
                    </a:p>
                    <a:p>
                      <a:r>
                        <a:rPr sz="1575" b="0">
                          <a:solidFill>
                            <a:srgbClr val="34233E"/>
                          </a:solidFill>
                          <a:latin typeface="Arial"/>
                          <a:ea typeface="Arial"/>
                          <a:cs typeface="Arial"/>
                        </a:rPr>
                        <a:t>Harvested 1 Oct 2026</a:t>
                      </a:r>
                    </a:p>
                    <a:p>
                      <a:r>
                        <a:rPr sz="1575" b="0">
                          <a:solidFill>
                            <a:srgbClr val="34233E"/>
                          </a:solidFill>
                          <a:latin typeface="Arial"/>
                          <a:ea typeface="Arial"/>
                          <a:cs typeface="Arial"/>
                        </a:rPr>
                        <a:t>100 kg recorded</a:t>
                      </a:r>
                    </a:p>
                    <a:p>
                      <a:r>
                        <a:rPr sz="1575" b="0">
                          <a:solidFill>
                            <a:srgbClr val="34233E"/>
                          </a:solidFill>
                          <a:latin typeface="Arial"/>
                          <a:ea typeface="Arial"/>
                          <a:cs typeface="Arial"/>
                        </a:rPr>
                        <a:t>Saved in batch history</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Processor B</a:t>
                      </a:r>
                    </a:p>
                    <a:p>
                      <a:r>
                        <a:rPr sz="1575" b="0">
                          <a:solidFill>
                            <a:srgbClr val="34233E"/>
                          </a:solidFill>
                          <a:latin typeface="Arial"/>
                          <a:ea typeface="Arial"/>
                          <a:cs typeface="Arial"/>
                        </a:rPr>
                        <a:t>Processed 2 Oct 2026</a:t>
                      </a:r>
                    </a:p>
                    <a:p>
                      <a:r>
                        <a:rPr sz="1575" b="0">
                          <a:solidFill>
                            <a:srgbClr val="34233E"/>
                          </a:solidFill>
                          <a:latin typeface="Arial"/>
                          <a:ea typeface="Arial"/>
                          <a:cs typeface="Arial"/>
                        </a:rPr>
                        <a:t>Lot PROC-001</a:t>
                      </a:r>
                    </a:p>
                    <a:p>
                      <a:r>
                        <a:rPr sz="1575" b="0">
                          <a:solidFill>
                            <a:srgbClr val="34233E"/>
                          </a:solidFill>
                          <a:latin typeface="Arial"/>
                          <a:ea typeface="Arial"/>
                          <a:cs typeface="Arial"/>
                        </a:rPr>
                        <a:t>Source SAMPLE-UBE-001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Brand C</a:t>
                      </a:r>
                    </a:p>
                    <a:p>
                      <a:r>
                        <a:rPr sz="1575" b="0">
                          <a:solidFill>
                            <a:srgbClr val="34233E"/>
                          </a:solidFill>
                          <a:latin typeface="Arial"/>
                          <a:ea typeface="Arial"/>
                          <a:cs typeface="Arial"/>
                        </a:rPr>
                        <a:t>Intended recipient</a:t>
                      </a:r>
                    </a:p>
                    <a:p>
                      <a:r>
                        <a:rPr sz="1575" b="0">
                          <a:solidFill>
                            <a:srgbClr val="34233E"/>
                          </a:solidFill>
                          <a:latin typeface="Arial"/>
                          <a:ea typeface="Arial"/>
                          <a:cs typeface="Arial"/>
                        </a:rPr>
                        <a:t>Linked to PROC-001</a:t>
                      </a:r>
                    </a:p>
                    <a:p>
                      <a:r>
                        <a:rPr sz="1575" b="0">
                          <a:solidFill>
                            <a:srgbClr val="34233E"/>
                          </a:solidFill>
                          <a:latin typeface="Arial"/>
                          <a:ea typeface="Arial"/>
                          <a:cs typeface="Arial"/>
                        </a:rPr>
                        <a:t>Receives origin history</a:t>
                      </a:r>
                    </a:p>
                  </a:txBody>
                  <a:tcPr marL="133350" marR="133350" marT="95250" marB="95250" anchor="t">
                    <a:solidFill>
                      <a:srgbClr val="F6F3EA"/>
                    </a:solidFill>
                  </a:tcPr>
                </a:tc>
              </a:tr>
            </a:tbl>
          </a:graphicData>
        </a:graphic>
      </p:graphicFrame>
      <p:sp>
        <p:nvSpPr>
          <p:cNvPr id="6" name="text-17">
            <a:extLst xmlns:a="http://schemas.openxmlformats.org/drawingml/2006/main">
              <a:ext uri="{FF2B5EF4-FFF2-40B4-BE49-F238E27FC236}">
                <a16:creationId xmlns:a16="http://schemas.microsoft.com/office/drawing/2014/main" id="{DB436B20-2FC8-46EE-A7A8-041167CADB74}"/>
              </a:ext>
            </a:extLst>
          </p:cNvPr>
          <p:cNvSpPr>
            <a:spLocks xmlns:a="http://schemas.openxmlformats.org/drawingml/2006/main" noGrp="1"/>
          </p:cNvSpPr>
          <p:nvPr/>
        </p:nvSpPr>
        <p:spPr>
          <a:xfrm xmlns:a="http://schemas.openxmlformats.org/drawingml/2006/main">
            <a:off x="609600" y="54102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5583C"/>
                </a:solidFill>
                <a:latin typeface="Arial"/>
                <a:ea typeface="Arial"/>
                <a:cs typeface="Arial"/>
              </a:defRPr>
            </a:pPr>
            <a:r>
              <a:rPr sz="1650" b="0">
                <a:solidFill>
                  <a:srgbClr val="35583C"/>
                </a:solidFill>
                <a:latin typeface="Arial"/>
                <a:ea typeface="Arial"/>
                <a:cs typeface="Arial"/>
              </a:rPr>
              <a:t>Decision before kickoff: does each processed lot use one harvest batch, or combine multiple harvests?</a:t>
            </a:r>
          </a:p>
        </p:txBody>
      </p:sp>
    </p:spTree>
    <p:extLst>
      <p:ext uri="{BB962C8B-B14F-4D97-AF65-F5344CB8AC3E}">
        <p14:creationId xmlns:p14="http://schemas.microsoft.com/office/powerpoint/2010/main" val="1412951175"/>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137C6F6-27CE-4EDE-8BC1-3ED3A264B4AE}"/>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Access across the ecosystem</a:t>
            </a:r>
          </a:p>
        </p:txBody>
      </p:sp>
      <p:sp>
        <p:nvSpPr>
          <p:cNvPr id="2" name="slide-subtitle">
            <a:extLst xmlns:a="http://schemas.openxmlformats.org/drawingml/2006/main">
              <a:ext uri="{FF2B5EF4-FFF2-40B4-BE49-F238E27FC236}">
                <a16:creationId xmlns:a16="http://schemas.microsoft.com/office/drawing/2014/main" id="{0E4E8AC5-EA57-4785-AA41-A2FF79EBDA3A}"/>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Proposed access rules for confirmation. The cooperative decides who can see and edit each record.</a:t>
            </a:r>
          </a:p>
        </p:txBody>
      </p:sp>
      <p:sp>
        <p:nvSpPr>
          <p:cNvPr id="3" name="footer">
            <a:extLst xmlns:a="http://schemas.openxmlformats.org/drawingml/2006/main">
              <a:ext uri="{FF2B5EF4-FFF2-40B4-BE49-F238E27FC236}">
                <a16:creationId xmlns:a16="http://schemas.microsoft.com/office/drawing/2014/main" id="{0A3F5E82-210C-4234-9C29-10EC94F1809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E97C5398-1A00-4692-87DE-A5734DE58F1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04</a:t>
            </a:r>
          </a:p>
        </p:txBody>
      </p:sp>
      <p:graphicFrame>
        <p:nvGraphicFramePr>
          <p:cNvPr id="11" name=""/>
          <p:cNvGraphicFramePr/>
          <p:nvPr/>
        </p:nvGraphicFramePr>
        <p:xfrm>
          <a:off xmlns:a="http://schemas.openxmlformats.org/drawingml/2006/main" x="609600" y="2190750"/>
          <a:ext xmlns:a="http://schemas.openxmlformats.org/drawingml/2006/main" cx="10972800" cy="3943350"/>
        </p:xfrm>
        <a:graphic xmlns:a="http://schemas.openxmlformats.org/drawingml/2006/main">
          <a:graphicData uri="http://schemas.openxmlformats.org/drawingml/2006/table">
            <a:tbl>
              <a:tblPr firstRow="0" firstCol="0" bandRow="0"/>
              <a:tblGrid>
                <a:gridCol w="2352675"/>
                <a:gridCol w="3667125"/>
                <a:gridCol w="4953000"/>
              </a:tblGrid>
              <a:tr h="466725">
                <a:tc>
                  <a:txBody>
                    <a:bodyPr wrap="square">
                      <a:noAutofit/>
                    </a:bodyPr>
                    <a:lstStyle/>
                    <a:p>
                      <a:r>
                        <a:rPr sz="1500" b="1">
                          <a:solidFill>
                            <a:srgbClr val="FFFFFF"/>
                          </a:solidFill>
                          <a:latin typeface="Arial"/>
                          <a:ea typeface="Arial"/>
                          <a:cs typeface="Arial"/>
                        </a:rPr>
                        <a:t>Participant</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view</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manage</a:t>
                      </a:r>
                    </a:p>
                  </a:txBody>
                  <a:tcPr marL="133350" marR="133350" marT="95250" marB="95250" anchor="t">
                    <a:solidFill>
                      <a:srgbClr val="35583C"/>
                    </a:solidFill>
                  </a:tcPr>
                </a:tc>
              </a:tr>
              <a:tr h="695325">
                <a:tc>
                  <a:txBody>
                    <a:bodyPr wrap="square">
                      <a:noAutofit/>
                    </a:bodyPr>
                    <a:lstStyle/>
                    <a:p>
                      <a:r>
                        <a:rPr sz="1500" b="0">
                          <a:solidFill>
                            <a:srgbClr val="35583C"/>
                          </a:solidFill>
                          <a:latin typeface="Arial"/>
                          <a:ea typeface="Arial"/>
                          <a:cs typeface="Arial"/>
                        </a:rPr>
                        <a:t>Administrator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All ecosystem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Users, farms, produce, corrections and publication</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Grower or farm team</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batch history</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growing and harvest records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Processor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origin and harvest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processing, lot links and recipients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Brand owner or distributor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history of assigned batches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acknowledgement and own partner details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Consumer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Published profiles and batch summaries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None. Public viewing only</a:t>
                      </a:r>
                    </a:p>
                  </a:txBody>
                  <a:tcPr marL="133350" marR="133350" marT="95250" marB="95250" anchor="t">
                    <a:solidFill>
                      <a:srgbClr val="F6F3EA"/>
                    </a:solidFill>
                  </a:tcPr>
                </a:tc>
              </a:tr>
            </a:tbl>
          </a:graphicData>
        </a:graphic>
      </p:graphicFrame>
      <p:sp>
        <p:nvSpPr>
          <p:cNvPr id="6" name="text-18">
            <a:extLst xmlns:a="http://schemas.openxmlformats.org/drawingml/2006/main">
              <a:ext uri="{FF2B5EF4-FFF2-40B4-BE49-F238E27FC236}">
                <a16:creationId xmlns:a16="http://schemas.microsoft.com/office/drawing/2014/main" id="{7D2A1E58-2213-4C1F-A766-D398EA146205}"/>
              </a:ext>
            </a:extLst>
          </p:cNvPr>
          <p:cNvSpPr>
            <a:spLocks xmlns:a="http://schemas.openxmlformats.org/drawingml/2006/main" noGrp="1"/>
          </p:cNvSpPr>
          <p:nvPr/>
        </p:nvSpPr>
        <p:spPr>
          <a:xfrm xmlns:a="http://schemas.openxmlformats.org/drawingml/2006/main">
            <a:off x="609600" y="62388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Proposed MVP: login, password recovery and permission checks in the backend.</a:t>
            </a:r>
          </a:p>
        </p:txBody>
      </p:sp>
    </p:spTree>
    <p:extLst>
      <p:ext uri="{BB962C8B-B14F-4D97-AF65-F5344CB8AC3E}">
        <p14:creationId xmlns:p14="http://schemas.microsoft.com/office/powerpoint/2010/main" val="982738143"/>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5D2A396-35F5-463A-AAA9-D2828F78D47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One batch, two views</a:t>
            </a:r>
          </a:p>
        </p:txBody>
      </p:sp>
      <p:sp>
        <p:nvSpPr>
          <p:cNvPr id="2" name="slide-subtitle">
            <a:extLst xmlns:a="http://schemas.openxmlformats.org/drawingml/2006/main">
              <a:ext uri="{FF2B5EF4-FFF2-40B4-BE49-F238E27FC236}">
                <a16:creationId xmlns:a16="http://schemas.microsoft.com/office/drawing/2014/main" id="{F060A06A-FE24-4F0A-9C2E-A2D1C07C350F}"/>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SAMPLE-UBE-001 continues the fictional example. Consumers see only the approved public summary.</a:t>
            </a:r>
          </a:p>
        </p:txBody>
      </p:sp>
      <p:sp>
        <p:nvSpPr>
          <p:cNvPr id="3" name="footer">
            <a:extLst xmlns:a="http://schemas.openxmlformats.org/drawingml/2006/main">
              <a:ext uri="{FF2B5EF4-FFF2-40B4-BE49-F238E27FC236}">
                <a16:creationId xmlns:a16="http://schemas.microsoft.com/office/drawing/2014/main" id="{6E33D93C-2614-48D7-B9B0-890E6DEE349A}"/>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BE94F58-C15A-4455-AF24-0AE2B1919B27}"/>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05</a:t>
            </a:r>
          </a:p>
        </p:txBody>
      </p:sp>
      <p:sp>
        <p:nvSpPr>
          <p:cNvPr id="5" name="text-19">
            <a:extLst xmlns:a="http://schemas.openxmlformats.org/drawingml/2006/main">
              <a:ext uri="{FF2B5EF4-FFF2-40B4-BE49-F238E27FC236}">
                <a16:creationId xmlns:a16="http://schemas.microsoft.com/office/drawing/2014/main" id="{C3F4972E-D276-49D3-BF77-AA54465A1CFF}"/>
              </a:ext>
            </a:extLst>
          </p:cNvPr>
          <p:cNvSpPr>
            <a:spLocks xmlns:a="http://schemas.openxmlformats.org/drawingml/2006/main" noGrp="1"/>
          </p:cNvSpPr>
          <p:nvPr/>
        </p:nvSpPr>
        <p:spPr>
          <a:xfrm xmlns:a="http://schemas.openxmlformats.org/drawingml/2006/main">
            <a:off x="609600" y="24193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Authorized member record</a:t>
            </a:r>
          </a:p>
        </p:txBody>
      </p:sp>
      <p:sp>
        <p:nvSpPr>
          <p:cNvPr id="6" name="text-20">
            <a:extLst xmlns:a="http://schemas.openxmlformats.org/drawingml/2006/main">
              <a:ext uri="{FF2B5EF4-FFF2-40B4-BE49-F238E27FC236}">
                <a16:creationId xmlns:a16="http://schemas.microsoft.com/office/drawing/2014/main" id="{70FD293F-3673-48E7-9E96-697B8840D6F0}"/>
              </a:ext>
            </a:extLst>
          </p:cNvPr>
          <p:cNvSpPr>
            <a:spLocks xmlns:a="http://schemas.openxmlformats.org/drawingml/2006/main" noGrp="1"/>
          </p:cNvSpPr>
          <p:nvPr/>
        </p:nvSpPr>
        <p:spPr>
          <a:xfrm xmlns:a="http://schemas.openxmlformats.org/drawingml/2006/main">
            <a:off x="609600" y="3114675"/>
            <a:ext cx="5105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Farm A, Davao, Plot 01</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Planted 1 February 2026</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Harvested 1 October 2026, 100 kg</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Processor B, Lot PROC-001</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Intended recipient: Brand C</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Care notes and correction history</a:t>
            </a:r>
          </a:p>
        </p:txBody>
      </p:sp>
      <p:sp>
        <p:nvSpPr>
          <p:cNvPr id="7" name="text-21">
            <a:extLst xmlns:a="http://schemas.openxmlformats.org/drawingml/2006/main">
              <a:ext uri="{FF2B5EF4-FFF2-40B4-BE49-F238E27FC236}">
                <a16:creationId xmlns:a16="http://schemas.microsoft.com/office/drawing/2014/main" id="{BE7FC00E-D561-468B-9464-C13889092EB0}"/>
              </a:ext>
            </a:extLst>
          </p:cNvPr>
          <p:cNvSpPr>
            <a:spLocks xmlns:a="http://schemas.openxmlformats.org/drawingml/2006/main" noGrp="1"/>
          </p:cNvSpPr>
          <p:nvPr/>
        </p:nvSpPr>
        <p:spPr>
          <a:xfrm xmlns:a="http://schemas.openxmlformats.org/drawingml/2006/main">
            <a:off x="6534150" y="24193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Public QR summary</a:t>
            </a:r>
          </a:p>
        </p:txBody>
      </p:sp>
      <p:sp>
        <p:nvSpPr>
          <p:cNvPr id="8" name="text-22">
            <a:extLst xmlns:a="http://schemas.openxmlformats.org/drawingml/2006/main">
              <a:ext uri="{FF2B5EF4-FFF2-40B4-BE49-F238E27FC236}">
                <a16:creationId xmlns:a16="http://schemas.microsoft.com/office/drawing/2014/main" id="{8443FE91-6445-479E-ABA5-2F85B896642D}"/>
              </a:ext>
            </a:extLst>
          </p:cNvPr>
          <p:cNvSpPr>
            <a:spLocks xmlns:a="http://schemas.openxmlformats.org/drawingml/2006/main" noGrp="1"/>
          </p:cNvSpPr>
          <p:nvPr/>
        </p:nvSpPr>
        <p:spPr>
          <a:xfrm xmlns:a="http://schemas.openxmlformats.org/drawingml/2006/main">
            <a:off x="6534150" y="3114675"/>
            <a:ext cx="504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Batch SAMPLE-UBE-001</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Ube from Farm A, Davao</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Growing summary: trellis-grown ube</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Harvested 1 October 2026</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Processed by Processor B for Brand C</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Approved details, no login required</a:t>
            </a:r>
          </a:p>
        </p:txBody>
      </p:sp>
      <p:sp>
        <p:nvSpPr>
          <p:cNvPr id="9" name="divider-23">
            <a:extLst xmlns:a="http://schemas.openxmlformats.org/drawingml/2006/main">
              <a:ext uri="{FF2B5EF4-FFF2-40B4-BE49-F238E27FC236}">
                <a16:creationId xmlns:a16="http://schemas.microsoft.com/office/drawing/2014/main" id="{9CDAE36D-F53C-43EB-B96E-318ABFF6F11A}"/>
              </a:ext>
            </a:extLst>
          </p:cNvPr>
          <p:cNvSpPr>
            <a:spLocks xmlns:a="http://schemas.openxmlformats.org/drawingml/2006/main" noGrp="1"/>
          </p:cNvSpPr>
          <p:nvPr/>
        </p:nvSpPr>
        <p:spPr>
          <a:xfrm xmlns:a="http://schemas.openxmlformats.org/drawingml/2006/main">
            <a:off x="609600" y="501015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0" name="text-24">
            <a:extLst xmlns:a="http://schemas.openxmlformats.org/drawingml/2006/main">
              <a:ext uri="{FF2B5EF4-FFF2-40B4-BE49-F238E27FC236}">
                <a16:creationId xmlns:a16="http://schemas.microsoft.com/office/drawing/2014/main" id="{8B8721F7-BCE6-425E-89C4-15CB840556B5}"/>
              </a:ext>
            </a:extLst>
          </p:cNvPr>
          <p:cNvSpPr>
            <a:spLocks xmlns:a="http://schemas.openxmlformats.org/drawingml/2006/main" noGrp="1"/>
          </p:cNvSpPr>
          <p:nvPr/>
        </p:nvSpPr>
        <p:spPr>
          <a:xfrm xmlns:a="http://schemas.openxmlformats.org/drawingml/2006/main">
            <a:off x="609600" y="521970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706B65"/>
                </a:solidFill>
                <a:latin typeface="Arial"/>
                <a:ea typeface="Arial"/>
                <a:cs typeface="Arial"/>
              </a:defRPr>
            </a:pPr>
            <a:r>
              <a:rPr sz="1575" b="0">
                <a:solidFill>
                  <a:srgbClr val="706B65"/>
                </a:solidFill>
                <a:latin typeface="Arial"/>
                <a:ea typeface="Arial"/>
                <a:cs typeface="Arial"/>
              </a:rPr>
              <a:t>Administrator preview, approval and publish/unpublish controls. Each batch has a stable URL and downloadable PNG/SVG QR artwork.</a:t>
            </a:r>
          </a:p>
        </p:txBody>
      </p:sp>
      <p:sp>
        <p:nvSpPr>
          <p:cNvPr id="11" name="text-25">
            <a:extLst xmlns:a="http://schemas.openxmlformats.org/drawingml/2006/main">
              <a:ext uri="{FF2B5EF4-FFF2-40B4-BE49-F238E27FC236}">
                <a16:creationId xmlns:a16="http://schemas.microsoft.com/office/drawing/2014/main" id="{F4788219-3A90-4523-BE87-90D8D394D846}"/>
              </a:ext>
            </a:extLst>
          </p:cNvPr>
          <p:cNvSpPr>
            <a:spLocks xmlns:a="http://schemas.openxmlformats.org/drawingml/2006/main" noGrp="1"/>
          </p:cNvSpPr>
          <p:nvPr/>
        </p:nvSpPr>
        <p:spPr>
          <a:xfrm xmlns:a="http://schemas.openxmlformats.org/drawingml/2006/main">
            <a:off x="609600" y="59055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583C"/>
                </a:solidFill>
                <a:latin typeface="Arial"/>
                <a:ea typeface="Arial"/>
                <a:cs typeface="Arial"/>
              </a:defRPr>
            </a:pPr>
            <a:r>
              <a:rPr sz="1650" b="1">
                <a:solidFill>
                  <a:srgbClr val="35583C"/>
                </a:solidFill>
                <a:latin typeface="Arial"/>
                <a:ea typeface="Arial"/>
                <a:cs typeface="Arial"/>
              </a:rPr>
              <a:t>Farm ID or QR opens a farm profile. Batch ID or QR opens that batch summary.</a:t>
            </a:r>
          </a:p>
        </p:txBody>
      </p:sp>
    </p:spTree>
    <p:extLst>
      <p:ext uri="{BB962C8B-B14F-4D97-AF65-F5344CB8AC3E}">
        <p14:creationId xmlns:p14="http://schemas.microsoft.com/office/powerpoint/2010/main" val="1898967870"/>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93294ECF-1F4D-47C3-B3C0-5002A893D44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10EA018D-1531-4339-971C-451C1DAF1F3D}"/>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06</a:t>
            </a:r>
          </a:p>
        </p:txBody>
      </p:sp>
      <p:sp>
        <p:nvSpPr>
          <p:cNvPr id="3" name="slide-title">
            <a:extLst xmlns:a="http://schemas.openxmlformats.org/drawingml/2006/main">
              <a:ext uri="{FF2B5EF4-FFF2-40B4-BE49-F238E27FC236}">
                <a16:creationId xmlns:a16="http://schemas.microsoft.com/office/drawing/2014/main" id="{3304AA46-DB1A-4E38-8968-D6DDF7E5A09B}"/>
              </a:ext>
            </a:extLst>
          </p:cNvPr>
          <p:cNvSpPr>
            <a:spLocks xmlns:a="http://schemas.openxmlformats.org/drawingml/2006/main" noGrp="1"/>
          </p:cNvSpPr>
          <p:nvPr/>
        </p:nvSpPr>
        <p:spPr>
          <a:xfrm xmlns:a="http://schemas.openxmlformats.org/drawingml/2006/main">
            <a:off x="609600" y="628650"/>
            <a:ext cx="6191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From Root to Story</a:t>
            </a:r>
          </a:p>
        </p:txBody>
      </p:sp>
      <p:sp>
        <p:nvSpPr>
          <p:cNvPr id="4" name="text-26">
            <a:extLst xmlns:a="http://schemas.openxmlformats.org/drawingml/2006/main">
              <a:ext uri="{FF2B5EF4-FFF2-40B4-BE49-F238E27FC236}">
                <a16:creationId xmlns:a16="http://schemas.microsoft.com/office/drawing/2014/main" id="{82A39832-0A9F-438E-8DF7-436D706B3E50}"/>
              </a:ext>
            </a:extLst>
          </p:cNvPr>
          <p:cNvSpPr>
            <a:spLocks xmlns:a="http://schemas.openxmlformats.org/drawingml/2006/main" noGrp="1"/>
          </p:cNvSpPr>
          <p:nvPr/>
        </p:nvSpPr>
        <p:spPr>
          <a:xfrm xmlns:a="http://schemas.openxmlformats.org/drawingml/2006/main">
            <a:off x="609600" y="19526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706B65"/>
                </a:solidFill>
                <a:latin typeface="Arial"/>
                <a:ea typeface="Arial"/>
                <a:cs typeface="Arial"/>
              </a:defRPr>
            </a:pPr>
            <a:r>
              <a:rPr sz="1875" b="0">
                <a:solidFill>
                  <a:srgbClr val="706B65"/>
                </a:solidFill>
                <a:latin typeface="Arial"/>
                <a:ea typeface="Arial"/>
                <a:cs typeface="Arial"/>
              </a:rPr>
              <a:t>A forest-green world where one vine connects origin lookup, partner farms and the cooperative.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4858cf7ea14e43"/>
          <a:stretch xmlns:a="http://schemas.openxmlformats.org/drawingml/2006/main"/>
        </p:blipFill>
        <p:spPr>
          <a:xfrm xmlns:a="http://schemas.openxmlformats.org/drawingml/2006/main">
            <a:off x="7277100" y="523875"/>
            <a:ext cx="4305300" cy="5740400"/>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1B0FA521-B210-4C77-97E4-43FEFD7CAAE3}"/>
              </a:ext>
            </a:extLst>
          </p:cNvPr>
          <p:cNvSpPr>
            <a:spLocks xmlns:a="http://schemas.openxmlformats.org/drawingml/2006/main" noGrp="1"/>
          </p:cNvSpPr>
          <p:nvPr/>
        </p:nvSpPr>
        <p:spPr>
          <a:xfrm xmlns:a="http://schemas.openxmlformats.org/drawingml/2006/main">
            <a:off x="609600" y="323850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583C"/>
                </a:solidFill>
                <a:latin typeface="Arial"/>
                <a:ea typeface="Arial"/>
                <a:cs typeface="Arial"/>
              </a:defRPr>
            </a:pPr>
            <a:r>
              <a:rPr sz="1950" b="1">
                <a:solidFill>
                  <a:srgbClr val="35583C"/>
                </a:solidFill>
                <a:latin typeface="Arial"/>
                <a:ea typeface="Arial"/>
                <a:cs typeface="Arial"/>
              </a:rPr>
              <a:t>Discovery</a:t>
            </a:r>
          </a:p>
        </p:txBody>
      </p:sp>
      <p:sp>
        <p:nvSpPr>
          <p:cNvPr id="7" name="text-28">
            <a:extLst xmlns:a="http://schemas.openxmlformats.org/drawingml/2006/main">
              <a:ext uri="{FF2B5EF4-FFF2-40B4-BE49-F238E27FC236}">
                <a16:creationId xmlns:a16="http://schemas.microsoft.com/office/drawing/2014/main" id="{E9A564D7-4AFB-4535-8E18-491EE2B55F7F}"/>
              </a:ext>
            </a:extLst>
          </p:cNvPr>
          <p:cNvSpPr>
            <a:spLocks xmlns:a="http://schemas.openxmlformats.org/drawingml/2006/main" noGrp="1"/>
          </p:cNvSpPr>
          <p:nvPr/>
        </p:nvSpPr>
        <p:spPr>
          <a:xfrm xmlns:a="http://schemas.openxmlformats.org/drawingml/2006/main">
            <a:off x="609600" y="371475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A prominent leaf holds farm or batch lookup. Farm previews follow the vine down to the people behind the roots.</a:t>
            </a:r>
          </a:p>
        </p:txBody>
      </p:sp>
      <p:sp>
        <p:nvSpPr>
          <p:cNvPr id="8" name="text-29">
            <a:extLst xmlns:a="http://schemas.openxmlformats.org/drawingml/2006/main">
              <a:ext uri="{FF2B5EF4-FFF2-40B4-BE49-F238E27FC236}">
                <a16:creationId xmlns:a16="http://schemas.microsoft.com/office/drawing/2014/main" id="{A363C211-BB64-43D5-A88E-3DA9385F84BC}"/>
              </a:ext>
            </a:extLst>
          </p:cNvPr>
          <p:cNvSpPr>
            <a:spLocks xmlns:a="http://schemas.openxmlformats.org/drawingml/2006/main" noGrp="1"/>
          </p:cNvSpPr>
          <p:nvPr/>
        </p:nvSpPr>
        <p:spPr>
          <a:xfrm xmlns:a="http://schemas.openxmlformats.org/drawingml/2006/main">
            <a:off x="609600" y="47434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583C"/>
                </a:solidFill>
                <a:latin typeface="Arial"/>
                <a:ea typeface="Arial"/>
                <a:cs typeface="Arial"/>
              </a:defRPr>
            </a:pPr>
            <a:r>
              <a:rPr sz="1950" b="1">
                <a:solidFill>
                  <a:srgbClr val="35583C"/>
                </a:solidFill>
                <a:latin typeface="Arial"/>
                <a:ea typeface="Arial"/>
                <a:cs typeface="Arial"/>
              </a:rPr>
              <a:t>Proposed scroll behavior</a:t>
            </a:r>
          </a:p>
        </p:txBody>
      </p:sp>
      <p:sp>
        <p:nvSpPr>
          <p:cNvPr id="9" name="text-30">
            <a:extLst xmlns:a="http://schemas.openxmlformats.org/drawingml/2006/main">
              <a:ext uri="{FF2B5EF4-FFF2-40B4-BE49-F238E27FC236}">
                <a16:creationId xmlns:a16="http://schemas.microsoft.com/office/drawing/2014/main" id="{A0C63F3F-7769-4A19-852C-8E5ACBB22790}"/>
              </a:ext>
            </a:extLst>
          </p:cNvPr>
          <p:cNvSpPr>
            <a:spLocks xmlns:a="http://schemas.openxmlformats.org/drawingml/2006/main" noGrp="1"/>
          </p:cNvSpPr>
          <p:nvPr/>
        </p:nvSpPr>
        <p:spPr>
          <a:xfrm xmlns:a="http://schemas.openxmlformats.org/drawingml/2006/main">
            <a:off x="609600" y="52387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 root drops beside the green trellis. The vine rises to the lookup leaf, then the scroll descends through stories, partner farms and leadership.</a:t>
            </a:r>
          </a:p>
        </p:txBody>
      </p:sp>
      <p:sp>
        <p:nvSpPr>
          <p:cNvPr id="10" name="text-31">
            <a:extLst xmlns:a="http://schemas.openxmlformats.org/drawingml/2006/main">
              <a:ext uri="{FF2B5EF4-FFF2-40B4-BE49-F238E27FC236}">
                <a16:creationId xmlns:a16="http://schemas.microsoft.com/office/drawing/2014/main" id="{8A2DAC7C-13CC-4F6B-9277-5BEFADB0AD5E}"/>
              </a:ext>
            </a:extLst>
          </p:cNvPr>
          <p:cNvSpPr>
            <a:spLocks xmlns:a="http://schemas.openxmlformats.org/drawingml/2006/main" noGrp="1"/>
          </p:cNvSpPr>
          <p:nvPr/>
        </p:nvSpPr>
        <p:spPr>
          <a:xfrm xmlns:a="http://schemas.openxmlformats.org/drawingml/2006/main">
            <a:off x="609600" y="6096000"/>
            <a:ext cx="619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706B65"/>
                </a:solidFill>
                <a:latin typeface="Arial"/>
                <a:ea typeface="Arial"/>
                <a:cs typeface="Arial"/>
              </a:defRPr>
            </a:pPr>
            <a:r>
              <a:rPr sz="1125" b="0">
                <a:solidFill>
                  <a:srgbClr val="706B65"/>
                </a:solidFill>
                <a:latin typeface="Arial"/>
                <a:ea typeface="Arial"/>
                <a:cs typeface="Arial"/>
              </a:rPr>
              <a:t>Static design concept. Illustrative imagery and sample records. Motion and mobile layouts are proposed.</a:t>
            </a:r>
          </a:p>
        </p:txBody>
      </p:sp>
    </p:spTree>
    <p:extLst>
      <p:ext uri="{BB962C8B-B14F-4D97-AF65-F5344CB8AC3E}">
        <p14:creationId xmlns:p14="http://schemas.microsoft.com/office/powerpoint/2010/main" val="1588066601"/>
      </p:ext>
    </p:extLst>
  </p:cSld>
</p:sld>
</file>

<file path=ppt/slides/slide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E3416AAD-8355-4FFF-8A26-73133CA96E1E}"/>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vine journey and origin lookup</a:t>
            </a:r>
          </a:p>
        </p:txBody>
      </p:sp>
      <p:sp>
        <p:nvSpPr>
          <p:cNvPr id="2" name="slide-subtitle">
            <a:extLst xmlns:a="http://schemas.openxmlformats.org/drawingml/2006/main">
              <a:ext uri="{FF2B5EF4-FFF2-40B4-BE49-F238E27FC236}">
                <a16:creationId xmlns:a16="http://schemas.microsoft.com/office/drawing/2014/main" id="{2E27975C-2E1C-4CDE-A3EF-9DE8B651AA8E}"/>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new opening makes lookup visible within the connected plant story.</a:t>
            </a:r>
          </a:p>
        </p:txBody>
      </p:sp>
      <p:sp>
        <p:nvSpPr>
          <p:cNvPr id="3" name="footer">
            <a:extLst xmlns:a="http://schemas.openxmlformats.org/drawingml/2006/main">
              <a:ext uri="{FF2B5EF4-FFF2-40B4-BE49-F238E27FC236}">
                <a16:creationId xmlns:a16="http://schemas.microsoft.com/office/drawing/2014/main" id="{8010B149-8146-4E3B-9313-8EE29E11AA9B}"/>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22274A7-E156-4CB5-9FD1-23D81F2F4D82}"/>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07</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04df8234f15493b"/>
          <a:srcRect xmlns:a="http://schemas.openxmlformats.org/drawingml/2006/main" l="0" t="0" r="0" b="54834"/>
          <a:stretch xmlns:a="http://schemas.openxmlformats.org/drawingml/2006/main"/>
        </p:blipFill>
        <p:spPr>
          <a:xfrm xmlns:a="http://schemas.openxmlformats.org/drawingml/2006/main">
            <a:off x="1145534" y="2190750"/>
            <a:ext cx="6548132" cy="3943350"/>
          </a:xfrm>
          <a:prstGeom xmlns:a="http://schemas.openxmlformats.org/drawingml/2006/main" prst="rect">
            <a:avLst/>
          </a:prstGeom>
        </p:spPr>
      </p:pic>
      <p:sp>
        <p:nvSpPr>
          <p:cNvPr id="6" name="text-32">
            <a:extLst xmlns:a="http://schemas.openxmlformats.org/drawingml/2006/main">
              <a:ext uri="{FF2B5EF4-FFF2-40B4-BE49-F238E27FC236}">
                <a16:creationId xmlns:a16="http://schemas.microsoft.com/office/drawing/2014/main" id="{A9F2F0DE-1744-4206-9C60-4B02AA842E61}"/>
              </a:ext>
            </a:extLst>
          </p:cNvPr>
          <p:cNvSpPr>
            <a:spLocks xmlns:a="http://schemas.openxmlformats.org/drawingml/2006/main" noGrp="1"/>
          </p:cNvSpPr>
          <p:nvPr/>
        </p:nvSpPr>
        <p:spPr>
          <a:xfrm xmlns:a="http://schemas.openxmlformats.org/drawingml/2006/main">
            <a:off x="8667750" y="229552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Lookup in the leaf</a:t>
            </a:r>
          </a:p>
        </p:txBody>
      </p:sp>
      <p:sp>
        <p:nvSpPr>
          <p:cNvPr id="7" name="text-33">
            <a:extLst xmlns:a="http://schemas.openxmlformats.org/drawingml/2006/main">
              <a:ext uri="{FF2B5EF4-FFF2-40B4-BE49-F238E27FC236}">
                <a16:creationId xmlns:a16="http://schemas.microsoft.com/office/drawing/2014/main" id="{FD28685E-F5A9-4087-8E6F-C1C6E31F06CD}"/>
              </a:ext>
            </a:extLst>
          </p:cNvPr>
          <p:cNvSpPr>
            <a:spLocks xmlns:a="http://schemas.openxmlformats.org/drawingml/2006/main" noGrp="1"/>
          </p:cNvSpPr>
          <p:nvPr/>
        </p:nvSpPr>
        <p:spPr>
          <a:xfrm xmlns:a="http://schemas.openxmlformats.org/drawingml/2006/main">
            <a:off x="8667750" y="27336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Enter a farm or batch ID, or scan its QR, to open the corresponding public page.</a:t>
            </a:r>
          </a:p>
        </p:txBody>
      </p:sp>
      <p:sp>
        <p:nvSpPr>
          <p:cNvPr id="8" name="text-34">
            <a:extLst xmlns:a="http://schemas.openxmlformats.org/drawingml/2006/main">
              <a:ext uri="{FF2B5EF4-FFF2-40B4-BE49-F238E27FC236}">
                <a16:creationId xmlns:a16="http://schemas.microsoft.com/office/drawing/2014/main" id="{13CD7BAA-750A-4CB4-B94A-B74FD526FF46}"/>
              </a:ext>
            </a:extLst>
          </p:cNvPr>
          <p:cNvSpPr>
            <a:spLocks xmlns:a="http://schemas.openxmlformats.org/drawingml/2006/main" noGrp="1"/>
          </p:cNvSpPr>
          <p:nvPr/>
        </p:nvSpPr>
        <p:spPr>
          <a:xfrm xmlns:a="http://schemas.openxmlformats.org/drawingml/2006/main">
            <a:off x="8667750" y="349567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Farms along the vine</a:t>
            </a:r>
          </a:p>
        </p:txBody>
      </p:sp>
      <p:sp>
        <p:nvSpPr>
          <p:cNvPr id="9" name="text-35">
            <a:extLst xmlns:a="http://schemas.openxmlformats.org/drawingml/2006/main">
              <a:ext uri="{FF2B5EF4-FFF2-40B4-BE49-F238E27FC236}">
                <a16:creationId xmlns:a16="http://schemas.microsoft.com/office/drawing/2014/main" id="{7D76FEE8-98E4-4469-92E2-BD01C4875779}"/>
              </a:ext>
            </a:extLst>
          </p:cNvPr>
          <p:cNvSpPr>
            <a:spLocks xmlns:a="http://schemas.openxmlformats.org/drawingml/2006/main" noGrp="1"/>
          </p:cNvSpPr>
          <p:nvPr/>
        </p:nvSpPr>
        <p:spPr>
          <a:xfrm xmlns:a="http://schemas.openxmlformats.org/drawingml/2006/main">
            <a:off x="8667750" y="393382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Scroll downward through the cooperative story and partner farm previews.</a:t>
            </a:r>
          </a:p>
        </p:txBody>
      </p:sp>
      <p:sp>
        <p:nvSpPr>
          <p:cNvPr id="10" name="text-36">
            <a:extLst xmlns:a="http://schemas.openxmlformats.org/drawingml/2006/main">
              <a:ext uri="{FF2B5EF4-FFF2-40B4-BE49-F238E27FC236}">
                <a16:creationId xmlns:a16="http://schemas.microsoft.com/office/drawing/2014/main" id="{0B09D5E1-751F-41CE-A3F3-3B9D9ACD0F6A}"/>
              </a:ext>
            </a:extLst>
          </p:cNvPr>
          <p:cNvSpPr>
            <a:spLocks xmlns:a="http://schemas.openxmlformats.org/drawingml/2006/main" noGrp="1"/>
          </p:cNvSpPr>
          <p:nvPr/>
        </p:nvSpPr>
        <p:spPr>
          <a:xfrm xmlns:a="http://schemas.openxmlformats.org/drawingml/2006/main">
            <a:off x="8667750" y="469582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People at the roots</a:t>
            </a:r>
          </a:p>
        </p:txBody>
      </p:sp>
      <p:sp>
        <p:nvSpPr>
          <p:cNvPr id="11" name="text-37">
            <a:extLst xmlns:a="http://schemas.openxmlformats.org/drawingml/2006/main">
              <a:ext uri="{FF2B5EF4-FFF2-40B4-BE49-F238E27FC236}">
                <a16:creationId xmlns:a16="http://schemas.microsoft.com/office/drawing/2014/main" id="{D906B6A1-80D9-44B4-9748-F3C51A228C12}"/>
              </a:ext>
            </a:extLst>
          </p:cNvPr>
          <p:cNvSpPr>
            <a:spLocks xmlns:a="http://schemas.openxmlformats.org/drawingml/2006/main" noGrp="1"/>
          </p:cNvSpPr>
          <p:nvPr/>
        </p:nvSpPr>
        <p:spPr>
          <a:xfrm xmlns:a="http://schemas.openxmlformats.org/drawingml/2006/main">
            <a:off x="8667750" y="51339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The soil and root section introduces cooperative leadership.</a:t>
            </a:r>
          </a:p>
        </p:txBody>
      </p:sp>
      <p:sp>
        <p:nvSpPr>
          <p:cNvPr id="12" name="text-38">
            <a:extLst xmlns:a="http://schemas.openxmlformats.org/drawingml/2006/main">
              <a:ext uri="{FF2B5EF4-FFF2-40B4-BE49-F238E27FC236}">
                <a16:creationId xmlns:a16="http://schemas.microsoft.com/office/drawing/2014/main" id="{0D0FF0AE-3BB9-4248-A8CD-FC488C047F56}"/>
              </a:ext>
            </a:extLst>
          </p:cNvPr>
          <p:cNvSpPr>
            <a:spLocks xmlns:a="http://schemas.openxmlformats.org/drawingml/2006/main" noGrp="1"/>
          </p:cNvSpPr>
          <p:nvPr/>
        </p:nvSpPr>
        <p:spPr>
          <a:xfrm xmlns:a="http://schemas.openxmlformats.org/drawingml/2006/main">
            <a:off x="609600" y="62388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Static design concept. Illustrative imagery and sample records. Motion and mobile layouts are proposed.</a:t>
            </a:r>
          </a:p>
        </p:txBody>
      </p:sp>
    </p:spTree>
    <p:extLst>
      <p:ext uri="{BB962C8B-B14F-4D97-AF65-F5344CB8AC3E}">
        <p14:creationId xmlns:p14="http://schemas.microsoft.com/office/powerpoint/2010/main" val="281695358"/>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49E5CF01-9D20-49DB-B363-1881404EF611}"/>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D4EEF6A9-594D-40B9-BE7D-5FC2013262FD}"/>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08</a:t>
            </a:r>
          </a:p>
        </p:txBody>
      </p:sp>
      <p:sp>
        <p:nvSpPr>
          <p:cNvPr id="3" name="slide-title">
            <a:extLst xmlns:a="http://schemas.openxmlformats.org/drawingml/2006/main">
              <a:ext uri="{FF2B5EF4-FFF2-40B4-BE49-F238E27FC236}">
                <a16:creationId xmlns:a16="http://schemas.microsoft.com/office/drawing/2014/main" id="{0CC10F87-1CA1-4AAC-B51D-216EBF9F38AE}"/>
              </a:ext>
            </a:extLst>
          </p:cNvPr>
          <p:cNvSpPr>
            <a:spLocks xmlns:a="http://schemas.openxmlformats.org/drawingml/2006/main" noGrp="1"/>
          </p:cNvSpPr>
          <p:nvPr/>
        </p:nvSpPr>
        <p:spPr>
          <a:xfrm xmlns:a="http://schemas.openxmlformats.org/drawingml/2006/main">
            <a:off x="609600" y="628650"/>
            <a:ext cx="6191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Grown Together in Davao</a:t>
            </a:r>
          </a:p>
        </p:txBody>
      </p:sp>
      <p:sp>
        <p:nvSpPr>
          <p:cNvPr id="4" name="text-39">
            <a:extLst xmlns:a="http://schemas.openxmlformats.org/drawingml/2006/main">
              <a:ext uri="{FF2B5EF4-FFF2-40B4-BE49-F238E27FC236}">
                <a16:creationId xmlns:a16="http://schemas.microsoft.com/office/drawing/2014/main" id="{85EED49B-85D9-48F7-AC79-D0B946DB7E75}"/>
              </a:ext>
            </a:extLst>
          </p:cNvPr>
          <p:cNvSpPr>
            <a:spLocks xmlns:a="http://schemas.openxmlformats.org/drawingml/2006/main" noGrp="1"/>
          </p:cNvSpPr>
          <p:nvPr/>
        </p:nvSpPr>
        <p:spPr>
          <a:xfrm xmlns:a="http://schemas.openxmlformats.org/drawingml/2006/main">
            <a:off x="609600" y="19526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706B65"/>
                </a:solidFill>
                <a:latin typeface="Arial"/>
                <a:ea typeface="Arial"/>
                <a:cs typeface="Arial"/>
              </a:defRPr>
            </a:pPr>
            <a:r>
              <a:rPr sz="1875" b="0">
                <a:solidFill>
                  <a:srgbClr val="706B65"/>
                </a:solidFill>
                <a:latin typeface="Arial"/>
                <a:ea typeface="Arial"/>
                <a:cs typeface="Arial"/>
              </a:rPr>
              <a:t>Warm grower photography and an early farm directory make the cooperative easy to explore.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d6e71ac1244dc9"/>
          <a:stretch xmlns:a="http://schemas.openxmlformats.org/drawingml/2006/main"/>
        </p:blipFill>
        <p:spPr>
          <a:xfrm xmlns:a="http://schemas.openxmlformats.org/drawingml/2006/main">
            <a:off x="7277100" y="523875"/>
            <a:ext cx="4305300" cy="5740400"/>
          </a:xfrm>
          <a:prstGeom xmlns:a="http://schemas.openxmlformats.org/drawingml/2006/main" prst="rect">
            <a:avLst/>
          </a:prstGeom>
        </p:spPr>
      </p:pic>
      <p:sp>
        <p:nvSpPr>
          <p:cNvPr id="6" name="text-40">
            <a:extLst xmlns:a="http://schemas.openxmlformats.org/drawingml/2006/main">
              <a:ext uri="{FF2B5EF4-FFF2-40B4-BE49-F238E27FC236}">
                <a16:creationId xmlns:a16="http://schemas.microsoft.com/office/drawing/2014/main" id="{A0A160FC-1C81-4DB2-86CA-FC97DEE38683}"/>
              </a:ext>
            </a:extLst>
          </p:cNvPr>
          <p:cNvSpPr>
            <a:spLocks xmlns:a="http://schemas.openxmlformats.org/drawingml/2006/main" noGrp="1"/>
          </p:cNvSpPr>
          <p:nvPr/>
        </p:nvSpPr>
        <p:spPr>
          <a:xfrm xmlns:a="http://schemas.openxmlformats.org/drawingml/2006/main">
            <a:off x="609600" y="323850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583C"/>
                </a:solidFill>
                <a:latin typeface="Arial"/>
                <a:ea typeface="Arial"/>
                <a:cs typeface="Arial"/>
              </a:defRPr>
            </a:pPr>
            <a:r>
              <a:rPr sz="1950" b="1">
                <a:solidFill>
                  <a:srgbClr val="35583C"/>
                </a:solidFill>
                <a:latin typeface="Arial"/>
                <a:ea typeface="Arial"/>
                <a:cs typeface="Arial"/>
              </a:rPr>
              <a:t>Discovery</a:t>
            </a:r>
          </a:p>
        </p:txBody>
      </p:sp>
      <p:sp>
        <p:nvSpPr>
          <p:cNvPr id="7" name="text-41">
            <a:extLst xmlns:a="http://schemas.openxmlformats.org/drawingml/2006/main">
              <a:ext uri="{FF2B5EF4-FFF2-40B4-BE49-F238E27FC236}">
                <a16:creationId xmlns:a16="http://schemas.microsoft.com/office/drawing/2014/main" id="{C2171117-A547-4919-8389-202119856DD8}"/>
              </a:ext>
            </a:extLst>
          </p:cNvPr>
          <p:cNvSpPr>
            <a:spLocks xmlns:a="http://schemas.openxmlformats.org/drawingml/2006/main" noGrp="1"/>
          </p:cNvSpPr>
          <p:nvPr/>
        </p:nvSpPr>
        <p:spPr>
          <a:xfrm xmlns:a="http://schemas.openxmlformats.org/drawingml/2006/main">
            <a:off x="609600" y="371475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Visitors search farms or produce, filter the catalogue and open a farm profile. A separate lookup area resolves farm and batch IDs.</a:t>
            </a:r>
          </a:p>
        </p:txBody>
      </p:sp>
      <p:sp>
        <p:nvSpPr>
          <p:cNvPr id="8" name="text-42">
            <a:extLst xmlns:a="http://schemas.openxmlformats.org/drawingml/2006/main">
              <a:ext uri="{FF2B5EF4-FFF2-40B4-BE49-F238E27FC236}">
                <a16:creationId xmlns:a16="http://schemas.microsoft.com/office/drawing/2014/main" id="{38B9117B-E2EC-4DBB-938B-549DCC4CCBDD}"/>
              </a:ext>
            </a:extLst>
          </p:cNvPr>
          <p:cNvSpPr>
            <a:spLocks xmlns:a="http://schemas.openxmlformats.org/drawingml/2006/main" noGrp="1"/>
          </p:cNvSpPr>
          <p:nvPr/>
        </p:nvSpPr>
        <p:spPr>
          <a:xfrm xmlns:a="http://schemas.openxmlformats.org/drawingml/2006/main">
            <a:off x="609600" y="47434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583C"/>
                </a:solidFill>
                <a:latin typeface="Arial"/>
                <a:ea typeface="Arial"/>
                <a:cs typeface="Arial"/>
              </a:defRPr>
            </a:pPr>
            <a:r>
              <a:rPr sz="1950" b="1">
                <a:solidFill>
                  <a:srgbClr val="35583C"/>
                </a:solidFill>
                <a:latin typeface="Arial"/>
                <a:ea typeface="Arial"/>
                <a:cs typeface="Arial"/>
              </a:rPr>
              <a:t>Proposed scroll behavior</a:t>
            </a:r>
          </a:p>
        </p:txBody>
      </p:sp>
      <p:sp>
        <p:nvSpPr>
          <p:cNvPr id="9" name="text-43">
            <a:extLst xmlns:a="http://schemas.openxmlformats.org/drawingml/2006/main">
              <a:ext uri="{FF2B5EF4-FFF2-40B4-BE49-F238E27FC236}">
                <a16:creationId xmlns:a16="http://schemas.microsoft.com/office/drawing/2014/main" id="{5EBB2FB5-E835-4AB7-86C2-4CCBC40E4C9D}"/>
              </a:ext>
            </a:extLst>
          </p:cNvPr>
          <p:cNvSpPr>
            <a:spLocks xmlns:a="http://schemas.openxmlformats.org/drawingml/2006/main" noGrp="1"/>
          </p:cNvSpPr>
          <p:nvPr/>
        </p:nvSpPr>
        <p:spPr>
          <a:xfrm xmlns:a="http://schemas.openxmlformats.org/drawingml/2006/main">
            <a:off x="609600" y="52387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Photographs reveal gently as the page moves. Farm records settle into readable rows, while origin lookup stays easy to reach.</a:t>
            </a:r>
          </a:p>
        </p:txBody>
      </p:sp>
      <p:sp>
        <p:nvSpPr>
          <p:cNvPr id="10" name="text-44">
            <a:extLst xmlns:a="http://schemas.openxmlformats.org/drawingml/2006/main">
              <a:ext uri="{FF2B5EF4-FFF2-40B4-BE49-F238E27FC236}">
                <a16:creationId xmlns:a16="http://schemas.microsoft.com/office/drawing/2014/main" id="{6495EF18-29FD-43AF-8EAE-7944786B26B3}"/>
              </a:ext>
            </a:extLst>
          </p:cNvPr>
          <p:cNvSpPr>
            <a:spLocks xmlns:a="http://schemas.openxmlformats.org/drawingml/2006/main" noGrp="1"/>
          </p:cNvSpPr>
          <p:nvPr/>
        </p:nvSpPr>
        <p:spPr>
          <a:xfrm xmlns:a="http://schemas.openxmlformats.org/drawingml/2006/main">
            <a:off x="609600" y="6096000"/>
            <a:ext cx="619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706B65"/>
                </a:solidFill>
                <a:latin typeface="Arial"/>
                <a:ea typeface="Arial"/>
                <a:cs typeface="Arial"/>
              </a:defRPr>
            </a:pPr>
            <a:r>
              <a:rPr sz="1125" b="0">
                <a:solidFill>
                  <a:srgbClr val="706B65"/>
                </a:solidFill>
                <a:latin typeface="Arial"/>
                <a:ea typeface="Arial"/>
                <a:cs typeface="Arial"/>
              </a:rPr>
              <a:t>Static design concept. Illustrative imagery and sample records. Motion and mobile layouts are proposed.</a:t>
            </a:r>
          </a:p>
        </p:txBody>
      </p:sp>
    </p:spTree>
    <p:extLst>
      <p:ext uri="{BB962C8B-B14F-4D97-AF65-F5344CB8AC3E}">
        <p14:creationId xmlns:p14="http://schemas.microsoft.com/office/powerpoint/2010/main" val="898718711"/>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AFD9447-0B4F-4553-B755-7C2A1FE3E163}"/>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Growers, farms and a clear next step</a:t>
            </a:r>
          </a:p>
        </p:txBody>
      </p:sp>
      <p:sp>
        <p:nvSpPr>
          <p:cNvPr id="2" name="slide-subtitle">
            <a:extLst xmlns:a="http://schemas.openxmlformats.org/drawingml/2006/main">
              <a:ext uri="{FF2B5EF4-FFF2-40B4-BE49-F238E27FC236}">
                <a16:creationId xmlns:a16="http://schemas.microsoft.com/office/drawing/2014/main" id="{EB4C8139-2EFF-4BB8-8C2F-BB20F4B9BC5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editorial opening leads directly into the catalogue and batch lookup.</a:t>
            </a:r>
          </a:p>
        </p:txBody>
      </p:sp>
      <p:sp>
        <p:nvSpPr>
          <p:cNvPr id="3" name="footer">
            <a:extLst xmlns:a="http://schemas.openxmlformats.org/drawingml/2006/main">
              <a:ext uri="{FF2B5EF4-FFF2-40B4-BE49-F238E27FC236}">
                <a16:creationId xmlns:a16="http://schemas.microsoft.com/office/drawing/2014/main" id="{52C9AAB4-BD2A-46EE-B7CD-AFC2FDFAFFFA}"/>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94B2454-5C33-42F1-ABD2-D83EB04FA819}"/>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0c02a5fbfb64d5c"/>
          <a:srcRect xmlns:a="http://schemas.openxmlformats.org/drawingml/2006/main" l="0" t="0" r="0" b="57666"/>
          <a:stretch xmlns:a="http://schemas.openxmlformats.org/drawingml/2006/main"/>
        </p:blipFill>
        <p:spPr>
          <a:xfrm xmlns:a="http://schemas.openxmlformats.org/drawingml/2006/main">
            <a:off x="926551" y="2190750"/>
            <a:ext cx="6986098" cy="3943350"/>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5EAD6237-9412-40F5-93F2-450BE7D2A97F}"/>
              </a:ext>
            </a:extLst>
          </p:cNvPr>
          <p:cNvSpPr>
            <a:spLocks xmlns:a="http://schemas.openxmlformats.org/drawingml/2006/main" noGrp="1"/>
          </p:cNvSpPr>
          <p:nvPr/>
        </p:nvSpPr>
        <p:spPr>
          <a:xfrm xmlns:a="http://schemas.openxmlformats.org/drawingml/2006/main">
            <a:off x="8667750" y="229552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Meet the growers</a:t>
            </a:r>
          </a:p>
        </p:txBody>
      </p:sp>
      <p:sp>
        <p:nvSpPr>
          <p:cNvPr id="7" name="text-46">
            <a:extLst xmlns:a="http://schemas.openxmlformats.org/drawingml/2006/main">
              <a:ext uri="{FF2B5EF4-FFF2-40B4-BE49-F238E27FC236}">
                <a16:creationId xmlns:a16="http://schemas.microsoft.com/office/drawing/2014/main" id="{EA46EE2E-F2BA-4299-97AF-2D7A2FBFA130}"/>
              </a:ext>
            </a:extLst>
          </p:cNvPr>
          <p:cNvSpPr>
            <a:spLocks xmlns:a="http://schemas.openxmlformats.org/drawingml/2006/main" noGrp="1"/>
          </p:cNvSpPr>
          <p:nvPr/>
        </p:nvSpPr>
        <p:spPr>
          <a:xfrm xmlns:a="http://schemas.openxmlformats.org/drawingml/2006/main">
            <a:off x="8667750" y="27336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A warm portrait and a clear farm link introduce the cooperative.</a:t>
            </a:r>
          </a:p>
        </p:txBody>
      </p:sp>
      <p:sp>
        <p:nvSpPr>
          <p:cNvPr id="8" name="text-47">
            <a:extLst xmlns:a="http://schemas.openxmlformats.org/drawingml/2006/main">
              <a:ext uri="{FF2B5EF4-FFF2-40B4-BE49-F238E27FC236}">
                <a16:creationId xmlns:a16="http://schemas.microsoft.com/office/drawing/2014/main" id="{B72A4A03-3FAC-4266-AFF8-EEE300A26B8C}"/>
              </a:ext>
            </a:extLst>
          </p:cNvPr>
          <p:cNvSpPr>
            <a:spLocks xmlns:a="http://schemas.openxmlformats.org/drawingml/2006/main" noGrp="1"/>
          </p:cNvSpPr>
          <p:nvPr/>
        </p:nvSpPr>
        <p:spPr>
          <a:xfrm xmlns:a="http://schemas.openxmlformats.org/drawingml/2006/main">
            <a:off x="8667750" y="349567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Browse the catalogue</a:t>
            </a:r>
          </a:p>
        </p:txBody>
      </p:sp>
      <p:sp>
        <p:nvSpPr>
          <p:cNvPr id="9" name="text-48">
            <a:extLst xmlns:a="http://schemas.openxmlformats.org/drawingml/2006/main">
              <a:ext uri="{FF2B5EF4-FFF2-40B4-BE49-F238E27FC236}">
                <a16:creationId xmlns:a16="http://schemas.microsoft.com/office/drawing/2014/main" id="{90C4CDA0-0A48-41B6-8CAE-F2DCD3BC8787}"/>
              </a:ext>
            </a:extLst>
          </p:cNvPr>
          <p:cNvSpPr>
            <a:spLocks xmlns:a="http://schemas.openxmlformats.org/drawingml/2006/main" noGrp="1"/>
          </p:cNvSpPr>
          <p:nvPr/>
        </p:nvSpPr>
        <p:spPr>
          <a:xfrm xmlns:a="http://schemas.openxmlformats.org/drawingml/2006/main">
            <a:off x="8667750" y="393382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Search farms or produce, then filter by crop and location.</a:t>
            </a:r>
          </a:p>
        </p:txBody>
      </p:sp>
      <p:sp>
        <p:nvSpPr>
          <p:cNvPr id="10" name="text-49">
            <a:extLst xmlns:a="http://schemas.openxmlformats.org/drawingml/2006/main">
              <a:ext uri="{FF2B5EF4-FFF2-40B4-BE49-F238E27FC236}">
                <a16:creationId xmlns:a16="http://schemas.microsoft.com/office/drawing/2014/main" id="{6C6ED973-9F8C-4EC7-9A34-4FC112E922E5}"/>
              </a:ext>
            </a:extLst>
          </p:cNvPr>
          <p:cNvSpPr>
            <a:spLocks xmlns:a="http://schemas.openxmlformats.org/drawingml/2006/main" noGrp="1"/>
          </p:cNvSpPr>
          <p:nvPr/>
        </p:nvSpPr>
        <p:spPr>
          <a:xfrm xmlns:a="http://schemas.openxmlformats.org/drawingml/2006/main">
            <a:off x="8667750" y="469582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Open the origin</a:t>
            </a:r>
          </a:p>
        </p:txBody>
      </p:sp>
      <p:sp>
        <p:nvSpPr>
          <p:cNvPr id="11" name="text-50">
            <a:extLst xmlns:a="http://schemas.openxmlformats.org/drawingml/2006/main">
              <a:ext uri="{FF2B5EF4-FFF2-40B4-BE49-F238E27FC236}">
                <a16:creationId xmlns:a16="http://schemas.microsoft.com/office/drawing/2014/main" id="{8E361114-4CB1-472E-98E4-A438D97D2E1F}"/>
              </a:ext>
            </a:extLst>
          </p:cNvPr>
          <p:cNvSpPr>
            <a:spLocks xmlns:a="http://schemas.openxmlformats.org/drawingml/2006/main" noGrp="1"/>
          </p:cNvSpPr>
          <p:nvPr/>
        </p:nvSpPr>
        <p:spPr>
          <a:xfrm xmlns:a="http://schemas.openxmlformats.org/drawingml/2006/main">
            <a:off x="8667750" y="51339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Farm and batch IDs lead to the right public profile or approved summary.</a:t>
            </a:r>
          </a:p>
        </p:txBody>
      </p:sp>
      <p:sp>
        <p:nvSpPr>
          <p:cNvPr id="12" name="text-51">
            <a:extLst xmlns:a="http://schemas.openxmlformats.org/drawingml/2006/main">
              <a:ext uri="{FF2B5EF4-FFF2-40B4-BE49-F238E27FC236}">
                <a16:creationId xmlns:a16="http://schemas.microsoft.com/office/drawing/2014/main" id="{BB9A2DB4-729C-4E2A-A535-C6B5335925B0}"/>
              </a:ext>
            </a:extLst>
          </p:cNvPr>
          <p:cNvSpPr>
            <a:spLocks xmlns:a="http://schemas.openxmlformats.org/drawingml/2006/main" noGrp="1"/>
          </p:cNvSpPr>
          <p:nvPr/>
        </p:nvSpPr>
        <p:spPr>
          <a:xfrm xmlns:a="http://schemas.openxmlformats.org/drawingml/2006/main">
            <a:off x="609600" y="62388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Static design concept. Illustrative imagery and sample records. Motion and mobile layouts are proposed.</a:t>
            </a:r>
          </a:p>
        </p:txBody>
      </p:sp>
    </p:spTree>
    <p:extLst>
      <p:ext uri="{BB962C8B-B14F-4D97-AF65-F5344CB8AC3E}">
        <p14:creationId xmlns:p14="http://schemas.microsoft.com/office/powerpoint/2010/main" val="684647450"/>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E70D5B03-9C38-4F2A-A117-5C5487E3B4A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E10B22FB-32B3-4095-A623-9914A74486C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10</a:t>
            </a:r>
          </a:p>
        </p:txBody>
      </p:sp>
      <p:sp>
        <p:nvSpPr>
          <p:cNvPr id="3" name="slide-title">
            <a:extLst xmlns:a="http://schemas.openxmlformats.org/drawingml/2006/main">
              <a:ext uri="{FF2B5EF4-FFF2-40B4-BE49-F238E27FC236}">
                <a16:creationId xmlns:a16="http://schemas.microsoft.com/office/drawing/2014/main" id="{DADF4700-44B3-45DD-BB25-11AB3DA26DBC}"/>
              </a:ext>
            </a:extLst>
          </p:cNvPr>
          <p:cNvSpPr>
            <a:spLocks xmlns:a="http://schemas.openxmlformats.org/drawingml/2006/main" noGrp="1"/>
          </p:cNvSpPr>
          <p:nvPr/>
        </p:nvSpPr>
        <p:spPr>
          <a:xfrm xmlns:a="http://schemas.openxmlformats.org/drawingml/2006/main">
            <a:off x="609600" y="628650"/>
            <a:ext cx="6191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Purple to the World</a:t>
            </a:r>
          </a:p>
        </p:txBody>
      </p:sp>
      <p:sp>
        <p:nvSpPr>
          <p:cNvPr id="4" name="text-52">
            <a:extLst xmlns:a="http://schemas.openxmlformats.org/drawingml/2006/main">
              <a:ext uri="{FF2B5EF4-FFF2-40B4-BE49-F238E27FC236}">
                <a16:creationId xmlns:a16="http://schemas.microsoft.com/office/drawing/2014/main" id="{D9102C63-66E4-4B4F-BB96-2CA1A017D011}"/>
              </a:ext>
            </a:extLst>
          </p:cNvPr>
          <p:cNvSpPr>
            <a:spLocks xmlns:a="http://schemas.openxmlformats.org/drawingml/2006/main" noGrp="1"/>
          </p:cNvSpPr>
          <p:nvPr/>
        </p:nvSpPr>
        <p:spPr>
          <a:xfrm xmlns:a="http://schemas.openxmlformats.org/drawingml/2006/main">
            <a:off x="609600" y="19526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706B65"/>
                </a:solidFill>
                <a:latin typeface="Arial"/>
                <a:ea typeface="Arial"/>
                <a:cs typeface="Arial"/>
              </a:defRPr>
            </a:pPr>
            <a:r>
              <a:rPr sz="1875" b="0">
                <a:solidFill>
                  <a:srgbClr val="706B65"/>
                </a:solidFill>
                <a:latin typeface="Arial"/>
                <a:ea typeface="Arial"/>
                <a:cs typeface="Arial"/>
              </a:rPr>
              <a:t>Bold purple-yam imagery leads into the recorded origin behind each harvest.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cd1528f46045b1"/>
          <a:stretch xmlns:a="http://schemas.openxmlformats.org/drawingml/2006/main"/>
        </p:blipFill>
        <p:spPr>
          <a:xfrm xmlns:a="http://schemas.openxmlformats.org/drawingml/2006/main">
            <a:off x="7277100" y="523875"/>
            <a:ext cx="4305300" cy="5740400"/>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29A323D4-FE68-4B14-B8B4-A489EA941039}"/>
              </a:ext>
            </a:extLst>
          </p:cNvPr>
          <p:cNvSpPr>
            <a:spLocks xmlns:a="http://schemas.openxmlformats.org/drawingml/2006/main" noGrp="1"/>
          </p:cNvSpPr>
          <p:nvPr/>
        </p:nvSpPr>
        <p:spPr>
          <a:xfrm xmlns:a="http://schemas.openxmlformats.org/drawingml/2006/main">
            <a:off x="609600" y="323850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583C"/>
                </a:solidFill>
                <a:latin typeface="Arial"/>
                <a:ea typeface="Arial"/>
                <a:cs typeface="Arial"/>
              </a:defRPr>
            </a:pPr>
            <a:r>
              <a:rPr sz="1950" b="1">
                <a:solidFill>
                  <a:srgbClr val="35583C"/>
                </a:solidFill>
                <a:latin typeface="Arial"/>
                <a:ea typeface="Arial"/>
                <a:cs typeface="Arial"/>
              </a:rPr>
              <a:t>Discovery</a:t>
            </a:r>
          </a:p>
        </p:txBody>
      </p:sp>
      <p:sp>
        <p:nvSpPr>
          <p:cNvPr id="7" name="text-54">
            <a:extLst xmlns:a="http://schemas.openxmlformats.org/drawingml/2006/main">
              <a:ext uri="{FF2B5EF4-FFF2-40B4-BE49-F238E27FC236}">
                <a16:creationId xmlns:a16="http://schemas.microsoft.com/office/drawing/2014/main" id="{04EE7743-9A89-4365-81CC-6F46D4277723}"/>
              </a:ext>
            </a:extLst>
          </p:cNvPr>
          <p:cNvSpPr>
            <a:spLocks xmlns:a="http://schemas.openxmlformats.org/drawingml/2006/main" noGrp="1"/>
          </p:cNvSpPr>
          <p:nvPr/>
        </p:nvSpPr>
        <p:spPr>
          <a:xfrm xmlns:a="http://schemas.openxmlformats.org/drawingml/2006/main">
            <a:off x="609600" y="371475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A sample batch summary introduces the farm, harvest, processor and recipient. Visitors can explore produce or find a specific batch.</a:t>
            </a:r>
          </a:p>
        </p:txBody>
      </p:sp>
      <p:sp>
        <p:nvSpPr>
          <p:cNvPr id="8" name="text-55">
            <a:extLst xmlns:a="http://schemas.openxmlformats.org/drawingml/2006/main">
              <a:ext uri="{FF2B5EF4-FFF2-40B4-BE49-F238E27FC236}">
                <a16:creationId xmlns:a16="http://schemas.microsoft.com/office/drawing/2014/main" id="{7288033B-8D03-4997-B2E4-BA81CDF9FAA3}"/>
              </a:ext>
            </a:extLst>
          </p:cNvPr>
          <p:cNvSpPr>
            <a:spLocks xmlns:a="http://schemas.openxmlformats.org/drawingml/2006/main" noGrp="1"/>
          </p:cNvSpPr>
          <p:nvPr/>
        </p:nvSpPr>
        <p:spPr>
          <a:xfrm xmlns:a="http://schemas.openxmlformats.org/drawingml/2006/main">
            <a:off x="609600" y="47434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583C"/>
                </a:solidFill>
                <a:latin typeface="Arial"/>
                <a:ea typeface="Arial"/>
                <a:cs typeface="Arial"/>
              </a:defRPr>
            </a:pPr>
            <a:r>
              <a:rPr sz="1950" b="1">
                <a:solidFill>
                  <a:srgbClr val="35583C"/>
                </a:solidFill>
                <a:latin typeface="Arial"/>
                <a:ea typeface="Arial"/>
                <a:cs typeface="Arial"/>
              </a:rPr>
              <a:t>Proposed scroll behavior</a:t>
            </a:r>
          </a:p>
        </p:txBody>
      </p:sp>
      <p:sp>
        <p:nvSpPr>
          <p:cNvPr id="9" name="text-56">
            <a:extLst xmlns:a="http://schemas.openxmlformats.org/drawingml/2006/main">
              <a:ext uri="{FF2B5EF4-FFF2-40B4-BE49-F238E27FC236}">
                <a16:creationId xmlns:a16="http://schemas.microsoft.com/office/drawing/2014/main" id="{55A281E8-37DA-4DA7-8AF2-F41DFC77A057}"/>
              </a:ext>
            </a:extLst>
          </p:cNvPr>
          <p:cNvSpPr>
            <a:spLocks xmlns:a="http://schemas.openxmlformats.org/drawingml/2006/main" noGrp="1"/>
          </p:cNvSpPr>
          <p:nvPr/>
        </p:nvSpPr>
        <p:spPr>
          <a:xfrm xmlns:a="http://schemas.openxmlformats.org/drawingml/2006/main">
            <a:off x="609600" y="52387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The yam moves as the product story opens into its origin record. Purple and pale sections guide visitors toward farms and batch lookup.</a:t>
            </a:r>
          </a:p>
        </p:txBody>
      </p:sp>
      <p:sp>
        <p:nvSpPr>
          <p:cNvPr id="10" name="text-57">
            <a:extLst xmlns:a="http://schemas.openxmlformats.org/drawingml/2006/main">
              <a:ext uri="{FF2B5EF4-FFF2-40B4-BE49-F238E27FC236}">
                <a16:creationId xmlns:a16="http://schemas.microsoft.com/office/drawing/2014/main" id="{E9C27DEB-DB3B-4503-BF78-481A301E428A}"/>
              </a:ext>
            </a:extLst>
          </p:cNvPr>
          <p:cNvSpPr>
            <a:spLocks xmlns:a="http://schemas.openxmlformats.org/drawingml/2006/main" noGrp="1"/>
          </p:cNvSpPr>
          <p:nvPr/>
        </p:nvSpPr>
        <p:spPr>
          <a:xfrm xmlns:a="http://schemas.openxmlformats.org/drawingml/2006/main">
            <a:off x="609600" y="6096000"/>
            <a:ext cx="619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706B65"/>
                </a:solidFill>
                <a:latin typeface="Arial"/>
                <a:ea typeface="Arial"/>
                <a:cs typeface="Arial"/>
              </a:defRPr>
            </a:pPr>
            <a:r>
              <a:rPr sz="1125" b="0">
                <a:solidFill>
                  <a:srgbClr val="706B65"/>
                </a:solidFill>
                <a:latin typeface="Arial"/>
                <a:ea typeface="Arial"/>
                <a:cs typeface="Arial"/>
              </a:rPr>
              <a:t>Static design concept. Illustrative imagery and sample records. Motion and mobile layouts are proposed.</a:t>
            </a:r>
          </a:p>
        </p:txBody>
      </p:sp>
    </p:spTree>
    <p:extLst>
      <p:ext uri="{BB962C8B-B14F-4D97-AF65-F5344CB8AC3E}">
        <p14:creationId xmlns:p14="http://schemas.microsoft.com/office/powerpoint/2010/main" val="249050918"/>
      </p:ext>
    </p:extLst>
  </p:cSld>
</p:sld>
</file>

<file path=ppt/slides/slide1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EEC0752-C96A-4339-8D66-F706DCD9893E}"/>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product and its recorded origin</a:t>
            </a:r>
          </a:p>
        </p:txBody>
      </p:sp>
      <p:sp>
        <p:nvSpPr>
          <p:cNvPr id="2" name="slide-subtitle">
            <a:extLst xmlns:a="http://schemas.openxmlformats.org/drawingml/2006/main">
              <a:ext uri="{FF2B5EF4-FFF2-40B4-BE49-F238E27FC236}">
                <a16:creationId xmlns:a16="http://schemas.microsoft.com/office/drawing/2014/main" id="{A41923F6-A3E6-4878-8E69-B49AE39340B2}"/>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strong product opening connects visitors to the batch information behind it.</a:t>
            </a:r>
          </a:p>
        </p:txBody>
      </p:sp>
      <p:sp>
        <p:nvSpPr>
          <p:cNvPr id="3" name="footer">
            <a:extLst xmlns:a="http://schemas.openxmlformats.org/drawingml/2006/main">
              <a:ext uri="{FF2B5EF4-FFF2-40B4-BE49-F238E27FC236}">
                <a16:creationId xmlns:a16="http://schemas.microsoft.com/office/drawing/2014/main" id="{07E9B856-EB4E-4B43-B0F2-38CA07BBC6A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D75A3592-5B49-4217-A8AC-2215F80E577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11</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e7905700d543e0"/>
          <a:srcRect xmlns:a="http://schemas.openxmlformats.org/drawingml/2006/main" l="0" t="0" r="0" b="46823"/>
          <a:stretch xmlns:a="http://schemas.openxmlformats.org/drawingml/2006/main"/>
        </p:blipFill>
        <p:spPr>
          <a:xfrm xmlns:a="http://schemas.openxmlformats.org/drawingml/2006/main">
            <a:off x="1638770" y="2190750"/>
            <a:ext cx="5561660" cy="3943350"/>
          </a:xfrm>
          <a:prstGeom xmlns:a="http://schemas.openxmlformats.org/drawingml/2006/main" prst="rect">
            <a:avLst/>
          </a:prstGeom>
        </p:spPr>
      </p:pic>
      <p:sp>
        <p:nvSpPr>
          <p:cNvPr id="6" name="text-58">
            <a:extLst xmlns:a="http://schemas.openxmlformats.org/drawingml/2006/main">
              <a:ext uri="{FF2B5EF4-FFF2-40B4-BE49-F238E27FC236}">
                <a16:creationId xmlns:a16="http://schemas.microsoft.com/office/drawing/2014/main" id="{7A1C16C4-668F-48E7-A762-CF426B19C767}"/>
              </a:ext>
            </a:extLst>
          </p:cNvPr>
          <p:cNvSpPr>
            <a:spLocks xmlns:a="http://schemas.openxmlformats.org/drawingml/2006/main" noGrp="1"/>
          </p:cNvSpPr>
          <p:nvPr/>
        </p:nvSpPr>
        <p:spPr>
          <a:xfrm xmlns:a="http://schemas.openxmlformats.org/drawingml/2006/main">
            <a:off x="8667750" y="229552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Ube in focus</a:t>
            </a:r>
          </a:p>
        </p:txBody>
      </p:sp>
      <p:sp>
        <p:nvSpPr>
          <p:cNvPr id="7" name="text-59">
            <a:extLst xmlns:a="http://schemas.openxmlformats.org/drawingml/2006/main">
              <a:ext uri="{FF2B5EF4-FFF2-40B4-BE49-F238E27FC236}">
                <a16:creationId xmlns:a16="http://schemas.microsoft.com/office/drawing/2014/main" id="{017DB377-FBBB-4E46-8C19-4EDCA34F1534}"/>
              </a:ext>
            </a:extLst>
          </p:cNvPr>
          <p:cNvSpPr>
            <a:spLocks xmlns:a="http://schemas.openxmlformats.org/drawingml/2006/main" noGrp="1"/>
          </p:cNvSpPr>
          <p:nvPr/>
        </p:nvSpPr>
        <p:spPr>
          <a:xfrm xmlns:a="http://schemas.openxmlformats.org/drawingml/2006/main">
            <a:off x="8667750" y="27336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The crop takes center stage with routes to produce and batch discovery.</a:t>
            </a:r>
          </a:p>
        </p:txBody>
      </p:sp>
      <p:sp>
        <p:nvSpPr>
          <p:cNvPr id="8" name="text-60">
            <a:extLst xmlns:a="http://schemas.openxmlformats.org/drawingml/2006/main">
              <a:ext uri="{FF2B5EF4-FFF2-40B4-BE49-F238E27FC236}">
                <a16:creationId xmlns:a16="http://schemas.microsoft.com/office/drawing/2014/main" id="{4670A919-5813-4E93-929E-E18E5B9C8C90}"/>
              </a:ext>
            </a:extLst>
          </p:cNvPr>
          <p:cNvSpPr>
            <a:spLocks xmlns:a="http://schemas.openxmlformats.org/drawingml/2006/main" noGrp="1"/>
          </p:cNvSpPr>
          <p:nvPr/>
        </p:nvSpPr>
        <p:spPr>
          <a:xfrm xmlns:a="http://schemas.openxmlformats.org/drawingml/2006/main">
            <a:off x="8667750" y="349567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A clear origin record</a:t>
            </a:r>
          </a:p>
        </p:txBody>
      </p:sp>
      <p:sp>
        <p:nvSpPr>
          <p:cNvPr id="9" name="text-61">
            <a:extLst xmlns:a="http://schemas.openxmlformats.org/drawingml/2006/main">
              <a:ext uri="{FF2B5EF4-FFF2-40B4-BE49-F238E27FC236}">
                <a16:creationId xmlns:a16="http://schemas.microsoft.com/office/drawing/2014/main" id="{C8792C0A-09CE-4C11-AAC5-AF2576F9E988}"/>
              </a:ext>
            </a:extLst>
          </p:cNvPr>
          <p:cNvSpPr>
            <a:spLocks xmlns:a="http://schemas.openxmlformats.org/drawingml/2006/main" noGrp="1"/>
          </p:cNvSpPr>
          <p:nvPr/>
        </p:nvSpPr>
        <p:spPr>
          <a:xfrm xmlns:a="http://schemas.openxmlformats.org/drawingml/2006/main">
            <a:off x="8667750" y="393382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An illustrative summary shows a farm, harvest, processor and recipient.</a:t>
            </a:r>
          </a:p>
        </p:txBody>
      </p:sp>
      <p:sp>
        <p:nvSpPr>
          <p:cNvPr id="10" name="text-62">
            <a:extLst xmlns:a="http://schemas.openxmlformats.org/drawingml/2006/main">
              <a:ext uri="{FF2B5EF4-FFF2-40B4-BE49-F238E27FC236}">
                <a16:creationId xmlns:a16="http://schemas.microsoft.com/office/drawing/2014/main" id="{A5E4FDA7-35BF-4D7B-A5F6-B88C596CAFB6}"/>
              </a:ext>
            </a:extLst>
          </p:cNvPr>
          <p:cNvSpPr>
            <a:spLocks xmlns:a="http://schemas.openxmlformats.org/drawingml/2006/main" noGrp="1"/>
          </p:cNvSpPr>
          <p:nvPr/>
        </p:nvSpPr>
        <p:spPr>
          <a:xfrm xmlns:a="http://schemas.openxmlformats.org/drawingml/2006/main">
            <a:off x="8667750" y="4695825"/>
            <a:ext cx="291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42A69"/>
                </a:solidFill>
                <a:latin typeface="Arial"/>
                <a:ea typeface="Arial"/>
                <a:cs typeface="Arial"/>
              </a:defRPr>
            </a:pPr>
            <a:r>
              <a:rPr sz="1725" b="1">
                <a:solidFill>
                  <a:srgbClr val="542A69"/>
                </a:solidFill>
                <a:latin typeface="Arial"/>
                <a:ea typeface="Arial"/>
                <a:cs typeface="Arial"/>
              </a:rPr>
              <a:t>Continue to a farm</a:t>
            </a:r>
          </a:p>
        </p:txBody>
      </p:sp>
      <p:sp>
        <p:nvSpPr>
          <p:cNvPr id="11" name="text-63">
            <a:extLst xmlns:a="http://schemas.openxmlformats.org/drawingml/2006/main">
              <a:ext uri="{FF2B5EF4-FFF2-40B4-BE49-F238E27FC236}">
                <a16:creationId xmlns:a16="http://schemas.microsoft.com/office/drawing/2014/main" id="{2B672A9B-A767-449F-823E-BCCB68A786E5}"/>
              </a:ext>
            </a:extLst>
          </p:cNvPr>
          <p:cNvSpPr>
            <a:spLocks xmlns:a="http://schemas.openxmlformats.org/drawingml/2006/main" noGrp="1"/>
          </p:cNvSpPr>
          <p:nvPr/>
        </p:nvSpPr>
        <p:spPr>
          <a:xfrm xmlns:a="http://schemas.openxmlformats.org/drawingml/2006/main">
            <a:off x="8667750" y="51339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4233E"/>
                </a:solidFill>
                <a:latin typeface="Arial"/>
                <a:ea typeface="Arial"/>
                <a:cs typeface="Arial"/>
              </a:defRPr>
            </a:pPr>
            <a:r>
              <a:rPr sz="1500" b="0">
                <a:solidFill>
                  <a:srgbClr val="34233E"/>
                </a:solidFill>
                <a:latin typeface="Arial"/>
                <a:ea typeface="Arial"/>
                <a:cs typeface="Arial"/>
              </a:rPr>
              <a:t>Public farm and batch links connect the product to its growing story.</a:t>
            </a:r>
          </a:p>
        </p:txBody>
      </p:sp>
      <p:sp>
        <p:nvSpPr>
          <p:cNvPr id="12" name="text-64">
            <a:extLst xmlns:a="http://schemas.openxmlformats.org/drawingml/2006/main">
              <a:ext uri="{FF2B5EF4-FFF2-40B4-BE49-F238E27FC236}">
                <a16:creationId xmlns:a16="http://schemas.microsoft.com/office/drawing/2014/main" id="{4E00B1D7-A284-4905-A8A3-7E8BCE4D55CE}"/>
              </a:ext>
            </a:extLst>
          </p:cNvPr>
          <p:cNvSpPr>
            <a:spLocks xmlns:a="http://schemas.openxmlformats.org/drawingml/2006/main" noGrp="1"/>
          </p:cNvSpPr>
          <p:nvPr/>
        </p:nvSpPr>
        <p:spPr>
          <a:xfrm xmlns:a="http://schemas.openxmlformats.org/drawingml/2006/main">
            <a:off x="609600" y="62388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Static design concept. Illustrative imagery and sample records. Motion and mobile layouts are proposed.</a:t>
            </a:r>
          </a:p>
        </p:txBody>
      </p:sp>
    </p:spTree>
    <p:extLst>
      <p:ext uri="{BB962C8B-B14F-4D97-AF65-F5344CB8AC3E}">
        <p14:creationId xmlns:p14="http://schemas.microsoft.com/office/powerpoint/2010/main" val="2114409647"/>
      </p:ext>
    </p:extLst>
  </p:cSld>
</p:sld>
</file>

<file path=ppt/slides/slide1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EAE7383-DE92-4939-B500-ED280409102F}"/>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Choosing the public experience</a:t>
            </a:r>
          </a:p>
        </p:txBody>
      </p:sp>
      <p:sp>
        <p:nvSpPr>
          <p:cNvPr id="2" name="slide-subtitle">
            <a:extLst xmlns:a="http://schemas.openxmlformats.org/drawingml/2006/main">
              <a:ext uri="{FF2B5EF4-FFF2-40B4-BE49-F238E27FC236}">
                <a16:creationId xmlns:a16="http://schemas.microsoft.com/office/drawing/2014/main" id="{BF5476F7-342B-4F02-BA7D-D17248DAF991}"/>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All three directions use the proposed catalogue, member portal and batch QR features. Select one for implementation.</a:t>
            </a:r>
          </a:p>
        </p:txBody>
      </p:sp>
      <p:sp>
        <p:nvSpPr>
          <p:cNvPr id="3" name="footer">
            <a:extLst xmlns:a="http://schemas.openxmlformats.org/drawingml/2006/main">
              <a:ext uri="{FF2B5EF4-FFF2-40B4-BE49-F238E27FC236}">
                <a16:creationId xmlns:a16="http://schemas.microsoft.com/office/drawing/2014/main" id="{39A908B2-15C9-4653-94E5-C38AE7B9BE42}"/>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9CBFBDEB-E153-47E2-A1A8-0CF223360732}"/>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267075"/>
        </p:xfrm>
        <a:graphic xmlns:a="http://schemas.openxmlformats.org/drawingml/2006/main">
          <a:graphicData uri="http://schemas.openxmlformats.org/drawingml/2006/table">
            <a:tbl>
              <a:tblPr firstRow="0" firstCol="0" bandRow="0"/>
              <a:tblGrid>
                <a:gridCol w="2667000"/>
                <a:gridCol w="3429000"/>
                <a:gridCol w="4876800"/>
              </a:tblGrid>
              <a:tr h="523875">
                <a:tc>
                  <a:txBody>
                    <a:bodyPr wrap="square">
                      <a:noAutofit/>
                    </a:bodyPr>
                    <a:lstStyle/>
                    <a:p>
                      <a:r>
                        <a:rPr sz="1650" b="1">
                          <a:solidFill>
                            <a:srgbClr val="FFFFFF"/>
                          </a:solidFill>
                          <a:latin typeface="Arial"/>
                          <a:ea typeface="Arial"/>
                          <a:cs typeface="Arial"/>
                        </a:rPr>
                        <a:t>Direction</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What it emphasizes</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What it needs</a:t>
                      </a:r>
                    </a:p>
                  </a:txBody>
                  <a:tcPr marL="133350" marR="133350" marT="95250" marB="95250" anchor="t">
                    <a:solidFill>
                      <a:srgbClr val="35583C"/>
                    </a:solidFill>
                  </a:tcPr>
                </a:tc>
              </a:tr>
              <a:tr h="914400">
                <a:tc>
                  <a:txBody>
                    <a:bodyPr wrap="square">
                      <a:noAutofit/>
                    </a:bodyPr>
                    <a:lstStyle/>
                    <a:p>
                      <a:r>
                        <a:rPr sz="1650" b="0">
                          <a:solidFill>
                            <a:srgbClr val="35583C"/>
                          </a:solidFill>
                          <a:latin typeface="Arial"/>
                          <a:ea typeface="Arial"/>
                          <a:cs typeface="Arial"/>
                        </a:rPr>
                        <a:t>From Root to Story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An immersive vine journey with visible lookup</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Botanical assets, motion and mobile testing</a:t>
                      </a:r>
                    </a:p>
                  </a:txBody>
                  <a:tcPr marL="133350" marR="133350" marT="95250" marB="95250" anchor="t">
                    <a:solidFill>
                      <a:srgbClr val="F6F3EA"/>
                    </a:solidFill>
                  </a:tcPr>
                </a:tc>
              </a:tr>
              <a:tr h="914400">
                <a:tc>
                  <a:txBody>
                    <a:bodyPr wrap="square">
                      <a:noAutofit/>
                    </a:bodyPr>
                    <a:lstStyle/>
                    <a:p>
                      <a:r>
                        <a:rPr sz="1650" b="0">
                          <a:solidFill>
                            <a:srgbClr val="35583C"/>
                          </a:solidFill>
                          <a:latin typeface="Arial"/>
                          <a:ea typeface="Arial"/>
                          <a:cs typeface="Arial"/>
                        </a:rPr>
                        <a:t>Grown Together in Davao</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Growers and an easy-to-browse farm catalogue</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Authentic photography and clear farm records</a:t>
                      </a:r>
                    </a:p>
                  </a:txBody>
                  <a:tcPr marL="133350" marR="133350" marT="95250" marB="95250" anchor="t">
                    <a:solidFill>
                      <a:srgbClr val="F6F3EA"/>
                    </a:solidFill>
                  </a:tcPr>
                </a:tc>
              </a:tr>
              <a:tr h="914400">
                <a:tc>
                  <a:txBody>
                    <a:bodyPr wrap="square">
                      <a:noAutofit/>
                    </a:bodyPr>
                    <a:lstStyle/>
                    <a:p>
                      <a:r>
                        <a:rPr sz="1650" b="0">
                          <a:solidFill>
                            <a:srgbClr val="35583C"/>
                          </a:solidFill>
                          <a:latin typeface="Arial"/>
                          <a:ea typeface="Arial"/>
                          <a:cs typeface="Arial"/>
                        </a:rPr>
                        <a:t>Purple to the World</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and public batch-origin information</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Product imagery and accurate batch summaries</a:t>
                      </a:r>
                    </a:p>
                  </a:txBody>
                  <a:tcPr marL="133350" marR="133350" marT="95250" marB="95250" anchor="t">
                    <a:solidFill>
                      <a:srgbClr val="F6F3EA"/>
                    </a:solidFill>
                  </a:tcPr>
                </a:tc>
              </a:tr>
            </a:tbl>
          </a:graphicData>
        </a:graphic>
      </p:graphicFrame>
      <p:sp>
        <p:nvSpPr>
          <p:cNvPr id="6" name="text-65">
            <a:extLst xmlns:a="http://schemas.openxmlformats.org/drawingml/2006/main">
              <a:ext uri="{FF2B5EF4-FFF2-40B4-BE49-F238E27FC236}">
                <a16:creationId xmlns:a16="http://schemas.microsoft.com/office/drawing/2014/main" id="{57C8C435-D9BE-45D0-B468-0AFB29B96879}"/>
              </a:ext>
            </a:extLst>
          </p:cNvPr>
          <p:cNvSpPr>
            <a:spLocks xmlns:a="http://schemas.openxmlformats.org/drawingml/2006/main" noGrp="1"/>
          </p:cNvSpPr>
          <p:nvPr/>
        </p:nvSpPr>
        <p:spPr>
          <a:xfrm xmlns:a="http://schemas.openxmlformats.org/drawingml/2006/main">
            <a:off x="609600" y="58864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All three are new visual concepts. Confirm the selected design and motion work before finalizing delivery.</a:t>
            </a:r>
          </a:p>
        </p:txBody>
      </p:sp>
    </p:spTree>
    <p:extLst>
      <p:ext uri="{BB962C8B-B14F-4D97-AF65-F5344CB8AC3E}">
        <p14:creationId xmlns:p14="http://schemas.microsoft.com/office/powerpoint/2010/main" val="1563351643"/>
      </p:ext>
    </p:extLst>
  </p:cSld>
</p:sld>
</file>

<file path=ppt/slides/slide1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7442C5E-01A2-4F3C-8E14-CE2C3AD617EC}"/>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Proposed delivery: Weeks 1 to 5</a:t>
            </a:r>
          </a:p>
        </p:txBody>
      </p:sp>
      <p:sp>
        <p:nvSpPr>
          <p:cNvPr id="2" name="slide-subtitle">
            <a:extLst xmlns:a="http://schemas.openxmlformats.org/drawingml/2006/main">
              <a:ext uri="{FF2B5EF4-FFF2-40B4-BE49-F238E27FC236}">
                <a16:creationId xmlns:a16="http://schemas.microsoft.com/office/drawing/2014/main" id="{980BBF12-84D4-4413-BF4A-7C75D9EAAF49}"/>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Target: 10 weeks, subject to the selected design, agreed working availability and confirmed pilot workflow.</a:t>
            </a:r>
          </a:p>
        </p:txBody>
      </p:sp>
      <p:sp>
        <p:nvSpPr>
          <p:cNvPr id="3" name="footer">
            <a:extLst xmlns:a="http://schemas.openxmlformats.org/drawingml/2006/main">
              <a:ext uri="{FF2B5EF4-FFF2-40B4-BE49-F238E27FC236}">
                <a16:creationId xmlns:a16="http://schemas.microsoft.com/office/drawing/2014/main" id="{53D6D84C-5C20-45DC-927C-0F3D51131B59}"/>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BC6F174-4A1C-4F92-90D6-F846111A7D1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13</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the 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one design, pilot records, roles, public fields and whether processors combine harvests.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2</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the foundation</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MongoDB, the Express/Node.js API and sign-in. Test account access and role restrictions.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3</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Organize the ecosystem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farm, produce, partner and account forms. Test saving, editing and permitted access.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4</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Capture farming details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Add planting, plot and care records. Test required fields, dates and record corrections.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5</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Track harvest batches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Add harvest IDs, quantities and status. Review the growing-to-harvest workflow with pilot users.</a:t>
                      </a:r>
                    </a:p>
                  </a:txBody>
                  <a:tcPr marL="133350" marR="133350" marT="95250" marB="95250" anchor="t">
                    <a:solidFill>
                      <a:srgbClr val="F6F3EA"/>
                    </a:solidFill>
                  </a:tcPr>
                </a:tc>
              </a:tr>
            </a:tbl>
          </a:graphicData>
        </a:graphic>
      </p:graphicFrame>
      <p:sp>
        <p:nvSpPr>
          <p:cNvPr id="6" name="text-66">
            <a:extLst xmlns:a="http://schemas.openxmlformats.org/drawingml/2006/main">
              <a:ext uri="{FF2B5EF4-FFF2-40B4-BE49-F238E27FC236}">
                <a16:creationId xmlns:a16="http://schemas.microsoft.com/office/drawing/2014/main" id="{9D83CAC0-CA7B-4E61-8B88-F393DDC29CC4}"/>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Confirm the chosen redesign before kickoff. Testing starts during development in Week 2.</a:t>
            </a:r>
          </a:p>
        </p:txBody>
      </p:sp>
    </p:spTree>
    <p:extLst>
      <p:ext uri="{BB962C8B-B14F-4D97-AF65-F5344CB8AC3E}">
        <p14:creationId xmlns:p14="http://schemas.microsoft.com/office/powerpoint/2010/main" val="640273161"/>
      </p:ext>
    </p:extLst>
  </p:cSld>
</p:sld>
</file>

<file path=ppt/slides/slide1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F2AC472-A892-4E55-8908-51E5040DD38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Proposed delivery: Weeks 6 to 10</a:t>
            </a:r>
          </a:p>
        </p:txBody>
      </p:sp>
      <p:sp>
        <p:nvSpPr>
          <p:cNvPr id="2" name="slide-subtitle">
            <a:extLst xmlns:a="http://schemas.openxmlformats.org/drawingml/2006/main">
              <a:ext uri="{FF2B5EF4-FFF2-40B4-BE49-F238E27FC236}">
                <a16:creationId xmlns:a16="http://schemas.microsoft.com/office/drawing/2014/main" id="{979474DF-FD8E-4133-83D7-C3A2BC7BBBCD}"/>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Target: 10 weeks, subject to the selected design, agreed working availability and confirmed pilot workflow.</a:t>
            </a:r>
          </a:p>
        </p:txBody>
      </p:sp>
      <p:sp>
        <p:nvSpPr>
          <p:cNvPr id="3" name="footer">
            <a:extLst xmlns:a="http://schemas.openxmlformats.org/drawingml/2006/main">
              <a:ext uri="{FF2B5EF4-FFF2-40B4-BE49-F238E27FC236}">
                <a16:creationId xmlns:a16="http://schemas.microsoft.com/office/drawing/2014/main" id="{8F38345C-EFA9-4372-8CFF-C2D916E96AD0}"/>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9260EB8B-A8A3-4486-9C64-C4000F8870A1}"/>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14</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processing &amp; recipients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Link processors, lots and recipients. Test origin links and each participant's permitted access.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7</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Publish the consumer view</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public summaries, approvals and QR downloads. Test published, private and unknown IDs.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8</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landing experience</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catalogue and chosen design. Check mobile, QR and reduced motion. First review round.</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9</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Review &amp; accept the pilot</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Complete the second review round, pilot acceptance and final workflow, permission and device checks.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10</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&amp; transfer</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with HTTPS and backups. Check restore, train operators and confirm the support handover.</a:t>
                      </a:r>
                    </a:p>
                  </a:txBody>
                  <a:tcPr marL="133350" marR="133350" marT="95250" marB="95250" anchor="t">
                    <a:solidFill>
                      <a:srgbClr val="F6F3EA"/>
                    </a:solidFill>
                  </a:tcPr>
                </a:tc>
              </a:tr>
            </a:tbl>
          </a:graphicData>
        </a:graphic>
      </p:graphicFrame>
      <p:sp>
        <p:nvSpPr>
          <p:cNvPr id="6" name="text-67">
            <a:extLst xmlns:a="http://schemas.openxmlformats.org/drawingml/2006/main">
              <a:ext uri="{FF2B5EF4-FFF2-40B4-BE49-F238E27FC236}">
                <a16:creationId xmlns:a16="http://schemas.microsoft.com/office/drawing/2014/main" id="{B8BAF655-2557-4EC9-891C-EC1450651EF1}"/>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Review rounds are proposed for Weeks 8 and 9. Client feedback or scope changes may move launch.</a:t>
            </a:r>
          </a:p>
        </p:txBody>
      </p:sp>
    </p:spTree>
    <p:extLst>
      <p:ext uri="{BB962C8B-B14F-4D97-AF65-F5344CB8AC3E}">
        <p14:creationId xmlns:p14="http://schemas.microsoft.com/office/powerpoint/2010/main" val="922597019"/>
      </p:ext>
    </p:extLst>
  </p:cSld>
</p:sld>
</file>

<file path=ppt/slides/slide1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1CA38A44-756E-4F0B-8D04-051F9C0E284D}"/>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Proposed delivery and support</a:t>
            </a:r>
          </a:p>
        </p:txBody>
      </p:sp>
      <p:sp>
        <p:nvSpPr>
          <p:cNvPr id="2" name="slide-subtitle">
            <a:extLst xmlns:a="http://schemas.openxmlformats.org/drawingml/2006/main">
              <a:ext uri="{FF2B5EF4-FFF2-40B4-BE49-F238E27FC236}">
                <a16:creationId xmlns:a16="http://schemas.microsoft.com/office/drawing/2014/main" id="{FBD0D19E-801F-42A6-969F-FC5B1762A3F2}"/>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Confirm these arrangements after selecting how we will work together.</a:t>
            </a:r>
          </a:p>
        </p:txBody>
      </p:sp>
      <p:sp>
        <p:nvSpPr>
          <p:cNvPr id="3" name="footer">
            <a:extLst xmlns:a="http://schemas.openxmlformats.org/drawingml/2006/main">
              <a:ext uri="{FF2B5EF4-FFF2-40B4-BE49-F238E27FC236}">
                <a16:creationId xmlns:a16="http://schemas.microsoft.com/office/drawing/2014/main" id="{923488E1-CF66-4F64-A880-6F6563471E19}"/>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3295F0FC-2087-48B8-8609-4A9E8F8060D8}"/>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15</a:t>
            </a:r>
          </a:p>
        </p:txBody>
      </p:sp>
      <p:sp>
        <p:nvSpPr>
          <p:cNvPr id="5" name="text-68">
            <a:extLst xmlns:a="http://schemas.openxmlformats.org/drawingml/2006/main">
              <a:ext uri="{FF2B5EF4-FFF2-40B4-BE49-F238E27FC236}">
                <a16:creationId xmlns:a16="http://schemas.microsoft.com/office/drawing/2014/main" id="{D390A563-F8A9-496F-A623-7A13FEA561A5}"/>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Proposed delivery items</a:t>
            </a:r>
          </a:p>
        </p:txBody>
      </p:sp>
      <p:sp>
        <p:nvSpPr>
          <p:cNvPr id="6" name="text-69">
            <a:extLst xmlns:a="http://schemas.openxmlformats.org/drawingml/2006/main">
              <a:ext uri="{FF2B5EF4-FFF2-40B4-BE49-F238E27FC236}">
                <a16:creationId xmlns:a16="http://schemas.microsoft.com/office/drawing/2014/main" id="{54A717B3-3FB5-4B4A-91AA-66AC283C5E7D}"/>
              </a:ext>
            </a:extLst>
          </p:cNvPr>
          <p:cNvSpPr>
            <a:spLocks xmlns:a="http://schemas.openxmlformats.org/drawingml/2006/main" noGrp="1"/>
          </p:cNvSpPr>
          <p:nvPr/>
        </p:nvSpPr>
        <p:spPr>
          <a:xfrm xmlns:a="http://schemas.openxmlformats.org/drawingml/2006/main">
            <a:off x="609600" y="3219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HTTPS production deployment</a:t>
            </a:r>
          </a:p>
        </p:txBody>
      </p:sp>
      <p:sp>
        <p:nvSpPr>
          <p:cNvPr id="7" name="text-70">
            <a:extLst xmlns:a="http://schemas.openxmlformats.org/drawingml/2006/main">
              <a:ext uri="{FF2B5EF4-FFF2-40B4-BE49-F238E27FC236}">
                <a16:creationId xmlns:a16="http://schemas.microsoft.com/office/drawing/2014/main" id="{39BDA055-28B4-4A25-B827-98D6BF2FD3D0}"/>
              </a:ext>
            </a:extLst>
          </p:cNvPr>
          <p:cNvSpPr>
            <a:spLocks xmlns:a="http://schemas.openxmlformats.org/drawingml/2006/main" noGrp="1"/>
          </p:cNvSpPr>
          <p:nvPr/>
        </p:nvSpPr>
        <p:spPr>
          <a:xfrm xmlns:a="http://schemas.openxmlformats.org/drawingml/2006/main">
            <a:off x="609600" y="36957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Database backups and one restore check</a:t>
            </a:r>
          </a:p>
        </p:txBody>
      </p:sp>
      <p:sp>
        <p:nvSpPr>
          <p:cNvPr id="8" name="text-71">
            <a:extLst xmlns:a="http://schemas.openxmlformats.org/drawingml/2006/main">
              <a:ext uri="{FF2B5EF4-FFF2-40B4-BE49-F238E27FC236}">
                <a16:creationId xmlns:a16="http://schemas.microsoft.com/office/drawing/2014/main" id="{F6C17543-900C-45C4-9DCA-0B1F51DBB016}"/>
              </a:ext>
            </a:extLst>
          </p:cNvPr>
          <p:cNvSpPr>
            <a:spLocks xmlns:a="http://schemas.openxmlformats.org/drawingml/2006/main" noGrp="1"/>
          </p:cNvSpPr>
          <p:nvPr/>
        </p:nvSpPr>
        <p:spPr>
          <a:xfrm xmlns:a="http://schemas.openxmlformats.org/drawingml/2006/main">
            <a:off x="609600" y="41719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Source files and operator documentation</a:t>
            </a:r>
          </a:p>
        </p:txBody>
      </p:sp>
      <p:sp>
        <p:nvSpPr>
          <p:cNvPr id="9" name="text-72">
            <a:extLst xmlns:a="http://schemas.openxmlformats.org/drawingml/2006/main">
              <a:ext uri="{FF2B5EF4-FFF2-40B4-BE49-F238E27FC236}">
                <a16:creationId xmlns:a16="http://schemas.microsoft.com/office/drawing/2014/main" id="{1680A722-B7AA-4193-9226-03CB516EA535}"/>
              </a:ext>
            </a:extLst>
          </p:cNvPr>
          <p:cNvSpPr>
            <a:spLocks xmlns:a="http://schemas.openxmlformats.org/drawingml/2006/main" noGrp="1"/>
          </p:cNvSpPr>
          <p:nvPr/>
        </p:nvSpPr>
        <p:spPr>
          <a:xfrm xmlns:a="http://schemas.openxmlformats.org/drawingml/2006/main">
            <a:off x="609600" y="46482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training session and two revision rounds</a:t>
            </a:r>
          </a:p>
        </p:txBody>
      </p:sp>
      <p:sp>
        <p:nvSpPr>
          <p:cNvPr id="10" name="text-73">
            <a:extLst xmlns:a="http://schemas.openxmlformats.org/drawingml/2006/main">
              <a:ext uri="{FF2B5EF4-FFF2-40B4-BE49-F238E27FC236}">
                <a16:creationId xmlns:a16="http://schemas.microsoft.com/office/drawing/2014/main" id="{7D413ED5-7711-43E2-9232-BA55360A1E6A}"/>
              </a:ext>
            </a:extLst>
          </p:cNvPr>
          <p:cNvSpPr>
            <a:spLocks xmlns:a="http://schemas.openxmlformats.org/drawingml/2006/main" noGrp="1"/>
          </p:cNvSpPr>
          <p:nvPr/>
        </p:nvSpPr>
        <p:spPr>
          <a:xfrm xmlns:a="http://schemas.openxmlformats.org/drawingml/2006/main">
            <a:off x="609600" y="5124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30 days of support for delivered defects</a:t>
            </a:r>
          </a:p>
        </p:txBody>
      </p:sp>
      <p:sp>
        <p:nvSpPr>
          <p:cNvPr id="11" name="text-74">
            <a:extLst xmlns:a="http://schemas.openxmlformats.org/drawingml/2006/main">
              <a:ext uri="{FF2B5EF4-FFF2-40B4-BE49-F238E27FC236}">
                <a16:creationId xmlns:a16="http://schemas.microsoft.com/office/drawing/2014/main" id="{3951FE47-257F-4119-ACBF-A0BAB8FF2313}"/>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Pilot scope to confirm</a:t>
            </a:r>
          </a:p>
        </p:txBody>
      </p:sp>
      <p:sp>
        <p:nvSpPr>
          <p:cNvPr id="12" name="text-75">
            <a:extLst xmlns:a="http://schemas.openxmlformats.org/drawingml/2006/main">
              <a:ext uri="{FF2B5EF4-FFF2-40B4-BE49-F238E27FC236}">
                <a16:creationId xmlns:a16="http://schemas.microsoft.com/office/drawing/2014/main" id="{BA09FA4D-0291-463C-8E6D-047491922720}"/>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catalogue with manually recorded quantities and availability</a:t>
            </a:r>
          </a:p>
        </p:txBody>
      </p:sp>
      <p:sp>
        <p:nvSpPr>
          <p:cNvPr id="13" name="text-76">
            <a:extLst xmlns:a="http://schemas.openxmlformats.org/drawingml/2006/main">
              <a:ext uri="{FF2B5EF4-FFF2-40B4-BE49-F238E27FC236}">
                <a16:creationId xmlns:a16="http://schemas.microsoft.com/office/drawing/2014/main" id="{8DA22C88-0EF4-41A0-94FB-F0D12EB55FEB}"/>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harvest batch per processed lot, pending workflow confirmation</a:t>
            </a:r>
          </a:p>
        </p:txBody>
      </p:sp>
      <p:sp>
        <p:nvSpPr>
          <p:cNvPr id="14" name="text-77">
            <a:extLst xmlns:a="http://schemas.openxmlformats.org/drawingml/2006/main">
              <a:ext uri="{FF2B5EF4-FFF2-40B4-BE49-F238E27FC236}">
                <a16:creationId xmlns:a16="http://schemas.microsoft.com/office/drawing/2014/main" id="{D58526CF-B3C9-4F92-8991-E35CA5925C40}"/>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QR artwork included. Partners handle physical printing</a:t>
            </a:r>
          </a:p>
        </p:txBody>
      </p:sp>
      <p:sp>
        <p:nvSpPr>
          <p:cNvPr id="15" name="text-78">
            <a:extLst xmlns:a="http://schemas.openxmlformats.org/drawingml/2006/main">
              <a:ext uri="{FF2B5EF4-FFF2-40B4-BE49-F238E27FC236}">
                <a16:creationId xmlns:a16="http://schemas.microsoft.com/office/drawing/2014/main" id="{3E0B28DF-CFFE-47F1-9D10-ECB7A4330D83}"/>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E-commerce, full ERP stock control and external integrations need separate scope</a:t>
            </a:r>
          </a:p>
        </p:txBody>
      </p:sp>
      <p:sp>
        <p:nvSpPr>
          <p:cNvPr id="16" name="divider-79">
            <a:extLst xmlns:a="http://schemas.openxmlformats.org/drawingml/2006/main">
              <a:ext uri="{FF2B5EF4-FFF2-40B4-BE49-F238E27FC236}">
                <a16:creationId xmlns:a16="http://schemas.microsoft.com/office/drawing/2014/main" id="{21DF0067-327C-4AE0-82F9-2C1B0814BC6E}"/>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80">
            <a:extLst xmlns:a="http://schemas.openxmlformats.org/drawingml/2006/main">
              <a:ext uri="{FF2B5EF4-FFF2-40B4-BE49-F238E27FC236}">
                <a16:creationId xmlns:a16="http://schemas.microsoft.com/office/drawing/2014/main" id="{F092A03B-5965-4536-B6E0-256DC3A8D433}"/>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Combining harvests or adding new workflows requires revised scope and delivery planning.</a:t>
            </a:r>
          </a:p>
        </p:txBody>
      </p:sp>
    </p:spTree>
    <p:extLst>
      <p:ext uri="{BB962C8B-B14F-4D97-AF65-F5344CB8AC3E}">
        <p14:creationId xmlns:p14="http://schemas.microsoft.com/office/powerpoint/2010/main" val="1567977626"/>
      </p:ext>
    </p:extLst>
  </p:cSld>
</p:sld>
</file>

<file path=ppt/slides/slide1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88D484C4-8F59-4A24-B82B-A4C03219317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Pilot acceptance and client inputs</a:t>
            </a:r>
          </a:p>
        </p:txBody>
      </p:sp>
      <p:sp>
        <p:nvSpPr>
          <p:cNvPr id="2" name="slide-subtitle">
            <a:extLst xmlns:a="http://schemas.openxmlformats.org/drawingml/2006/main">
              <a:ext uri="{FF2B5EF4-FFF2-40B4-BE49-F238E27FC236}">
                <a16:creationId xmlns:a16="http://schemas.microsoft.com/office/drawing/2014/main" id="{30828F7A-F95B-4FA9-AEE0-FB2E9A3E9B6F}"/>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Proposed acceptance checks for the pilot, to confirm before development starts.</a:t>
            </a:r>
          </a:p>
        </p:txBody>
      </p:sp>
      <p:sp>
        <p:nvSpPr>
          <p:cNvPr id="3" name="footer">
            <a:extLst xmlns:a="http://schemas.openxmlformats.org/drawingml/2006/main">
              <a:ext uri="{FF2B5EF4-FFF2-40B4-BE49-F238E27FC236}">
                <a16:creationId xmlns:a16="http://schemas.microsoft.com/office/drawing/2014/main" id="{8F05E98F-8784-458C-84AC-DFFD3BA3DDE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8FBD03D-999F-4B2E-9D7A-354A52361CDE}"/>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16</a:t>
            </a:r>
          </a:p>
        </p:txBody>
      </p:sp>
      <p:sp>
        <p:nvSpPr>
          <p:cNvPr id="5" name="text-81">
            <a:extLst xmlns:a="http://schemas.openxmlformats.org/drawingml/2006/main">
              <a:ext uri="{FF2B5EF4-FFF2-40B4-BE49-F238E27FC236}">
                <a16:creationId xmlns:a16="http://schemas.microsoft.com/office/drawing/2014/main" id="{CA9FA9FA-0F61-4780-AFCE-E7E5A04458E8}"/>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Acceptance checks</a:t>
            </a:r>
          </a:p>
        </p:txBody>
      </p:sp>
      <p:sp>
        <p:nvSpPr>
          <p:cNvPr id="6" name="text-82">
            <a:extLst xmlns:a="http://schemas.openxmlformats.org/drawingml/2006/main">
              <a:ext uri="{FF2B5EF4-FFF2-40B4-BE49-F238E27FC236}">
                <a16:creationId xmlns:a16="http://schemas.microsoft.com/office/drawing/2014/main" id="{1930984E-13AC-4C6A-88E2-47A91D9B06E1}"/>
              </a:ext>
            </a:extLst>
          </p:cNvPr>
          <p:cNvSpPr>
            <a:spLocks xmlns:a="http://schemas.openxmlformats.org/drawingml/2006/main" noGrp="1"/>
          </p:cNvSpPr>
          <p:nvPr/>
        </p:nvSpPr>
        <p:spPr>
          <a:xfrm xmlns:a="http://schemas.openxmlformats.org/drawingml/2006/main">
            <a:off x="609600" y="32194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 complete farming-to-recipient batch journey</a:t>
            </a:r>
          </a:p>
        </p:txBody>
      </p:sp>
      <p:sp>
        <p:nvSpPr>
          <p:cNvPr id="7" name="text-83">
            <a:extLst xmlns:a="http://schemas.openxmlformats.org/drawingml/2006/main">
              <a:ext uri="{FF2B5EF4-FFF2-40B4-BE49-F238E27FC236}">
                <a16:creationId xmlns:a16="http://schemas.microsoft.com/office/drawing/2014/main" id="{B1A725BB-E5CB-4258-9705-23E4E4AF0E42}"/>
              </a:ext>
            </a:extLst>
          </p:cNvPr>
          <p:cNvSpPr>
            <a:spLocks xmlns:a="http://schemas.openxmlformats.org/drawingml/2006/main" noGrp="1"/>
          </p:cNvSpPr>
          <p:nvPr/>
        </p:nvSpPr>
        <p:spPr>
          <a:xfrm xmlns:a="http://schemas.openxmlformats.org/drawingml/2006/main">
            <a:off x="609600" y="37147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Saved records after refresh and re-login</a:t>
            </a:r>
          </a:p>
        </p:txBody>
      </p:sp>
      <p:sp>
        <p:nvSpPr>
          <p:cNvPr id="8" name="text-84">
            <a:extLst xmlns:a="http://schemas.openxmlformats.org/drawingml/2006/main">
              <a:ext uri="{FF2B5EF4-FFF2-40B4-BE49-F238E27FC236}">
                <a16:creationId xmlns:a16="http://schemas.microsoft.com/office/drawing/2014/main" id="{E2BF2035-2133-4376-8DC0-9FDFEE80004C}"/>
              </a:ext>
            </a:extLst>
          </p:cNvPr>
          <p:cNvSpPr>
            <a:spLocks xmlns:a="http://schemas.openxmlformats.org/drawingml/2006/main" noGrp="1"/>
          </p:cNvSpPr>
          <p:nvPr/>
        </p:nvSpPr>
        <p:spPr>
          <a:xfrm xmlns:a="http://schemas.openxmlformats.org/drawingml/2006/main">
            <a:off x="609600" y="42100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Enforced public and private access</a:t>
            </a:r>
          </a:p>
        </p:txBody>
      </p:sp>
      <p:sp>
        <p:nvSpPr>
          <p:cNvPr id="9" name="text-85">
            <a:extLst xmlns:a="http://schemas.openxmlformats.org/drawingml/2006/main">
              <a:ext uri="{FF2B5EF4-FFF2-40B4-BE49-F238E27FC236}">
                <a16:creationId xmlns:a16="http://schemas.microsoft.com/office/drawing/2014/main" id="{6EB36070-B59E-4F5A-9965-8937296B5540}"/>
              </a:ext>
            </a:extLst>
          </p:cNvPr>
          <p:cNvSpPr>
            <a:spLocks xmlns:a="http://schemas.openxmlformats.org/drawingml/2006/main" noGrp="1"/>
          </p:cNvSpPr>
          <p:nvPr/>
        </p:nvSpPr>
        <p:spPr>
          <a:xfrm xmlns:a="http://schemas.openxmlformats.org/drawingml/2006/main">
            <a:off x="609600" y="47053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Correct production QR destinations</a:t>
            </a:r>
          </a:p>
        </p:txBody>
      </p:sp>
      <p:sp>
        <p:nvSpPr>
          <p:cNvPr id="10" name="text-86">
            <a:extLst xmlns:a="http://schemas.openxmlformats.org/drawingml/2006/main">
              <a:ext uri="{FF2B5EF4-FFF2-40B4-BE49-F238E27FC236}">
                <a16:creationId xmlns:a16="http://schemas.microsoft.com/office/drawing/2014/main" id="{C6B21B9C-849F-4DA1-9EE4-50FB3F465063}"/>
              </a:ext>
            </a:extLst>
          </p:cNvPr>
          <p:cNvSpPr>
            <a:spLocks xmlns:a="http://schemas.openxmlformats.org/drawingml/2006/main" noGrp="1"/>
          </p:cNvSpPr>
          <p:nvPr/>
        </p:nvSpPr>
        <p:spPr>
          <a:xfrm xmlns:a="http://schemas.openxmlformats.org/drawingml/2006/main">
            <a:off x="609600" y="52006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Mobile, keyboard and reduced-motion checks</a:t>
            </a:r>
          </a:p>
        </p:txBody>
      </p:sp>
      <p:sp>
        <p:nvSpPr>
          <p:cNvPr id="11" name="text-87">
            <a:extLst xmlns:a="http://schemas.openxmlformats.org/drawingml/2006/main">
              <a:ext uri="{FF2B5EF4-FFF2-40B4-BE49-F238E27FC236}">
                <a16:creationId xmlns:a16="http://schemas.microsoft.com/office/drawing/2014/main" id="{A01FF540-1B1B-458A-89CA-926F39519302}"/>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Client inputs</a:t>
            </a:r>
          </a:p>
        </p:txBody>
      </p:sp>
      <p:sp>
        <p:nvSpPr>
          <p:cNvPr id="12" name="text-88">
            <a:extLst xmlns:a="http://schemas.openxmlformats.org/drawingml/2006/main">
              <a:ext uri="{FF2B5EF4-FFF2-40B4-BE49-F238E27FC236}">
                <a16:creationId xmlns:a16="http://schemas.microsoft.com/office/drawing/2014/main" id="{4DB9AC65-4E8E-4BF5-B3FF-F409F9B30A6C}"/>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Approved identity, photographs and leadership roles</a:t>
            </a:r>
          </a:p>
        </p:txBody>
      </p:sp>
      <p:sp>
        <p:nvSpPr>
          <p:cNvPr id="13" name="text-89">
            <a:extLst xmlns:a="http://schemas.openxmlformats.org/drawingml/2006/main">
              <a:ext uri="{FF2B5EF4-FFF2-40B4-BE49-F238E27FC236}">
                <a16:creationId xmlns:a16="http://schemas.microsoft.com/office/drawing/2014/main" id="{7079F870-4BEF-4FCB-83D9-B4D733513722}"/>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Sample farm, batch and partner records</a:t>
            </a:r>
          </a:p>
        </p:txBody>
      </p:sp>
      <p:sp>
        <p:nvSpPr>
          <p:cNvPr id="14" name="text-90">
            <a:extLst xmlns:a="http://schemas.openxmlformats.org/drawingml/2006/main">
              <a:ext uri="{FF2B5EF4-FFF2-40B4-BE49-F238E27FC236}">
                <a16:creationId xmlns:a16="http://schemas.microsoft.com/office/drawing/2014/main" id="{0330082A-1821-4B26-9C31-3E46DD6E2978}"/>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Confirmed processing workflow and visibility rules</a:t>
            </a:r>
          </a:p>
        </p:txBody>
      </p:sp>
      <p:sp>
        <p:nvSpPr>
          <p:cNvPr id="15" name="text-91">
            <a:extLst xmlns:a="http://schemas.openxmlformats.org/drawingml/2006/main">
              <a:ext uri="{FF2B5EF4-FFF2-40B4-BE49-F238E27FC236}">
                <a16:creationId xmlns:a16="http://schemas.microsoft.com/office/drawing/2014/main" id="{1917982E-45BE-46EF-90B8-68C129360CF3}"/>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Deployment accounts and one review contact</a:t>
            </a:r>
          </a:p>
        </p:txBody>
      </p:sp>
      <p:sp>
        <p:nvSpPr>
          <p:cNvPr id="16" name="divider-92">
            <a:extLst xmlns:a="http://schemas.openxmlformats.org/drawingml/2006/main">
              <a:ext uri="{FF2B5EF4-FFF2-40B4-BE49-F238E27FC236}">
                <a16:creationId xmlns:a16="http://schemas.microsoft.com/office/drawing/2014/main" id="{612391CC-DE28-48C3-9911-53840FAEE0EB}"/>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93">
            <a:extLst xmlns:a="http://schemas.openxmlformats.org/drawingml/2006/main">
              <a:ext uri="{FF2B5EF4-FFF2-40B4-BE49-F238E27FC236}">
                <a16:creationId xmlns:a16="http://schemas.microsoft.com/office/drawing/2014/main" id="{5479C26A-AFDB-46C2-A95C-8009CD2D4E8D}"/>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5583C"/>
                </a:solidFill>
                <a:latin typeface="Arial"/>
                <a:ea typeface="Arial"/>
                <a:cs typeface="Arial"/>
              </a:defRPr>
            </a:pPr>
            <a:r>
              <a:rPr sz="1425" b="0">
                <a:solidFill>
                  <a:srgbClr val="35583C"/>
                </a:solidFill>
                <a:latin typeface="Arial"/>
                <a:ea typeface="Arial"/>
                <a:cs typeface="Arial"/>
              </a:rPr>
              <a:t>Proposed assisted setup: 10 farms, 20 batches and 25 accounts. Ordinary records can be added afterward.</a:t>
            </a:r>
          </a:p>
        </p:txBody>
      </p:sp>
    </p:spTree>
    <p:extLst>
      <p:ext uri="{BB962C8B-B14F-4D97-AF65-F5344CB8AC3E}">
        <p14:creationId xmlns:p14="http://schemas.microsoft.com/office/powerpoint/2010/main" val="1835838361"/>
      </p:ext>
    </p:extLst>
  </p:cSld>
</p:sld>
</file>

<file path=ppt/slides/slide1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51D70E8C-10B4-4F88-A34F-FE508B5D88C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How should we work together?</a:t>
            </a:r>
          </a:p>
        </p:txBody>
      </p:sp>
      <p:sp>
        <p:nvSpPr>
          <p:cNvPr id="2" name="footer">
            <a:extLst xmlns:a="http://schemas.openxmlformats.org/drawingml/2006/main">
              <a:ext uri="{FF2B5EF4-FFF2-40B4-BE49-F238E27FC236}">
                <a16:creationId xmlns:a16="http://schemas.microsoft.com/office/drawing/2014/main" id="{47371662-7C2E-4CFF-AA99-2F534092161B}"/>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0623C665-C170-480A-B8CB-C7EA6998F50D}"/>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17</a:t>
            </a:r>
          </a:p>
        </p:txBody>
      </p:sp>
      <p:sp>
        <p:nvSpPr>
          <p:cNvPr id="4" name="text-94">
            <a:extLst xmlns:a="http://schemas.openxmlformats.org/drawingml/2006/main">
              <a:ext uri="{FF2B5EF4-FFF2-40B4-BE49-F238E27FC236}">
                <a16:creationId xmlns:a16="http://schemas.microsoft.com/office/drawing/2014/main" id="{6FE80C3F-C5B9-4CA4-A94A-5561A61C48EF}"/>
              </a:ext>
            </a:extLst>
          </p:cNvPr>
          <p:cNvSpPr>
            <a:spLocks xmlns:a="http://schemas.openxmlformats.org/drawingml/2006/main" noGrp="1"/>
          </p:cNvSpPr>
          <p:nvPr/>
        </p:nvSpPr>
        <p:spPr>
          <a:xfrm xmlns:a="http://schemas.openxmlformats.org/drawingml/2006/main">
            <a:off x="609600" y="161925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35583C"/>
                </a:solidFill>
                <a:latin typeface="Arial"/>
                <a:ea typeface="Arial"/>
                <a:cs typeface="Arial"/>
              </a:defRPr>
            </a:pPr>
            <a:r>
              <a:rPr sz="2625" b="0">
                <a:solidFill>
                  <a:srgbClr val="35583C"/>
                </a:solidFill>
                <a:latin typeface="Arial"/>
                <a:ea typeface="Arial"/>
                <a:cs typeface="Arial"/>
              </a:rPr>
              <a:t>Will this be project-based, a service contract for an agreed period, or direct employment?</a:t>
            </a:r>
          </a:p>
        </p:txBody>
      </p:sp>
      <p:sp>
        <p:nvSpPr>
          <p:cNvPr id="5" name="text-95">
            <a:extLst xmlns:a="http://schemas.openxmlformats.org/drawingml/2006/main">
              <a:ext uri="{FF2B5EF4-FFF2-40B4-BE49-F238E27FC236}">
                <a16:creationId xmlns:a16="http://schemas.microsoft.com/office/drawing/2014/main" id="{86AB6CCC-08E3-4125-BA80-F54E719EF3A6}"/>
              </a:ext>
            </a:extLst>
          </p:cNvPr>
          <p:cNvSpPr>
            <a:spLocks xmlns:a="http://schemas.openxmlformats.org/drawingml/2006/main" noGrp="1"/>
          </p:cNvSpPr>
          <p:nvPr/>
        </p:nvSpPr>
        <p:spPr>
          <a:xfrm xmlns:a="http://schemas.openxmlformats.org/drawingml/2006/main">
            <a:off x="60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Project-based</a:t>
            </a:r>
          </a:p>
        </p:txBody>
      </p:sp>
      <p:sp>
        <p:nvSpPr>
          <p:cNvPr id="6" name="text-96">
            <a:extLst xmlns:a="http://schemas.openxmlformats.org/drawingml/2006/main">
              <a:ext uri="{FF2B5EF4-FFF2-40B4-BE49-F238E27FC236}">
                <a16:creationId xmlns:a16="http://schemas.microsoft.com/office/drawing/2014/main" id="{9473EF90-5C1C-41C2-8775-BF7FDFB17659}"/>
              </a:ext>
            </a:extLst>
          </p:cNvPr>
          <p:cNvSpPr>
            <a:spLocks xmlns:a="http://schemas.openxmlformats.org/drawingml/2006/main" noGrp="1"/>
          </p:cNvSpPr>
          <p:nvPr/>
        </p:nvSpPr>
        <p:spPr>
          <a:xfrm xmlns:a="http://schemas.openxmlformats.org/drawingml/2006/main">
            <a:off x="60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Deliver the defined MVP through agreed milestones and a handover.</a:t>
            </a:r>
          </a:p>
        </p:txBody>
      </p:sp>
      <p:sp>
        <p:nvSpPr>
          <p:cNvPr id="7" name="divider-97">
            <a:extLst xmlns:a="http://schemas.openxmlformats.org/drawingml/2006/main">
              <a:ext uri="{FF2B5EF4-FFF2-40B4-BE49-F238E27FC236}">
                <a16:creationId xmlns:a16="http://schemas.microsoft.com/office/drawing/2014/main" id="{8F69EA8D-31FF-48F3-9C25-5BD31719BDB5}"/>
              </a:ext>
            </a:extLst>
          </p:cNvPr>
          <p:cNvSpPr>
            <a:spLocks xmlns:a="http://schemas.openxmlformats.org/drawingml/2006/main" noGrp="1"/>
          </p:cNvSpPr>
          <p:nvPr/>
        </p:nvSpPr>
        <p:spPr>
          <a:xfrm xmlns:a="http://schemas.openxmlformats.org/drawingml/2006/main">
            <a:off x="60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98">
            <a:extLst xmlns:a="http://schemas.openxmlformats.org/drawingml/2006/main">
              <a:ext uri="{FF2B5EF4-FFF2-40B4-BE49-F238E27FC236}">
                <a16:creationId xmlns:a16="http://schemas.microsoft.com/office/drawing/2014/main" id="{5742924B-29B2-401E-A53D-11200C2D2679}"/>
              </a:ext>
            </a:extLst>
          </p:cNvPr>
          <p:cNvSpPr>
            <a:spLocks xmlns:a="http://schemas.openxmlformats.org/drawingml/2006/main" noGrp="1"/>
          </p:cNvSpPr>
          <p:nvPr/>
        </p:nvSpPr>
        <p:spPr>
          <a:xfrm xmlns:a="http://schemas.openxmlformats.org/drawingml/2006/main">
            <a:off x="60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Does the engagement end after MVP acceptance and launch support?</a:t>
            </a:r>
          </a:p>
        </p:txBody>
      </p:sp>
      <p:sp>
        <p:nvSpPr>
          <p:cNvPr id="9" name="text-99">
            <a:extLst xmlns:a="http://schemas.openxmlformats.org/drawingml/2006/main">
              <a:ext uri="{FF2B5EF4-FFF2-40B4-BE49-F238E27FC236}">
                <a16:creationId xmlns:a16="http://schemas.microsoft.com/office/drawing/2014/main" id="{88A5C57C-3EA4-45F9-B77E-57046DC8EF5D}"/>
              </a:ext>
            </a:extLst>
          </p:cNvPr>
          <p:cNvSpPr>
            <a:spLocks xmlns:a="http://schemas.openxmlformats.org/drawingml/2006/main" noGrp="1"/>
          </p:cNvSpPr>
          <p:nvPr/>
        </p:nvSpPr>
        <p:spPr>
          <a:xfrm xmlns:a="http://schemas.openxmlformats.org/drawingml/2006/main">
            <a:off x="441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Service contract</a:t>
            </a:r>
          </a:p>
        </p:txBody>
      </p:sp>
      <p:sp>
        <p:nvSpPr>
          <p:cNvPr id="10" name="text-100">
            <a:extLst xmlns:a="http://schemas.openxmlformats.org/drawingml/2006/main">
              <a:ext uri="{FF2B5EF4-FFF2-40B4-BE49-F238E27FC236}">
                <a16:creationId xmlns:a16="http://schemas.microsoft.com/office/drawing/2014/main" id="{3FAC0C32-04F1-4E71-B4F1-F3B23363A21B}"/>
              </a:ext>
            </a:extLst>
          </p:cNvPr>
          <p:cNvSpPr>
            <a:spLocks xmlns:a="http://schemas.openxmlformats.org/drawingml/2006/main" noGrp="1"/>
          </p:cNvSpPr>
          <p:nvPr/>
        </p:nvSpPr>
        <p:spPr>
          <a:xfrm xmlns:a="http://schemas.openxmlformats.org/drawingml/2006/main">
            <a:off x="441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Provide development and support over an agreed period.</a:t>
            </a:r>
          </a:p>
        </p:txBody>
      </p:sp>
      <p:sp>
        <p:nvSpPr>
          <p:cNvPr id="11" name="divider-101">
            <a:extLst xmlns:a="http://schemas.openxmlformats.org/drawingml/2006/main">
              <a:ext uri="{FF2B5EF4-FFF2-40B4-BE49-F238E27FC236}">
                <a16:creationId xmlns:a16="http://schemas.microsoft.com/office/drawing/2014/main" id="{8735EA4A-D913-4E0F-B035-527BC7D347A2}"/>
              </a:ext>
            </a:extLst>
          </p:cNvPr>
          <p:cNvSpPr>
            <a:spLocks xmlns:a="http://schemas.openxmlformats.org/drawingml/2006/main" noGrp="1"/>
          </p:cNvSpPr>
          <p:nvPr/>
        </p:nvSpPr>
        <p:spPr>
          <a:xfrm xmlns:a="http://schemas.openxmlformats.org/drawingml/2006/main">
            <a:off x="441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2" name="text-102">
            <a:extLst xmlns:a="http://schemas.openxmlformats.org/drawingml/2006/main">
              <a:ext uri="{FF2B5EF4-FFF2-40B4-BE49-F238E27FC236}">
                <a16:creationId xmlns:a16="http://schemas.microsoft.com/office/drawing/2014/main" id="{B287E230-A003-4E81-AF90-0A82ED985DEA}"/>
              </a:ext>
            </a:extLst>
          </p:cNvPr>
          <p:cNvSpPr>
            <a:spLocks xmlns:a="http://schemas.openxmlformats.org/drawingml/2006/main" noGrp="1"/>
          </p:cNvSpPr>
          <p:nvPr/>
        </p:nvSpPr>
        <p:spPr>
          <a:xfrm xmlns:a="http://schemas.openxmlformats.org/drawingml/2006/main">
            <a:off x="441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duration, work commitment and ongoing support do you expect?</a:t>
            </a:r>
          </a:p>
        </p:txBody>
      </p:sp>
      <p:sp>
        <p:nvSpPr>
          <p:cNvPr id="13" name="text-103">
            <a:extLst xmlns:a="http://schemas.openxmlformats.org/drawingml/2006/main">
              <a:ext uri="{FF2B5EF4-FFF2-40B4-BE49-F238E27FC236}">
                <a16:creationId xmlns:a16="http://schemas.microsoft.com/office/drawing/2014/main" id="{3BBA0261-AAE0-4567-9E92-5FA4E0608FFB}"/>
              </a:ext>
            </a:extLst>
          </p:cNvPr>
          <p:cNvSpPr>
            <a:spLocks xmlns:a="http://schemas.openxmlformats.org/drawingml/2006/main" noGrp="1"/>
          </p:cNvSpPr>
          <p:nvPr/>
        </p:nvSpPr>
        <p:spPr>
          <a:xfrm xmlns:a="http://schemas.openxmlformats.org/drawingml/2006/main">
            <a:off x="822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Direct employment</a:t>
            </a:r>
          </a:p>
        </p:txBody>
      </p:sp>
      <p:sp>
        <p:nvSpPr>
          <p:cNvPr id="14" name="text-104">
            <a:extLst xmlns:a="http://schemas.openxmlformats.org/drawingml/2006/main">
              <a:ext uri="{FF2B5EF4-FFF2-40B4-BE49-F238E27FC236}">
                <a16:creationId xmlns:a16="http://schemas.microsoft.com/office/drawing/2014/main" id="{4F358A4B-A594-40A5-BBBB-E19523EFA171}"/>
              </a:ext>
            </a:extLst>
          </p:cNvPr>
          <p:cNvSpPr>
            <a:spLocks xmlns:a="http://schemas.openxmlformats.org/drawingml/2006/main" noGrp="1"/>
          </p:cNvSpPr>
          <p:nvPr/>
        </p:nvSpPr>
        <p:spPr>
          <a:xfrm xmlns:a="http://schemas.openxmlformats.org/drawingml/2006/main">
            <a:off x="822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Join the team in a role that supports the system and broader priorities.</a:t>
            </a:r>
          </a:p>
        </p:txBody>
      </p:sp>
      <p:sp>
        <p:nvSpPr>
          <p:cNvPr id="15" name="divider-105">
            <a:extLst xmlns:a="http://schemas.openxmlformats.org/drawingml/2006/main">
              <a:ext uri="{FF2B5EF4-FFF2-40B4-BE49-F238E27FC236}">
                <a16:creationId xmlns:a16="http://schemas.microsoft.com/office/drawing/2014/main" id="{159E9A2B-B4C9-418D-895D-9F573F035D70}"/>
              </a:ext>
            </a:extLst>
          </p:cNvPr>
          <p:cNvSpPr>
            <a:spLocks xmlns:a="http://schemas.openxmlformats.org/drawingml/2006/main" noGrp="1"/>
          </p:cNvSpPr>
          <p:nvPr/>
        </p:nvSpPr>
        <p:spPr>
          <a:xfrm xmlns:a="http://schemas.openxmlformats.org/drawingml/2006/main">
            <a:off x="822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6" name="text-106">
            <a:extLst xmlns:a="http://schemas.openxmlformats.org/drawingml/2006/main">
              <a:ext uri="{FF2B5EF4-FFF2-40B4-BE49-F238E27FC236}">
                <a16:creationId xmlns:a16="http://schemas.microsoft.com/office/drawing/2014/main" id="{DAEABCC5-E26E-4981-A1A1-BA5B43BDB291}"/>
              </a:ext>
            </a:extLst>
          </p:cNvPr>
          <p:cNvSpPr>
            <a:spLocks xmlns:a="http://schemas.openxmlformats.org/drawingml/2006/main" noGrp="1"/>
          </p:cNvSpPr>
          <p:nvPr/>
        </p:nvSpPr>
        <p:spPr>
          <a:xfrm xmlns:a="http://schemas.openxmlformats.org/drawingml/2006/main">
            <a:off x="822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role, reporting line and responsibilities do you have in mind?</a:t>
            </a:r>
          </a:p>
        </p:txBody>
      </p:sp>
    </p:spTree>
    <p:extLst>
      <p:ext uri="{BB962C8B-B14F-4D97-AF65-F5344CB8AC3E}">
        <p14:creationId xmlns:p14="http://schemas.microsoft.com/office/powerpoint/2010/main" val="639190335"/>
      </p:ext>
    </p:extLst>
  </p:cSld>
</p:sld>
</file>

<file path=ppt/slides/slide18.xml><?xml version="1.0" encoding="utf-8"?>
<p:sld xmlns:p="http://schemas.openxmlformats.org/presentationml/2006/main">
  <p:cSld>
    <p:bg>
      <p:bgPr>
        <a:solidFill xmlns:a="http://schemas.openxmlformats.org/drawingml/2006/main">
          <a:srgbClr val="542A69"/>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0BF3D05-40C1-4D7F-8345-A1E1675F8E5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F6F3EA"/>
                </a:solidFill>
                <a:latin typeface="Georgia"/>
                <a:ea typeface="Georgia"/>
                <a:cs typeface="Georgia"/>
              </a:defRPr>
            </a:pPr>
            <a:r>
              <a:rPr sz="3300" b="0">
                <a:solidFill>
                  <a:srgbClr val="F6F3EA"/>
                </a:solidFill>
                <a:latin typeface="Georgia"/>
                <a:ea typeface="Georgia"/>
                <a:cs typeface="Georgia"/>
              </a:rPr>
              <a:t>Decisions for the client discussion</a:t>
            </a:r>
          </a:p>
        </p:txBody>
      </p:sp>
      <p:sp>
        <p:nvSpPr>
          <p:cNvPr id="2" name="footer">
            <a:extLst xmlns:a="http://schemas.openxmlformats.org/drawingml/2006/main">
              <a:ext uri="{FF2B5EF4-FFF2-40B4-BE49-F238E27FC236}">
                <a16:creationId xmlns:a16="http://schemas.microsoft.com/office/drawing/2014/main" id="{C6F05008-C09F-4678-B31B-11CD8BDF183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C2CE9F"/>
                </a:solidFill>
                <a:latin typeface="Arial"/>
                <a:ea typeface="Arial"/>
                <a:cs typeface="Arial"/>
              </a:defRPr>
            </a:pPr>
            <a:r>
              <a:rPr sz="900" b="0">
                <a:solidFill>
                  <a:srgbClr val="C2CE9F"/>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307AE859-C95F-4A4B-9989-7EB9FFFC472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C2CE9F"/>
                </a:solidFill>
                <a:latin typeface="Arial"/>
                <a:ea typeface="Arial"/>
                <a:cs typeface="Arial"/>
              </a:defRPr>
            </a:pPr>
            <a:r>
              <a:rPr sz="1125" b="0">
                <a:solidFill>
                  <a:srgbClr val="C2CE9F"/>
                </a:solidFill>
                <a:latin typeface="Arial"/>
                <a:ea typeface="Arial"/>
                <a:cs typeface="Arial"/>
              </a:rPr>
              <a:t>18</a:t>
            </a:r>
          </a:p>
        </p:txBody>
      </p:sp>
      <p:sp>
        <p:nvSpPr>
          <p:cNvPr id="4" name="text-107">
            <a:extLst xmlns:a="http://schemas.openxmlformats.org/drawingml/2006/main">
              <a:ext uri="{FF2B5EF4-FFF2-40B4-BE49-F238E27FC236}">
                <a16:creationId xmlns:a16="http://schemas.microsoft.com/office/drawing/2014/main" id="{9994245F-8E64-4021-ADD8-57AF0FEA49A0}"/>
              </a:ext>
            </a:extLst>
          </p:cNvPr>
          <p:cNvSpPr>
            <a:spLocks xmlns:a="http://schemas.openxmlformats.org/drawingml/2006/main" noGrp="1"/>
          </p:cNvSpPr>
          <p:nvPr/>
        </p:nvSpPr>
        <p:spPr>
          <a:xfrm xmlns:a="http://schemas.openxmlformats.org/drawingml/2006/main">
            <a:off x="6096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Preferred design</a:t>
            </a:r>
          </a:p>
        </p:txBody>
      </p:sp>
      <p:sp>
        <p:nvSpPr>
          <p:cNvPr id="5" name="text-108">
            <a:extLst xmlns:a="http://schemas.openxmlformats.org/drawingml/2006/main">
              <a:ext uri="{FF2B5EF4-FFF2-40B4-BE49-F238E27FC236}">
                <a16:creationId xmlns:a16="http://schemas.microsoft.com/office/drawing/2014/main" id="{688FAAD5-5C4A-4A74-8BE0-DADF07436506}"/>
              </a:ext>
            </a:extLst>
          </p:cNvPr>
          <p:cNvSpPr>
            <a:spLocks xmlns:a="http://schemas.openxmlformats.org/drawingml/2006/main" noGrp="1"/>
          </p:cNvSpPr>
          <p:nvPr/>
        </p:nvSpPr>
        <p:spPr>
          <a:xfrm xmlns:a="http://schemas.openxmlformats.org/drawingml/2006/main">
            <a:off x="6096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Which of the three directions best represents the cooperative?</a:t>
            </a:r>
          </a:p>
        </p:txBody>
      </p:sp>
      <p:sp>
        <p:nvSpPr>
          <p:cNvPr id="6" name="text-109">
            <a:extLst xmlns:a="http://schemas.openxmlformats.org/drawingml/2006/main">
              <a:ext uri="{FF2B5EF4-FFF2-40B4-BE49-F238E27FC236}">
                <a16:creationId xmlns:a16="http://schemas.microsoft.com/office/drawing/2014/main" id="{0219C37F-EBBA-47A3-AB6F-E9EFDD9F32FE}"/>
              </a:ext>
            </a:extLst>
          </p:cNvPr>
          <p:cNvSpPr>
            <a:spLocks xmlns:a="http://schemas.openxmlformats.org/drawingml/2006/main" noGrp="1"/>
          </p:cNvSpPr>
          <p:nvPr/>
        </p:nvSpPr>
        <p:spPr>
          <a:xfrm xmlns:a="http://schemas.openxmlformats.org/drawingml/2006/main">
            <a:off x="63627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Pilot workflow</a:t>
            </a:r>
          </a:p>
        </p:txBody>
      </p:sp>
      <p:sp>
        <p:nvSpPr>
          <p:cNvPr id="7" name="text-110">
            <a:extLst xmlns:a="http://schemas.openxmlformats.org/drawingml/2006/main">
              <a:ext uri="{FF2B5EF4-FFF2-40B4-BE49-F238E27FC236}">
                <a16:creationId xmlns:a16="http://schemas.microsoft.com/office/drawing/2014/main" id="{5728BF1F-21A1-4357-BE0F-EC3F56A7099B}"/>
              </a:ext>
            </a:extLst>
          </p:cNvPr>
          <p:cNvSpPr>
            <a:spLocks xmlns:a="http://schemas.openxmlformats.org/drawingml/2006/main" noGrp="1"/>
          </p:cNvSpPr>
          <p:nvPr/>
        </p:nvSpPr>
        <p:spPr>
          <a:xfrm xmlns:a="http://schemas.openxmlformats.org/drawingml/2006/main">
            <a:off x="63627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Do processors combine harvests? Who records and approves the public batch details?</a:t>
            </a:r>
          </a:p>
        </p:txBody>
      </p:sp>
      <p:sp>
        <p:nvSpPr>
          <p:cNvPr id="8" name="text-111">
            <a:extLst xmlns:a="http://schemas.openxmlformats.org/drawingml/2006/main">
              <a:ext uri="{FF2B5EF4-FFF2-40B4-BE49-F238E27FC236}">
                <a16:creationId xmlns:a16="http://schemas.microsoft.com/office/drawing/2014/main" id="{A9C3213A-2AA6-41DD-883C-5B379F6E6239}"/>
              </a:ext>
            </a:extLst>
          </p:cNvPr>
          <p:cNvSpPr>
            <a:spLocks xmlns:a="http://schemas.openxmlformats.org/drawingml/2006/main" noGrp="1"/>
          </p:cNvSpPr>
          <p:nvPr/>
        </p:nvSpPr>
        <p:spPr>
          <a:xfrm xmlns:a="http://schemas.openxmlformats.org/drawingml/2006/main">
            <a:off x="6096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Working arrangement</a:t>
            </a:r>
          </a:p>
        </p:txBody>
      </p:sp>
      <p:sp>
        <p:nvSpPr>
          <p:cNvPr id="9" name="text-112">
            <a:extLst xmlns:a="http://schemas.openxmlformats.org/drawingml/2006/main">
              <a:ext uri="{FF2B5EF4-FFF2-40B4-BE49-F238E27FC236}">
                <a16:creationId xmlns:a16="http://schemas.microsoft.com/office/drawing/2014/main" id="{AE86EE80-6D82-4757-86F9-E53194E84A8B}"/>
              </a:ext>
            </a:extLst>
          </p:cNvPr>
          <p:cNvSpPr>
            <a:spLocks xmlns:a="http://schemas.openxmlformats.org/drawingml/2006/main" noGrp="1"/>
          </p:cNvSpPr>
          <p:nvPr/>
        </p:nvSpPr>
        <p:spPr>
          <a:xfrm xmlns:a="http://schemas.openxmlformats.org/drawingml/2006/main">
            <a:off x="6096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Project-based, a service contract for an agreed period, or direct employment?</a:t>
            </a:r>
          </a:p>
        </p:txBody>
      </p:sp>
      <p:sp>
        <p:nvSpPr>
          <p:cNvPr id="10" name="text-113">
            <a:extLst xmlns:a="http://schemas.openxmlformats.org/drawingml/2006/main">
              <a:ext uri="{FF2B5EF4-FFF2-40B4-BE49-F238E27FC236}">
                <a16:creationId xmlns:a16="http://schemas.microsoft.com/office/drawing/2014/main" id="{E9DAAED3-33C2-4458-835F-6386532C21DF}"/>
              </a:ext>
            </a:extLst>
          </p:cNvPr>
          <p:cNvSpPr>
            <a:spLocks xmlns:a="http://schemas.openxmlformats.org/drawingml/2006/main" noGrp="1"/>
          </p:cNvSpPr>
          <p:nvPr/>
        </p:nvSpPr>
        <p:spPr>
          <a:xfrm xmlns:a="http://schemas.openxmlformats.org/drawingml/2006/main">
            <a:off x="63627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Kickoff readiness</a:t>
            </a:r>
          </a:p>
        </p:txBody>
      </p:sp>
      <p:sp>
        <p:nvSpPr>
          <p:cNvPr id="11" name="text-114">
            <a:extLst xmlns:a="http://schemas.openxmlformats.org/drawingml/2006/main">
              <a:ext uri="{FF2B5EF4-FFF2-40B4-BE49-F238E27FC236}">
                <a16:creationId xmlns:a16="http://schemas.microsoft.com/office/drawing/2014/main" id="{735C9177-DDB6-4470-AD3B-A043D32F351B}"/>
              </a:ext>
            </a:extLst>
          </p:cNvPr>
          <p:cNvSpPr>
            <a:spLocks xmlns:a="http://schemas.openxmlformats.org/drawingml/2006/main" noGrp="1"/>
          </p:cNvSpPr>
          <p:nvPr/>
        </p:nvSpPr>
        <p:spPr>
          <a:xfrm xmlns:a="http://schemas.openxmlformats.org/drawingml/2006/main">
            <a:off x="63627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What weekly availability and review schedule can we commit to?</a:t>
            </a:r>
          </a:p>
        </p:txBody>
      </p:sp>
      <p:sp>
        <p:nvSpPr>
          <p:cNvPr id="12" name="text-115">
            <a:extLst xmlns:a="http://schemas.openxmlformats.org/drawingml/2006/main">
              <a:ext uri="{FF2B5EF4-FFF2-40B4-BE49-F238E27FC236}">
                <a16:creationId xmlns:a16="http://schemas.microsoft.com/office/drawing/2014/main" id="{A96953EC-89BC-46C5-961B-26D5B6F03C56}"/>
              </a:ext>
            </a:extLst>
          </p:cNvPr>
          <p:cNvSpPr>
            <a:spLocks xmlns:a="http://schemas.openxmlformats.org/drawingml/2006/main" noGrp="1"/>
          </p:cNvSpPr>
          <p:nvPr/>
        </p:nvSpPr>
        <p:spPr>
          <a:xfrm xmlns:a="http://schemas.openxmlformats.org/drawingml/2006/main">
            <a:off x="609600" y="6038850"/>
            <a:ext cx="1064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2CE9F"/>
                </a:solidFill>
                <a:latin typeface="Arial"/>
                <a:ea typeface="Arial"/>
                <a:cs typeface="Arial"/>
              </a:defRPr>
            </a:pPr>
            <a:r>
              <a:rPr sz="1500" b="0">
                <a:solidFill>
                  <a:srgbClr val="C2CE9F"/>
                </a:solidFill>
                <a:latin typeface="Arial"/>
                <a:ea typeface="Arial"/>
                <a:cs typeface="Arial"/>
              </a:rPr>
              <a:t>Confirm the design, workflow and working arrangement before finalizing scope and delivery dates.</a:t>
            </a:r>
          </a:p>
        </p:txBody>
      </p:sp>
    </p:spTree>
    <p:extLst>
      <p:ext uri="{BB962C8B-B14F-4D97-AF65-F5344CB8AC3E}">
        <p14:creationId xmlns:p14="http://schemas.microsoft.com/office/powerpoint/2010/main" val="511044777"/>
      </p:ext>
    </p:extLst>
  </p:cSld>
</p:sld>
</file>

<file path=ppt/slides/slide1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6034D59E-7B74-4CE5-99E7-BACF78E559B8}"/>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Appendix: MERN implementation</a:t>
            </a:r>
          </a:p>
        </p:txBody>
      </p:sp>
      <p:sp>
        <p:nvSpPr>
          <p:cNvPr id="2" name="slide-subtitle">
            <a:extLst xmlns:a="http://schemas.openxmlformats.org/drawingml/2006/main">
              <a:ext uri="{FF2B5EF4-FFF2-40B4-BE49-F238E27FC236}">
                <a16:creationId xmlns:a16="http://schemas.microsoft.com/office/drawing/2014/main" id="{10FEA470-E2FC-4F3C-9DC8-D5CE880E16D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MongoDB, Express, React and Node.js 26, with TypeScript across the frontend and backend.</a:t>
            </a:r>
          </a:p>
        </p:txBody>
      </p:sp>
      <p:sp>
        <p:nvSpPr>
          <p:cNvPr id="3" name="footer">
            <a:extLst xmlns:a="http://schemas.openxmlformats.org/drawingml/2006/main">
              <a:ext uri="{FF2B5EF4-FFF2-40B4-BE49-F238E27FC236}">
                <a16:creationId xmlns:a16="http://schemas.microsoft.com/office/drawing/2014/main" id="{A424C526-0F44-48C9-85C3-CE18C58F78C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C9372C8-BD53-4080-ADA7-C6A7DDAF10B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19</a:t>
            </a:r>
          </a:p>
        </p:txBody>
      </p:sp>
      <p:sp>
        <p:nvSpPr>
          <p:cNvPr id="5" name="text-116">
            <a:extLst xmlns:a="http://schemas.openxmlformats.org/drawingml/2006/main">
              <a:ext uri="{FF2B5EF4-FFF2-40B4-BE49-F238E27FC236}">
                <a16:creationId xmlns:a16="http://schemas.microsoft.com/office/drawing/2014/main" id="{CEB558B8-FD27-48B5-BBD4-EF0A16419F18}"/>
              </a:ext>
            </a:extLst>
          </p:cNvPr>
          <p:cNvSpPr>
            <a:spLocks xmlns:a="http://schemas.openxmlformats.org/drawingml/2006/main" noGrp="1"/>
          </p:cNvSpPr>
          <p:nvPr/>
        </p:nvSpPr>
        <p:spPr>
          <a:xfrm xmlns:a="http://schemas.openxmlformats.org/drawingml/2006/main">
            <a:off x="609600" y="252412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React</a:t>
            </a:r>
          </a:p>
        </p:txBody>
      </p:sp>
      <p:sp>
        <p:nvSpPr>
          <p:cNvPr id="6" name="text-117">
            <a:extLst xmlns:a="http://schemas.openxmlformats.org/drawingml/2006/main">
              <a:ext uri="{FF2B5EF4-FFF2-40B4-BE49-F238E27FC236}">
                <a16:creationId xmlns:a16="http://schemas.microsoft.com/office/drawing/2014/main" id="{964BC0A2-2F17-47AB-A71A-92F7C79ACCC4}"/>
              </a:ext>
            </a:extLst>
          </p:cNvPr>
          <p:cNvSpPr>
            <a:spLocks xmlns:a="http://schemas.openxmlformats.org/drawingml/2006/main" noGrp="1"/>
          </p:cNvSpPr>
          <p:nvPr/>
        </p:nvSpPr>
        <p:spPr>
          <a:xfrm xmlns:a="http://schemas.openxmlformats.org/drawingml/2006/main">
            <a:off x="4181475" y="254317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Animated public website, farm catalogue, batch summaries and the member dashboard.</a:t>
            </a:r>
          </a:p>
        </p:txBody>
      </p:sp>
      <p:sp>
        <p:nvSpPr>
          <p:cNvPr id="7" name="divider-118">
            <a:extLst xmlns:a="http://schemas.openxmlformats.org/drawingml/2006/main">
              <a:ext uri="{FF2B5EF4-FFF2-40B4-BE49-F238E27FC236}">
                <a16:creationId xmlns:a16="http://schemas.microsoft.com/office/drawing/2014/main" id="{4B9296A0-13D2-4CC0-B24B-E548489E779A}"/>
              </a:ext>
            </a:extLst>
          </p:cNvPr>
          <p:cNvSpPr>
            <a:spLocks xmlns:a="http://schemas.openxmlformats.org/drawingml/2006/main" noGrp="1"/>
          </p:cNvSpPr>
          <p:nvPr/>
        </p:nvSpPr>
        <p:spPr>
          <a:xfrm xmlns:a="http://schemas.openxmlformats.org/drawingml/2006/main">
            <a:off x="609600" y="345757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119">
            <a:extLst xmlns:a="http://schemas.openxmlformats.org/drawingml/2006/main">
              <a:ext uri="{FF2B5EF4-FFF2-40B4-BE49-F238E27FC236}">
                <a16:creationId xmlns:a16="http://schemas.microsoft.com/office/drawing/2014/main" id="{AF27A7AD-F9BD-4546-8B91-D081DBCAC80D}"/>
              </a:ext>
            </a:extLst>
          </p:cNvPr>
          <p:cNvSpPr>
            <a:spLocks xmlns:a="http://schemas.openxmlformats.org/drawingml/2006/main" noGrp="1"/>
          </p:cNvSpPr>
          <p:nvPr/>
        </p:nvSpPr>
        <p:spPr>
          <a:xfrm xmlns:a="http://schemas.openxmlformats.org/drawingml/2006/main">
            <a:off x="609600" y="36004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Express and Node.js 26</a:t>
            </a:r>
          </a:p>
        </p:txBody>
      </p:sp>
      <p:sp>
        <p:nvSpPr>
          <p:cNvPr id="9" name="text-120">
            <a:extLst xmlns:a="http://schemas.openxmlformats.org/drawingml/2006/main">
              <a:ext uri="{FF2B5EF4-FFF2-40B4-BE49-F238E27FC236}">
                <a16:creationId xmlns:a16="http://schemas.microsoft.com/office/drawing/2014/main" id="{68C97CD1-B5BA-4A18-B2EE-55DDD0E93DC0}"/>
              </a:ext>
            </a:extLst>
          </p:cNvPr>
          <p:cNvSpPr>
            <a:spLocks xmlns:a="http://schemas.openxmlformats.org/drawingml/2006/main" noGrp="1"/>
          </p:cNvSpPr>
          <p:nvPr/>
        </p:nvSpPr>
        <p:spPr>
          <a:xfrm xmlns:a="http://schemas.openxmlformats.org/drawingml/2006/main">
            <a:off x="4181475" y="361950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API validation, authenticated access, role permissions and publication controls.</a:t>
            </a:r>
          </a:p>
        </p:txBody>
      </p:sp>
      <p:sp>
        <p:nvSpPr>
          <p:cNvPr id="10" name="divider-121">
            <a:extLst xmlns:a="http://schemas.openxmlformats.org/drawingml/2006/main">
              <a:ext uri="{FF2B5EF4-FFF2-40B4-BE49-F238E27FC236}">
                <a16:creationId xmlns:a16="http://schemas.microsoft.com/office/drawing/2014/main" id="{98FBD624-0B1C-4D95-9FC1-D8F3951BE5A3}"/>
              </a:ext>
            </a:extLst>
          </p:cNvPr>
          <p:cNvSpPr>
            <a:spLocks xmlns:a="http://schemas.openxmlformats.org/drawingml/2006/main" noGrp="1"/>
          </p:cNvSpPr>
          <p:nvPr/>
        </p:nvSpPr>
        <p:spPr>
          <a:xfrm xmlns:a="http://schemas.openxmlformats.org/drawingml/2006/main">
            <a:off x="609600" y="4533900"/>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22">
            <a:extLst xmlns:a="http://schemas.openxmlformats.org/drawingml/2006/main">
              <a:ext uri="{FF2B5EF4-FFF2-40B4-BE49-F238E27FC236}">
                <a16:creationId xmlns:a16="http://schemas.microsoft.com/office/drawing/2014/main" id="{4FDEFC67-E395-4EF6-A7DC-FE0AD0BCEF8B}"/>
              </a:ext>
            </a:extLst>
          </p:cNvPr>
          <p:cNvSpPr>
            <a:spLocks xmlns:a="http://schemas.openxmlformats.org/drawingml/2006/main" noGrp="1"/>
          </p:cNvSpPr>
          <p:nvPr/>
        </p:nvSpPr>
        <p:spPr>
          <a:xfrm xmlns:a="http://schemas.openxmlformats.org/drawingml/2006/main">
            <a:off x="609600" y="46767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MongoDB</a:t>
            </a:r>
          </a:p>
        </p:txBody>
      </p:sp>
      <p:sp>
        <p:nvSpPr>
          <p:cNvPr id="12" name="text-123">
            <a:extLst xmlns:a="http://schemas.openxmlformats.org/drawingml/2006/main">
              <a:ext uri="{FF2B5EF4-FFF2-40B4-BE49-F238E27FC236}">
                <a16:creationId xmlns:a16="http://schemas.microsoft.com/office/drawing/2014/main" id="{B4015652-3DE5-4502-A7C1-98FB508261BB}"/>
              </a:ext>
            </a:extLst>
          </p:cNvPr>
          <p:cNvSpPr>
            <a:spLocks xmlns:a="http://schemas.openxmlformats.org/drawingml/2006/main" noGrp="1"/>
          </p:cNvSpPr>
          <p:nvPr/>
        </p:nvSpPr>
        <p:spPr>
          <a:xfrm xmlns:a="http://schemas.openxmlformats.org/drawingml/2006/main">
            <a:off x="4181475" y="469582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Farms, produce, members, batches, processing links, recipients and record history.</a:t>
            </a:r>
          </a:p>
        </p:txBody>
      </p:sp>
      <p:sp>
        <p:nvSpPr>
          <p:cNvPr id="13" name="divider-124">
            <a:extLst xmlns:a="http://schemas.openxmlformats.org/drawingml/2006/main">
              <a:ext uri="{FF2B5EF4-FFF2-40B4-BE49-F238E27FC236}">
                <a16:creationId xmlns:a16="http://schemas.microsoft.com/office/drawing/2014/main" id="{27DE1E96-54C3-4E0D-846F-A94B77C2B7BB}"/>
              </a:ext>
            </a:extLst>
          </p:cNvPr>
          <p:cNvSpPr>
            <a:spLocks xmlns:a="http://schemas.openxmlformats.org/drawingml/2006/main" noGrp="1"/>
          </p:cNvSpPr>
          <p:nvPr/>
        </p:nvSpPr>
        <p:spPr>
          <a:xfrm xmlns:a="http://schemas.openxmlformats.org/drawingml/2006/main">
            <a:off x="609600" y="5724525"/>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25">
            <a:extLst xmlns:a="http://schemas.openxmlformats.org/drawingml/2006/main">
              <a:ext uri="{FF2B5EF4-FFF2-40B4-BE49-F238E27FC236}">
                <a16:creationId xmlns:a16="http://schemas.microsoft.com/office/drawing/2014/main" id="{1F88B93F-8969-4110-A0E4-ADA0897CF252}"/>
              </a:ext>
            </a:extLst>
          </p:cNvPr>
          <p:cNvSpPr>
            <a:spLocks xmlns:a="http://schemas.openxmlformats.org/drawingml/2006/main" noGrp="1"/>
          </p:cNvSpPr>
          <p:nvPr/>
        </p:nvSpPr>
        <p:spPr>
          <a:xfrm xmlns:a="http://schemas.openxmlformats.org/drawingml/2006/main">
            <a:off x="609600"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UI text and colors stay in constants. Operators edit farm and batch data through the protected dashboard.</a:t>
            </a:r>
          </a:p>
        </p:txBody>
      </p:sp>
    </p:spTree>
    <p:extLst>
      <p:ext uri="{BB962C8B-B14F-4D97-AF65-F5344CB8AC3E}">
        <p14:creationId xmlns:p14="http://schemas.microsoft.com/office/powerpoint/2010/main" val="981757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2026-10-03T11:27:02.1740000Z</dcterms:created>
  <dcterms:modified xsi:type="dcterms:W3CDTF">2026-10-03T11:27:02.1740000Z</dcterms:modified>
</coreProperties>
</file>