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Default Extension="mp4" ContentType="video/mp4"/>
</Types>
</file>

<file path=_rels/.rels>&#65279;<?xml version="1.0" encoding="utf-8"?><Relationships xmlns="http://schemas.openxmlformats.org/package/2006/relationships"><Relationship Type="http://schemas.openxmlformats.org/package/2006/relationships/metadata/core-properties" Target="/docProps/core.xml" Id="R1f78495dfd4a43a3" /><Relationship Type="http://schemas.openxmlformats.org/officeDocument/2006/relationships/extended-properties" Target="/docProps/app.xml" Id="Rd4152fc8541441d9" /><Relationship Type="http://schemas.openxmlformats.org/officeDocument/2006/relationships/officeDocument" Target="/ppt/presentation.xml" Id="R1c4b058584e040fa" /></Relationships>
</file>

<file path=ppt/presentation.xml><?xml version="1.0" encoding="utf-8"?>
<p:presentation xmlns:p="http://schemas.openxmlformats.org/presentationml/2006/main">
  <p:sldMasterIdLst>
    <p:sldMasterId xmlns:r="http://schemas.openxmlformats.org/officeDocument/2006/relationships" id="2147483648" r:id="R1eae6b659f78406a"/>
  </p:sldMasterIdLst>
  <p:notesMasterIdLst>
    <p:notesMasterId xmlns:r="http://schemas.openxmlformats.org/officeDocument/2006/relationships" r:id="Rc7324e9980c3444c"/>
  </p:notesMasterIdLst>
  <p:sldIdLst>
    <p:sldId xmlns:r="http://schemas.openxmlformats.org/officeDocument/2006/relationships" id="256" r:id="R10c9a0881b574dc9"/>
    <p:sldId xmlns:r="http://schemas.openxmlformats.org/officeDocument/2006/relationships" id="257" r:id="R633d014edc8445b2"/>
    <p:sldId xmlns:r="http://schemas.openxmlformats.org/officeDocument/2006/relationships" id="258" r:id="R0f1aa375cc554a9c"/>
    <p:sldId xmlns:r="http://schemas.openxmlformats.org/officeDocument/2006/relationships" id="259" r:id="Rcf08565a87644f3a"/>
    <p:sldId xmlns:r="http://schemas.openxmlformats.org/officeDocument/2006/relationships" id="260" r:id="R6eabeb11fb804f62"/>
    <p:sldId xmlns:r="http://schemas.openxmlformats.org/officeDocument/2006/relationships" id="261" r:id="R72772c4a6b3c4179"/>
    <p:sldId xmlns:r="http://schemas.openxmlformats.org/officeDocument/2006/relationships" id="262" r:id="R11cf1f9a89de40a0"/>
    <p:sldId xmlns:r="http://schemas.openxmlformats.org/officeDocument/2006/relationships" id="263" r:id="Re2b7d6a83ea342ad"/>
    <p:sldId xmlns:r="http://schemas.openxmlformats.org/officeDocument/2006/relationships" id="264" r:id="R3c5db2231bd44a46"/>
    <p:sldId xmlns:r="http://schemas.openxmlformats.org/officeDocument/2006/relationships" id="265" r:id="R2af9725e062f4c8a"/>
    <p:sldId xmlns:r="http://schemas.openxmlformats.org/officeDocument/2006/relationships" id="266" r:id="R41f9e08487494782"/>
    <p:sldId xmlns:r="http://schemas.openxmlformats.org/officeDocument/2006/relationships" id="267" r:id="R083213aa5af243cd"/>
    <p:sldId xmlns:r="http://schemas.openxmlformats.org/officeDocument/2006/relationships" id="268" r:id="Re3dd82afa7974b06"/>
    <p:sldId xmlns:r="http://schemas.openxmlformats.org/officeDocument/2006/relationships" id="269" r:id="R1d23fa8c589e408e"/>
    <p:sldId xmlns:r="http://schemas.openxmlformats.org/officeDocument/2006/relationships" id="270" r:id="Ra597da1649124383"/>
    <p:sldId xmlns:r="http://schemas.openxmlformats.org/officeDocument/2006/relationships" id="271" r:id="R0a5a10e88c5b47a4"/>
    <p:sldId xmlns:r="http://schemas.openxmlformats.org/officeDocument/2006/relationships" id="272" r:id="Rd84a29888ed34b9a"/>
    <p:sldId xmlns:r="http://schemas.openxmlformats.org/officeDocument/2006/relationships" id="273" r:id="R425deec2a72e442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6a361e19d144f36" /><Relationship Type="http://schemas.openxmlformats.org/officeDocument/2006/relationships/slideMaster" Target="/ppt/slideMasters/slideMaster1.xml" Id="R1eae6b659f78406a" /><Relationship Type="http://schemas.openxmlformats.org/officeDocument/2006/relationships/notesMaster" Target="/ppt/notesMasters/notesMaster1.xml" Id="Rc7324e9980c3444c" /><Relationship Type="http://schemas.openxmlformats.org/officeDocument/2006/relationships/presProps" Target="/ppt/presProps.xml" Id="Rfaf2eafb66bf444c" /><Relationship Type="http://schemas.openxmlformats.org/officeDocument/2006/relationships/tableStyles" Target="/ppt/tableStyles.xml" Id="R80e1817ee16941d4" /><Relationship Type="http://schemas.openxmlformats.org/officeDocument/2006/relationships/slide" Target="/ppt/slides/slide1.xml" Id="R10c9a0881b574dc9" /><Relationship Type="http://schemas.openxmlformats.org/officeDocument/2006/relationships/slide" Target="/ppt/slides/slide2.xml" Id="R633d014edc8445b2" /><Relationship Type="http://schemas.openxmlformats.org/officeDocument/2006/relationships/slide" Target="/ppt/slides/slide3.xml" Id="R0f1aa375cc554a9c" /><Relationship Type="http://schemas.openxmlformats.org/officeDocument/2006/relationships/slide" Target="/ppt/slides/slide4.xml" Id="Rcf08565a87644f3a" /><Relationship Type="http://schemas.openxmlformats.org/officeDocument/2006/relationships/slide" Target="/ppt/slides/slide5.xml" Id="R6eabeb11fb804f62" /><Relationship Type="http://schemas.openxmlformats.org/officeDocument/2006/relationships/slide" Target="/ppt/slides/slide6.xml" Id="R72772c4a6b3c4179" /><Relationship Type="http://schemas.openxmlformats.org/officeDocument/2006/relationships/slide" Target="/ppt/slides/slide7.xml" Id="R11cf1f9a89de40a0" /><Relationship Type="http://schemas.openxmlformats.org/officeDocument/2006/relationships/slide" Target="/ppt/slides/slide8.xml" Id="Re2b7d6a83ea342ad" /><Relationship Type="http://schemas.openxmlformats.org/officeDocument/2006/relationships/slide" Target="/ppt/slides/slide9.xml" Id="R3c5db2231bd44a46" /><Relationship Type="http://schemas.openxmlformats.org/officeDocument/2006/relationships/slide" Target="/ppt/slides/slide10.xml" Id="R2af9725e062f4c8a" /><Relationship Type="http://schemas.openxmlformats.org/officeDocument/2006/relationships/slide" Target="/ppt/slides/slide11.xml" Id="R41f9e08487494782" /><Relationship Type="http://schemas.openxmlformats.org/officeDocument/2006/relationships/slide" Target="/ppt/slides/slide12.xml" Id="R083213aa5af243cd" /><Relationship Type="http://schemas.openxmlformats.org/officeDocument/2006/relationships/slide" Target="/ppt/slides/slide13.xml" Id="Re3dd82afa7974b06" /><Relationship Type="http://schemas.openxmlformats.org/officeDocument/2006/relationships/slide" Target="/ppt/slides/slide14.xml" Id="R1d23fa8c589e408e" /><Relationship Type="http://schemas.openxmlformats.org/officeDocument/2006/relationships/slide" Target="/ppt/slides/slide15.xml" Id="Ra597da1649124383" /><Relationship Type="http://schemas.openxmlformats.org/officeDocument/2006/relationships/slide" Target="/ppt/slides/slide16.xml" Id="R0a5a10e88c5b47a4" /><Relationship Type="http://schemas.openxmlformats.org/officeDocument/2006/relationships/slide" Target="/ppt/slides/slide17.xml" Id="Rd84a29888ed34b9a" /><Relationship Type="http://schemas.openxmlformats.org/officeDocument/2006/relationships/slide" Target="/ppt/slides/slide18.xml" Id="R425deec2a72e442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866471a74b9412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4f491c46da54f1a" /><Relationship Type="http://schemas.openxmlformats.org/officeDocument/2006/relationships/notesMaster" Target="/ppt/notesMasters/notesMaster1.xml" Id="R51d75c016034468b" /></Relationships>
</file>

<file path=ppt/notesSlides/_rels/notesSlide2.xml.rels>&#65279;<?xml version="1.0" encoding="utf-8"?><Relationships xmlns="http://schemas.openxmlformats.org/package/2006/relationships"><Relationship Type="http://schemas.openxmlformats.org/officeDocument/2006/relationships/slide" Target="/ppt/slides/slide2.xml" Id="R70bdbd88c7bf4563" /><Relationship Type="http://schemas.openxmlformats.org/officeDocument/2006/relationships/notesMaster" Target="/ppt/notesMasters/notesMaster1.xml" Id="Rd24878e622d34d26" /></Relationships>
</file>

<file path=ppt/notesSlides/_rels/notesSlide3.xml.rels>&#65279;<?xml version="1.0" encoding="utf-8"?><Relationships xmlns="http://schemas.openxmlformats.org/package/2006/relationships"><Relationship Type="http://schemas.openxmlformats.org/officeDocument/2006/relationships/slide" Target="/ppt/slides/slide3.xml" Id="R45e2358f0e674f57" /><Relationship Type="http://schemas.openxmlformats.org/officeDocument/2006/relationships/notesMaster" Target="/ppt/notesMasters/notesMaster1.xml" Id="R688937766774455b" /></Relationships>
</file>

<file path=ppt/notesSlides/_rels/notesSlide4.xml.rels>&#65279;<?xml version="1.0" encoding="utf-8"?><Relationships xmlns="http://schemas.openxmlformats.org/package/2006/relationships"><Relationship Type="http://schemas.openxmlformats.org/officeDocument/2006/relationships/slide" Target="/ppt/slides/slide4.xml" Id="R60e724bf3ac94cce" /><Relationship Type="http://schemas.openxmlformats.org/officeDocument/2006/relationships/notesMaster" Target="/ppt/notesMasters/notesMaster1.xml" Id="R75da9befcfd845c2" /></Relationships>
</file>

<file path=ppt/notesSlides/_rels/notesSlide5.xml.rels>&#65279;<?xml version="1.0" encoding="utf-8"?><Relationships xmlns="http://schemas.openxmlformats.org/package/2006/relationships"><Relationship Type="http://schemas.openxmlformats.org/officeDocument/2006/relationships/slide" Target="/ppt/slides/slide5.xml" Id="Ra4499c562c974f9e" /><Relationship Type="http://schemas.openxmlformats.org/officeDocument/2006/relationships/notesMaster" Target="/ppt/notesMasters/notesMaster1.xml" Id="Rfa94cfa428c8452b" /></Relationships>
</file>

<file path=ppt/notesSlides/_rels/notesSlide6.xml.rels>&#65279;<?xml version="1.0" encoding="utf-8"?><Relationships xmlns="http://schemas.openxmlformats.org/package/2006/relationships"><Relationship Type="http://schemas.openxmlformats.org/officeDocument/2006/relationships/slide" Target="/ppt/slides/slide6.xml" Id="Rbd7607760cbd45f8" /><Relationship Type="http://schemas.openxmlformats.org/officeDocument/2006/relationships/notesMaster" Target="/ppt/notesMasters/notesMaster1.xml" Id="R11dc121857e04989" /></Relationships>
</file>

<file path=ppt/notesSlides/_rels/notesSlide7.xml.rels>&#65279;<?xml version="1.0" encoding="utf-8"?><Relationships xmlns="http://schemas.openxmlformats.org/package/2006/relationships"><Relationship Type="http://schemas.openxmlformats.org/officeDocument/2006/relationships/slide" Target="/ppt/slides/slide7.xml" Id="R7e3614a8a5c2435f" /><Relationship Type="http://schemas.openxmlformats.org/officeDocument/2006/relationships/notesMaster" Target="/ppt/notesMasters/notesMaster1.xml" Id="R8d841d1ecd564d0d" /></Relationships>
</file>

<file path=ppt/notesSlides/_rels/notesSlide8.xml.rels>&#65279;<?xml version="1.0" encoding="utf-8"?><Relationships xmlns="http://schemas.openxmlformats.org/package/2006/relationships"><Relationship Type="http://schemas.openxmlformats.org/officeDocument/2006/relationships/slide" Target="/ppt/slides/slide8.xml" Id="R72679af1c737459b" /><Relationship Type="http://schemas.openxmlformats.org/officeDocument/2006/relationships/notesMaster" Target="/ppt/notesMasters/notesMaster1.xml" Id="R10b0af11c1114170" /></Relationships>
</file>

<file path=ppt/notesSlides/_rels/notesSlide9.xml.rels>&#65279;<?xml version="1.0" encoding="utf-8"?><Relationships xmlns="http://schemas.openxmlformats.org/package/2006/relationships"><Relationship Type="http://schemas.openxmlformats.org/officeDocument/2006/relationships/slide" Target="/ppt/slides/slide9.xml" Id="R103f8458730e4515" /><Relationship Type="http://schemas.openxmlformats.org/officeDocument/2006/relationships/notesMaster" Target="/ppt/notesMasters/notesMaster1.xml" Id="R5f44b77a3de5435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29dbfec2eca4013" /><Relationship Type="http://schemas.openxmlformats.org/officeDocument/2006/relationships/notesMaster" Target="/ppt/notesMasters/notesMaster1.xml" Id="R70ff6318fded4b5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0a62486896d471f" /><Relationship Type="http://schemas.openxmlformats.org/officeDocument/2006/relationships/notesMaster" Target="/ppt/notesMasters/notesMaster1.xml" Id="R4f380d45d81a462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c28e9271c0c49e6" /><Relationship Type="http://schemas.openxmlformats.org/officeDocument/2006/relationships/notesMaster" Target="/ppt/notesMasters/notesMaster1.xml" Id="Rbf042f70069144c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59d10db0073492d" /><Relationship Type="http://schemas.openxmlformats.org/officeDocument/2006/relationships/notesMaster" Target="/ppt/notesMasters/notesMaster1.xml" Id="R1b78ebb33fdf4f5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127f9ffcb07467e" /><Relationship Type="http://schemas.openxmlformats.org/officeDocument/2006/relationships/notesMaster" Target="/ppt/notesMasters/notesMaster1.xml" Id="R00e6ce72496a48e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fa0e42b2e3c4365" /><Relationship Type="http://schemas.openxmlformats.org/officeDocument/2006/relationships/notesMaster" Target="/ppt/notesMasters/notesMaster1.xml" Id="R25322a07568d44c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729b30faf734839" /><Relationship Type="http://schemas.openxmlformats.org/officeDocument/2006/relationships/notesMaster" Target="/ppt/notesMasters/notesMaster1.xml" Id="Rca570ffc57dd4b4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eb339a537884a6a" /><Relationship Type="http://schemas.openxmlformats.org/officeDocument/2006/relationships/notesMaster" Target="/ppt/notesMasters/notesMaster1.xml" Id="R501460277b08463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7da107640ba47be" /><Relationship Type="http://schemas.openxmlformats.org/officeDocument/2006/relationships/notesMaster" Target="/ppt/notesMasters/notesMaster1.xml" Id="R96ed38763854415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Discuss the Roote Origin MVP, choose one of the three public design directions, and confirm the intended working arrangement. The photograph is AI-generated illustrative imagery from the earlier concept deck, not actual cooperative members. Replace draft branding and photography with approved client material.</a:t>
            </a:r>
          </a:p>
          <a:p xmlns:a="http://schemas.openxmlformats.org/drawingml/2006/main">
            <a:r>
              <a:t/>
            </a:r>
          </a:p>
          <a:p xmlns:a="http://schemas.openxmlformats.org/drawingml/2006/main">
            <a:r>
              <a:t>Source: agreed Roote Origin MVP scope, MERN revision, 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public prototype supplies the visual foundation. The MVP builds a new backend. Only one chosen public design is implemented. Ordinary data entry happens in the protected dashboard.</a:t>
            </a:r>
          </a:p>
          <a:p xmlns:a="http://schemas.openxmlformats.org/drawingml/2006/main">
            <a:r>
              <a:t/>
            </a:r>
          </a:p>
          <a:p xmlns:a="http://schemas.openxmlformats.org/drawingml/2006/main">
            <a:r>
              <a:t>Source: agreed Roote Origin MVP scope, MERN revision, 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database captures agreed farming details and a dated record history. Mixed-origin blending and complex split/merge reconciliation remain outside the pilot. Recorded traceability does not independently certify authenticity or export eligibility.</a:t>
            </a:r>
          </a:p>
          <a:p xmlns:a="http://schemas.openxmlformats.org/drawingml/2006/main">
            <a:r>
              <a:t/>
            </a:r>
          </a:p>
          <a:p xmlns:a="http://schemas.openxmlformats.org/drawingml/2006/main">
            <a:r>
              <a:t>Source: agreed Roote Origin MVP scope, MERN revision, 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access follows approved batch assignments. Enforce restrictions in the API as well as the interface. Consumers require no member account. Growers, processors, brand owners and distributors use the protected member portal.</a:t>
            </a:r>
          </a:p>
          <a:p xmlns:a="http://schemas.openxmlformats.org/drawingml/2006/main">
            <a:r>
              <a:t/>
            </a:r>
          </a:p>
          <a:p xmlns:a="http://schemas.openxmlformats.org/drawingml/2006/main">
            <a:r>
              <a:t>Source: agreed Roote Origin MVP scope, MERN revision, 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Personal contacts, internal notes and commercial details stay private unless the cooperative explicitly approves publication. Physical printing is outside the MVP.</a:t>
            </a:r>
          </a:p>
          <a:p xmlns:a="http://schemas.openxmlformats.org/drawingml/2006/main">
            <a:r>
              <a:t/>
            </a:r>
          </a:p>
          <a:p xmlns:a="http://schemas.openxmlformats.org/drawingml/2006/main">
            <a:r>
              <a:t>Source: agreed Roote Origin MVP scope, MERN revision, 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Plant an ube root, follow its vine into the sky, then discover the cooperative and its farms on connected leaves.</a:t>
            </a:r>
          </a:p>
          <a:p xmlns:a="http://schemas.openxmlformats.org/drawingml/2006/main">
            <a:r>
              <a:t>Tip-leaf ID or QR lookup opens the correct profile or batch summary. Partner leaves lead into the public farm inventory.</a:t>
            </a:r>
          </a:p>
          <a:p xmlns:a="http://schemas.openxmlformats.org/drawingml/2006/main">
            <a:r>
              <a:t>Working prototype. The recording shows actual browser behavior. Sample copy and roles will need client confirmation.</a:t>
            </a:r>
          </a:p>
          <a:p xmlns:a="http://schemas.openxmlformats.org/drawingml/2006/main">
            <a:r>
              <a:t>The existing mockup labels show the original farm-focused concept. The approved implementation will add batch discovery and inventory access under Roote Origin. More animation to produce and maintain. A reading view supports simpler browsing.</a:t>
            </a:r>
          </a:p>
          <a:p xmlns:a="http://schemas.openxmlformats.org/drawingml/2006/main">
            <a:r>
              <a:t/>
            </a:r>
          </a:p>
          <a:p xmlns:a="http://schemas.openxmlformats.org/drawingml/2006/main">
            <a:r>
              <a:t>Source: agreed Roote Origin MVP scope, MERN revision, 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recording uses sample farm data. The new member portal and batch summaries are part of the planned MVP.</a:t>
            </a:r>
          </a:p>
          <a:p xmlns:a="http://schemas.openxmlformats.org/drawingml/2006/main">
            <a:r>
              <a:t>Click the native embedded MP4 to play the prototype recording. It shows the root, vine, lookup, growing, harvest, partners and leadership. Backend records and public batch pages are planned features.</a:t>
            </a:r>
          </a:p>
          <a:p xmlns:a="http://schemas.openxmlformats.org/drawingml/2006/main">
            <a:r>
              <a:t/>
            </a:r>
          </a:p>
          <a:p xmlns:a="http://schemas.openxmlformats.org/drawingml/2006/main">
            <a:r>
              <a:t>Source: agreed Roote Origin MVP scope, MERN revision, 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warm editorial website that introduces the cooperative through its people, Davao setting and shared growing story.</a:t>
            </a:r>
          </a:p>
          <a:p xmlns:a="http://schemas.openxmlformats.org/drawingml/2006/main">
            <a:r>
              <a:t>Grower stories connect to farm cards. A clear lookup area supports farm IDs and published batch QR summaries.</a:t>
            </a:r>
          </a:p>
          <a:p xmlns:a="http://schemas.openxmlformats.org/drawingml/2006/main">
            <a:r>
              <a:t>Concept preview. The farm photograph is AI-generated illustrative imagery, not actual cooperative members. Motion is proposed.</a:t>
            </a:r>
          </a:p>
          <a:p xmlns:a="http://schemas.openxmlformats.org/drawingml/2006/main">
            <a:r>
              <a:t>The existing mockup labels show the original farm-focused concept. The approved implementation will add batch discovery and inventory access under Roote Origin. Strongest with original photography of the cooperative and its members.</a:t>
            </a:r>
          </a:p>
          <a:p xmlns:a="http://schemas.openxmlformats.org/drawingml/2006/main">
            <a:r>
              <a:t/>
            </a:r>
          </a:p>
          <a:p xmlns:a="http://schemas.openxmlformats.org/drawingml/2006/main">
            <a:r>
              <a:t>Source: agreed Roote Origin MVP scope, MERN revision, 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 preview. The farm photograph is AI-generated illustrative imagery, not actual cooperative members. Motion is proposed.</a:t>
            </a:r>
          </a:p>
          <a:p xmlns:a="http://schemas.openxmlformats.org/drawingml/2006/main">
            <a:r>
              <a:t>Photography and headlines move on separate planes. Chapters settle for reading as growing, harvest and farm discovery appear.</a:t>
            </a:r>
          </a:p>
          <a:p xmlns:a="http://schemas.openxmlformats.org/drawingml/2006/main">
            <a:r>
              <a:t>Grower stories connect to farm cards. A clear lookup area supports farm IDs and published batch QR summaries.</a:t>
            </a:r>
          </a:p>
          <a:p xmlns:a="http://schemas.openxmlformats.org/drawingml/2006/main">
            <a:r>
              <a:t>The MVP adapts the lookup section for farms and batch summaries. Reduced-motion visitors can read complete sections without movement.</a:t>
            </a:r>
          </a:p>
          <a:p xmlns:a="http://schemas.openxmlformats.org/drawingml/2006/main">
            <a:r>
              <a:t/>
            </a:r>
          </a:p>
          <a:p xmlns:a="http://schemas.openxmlformats.org/drawingml/2006/main">
            <a:r>
              <a:t>Source: agreed Roote Origin MVP scope, MERN revision, 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confident purple identity that brings the crop forward, then connects visitors to the people and farm information behind it.</a:t>
            </a:r>
          </a:p>
          <a:p xmlns:a="http://schemas.openxmlformats.org/drawingml/2006/main">
            <a:r>
              <a:t>A bold product opening leads to produce filters, farm profiles and approved batch summaries for prospective partners.</a:t>
            </a:r>
          </a:p>
          <a:p xmlns:a="http://schemas.openxmlformats.org/drawingml/2006/main">
            <a:r>
              <a:t>Concept preview. Global reach is a proposed brand direction, not a claim of existing export contracts or certification. Motion is proposed.</a:t>
            </a:r>
          </a:p>
          <a:p xmlns:a="http://schemas.openxmlformats.org/drawingml/2006/main">
            <a:r>
              <a:t>The existing mockup labels show the original farm-focused concept. The approved implementation will add batch discovery and inventory access under Roote Origin. Buyer-specific specifications and contact information need client-supplied content.</a:t>
            </a:r>
          </a:p>
          <a:p xmlns:a="http://schemas.openxmlformats.org/drawingml/2006/main">
            <a:r>
              <a:t/>
            </a:r>
          </a:p>
          <a:p xmlns:a="http://schemas.openxmlformats.org/drawingml/2006/main">
            <a:r>
              <a:t>Source: agreed Roote Origin MVP scope, MERN revision, 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 preview. Global reach is a proposed brand direction, not a claim of existing export contracts or certification. Motion is proposed.</a:t>
            </a:r>
          </a:p>
          <a:p xmlns:a="http://schemas.openxmlformats.org/drawingml/2006/main">
            <a:r>
              <a:t>The yam shifts as product information arrives. Purple and pale sections guide the visitor toward farm and batch discovery.</a:t>
            </a:r>
          </a:p>
          <a:p xmlns:a="http://schemas.openxmlformats.org/drawingml/2006/main">
            <a:r>
              <a:t>A bold product opening leads to produce filters, farm profiles and approved batch summaries for prospective partners.</a:t>
            </a:r>
          </a:p>
          <a:p xmlns:a="http://schemas.openxmlformats.org/drawingml/2006/main">
            <a:r>
              <a:t>The MVP adapts the lookup section for farms and batch summaries. Reduced-motion visitors can read complete sections without movement.</a:t>
            </a:r>
          </a:p>
          <a:p xmlns:a="http://schemas.openxmlformats.org/drawingml/2006/main">
            <a:r>
              <a:t/>
            </a:r>
          </a:p>
          <a:p xmlns:a="http://schemas.openxmlformats.org/drawingml/2006/main">
            <a:r>
              <a:t>Source: agreed Roote Origin MVP scope, MERN revision, 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three directions share one MVP scope. The client chooses one visual direction. From Root to Story prioritizes the continuous plant journey. Grown Together centers cooperative growers. Purple to the World prioritizes produce and origin discovery. No design assumes export contracts or certification.</a:t>
            </a:r>
          </a:p>
          <a:p xmlns:a="http://schemas.openxmlformats.org/drawingml/2006/main">
            <a:r>
              <a:t/>
            </a:r>
          </a:p>
          <a:p xmlns:a="http://schemas.openxmlformats.org/drawingml/2006/main">
            <a:r>
              <a:t>Source: agreed Roote Origin MVP scope, MERN revision, 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Confirm hosting, authentication, file storage and backup retention at kickoff. Include HTTPS deployment, source files and editing/deployment documentation.</a:t>
            </a:r>
          </a:p>
          <a:p xmlns:a="http://schemas.openxmlformats.org/drawingml/2006/main">
            <a:r>
              <a:t/>
            </a:r>
          </a:p>
          <a:p xmlns:a="http://schemas.openxmlformats.org/drawingml/2006/main">
            <a:r>
              <a:t>Source: agreed Roote Origin MVP scope, MERN revision, 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ten-week plan follows the MVP proposal. Confirm the final schedule after agreeing the engagement arrangement and available working time. Request consolidated review feedback within two working days. Week 9 includes the agreed pilot review and two revision rounds.</a:t>
            </a:r>
          </a:p>
          <a:p xmlns:a="http://schemas.openxmlformats.org/drawingml/2006/main">
            <a:r>
              <a:t/>
            </a:r>
          </a:p>
          <a:p xmlns:a="http://schemas.openxmlformats.org/drawingml/2006/main">
            <a:r>
              <a:t>Source: agreed Roote Origin MVP scope, MERN revision, 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ten-week plan follows the MVP proposal. Confirm the final schedule after agreeing the engagement arrangement and available working time. Request consolidated review feedback within two working days. Week 9 includes the agreed pilot review and two revision rounds.</a:t>
            </a:r>
          </a:p>
          <a:p xmlns:a="http://schemas.openxmlformats.org/drawingml/2006/main">
            <a:r>
              <a:t/>
            </a:r>
          </a:p>
          <a:p xmlns:a="http://schemas.openxmlformats.org/drawingml/2006/main">
            <a:r>
              <a:t>Source: agreed Roote Origin MVP scope, MERN revision, 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Acceptance includes Android/Chrome and iPhone/Safari camera checks, a backup restore check, operator training, source/documentation handover and 30-day defect support after launch. The inventory covers manually maintained quantities/availability. E-commerce, full ERP stock control, external integrations, mixed-origin blending and independent certification are outside the initial MVP.</a:t>
            </a:r>
          </a:p>
          <a:p xmlns:a="http://schemas.openxmlformats.org/drawingml/2006/main">
            <a:r>
              <a:t/>
            </a:r>
          </a:p>
          <a:p xmlns:a="http://schemas.openxmlformats.org/drawingml/2006/main">
            <a:r>
              <a:t>Source: agreed Roote Origin MVP scope, MERN revision, 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the client to select the intended arrangement and explain expectations. The user clarified that contractual means a service contract for an agreed period. Discuss ongoing work, reporting, acceptance, account/source handover and post-launch ownership of tasks. These are discussion prompts, not agreed legal classifications or final terms.</a:t>
            </a:r>
          </a:p>
          <a:p xmlns:a="http://schemas.openxmlformats.org/drawingml/2006/main">
            <a:r>
              <a:t>Confirm the arrangement, availability and responsibilities before agreeing final engagement terms.</a:t>
            </a:r>
          </a:p>
          <a:p xmlns:a="http://schemas.openxmlformats.org/drawingml/2006/main">
            <a:r>
              <a:t/>
            </a:r>
          </a:p>
          <a:p xmlns:a="http://schemas.openxmlformats.org/drawingml/2006/main">
            <a:r>
              <a:t>Source: agreed Roote Origin MVP scope, MERN revision, 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Record the preferred design, pilot workflow, publication rules, working arrangement and approver. Confirm agreed availability before scheduling the ten-week MVP. The selected design and approved scope form the implementation basis.</a:t>
            </a:r>
          </a:p>
          <a:p xmlns:a="http://schemas.openxmlformats.org/drawingml/2006/main">
            <a:r>
              <a:t/>
            </a:r>
          </a:p>
          <a:p xmlns:a="http://schemas.openxmlformats.org/drawingml/2006/main">
            <a:r>
              <a:t>Source: agreed Roote Origin MVP scope, MERN revision, 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0437e96e95741d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92442cd64b54987" /><Relationship Type="http://schemas.openxmlformats.org/officeDocument/2006/relationships/slideLayout" Target="/ppt/slideLayouts/slideLayout1.xml" Id="R55b2d4004127400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5b2d4004127400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889343155de4fa6" /><Relationship Type="http://schemas.openxmlformats.org/officeDocument/2006/relationships/image" Target="/ppt/media/image.jpeg" Id="Rf581c0fae6944836" /><Relationship Type="http://schemas.openxmlformats.org/officeDocument/2006/relationships/notesSlide" Target="/ppt/notesSlides/notesSlide1.xml" Id="R54ce6bbd6334436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57192b7871d42ee" /><Relationship Type="http://schemas.openxmlformats.org/officeDocument/2006/relationships/notesSlide" Target="/ppt/notesSlides/notesSlide2.xml" Id="Rad1676f963214f1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5ec151430d449ce" /><Relationship Type="http://schemas.openxmlformats.org/officeDocument/2006/relationships/notesSlide" Target="/ppt/notesSlides/notesSlide3.xml" Id="Rc4b99898bf1d497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a27c3fa3e3d44e6" /><Relationship Type="http://schemas.openxmlformats.org/officeDocument/2006/relationships/notesSlide" Target="/ppt/notesSlides/notesSlide4.xml" Id="R91c5c1f374aa4d2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245ba8c026a4cf3" /><Relationship Type="http://schemas.openxmlformats.org/officeDocument/2006/relationships/notesSlide" Target="/ppt/notesSlides/notesSlide5.xml" Id="Rae3ff6fe2e71477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512058046294908" /><Relationship Type="http://schemas.openxmlformats.org/officeDocument/2006/relationships/image" Target="/ppt/media/image2.jpeg" Id="R2262ed21a3994e05" /><Relationship Type="http://schemas.openxmlformats.org/officeDocument/2006/relationships/image" Target="/ppt/media/image3.jpeg" Id="Rde4eae062b884156" /><Relationship Type="http://schemas.openxmlformats.org/officeDocument/2006/relationships/notesSlide" Target="/ppt/notesSlides/notesSlide6.xml" Id="R1298f31263c54626" /></Relationships>
</file>

<file path=ppt/slides/_rels/slide7.xml.rels><?xml version='1.0' encoding='utf-8'?>
<ns0:Relationships xmlns:ns0="http://schemas.openxmlformats.org/package/2006/relationships"><ns0:Relationship Type="http://schemas.openxmlformats.org/officeDocument/2006/relationships/slideLayout" Target="/ppt/slideLayouts/slideLayout1.xml" Id="Refa07bbb43174c95" /><ns0:Relationship Type="http://schemas.openxmlformats.org/officeDocument/2006/relationships/notesSlide" Target="/ppt/notesSlides/notesSlide7.xml" Id="R5b162125f1614de2" /><ns0:Relationship Id="rIdRooteVideo" Type="http://schemas.openxmlformats.org/officeDocument/2006/relationships/video" Target="../media/roote-prototype.mp4" /><ns0:Relationship Id="rIdRooteMedia" Type="http://schemas.microsoft.com/office/2007/relationships/media" Target="../media/roote-prototype.mp4" /><ns0:Relationship Id="rIdRootePoster" Type="http://schemas.openxmlformats.org/officeDocument/2006/relationships/image" Target="../media/roote-prototype.png" /></ns0: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d802c8aa3044c0a" /><Relationship Type="http://schemas.openxmlformats.org/officeDocument/2006/relationships/image" Target="/ppt/media/image4.jpeg" Id="R525a67b4966641d2" /><Relationship Type="http://schemas.openxmlformats.org/officeDocument/2006/relationships/image" Target="/ppt/media/image5.jpeg" Id="Rb333f5d7364b4c3a" /><Relationship Type="http://schemas.openxmlformats.org/officeDocument/2006/relationships/notesSlide" Target="/ppt/notesSlides/notesSlide8.xml" Id="Rffee8a4166874ea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210bd2aeb1b456e" /><Relationship Type="http://schemas.openxmlformats.org/officeDocument/2006/relationships/image" Target="/ppt/media/image.png" Id="R1a21bbe6077e4b19" /><Relationship Type="http://schemas.openxmlformats.org/officeDocument/2006/relationships/image" Target="/ppt/media/image2.png" Id="Rd80353c83a564113" /><Relationship Type="http://schemas.openxmlformats.org/officeDocument/2006/relationships/image" Target="/ppt/media/image3.png" Id="R4718455b355148d4" /><Relationship Type="http://schemas.openxmlformats.org/officeDocument/2006/relationships/notesSlide" Target="/ppt/notesSlides/notesSlide9.xml" Id="Rda0cb0124de54c4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3afff4075a54194" /><Relationship Type="http://schemas.openxmlformats.org/officeDocument/2006/relationships/image" Target="/ppt/media/image6.jpeg" Id="R1fd27dc372264d81" /><Relationship Type="http://schemas.openxmlformats.org/officeDocument/2006/relationships/image" Target="/ppt/media/image7.jpeg" Id="R0c221ef92592476b" /><Relationship Type="http://schemas.openxmlformats.org/officeDocument/2006/relationships/notesSlide" Target="/ppt/notesSlides/notesSlide10.xml" Id="R9ae9f5e808c54a9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8b3e4a0817c4751" /><Relationship Type="http://schemas.openxmlformats.org/officeDocument/2006/relationships/image" Target="/ppt/media/image4.png" Id="R81359e85d3c94036" /><Relationship Type="http://schemas.openxmlformats.org/officeDocument/2006/relationships/image" Target="/ppt/media/image5.png" Id="Rfcb5080199af4229" /><Relationship Type="http://schemas.openxmlformats.org/officeDocument/2006/relationships/image" Target="/ppt/media/image6.png" Id="Rf6a8588246944877" /><Relationship Type="http://schemas.openxmlformats.org/officeDocument/2006/relationships/notesSlide" Target="/ppt/notesSlides/notesSlide11.xml" Id="R75b3f7a39fa8438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21b54a29cb94836" /><Relationship Type="http://schemas.openxmlformats.org/officeDocument/2006/relationships/notesSlide" Target="/ppt/notesSlides/notesSlide12.xml" Id="R66b283051667475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2204dc992f94ebd" /><Relationship Type="http://schemas.openxmlformats.org/officeDocument/2006/relationships/notesSlide" Target="/ppt/notesSlides/notesSlide13.xml" Id="R630e0fc39da240b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ab3cab280744aff" /><Relationship Type="http://schemas.openxmlformats.org/officeDocument/2006/relationships/notesSlide" Target="/ppt/notesSlides/notesSlide14.xml" Id="R221da39bb5f3464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79e431b1f9f4d38" /><Relationship Type="http://schemas.openxmlformats.org/officeDocument/2006/relationships/notesSlide" Target="/ppt/notesSlides/notesSlide15.xml" Id="R9d3535f929f34c6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05769a9673454c84" /><Relationship Type="http://schemas.openxmlformats.org/officeDocument/2006/relationships/notesSlide" Target="/ppt/notesSlides/notesSlide16.xml" Id="R75acad55f9e64c6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4b468cf5775245da" /><Relationship Type="http://schemas.openxmlformats.org/officeDocument/2006/relationships/notesSlide" Target="/ppt/notesSlides/notesSlide17.xml" Id="R8a5dbe74926f416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6f4d5314f2c94004" /><Relationship Type="http://schemas.openxmlformats.org/officeDocument/2006/relationships/notesSlide" Target="/ppt/notesSlides/notesSlide18.xml" Id="Rc8c7f100945d4a9c" /></Relationships>
</file>

<file path=ppt/slides/slide1.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9" name="footer">
            <a:extLst xmlns:a="http://schemas.openxmlformats.org/drawingml/2006/main">
              <a:ext uri="{FF2B5EF4-FFF2-40B4-BE49-F238E27FC236}">
                <a16:creationId xmlns:a16="http://schemas.microsoft.com/office/drawing/2014/main" id="{C09930EB-C7DC-4427-9CE5-A49B3741F621}"/>
              </a:ext>
            </a:extLst>
          </p:cNvPr>
          <p:cNvSpPr>
            <a:spLocks xmlns:a="http://schemas.openxmlformats.org/drawingml/2006/main" noGrp="1"/>
          </p:cNvSpPr>
          <p:nvPr/>
        </p:nvSpPr>
        <p:spPr>
          <a:xfrm xmlns:a="http://schemas.openxmlformats.org/drawingml/2006/main">
            <a:off x="609600" y="6543675"/>
            <a:ext cx="7143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00" b="0">
                <a:solidFill>
                  <a:srgbClr val="706B65"/>
                </a:solidFill>
                <a:latin typeface="Arial"/>
                <a:ea typeface="Arial"/>
                <a:cs typeface="Arial"/>
              </a:defRPr>
            </a:pPr>
            <a:r>
              <a:rPr sz="900" b="0">
                <a:solidFill>
                  <a:srgbClr val="706B65"/>
                </a:solidFill>
                <a:latin typeface="Arial"/>
                <a:ea typeface="Arial"/>
                <a:cs typeface="Arial"/>
              </a:rPr>
              <a:t>ROOTE ORIGIN SYSTEM</a:t>
            </a:r>
          </a:p>
        </p:txBody>
      </p:sp>
      <p:sp>
        <p:nvSpPr>
          <p:cNvPr id="2" name="slide-number">
            <a:extLst xmlns:a="http://schemas.openxmlformats.org/drawingml/2006/main">
              <a:ext uri="{FF2B5EF4-FFF2-40B4-BE49-F238E27FC236}">
                <a16:creationId xmlns:a16="http://schemas.microsoft.com/office/drawing/2014/main" id="{D10E276B-591C-4C97-A211-0BEA453EAB77}"/>
              </a:ext>
            </a:extLst>
          </p:cNvPr>
          <p:cNvSpPr>
            <a:spLocks xmlns:a="http://schemas.openxmlformats.org/drawingml/2006/main" noGrp="1"/>
          </p:cNvSpPr>
          <p:nvPr/>
        </p:nvSpPr>
        <p:spPr>
          <a:xfrm xmlns:a="http://schemas.openxmlformats.org/drawingml/2006/main">
            <a:off x="11106150" y="65055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706B65"/>
                </a:solidFill>
                <a:latin typeface="Arial"/>
                <a:ea typeface="Arial"/>
                <a:cs typeface="Arial"/>
              </a:defRPr>
            </a:pPr>
            <a:r>
              <a:rPr sz="1125" b="0">
                <a:solidFill>
                  <a:srgbClr val="706B65"/>
                </a:solidFill>
                <a:latin typeface="Arial"/>
                <a:ea typeface="Arial"/>
                <a:cs typeface="Arial"/>
              </a:rPr>
              <a:t>01</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f581c0fae6944836"/>
          <a:srcRect xmlns:a="http://schemas.openxmlformats.org/drawingml/2006/main" l="4367" t="0" r="4367" b="0"/>
          <a:stretch xmlns:a="http://schemas.openxmlformats.org/drawingml/2006/main">
            <a:fillRect l="0" t="0" r="0" b="0"/>
          </a:stretch>
        </p:blipFill>
        <p:spPr>
          <a:xfrm xmlns:a="http://schemas.openxmlformats.org/drawingml/2006/main">
            <a:off x="7239000" y="0"/>
            <a:ext cx="4953000" cy="6858000"/>
          </a:xfrm>
          <a:prstGeom xmlns:a="http://schemas.openxmlformats.org/drawingml/2006/main" prst="rect">
            <a:avLst/>
          </a:prstGeom>
        </p:spPr>
      </p:pic>
      <p:sp>
        <p:nvSpPr>
          <p:cNvPr id="4" name="cover-title">
            <a:extLst xmlns:a="http://schemas.openxmlformats.org/drawingml/2006/main">
              <a:ext uri="{FF2B5EF4-FFF2-40B4-BE49-F238E27FC236}">
                <a16:creationId xmlns:a16="http://schemas.microsoft.com/office/drawing/2014/main" id="{C556F297-F058-492C-96F4-4841F2A45197}"/>
              </a:ext>
            </a:extLst>
          </p:cNvPr>
          <p:cNvSpPr>
            <a:spLocks xmlns:a="http://schemas.openxmlformats.org/drawingml/2006/main" noGrp="1"/>
          </p:cNvSpPr>
          <p:nvPr/>
        </p:nvSpPr>
        <p:spPr>
          <a:xfrm xmlns:a="http://schemas.openxmlformats.org/drawingml/2006/main">
            <a:off x="609600" y="1028700"/>
            <a:ext cx="600075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950" b="0">
                <a:solidFill>
                  <a:srgbClr val="542A69"/>
                </a:solidFill>
                <a:latin typeface="Georgia"/>
                <a:ea typeface="Georgia"/>
                <a:cs typeface="Georgia"/>
              </a:defRPr>
            </a:pPr>
            <a:r>
              <a:rPr sz="4950" b="0">
                <a:solidFill>
                  <a:srgbClr val="542A69"/>
                </a:solidFill>
                <a:latin typeface="Georgia"/>
                <a:ea typeface="Georgia"/>
                <a:cs typeface="Georgia"/>
              </a:rPr>
              <a:t>Roote Origin</a:t>
            </a:r>
          </a:p>
          <a:p xmlns:a="http://schemas.openxmlformats.org/drawingml/2006/main">
            <a:pPr algn="l">
              <a:defRPr sz="4950" b="0">
                <a:solidFill>
                  <a:srgbClr val="542A69"/>
                </a:solidFill>
                <a:latin typeface="Georgia"/>
                <a:ea typeface="Georgia"/>
                <a:cs typeface="Georgia"/>
              </a:defRPr>
            </a:pPr>
            <a:r>
              <a:rPr sz="4950" b="0">
                <a:solidFill>
                  <a:srgbClr val="542A69"/>
                </a:solidFill>
                <a:latin typeface="Georgia"/>
                <a:ea typeface="Georgia"/>
                <a:cs typeface="Georgia"/>
              </a:rPr>
              <a:t>System</a:t>
            </a:r>
          </a:p>
        </p:txBody>
      </p:sp>
      <p:sp>
        <p:nvSpPr>
          <p:cNvPr id="5" name="text-1">
            <a:extLst xmlns:a="http://schemas.openxmlformats.org/drawingml/2006/main">
              <a:ext uri="{FF2B5EF4-FFF2-40B4-BE49-F238E27FC236}">
                <a16:creationId xmlns:a16="http://schemas.microsoft.com/office/drawing/2014/main" id="{5B06EAD9-942D-43ED-AC84-4E47A66DF376}"/>
              </a:ext>
            </a:extLst>
          </p:cNvPr>
          <p:cNvSpPr>
            <a:spLocks xmlns:a="http://schemas.openxmlformats.org/drawingml/2006/main" noGrp="1"/>
          </p:cNvSpPr>
          <p:nvPr/>
        </p:nvSpPr>
        <p:spPr>
          <a:xfrm xmlns:a="http://schemas.openxmlformats.org/drawingml/2006/main">
            <a:off x="609600" y="3343275"/>
            <a:ext cx="5905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35583C"/>
                </a:solidFill>
                <a:latin typeface="Arial"/>
                <a:ea typeface="Arial"/>
                <a:cs typeface="Arial"/>
              </a:defRPr>
            </a:pPr>
            <a:r>
              <a:rPr sz="2100" b="0">
                <a:solidFill>
                  <a:srgbClr val="35583C"/>
                </a:solidFill>
                <a:latin typeface="Arial"/>
                <a:ea typeface="Arial"/>
                <a:cs typeface="Arial"/>
              </a:rPr>
              <a:t>MVP scope and three design directions</a:t>
            </a:r>
          </a:p>
        </p:txBody>
      </p:sp>
      <p:sp>
        <p:nvSpPr>
          <p:cNvPr id="6" name="text-2">
            <a:extLst xmlns:a="http://schemas.openxmlformats.org/drawingml/2006/main">
              <a:ext uri="{FF2B5EF4-FFF2-40B4-BE49-F238E27FC236}">
                <a16:creationId xmlns:a16="http://schemas.microsoft.com/office/drawing/2014/main" id="{D44A1522-654B-4B72-88CA-B0C6EA2285B2}"/>
              </a:ext>
            </a:extLst>
          </p:cNvPr>
          <p:cNvSpPr>
            <a:spLocks xmlns:a="http://schemas.openxmlformats.org/drawingml/2006/main" noGrp="1"/>
          </p:cNvSpPr>
          <p:nvPr/>
        </p:nvSpPr>
        <p:spPr>
          <a:xfrm xmlns:a="http://schemas.openxmlformats.org/drawingml/2006/main">
            <a:off x="609600" y="4381500"/>
            <a:ext cx="5905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34233E"/>
                </a:solidFill>
                <a:latin typeface="Arial"/>
                <a:ea typeface="Arial"/>
                <a:cs typeface="Arial"/>
              </a:defRPr>
            </a:pPr>
            <a:r>
              <a:rPr sz="1800" b="0">
                <a:solidFill>
                  <a:srgbClr val="34233E"/>
                </a:solidFill>
                <a:latin typeface="Arial"/>
                <a:ea typeface="Arial"/>
                <a:cs typeface="Arial"/>
              </a:rPr>
              <a:t>Ube Farm Cooperative</a:t>
            </a:r>
          </a:p>
          <a:p xmlns:a="http://schemas.openxmlformats.org/drawingml/2006/main">
            <a:pPr algn="l">
              <a:defRPr sz="1800" b="0">
                <a:solidFill>
                  <a:srgbClr val="34233E"/>
                </a:solidFill>
                <a:latin typeface="Arial"/>
                <a:ea typeface="Arial"/>
                <a:cs typeface="Arial"/>
              </a:defRPr>
            </a:pPr>
            <a:r>
              <a:rPr sz="1800" b="0">
                <a:solidFill>
                  <a:srgbClr val="34233E"/>
                </a:solidFill>
                <a:latin typeface="Arial"/>
                <a:ea typeface="Arial"/>
                <a:cs typeface="Arial"/>
              </a:rPr>
              <a:t>Davao, Philippines</a:t>
            </a:r>
          </a:p>
        </p:txBody>
      </p:sp>
      <p:sp>
        <p:nvSpPr>
          <p:cNvPr id="7" name="text-3">
            <a:extLst xmlns:a="http://schemas.openxmlformats.org/drawingml/2006/main">
              <a:ext uri="{FF2B5EF4-FFF2-40B4-BE49-F238E27FC236}">
                <a16:creationId xmlns:a16="http://schemas.microsoft.com/office/drawing/2014/main" id="{174393C2-CCB1-4D00-972C-9CE64BF4A674}"/>
              </a:ext>
            </a:extLst>
          </p:cNvPr>
          <p:cNvSpPr>
            <a:spLocks xmlns:a="http://schemas.openxmlformats.org/drawingml/2006/main" noGrp="1"/>
          </p:cNvSpPr>
          <p:nvPr/>
        </p:nvSpPr>
        <p:spPr>
          <a:xfrm xmlns:a="http://schemas.openxmlformats.org/drawingml/2006/main">
            <a:off x="609600" y="5467350"/>
            <a:ext cx="5905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706B65"/>
                </a:solidFill>
                <a:latin typeface="Arial"/>
                <a:ea typeface="Arial"/>
                <a:cs typeface="Arial"/>
              </a:defRPr>
            </a:pPr>
            <a:r>
              <a:rPr sz="1425" b="0">
                <a:solidFill>
                  <a:srgbClr val="706B65"/>
                </a:solidFill>
                <a:latin typeface="Arial"/>
                <a:ea typeface="Arial"/>
                <a:cs typeface="Arial"/>
              </a:rPr>
              <a:t>Client discussion</a:t>
            </a:r>
          </a:p>
          <a:p xmlns:a="http://schemas.openxmlformats.org/drawingml/2006/main">
            <a:pPr algn="l">
              <a:defRPr sz="1425" b="0">
                <a:solidFill>
                  <a:srgbClr val="706B65"/>
                </a:solidFill>
                <a:latin typeface="Arial"/>
                <a:ea typeface="Arial"/>
                <a:cs typeface="Arial"/>
              </a:defRPr>
            </a:pPr>
            <a:r>
              <a:rPr sz="1425" b="0">
                <a:solidFill>
                  <a:srgbClr val="706B65"/>
                </a:solidFill>
                <a:latin typeface="Arial"/>
                <a:ea typeface="Arial"/>
                <a:cs typeface="Arial"/>
              </a:rPr>
              <a:t>3 October 2026</a:t>
            </a:r>
          </a:p>
        </p:txBody>
      </p:sp>
      <p:sp>
        <p:nvSpPr>
          <p:cNvPr id="8" name="text-4">
            <a:extLst xmlns:a="http://schemas.openxmlformats.org/drawingml/2006/main">
              <a:ext uri="{FF2B5EF4-FFF2-40B4-BE49-F238E27FC236}">
                <a16:creationId xmlns:a16="http://schemas.microsoft.com/office/drawing/2014/main" id="{0478058A-F5E6-46CD-8136-4EF57741625E}"/>
              </a:ext>
            </a:extLst>
          </p:cNvPr>
          <p:cNvSpPr>
            <a:spLocks xmlns:a="http://schemas.openxmlformats.org/drawingml/2006/main" noGrp="1"/>
          </p:cNvSpPr>
          <p:nvPr/>
        </p:nvSpPr>
        <p:spPr>
          <a:xfrm xmlns:a="http://schemas.openxmlformats.org/drawingml/2006/main">
            <a:off x="7467600" y="6391275"/>
            <a:ext cx="409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FFFFFF"/>
                </a:solidFill>
                <a:latin typeface="Arial"/>
                <a:ea typeface="Arial"/>
                <a:cs typeface="Arial"/>
              </a:defRPr>
            </a:pPr>
            <a:r>
              <a:rPr sz="1125" b="0">
                <a:solidFill>
                  <a:srgbClr val="FFFFFF"/>
                </a:solidFill>
                <a:latin typeface="Arial"/>
                <a:ea typeface="Arial"/>
                <a:cs typeface="Arial"/>
              </a:rPr>
              <a:t>Illustrative concept photo</a:t>
            </a:r>
          </a:p>
        </p:txBody>
      </p:sp>
    </p:spTree>
    <p:extLst>
      <p:ext uri="{BB962C8B-B14F-4D97-AF65-F5344CB8AC3E}">
        <p14:creationId xmlns:p14="http://schemas.microsoft.com/office/powerpoint/2010/main" val="1795521254"/>
      </p:ext>
    </p:extLst>
  </p:cSld>
</p:sld>
</file>

<file path=ppt/slides/slide2.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17" name="slide-title">
            <a:extLst xmlns:a="http://schemas.openxmlformats.org/drawingml/2006/main">
              <a:ext uri="{FF2B5EF4-FFF2-40B4-BE49-F238E27FC236}">
                <a16:creationId xmlns:a16="http://schemas.microsoft.com/office/drawing/2014/main" id="{FB7FC37C-766E-476A-A1A0-1CAA29CA8D91}"/>
              </a:ext>
            </a:extLst>
          </p:cNvPr>
          <p:cNvSpPr>
            <a:spLocks xmlns:a="http://schemas.openxmlformats.org/drawingml/2006/main" noGrp="1"/>
          </p:cNvSpPr>
          <p:nvPr/>
        </p:nvSpPr>
        <p:spPr>
          <a:xfrm xmlns:a="http://schemas.openxmlformats.org/drawingml/2006/main">
            <a:off x="609600" y="4953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542A69"/>
                </a:solidFill>
                <a:latin typeface="Georgia"/>
                <a:ea typeface="Georgia"/>
                <a:cs typeface="Georgia"/>
              </a:defRPr>
            </a:pPr>
            <a:r>
              <a:rPr sz="3300" b="0">
                <a:solidFill>
                  <a:srgbClr val="542A69"/>
                </a:solidFill>
                <a:latin typeface="Georgia"/>
                <a:ea typeface="Georgia"/>
                <a:cs typeface="Georgia"/>
              </a:rPr>
              <a:t>The Roote Origin MVP</a:t>
            </a:r>
          </a:p>
        </p:txBody>
      </p:sp>
      <p:sp>
        <p:nvSpPr>
          <p:cNvPr id="2" name="slide-subtitle">
            <a:extLst xmlns:a="http://schemas.openxmlformats.org/drawingml/2006/main">
              <a:ext uri="{FF2B5EF4-FFF2-40B4-BE49-F238E27FC236}">
                <a16:creationId xmlns:a16="http://schemas.microsoft.com/office/drawing/2014/main" id="{46F12E64-A326-4973-9004-FEB012E9F13A}"/>
              </a:ext>
            </a:extLst>
          </p:cNvPr>
          <p:cNvSpPr>
            <a:spLocks xmlns:a="http://schemas.openxmlformats.org/drawingml/2006/main" noGrp="1"/>
          </p:cNvSpPr>
          <p:nvPr/>
        </p:nvSpPr>
        <p:spPr>
          <a:xfrm xmlns:a="http://schemas.openxmlformats.org/drawingml/2006/main">
            <a:off x="609600" y="1428750"/>
            <a:ext cx="10715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706B65"/>
                </a:solidFill>
                <a:latin typeface="Arial"/>
                <a:ea typeface="Arial"/>
                <a:cs typeface="Arial"/>
              </a:defRPr>
            </a:pPr>
            <a:r>
              <a:rPr sz="1725" b="0">
                <a:solidFill>
                  <a:srgbClr val="706B65"/>
                </a:solidFill>
                <a:latin typeface="Arial"/>
                <a:ea typeface="Arial"/>
                <a:cs typeface="Arial"/>
              </a:rPr>
              <a:t>Farm discovery and batch records for the cooperative ecosystem, starting with ube.</a:t>
            </a:r>
          </a:p>
        </p:txBody>
      </p:sp>
      <p:sp>
        <p:nvSpPr>
          <p:cNvPr id="3" name="footer">
            <a:extLst xmlns:a="http://schemas.openxmlformats.org/drawingml/2006/main">
              <a:ext uri="{FF2B5EF4-FFF2-40B4-BE49-F238E27FC236}">
                <a16:creationId xmlns:a16="http://schemas.microsoft.com/office/drawing/2014/main" id="{070B06C1-7BA6-4098-9D05-952AD6B53125}"/>
              </a:ext>
            </a:extLst>
          </p:cNvPr>
          <p:cNvSpPr>
            <a:spLocks xmlns:a="http://schemas.openxmlformats.org/drawingml/2006/main" noGrp="1"/>
          </p:cNvSpPr>
          <p:nvPr/>
        </p:nvSpPr>
        <p:spPr>
          <a:xfrm xmlns:a="http://schemas.openxmlformats.org/drawingml/2006/main">
            <a:off x="609600" y="6543675"/>
            <a:ext cx="7143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00" b="0">
                <a:solidFill>
                  <a:srgbClr val="706B65"/>
                </a:solidFill>
                <a:latin typeface="Arial"/>
                <a:ea typeface="Arial"/>
                <a:cs typeface="Arial"/>
              </a:defRPr>
            </a:pPr>
            <a:r>
              <a:rPr sz="900" b="0">
                <a:solidFill>
                  <a:srgbClr val="706B65"/>
                </a:solidFill>
                <a:latin typeface="Arial"/>
                <a:ea typeface="Arial"/>
                <a:cs typeface="Arial"/>
              </a:rPr>
              <a:t>ROOTE ORIGIN SYSTEM</a:t>
            </a:r>
          </a:p>
        </p:txBody>
      </p:sp>
      <p:sp>
        <p:nvSpPr>
          <p:cNvPr id="4" name="slide-number">
            <a:extLst xmlns:a="http://schemas.openxmlformats.org/drawingml/2006/main">
              <a:ext uri="{FF2B5EF4-FFF2-40B4-BE49-F238E27FC236}">
                <a16:creationId xmlns:a16="http://schemas.microsoft.com/office/drawing/2014/main" id="{A4C52E3D-D3D4-4E6D-8194-22A9754141E2}"/>
              </a:ext>
            </a:extLst>
          </p:cNvPr>
          <p:cNvSpPr>
            <a:spLocks xmlns:a="http://schemas.openxmlformats.org/drawingml/2006/main" noGrp="1"/>
          </p:cNvSpPr>
          <p:nvPr/>
        </p:nvSpPr>
        <p:spPr>
          <a:xfrm xmlns:a="http://schemas.openxmlformats.org/drawingml/2006/main">
            <a:off x="11106150" y="65055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706B65"/>
                </a:solidFill>
                <a:latin typeface="Arial"/>
                <a:ea typeface="Arial"/>
                <a:cs typeface="Arial"/>
              </a:defRPr>
            </a:pPr>
            <a:r>
              <a:rPr sz="1125" b="0">
                <a:solidFill>
                  <a:srgbClr val="706B65"/>
                </a:solidFill>
                <a:latin typeface="Arial"/>
                <a:ea typeface="Arial"/>
                <a:cs typeface="Arial"/>
              </a:rPr>
              <a:t>02</a:t>
            </a:r>
          </a:p>
        </p:txBody>
      </p:sp>
      <p:sp>
        <p:nvSpPr>
          <p:cNvPr id="5" name="text-5">
            <a:extLst xmlns:a="http://schemas.openxmlformats.org/drawingml/2006/main">
              <a:ext uri="{FF2B5EF4-FFF2-40B4-BE49-F238E27FC236}">
                <a16:creationId xmlns:a16="http://schemas.microsoft.com/office/drawing/2014/main" id="{2919A65E-0B86-457A-A0A7-2122AA358A82}"/>
              </a:ext>
            </a:extLst>
          </p:cNvPr>
          <p:cNvSpPr>
            <a:spLocks xmlns:a="http://schemas.openxmlformats.org/drawingml/2006/main" noGrp="1"/>
          </p:cNvSpPr>
          <p:nvPr/>
        </p:nvSpPr>
        <p:spPr>
          <a:xfrm xmlns:a="http://schemas.openxmlformats.org/drawingml/2006/main">
            <a:off x="609600" y="2400300"/>
            <a:ext cx="3238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42A69"/>
                </a:solidFill>
                <a:latin typeface="Georgia"/>
                <a:ea typeface="Georgia"/>
                <a:cs typeface="Georgia"/>
              </a:defRPr>
            </a:pPr>
            <a:r>
              <a:rPr sz="1950" b="0">
                <a:solidFill>
                  <a:srgbClr val="542A69"/>
                </a:solidFill>
                <a:latin typeface="Georgia"/>
                <a:ea typeface="Georgia"/>
                <a:cs typeface="Georgia"/>
              </a:rPr>
              <a:t>Public farm inventory</a:t>
            </a:r>
          </a:p>
        </p:txBody>
      </p:sp>
      <p:sp>
        <p:nvSpPr>
          <p:cNvPr id="6" name="text-6">
            <a:extLst xmlns:a="http://schemas.openxmlformats.org/drawingml/2006/main">
              <a:ext uri="{FF2B5EF4-FFF2-40B4-BE49-F238E27FC236}">
                <a16:creationId xmlns:a16="http://schemas.microsoft.com/office/drawing/2014/main" id="{0CE017EF-5163-49CB-BB14-C95E8830D6EF}"/>
              </a:ext>
            </a:extLst>
          </p:cNvPr>
          <p:cNvSpPr>
            <a:spLocks xmlns:a="http://schemas.openxmlformats.org/drawingml/2006/main" noGrp="1"/>
          </p:cNvSpPr>
          <p:nvPr/>
        </p:nvSpPr>
        <p:spPr>
          <a:xfrm xmlns:a="http://schemas.openxmlformats.org/drawingml/2006/main">
            <a:off x="4181475" y="2419350"/>
            <a:ext cx="70199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4233E"/>
                </a:solidFill>
                <a:latin typeface="Arial"/>
                <a:ea typeface="Arial"/>
                <a:cs typeface="Arial"/>
              </a:defRPr>
            </a:pPr>
            <a:r>
              <a:rPr sz="1650" b="0">
                <a:solidFill>
                  <a:srgbClr val="34233E"/>
                </a:solidFill>
                <a:latin typeface="Arial"/>
                <a:ea typeface="Arial"/>
                <a:cs typeface="Arial"/>
              </a:rPr>
              <a:t>Discover approved farms and produce. Find a farm profile or a published batch by ID, QR or partner link.</a:t>
            </a:r>
          </a:p>
        </p:txBody>
      </p:sp>
      <p:sp>
        <p:nvSpPr>
          <p:cNvPr id="7" name="divider-7">
            <a:extLst xmlns:a="http://schemas.openxmlformats.org/drawingml/2006/main">
              <a:ext uri="{FF2B5EF4-FFF2-40B4-BE49-F238E27FC236}">
                <a16:creationId xmlns:a16="http://schemas.microsoft.com/office/drawing/2014/main" id="{3F1A0C05-8B92-449C-8814-50318752368D}"/>
              </a:ext>
            </a:extLst>
          </p:cNvPr>
          <p:cNvSpPr>
            <a:spLocks xmlns:a="http://schemas.openxmlformats.org/drawingml/2006/main" noGrp="1"/>
          </p:cNvSpPr>
          <p:nvPr/>
        </p:nvSpPr>
        <p:spPr>
          <a:xfrm xmlns:a="http://schemas.openxmlformats.org/drawingml/2006/main">
            <a:off x="609600" y="3095625"/>
            <a:ext cx="10591800" cy="0"/>
          </a:xfrm>
          <a:prstGeom xmlns:a="http://schemas.openxmlformats.org/drawingml/2006/main" prst="line">
            <a:avLst/>
          </a:prstGeom>
          <a:noFill xmlns:a="http://schemas.openxmlformats.org/drawingml/2006/main"/>
          <a:ln xmlns:a="http://schemas.openxmlformats.org/drawingml/2006/main" w="9525">
            <a:solidFill>
              <a:srgbClr val="D8D0BE"/>
            </a:solidFill>
            <a:prstDash val="solid"/>
          </a:ln>
        </p:spPr>
      </p:sp>
      <p:sp>
        <p:nvSpPr>
          <p:cNvPr id="8" name="text-8">
            <a:extLst xmlns:a="http://schemas.openxmlformats.org/drawingml/2006/main">
              <a:ext uri="{FF2B5EF4-FFF2-40B4-BE49-F238E27FC236}">
                <a16:creationId xmlns:a16="http://schemas.microsoft.com/office/drawing/2014/main" id="{3ABADDAE-D1BE-4792-AADC-5FD23DA4A808}"/>
              </a:ext>
            </a:extLst>
          </p:cNvPr>
          <p:cNvSpPr>
            <a:spLocks xmlns:a="http://schemas.openxmlformats.org/drawingml/2006/main" noGrp="1"/>
          </p:cNvSpPr>
          <p:nvPr/>
        </p:nvSpPr>
        <p:spPr>
          <a:xfrm xmlns:a="http://schemas.openxmlformats.org/drawingml/2006/main">
            <a:off x="609600" y="3238500"/>
            <a:ext cx="3238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42A69"/>
                </a:solidFill>
                <a:latin typeface="Georgia"/>
                <a:ea typeface="Georgia"/>
                <a:cs typeface="Georgia"/>
              </a:defRPr>
            </a:pPr>
            <a:r>
              <a:rPr sz="1950" b="0">
                <a:solidFill>
                  <a:srgbClr val="542A69"/>
                </a:solidFill>
                <a:latin typeface="Georgia"/>
                <a:ea typeface="Georgia"/>
                <a:cs typeface="Georgia"/>
              </a:rPr>
              <a:t>Protected member portal</a:t>
            </a:r>
          </a:p>
        </p:txBody>
      </p:sp>
      <p:sp>
        <p:nvSpPr>
          <p:cNvPr id="9" name="text-9">
            <a:extLst xmlns:a="http://schemas.openxmlformats.org/drawingml/2006/main">
              <a:ext uri="{FF2B5EF4-FFF2-40B4-BE49-F238E27FC236}">
                <a16:creationId xmlns:a16="http://schemas.microsoft.com/office/drawing/2014/main" id="{1E3C7A3C-2322-4814-9A03-F3303DEED077}"/>
              </a:ext>
            </a:extLst>
          </p:cNvPr>
          <p:cNvSpPr>
            <a:spLocks xmlns:a="http://schemas.openxmlformats.org/drawingml/2006/main" noGrp="1"/>
          </p:cNvSpPr>
          <p:nvPr/>
        </p:nvSpPr>
        <p:spPr>
          <a:xfrm xmlns:a="http://schemas.openxmlformats.org/drawingml/2006/main">
            <a:off x="4181475" y="3257550"/>
            <a:ext cx="70199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4233E"/>
                </a:solidFill>
                <a:latin typeface="Arial"/>
                <a:ea typeface="Arial"/>
                <a:cs typeface="Arial"/>
              </a:defRPr>
            </a:pPr>
            <a:r>
              <a:rPr sz="1650" b="0">
                <a:solidFill>
                  <a:srgbClr val="34233E"/>
                </a:solidFill>
                <a:latin typeface="Arial"/>
                <a:ea typeface="Arial"/>
                <a:cs typeface="Arial"/>
              </a:rPr>
              <a:t>Growers, processors and recipients manage their assigned records. Administrators control access and publication.</a:t>
            </a:r>
          </a:p>
        </p:txBody>
      </p:sp>
      <p:sp>
        <p:nvSpPr>
          <p:cNvPr id="10" name="divider-10">
            <a:extLst xmlns:a="http://schemas.openxmlformats.org/drawingml/2006/main">
              <a:ext uri="{FF2B5EF4-FFF2-40B4-BE49-F238E27FC236}">
                <a16:creationId xmlns:a16="http://schemas.microsoft.com/office/drawing/2014/main" id="{5314E0C8-DCD4-41FC-876F-55868D0E163B}"/>
              </a:ext>
            </a:extLst>
          </p:cNvPr>
          <p:cNvSpPr>
            <a:spLocks xmlns:a="http://schemas.openxmlformats.org/drawingml/2006/main" noGrp="1"/>
          </p:cNvSpPr>
          <p:nvPr/>
        </p:nvSpPr>
        <p:spPr>
          <a:xfrm xmlns:a="http://schemas.openxmlformats.org/drawingml/2006/main">
            <a:off x="609600" y="3933825"/>
            <a:ext cx="10591800" cy="0"/>
          </a:xfrm>
          <a:prstGeom xmlns:a="http://schemas.openxmlformats.org/drawingml/2006/main" prst="line">
            <a:avLst/>
          </a:prstGeom>
          <a:noFill xmlns:a="http://schemas.openxmlformats.org/drawingml/2006/main"/>
          <a:ln xmlns:a="http://schemas.openxmlformats.org/drawingml/2006/main" w="9525">
            <a:solidFill>
              <a:srgbClr val="D8D0BE"/>
            </a:solidFill>
            <a:prstDash val="solid"/>
          </a:ln>
        </p:spPr>
      </p:sp>
      <p:sp>
        <p:nvSpPr>
          <p:cNvPr id="11" name="text-11">
            <a:extLst xmlns:a="http://schemas.openxmlformats.org/drawingml/2006/main">
              <a:ext uri="{FF2B5EF4-FFF2-40B4-BE49-F238E27FC236}">
                <a16:creationId xmlns:a16="http://schemas.microsoft.com/office/drawing/2014/main" id="{E34F03F9-4F04-4A82-9457-DD2D081D70B6}"/>
              </a:ext>
            </a:extLst>
          </p:cNvPr>
          <p:cNvSpPr>
            <a:spLocks xmlns:a="http://schemas.openxmlformats.org/drawingml/2006/main" noGrp="1"/>
          </p:cNvSpPr>
          <p:nvPr/>
        </p:nvSpPr>
        <p:spPr>
          <a:xfrm xmlns:a="http://schemas.openxmlformats.org/drawingml/2006/main">
            <a:off x="609600" y="4076700"/>
            <a:ext cx="3238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42A69"/>
                </a:solidFill>
                <a:latin typeface="Georgia"/>
                <a:ea typeface="Georgia"/>
                <a:cs typeface="Georgia"/>
              </a:defRPr>
            </a:pPr>
            <a:r>
              <a:rPr sz="1950" b="0">
                <a:solidFill>
                  <a:srgbClr val="542A69"/>
                </a:solidFill>
                <a:latin typeface="Georgia"/>
                <a:ea typeface="Georgia"/>
                <a:cs typeface="Georgia"/>
              </a:rPr>
              <a:t>Connected batch history</a:t>
            </a:r>
          </a:p>
        </p:txBody>
      </p:sp>
      <p:sp>
        <p:nvSpPr>
          <p:cNvPr id="12" name="text-12">
            <a:extLst xmlns:a="http://schemas.openxmlformats.org/drawingml/2006/main">
              <a:ext uri="{FF2B5EF4-FFF2-40B4-BE49-F238E27FC236}">
                <a16:creationId xmlns:a16="http://schemas.microsoft.com/office/drawing/2014/main" id="{B29DC118-AB0F-4396-8A21-EE60F0FEB51C}"/>
              </a:ext>
            </a:extLst>
          </p:cNvPr>
          <p:cNvSpPr>
            <a:spLocks xmlns:a="http://schemas.openxmlformats.org/drawingml/2006/main" noGrp="1"/>
          </p:cNvSpPr>
          <p:nvPr/>
        </p:nvSpPr>
        <p:spPr>
          <a:xfrm xmlns:a="http://schemas.openxmlformats.org/drawingml/2006/main">
            <a:off x="4181475" y="4095750"/>
            <a:ext cx="70199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4233E"/>
                </a:solidFill>
                <a:latin typeface="Arial"/>
                <a:ea typeface="Arial"/>
                <a:cs typeface="Arial"/>
              </a:defRPr>
            </a:pPr>
            <a:r>
              <a:rPr sz="1650" b="0">
                <a:solidFill>
                  <a:srgbClr val="34233E"/>
                </a:solidFill>
                <a:latin typeface="Arial"/>
                <a:ea typeface="Arial"/>
                <a:cs typeface="Arial"/>
              </a:rPr>
              <a:t>Record farming details, harvest dates and quantities, then link each batch to its processor and intended brand owner or distributor.</a:t>
            </a:r>
          </a:p>
        </p:txBody>
      </p:sp>
      <p:sp>
        <p:nvSpPr>
          <p:cNvPr id="13" name="divider-13">
            <a:extLst xmlns:a="http://schemas.openxmlformats.org/drawingml/2006/main">
              <a:ext uri="{FF2B5EF4-FFF2-40B4-BE49-F238E27FC236}">
                <a16:creationId xmlns:a16="http://schemas.microsoft.com/office/drawing/2014/main" id="{CEC94B53-8FD9-4F05-88E9-EBC519588D73}"/>
              </a:ext>
            </a:extLst>
          </p:cNvPr>
          <p:cNvSpPr>
            <a:spLocks xmlns:a="http://schemas.openxmlformats.org/drawingml/2006/main" noGrp="1"/>
          </p:cNvSpPr>
          <p:nvPr/>
        </p:nvSpPr>
        <p:spPr>
          <a:xfrm xmlns:a="http://schemas.openxmlformats.org/drawingml/2006/main">
            <a:off x="609600" y="4772025"/>
            <a:ext cx="10591800" cy="0"/>
          </a:xfrm>
          <a:prstGeom xmlns:a="http://schemas.openxmlformats.org/drawingml/2006/main" prst="line">
            <a:avLst/>
          </a:prstGeom>
          <a:noFill xmlns:a="http://schemas.openxmlformats.org/drawingml/2006/main"/>
          <a:ln xmlns:a="http://schemas.openxmlformats.org/drawingml/2006/main" w="9525">
            <a:solidFill>
              <a:srgbClr val="D8D0BE"/>
            </a:solidFill>
            <a:prstDash val="solid"/>
          </a:ln>
        </p:spPr>
      </p:sp>
      <p:sp>
        <p:nvSpPr>
          <p:cNvPr id="14" name="text-14">
            <a:extLst xmlns:a="http://schemas.openxmlformats.org/drawingml/2006/main">
              <a:ext uri="{FF2B5EF4-FFF2-40B4-BE49-F238E27FC236}">
                <a16:creationId xmlns:a16="http://schemas.microsoft.com/office/drawing/2014/main" id="{A1EC7825-5CBC-445F-94E7-733A1739F5DA}"/>
              </a:ext>
            </a:extLst>
          </p:cNvPr>
          <p:cNvSpPr>
            <a:spLocks xmlns:a="http://schemas.openxmlformats.org/drawingml/2006/main" noGrp="1"/>
          </p:cNvSpPr>
          <p:nvPr/>
        </p:nvSpPr>
        <p:spPr>
          <a:xfrm xmlns:a="http://schemas.openxmlformats.org/drawingml/2006/main">
            <a:off x="609600" y="4914900"/>
            <a:ext cx="3238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42A69"/>
                </a:solidFill>
                <a:latin typeface="Georgia"/>
                <a:ea typeface="Georgia"/>
                <a:cs typeface="Georgia"/>
              </a:defRPr>
            </a:pPr>
            <a:r>
              <a:rPr sz="1950" b="0">
                <a:solidFill>
                  <a:srgbClr val="542A69"/>
                </a:solidFill>
                <a:latin typeface="Georgia"/>
                <a:ea typeface="Georgia"/>
                <a:cs typeface="Georgia"/>
              </a:rPr>
              <a:t>Consumer QR summaries</a:t>
            </a:r>
          </a:p>
        </p:txBody>
      </p:sp>
      <p:sp>
        <p:nvSpPr>
          <p:cNvPr id="15" name="text-15">
            <a:extLst xmlns:a="http://schemas.openxmlformats.org/drawingml/2006/main">
              <a:ext uri="{FF2B5EF4-FFF2-40B4-BE49-F238E27FC236}">
                <a16:creationId xmlns:a16="http://schemas.microsoft.com/office/drawing/2014/main" id="{8DFE1A1B-2AB4-4048-B735-9A70950B4057}"/>
              </a:ext>
            </a:extLst>
          </p:cNvPr>
          <p:cNvSpPr>
            <a:spLocks xmlns:a="http://schemas.openxmlformats.org/drawingml/2006/main" noGrp="1"/>
          </p:cNvSpPr>
          <p:nvPr/>
        </p:nvSpPr>
        <p:spPr>
          <a:xfrm xmlns:a="http://schemas.openxmlformats.org/drawingml/2006/main">
            <a:off x="4181475" y="4933950"/>
            <a:ext cx="70199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4233E"/>
                </a:solidFill>
                <a:latin typeface="Arial"/>
                <a:ea typeface="Arial"/>
                <a:cs typeface="Arial"/>
              </a:defRPr>
            </a:pPr>
            <a:r>
              <a:rPr sz="1650" b="0">
                <a:solidFill>
                  <a:srgbClr val="34233E"/>
                </a:solidFill>
                <a:latin typeface="Arial"/>
                <a:ea typeface="Arial"/>
                <a:cs typeface="Arial"/>
              </a:rPr>
              <a:t>Publish a selected summary for each batch. Consumers scan it at a cafe, restaurant or on packaging without logging in.</a:t>
            </a:r>
          </a:p>
        </p:txBody>
      </p:sp>
      <p:sp>
        <p:nvSpPr>
          <p:cNvPr id="16" name="text-16">
            <a:extLst xmlns:a="http://schemas.openxmlformats.org/drawingml/2006/main">
              <a:ext uri="{FF2B5EF4-FFF2-40B4-BE49-F238E27FC236}">
                <a16:creationId xmlns:a16="http://schemas.microsoft.com/office/drawing/2014/main" id="{8301A89B-F1EC-4C18-9B1E-C7BC76077F89}"/>
              </a:ext>
            </a:extLst>
          </p:cNvPr>
          <p:cNvSpPr>
            <a:spLocks xmlns:a="http://schemas.openxmlformats.org/drawingml/2006/main" noGrp="1"/>
          </p:cNvSpPr>
          <p:nvPr/>
        </p:nvSpPr>
        <p:spPr>
          <a:xfrm xmlns:a="http://schemas.openxmlformats.org/drawingml/2006/main">
            <a:off x="609600" y="6115050"/>
            <a:ext cx="10763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35583C"/>
                </a:solidFill>
                <a:latin typeface="Arial"/>
                <a:ea typeface="Arial"/>
                <a:cs typeface="Arial"/>
              </a:defRPr>
            </a:pPr>
            <a:r>
              <a:rPr sz="1500" b="1">
                <a:solidFill>
                  <a:srgbClr val="35583C"/>
                </a:solidFill>
                <a:latin typeface="Arial"/>
                <a:ea typeface="Arial"/>
                <a:cs typeface="Arial"/>
              </a:rPr>
              <a:t>One selected website direction and one new backend serve the same MVP.</a:t>
            </a:r>
          </a:p>
        </p:txBody>
      </p:sp>
    </p:spTree>
    <p:extLst>
      <p:ext uri="{BB962C8B-B14F-4D97-AF65-F5344CB8AC3E}">
        <p14:creationId xmlns:p14="http://schemas.microsoft.com/office/powerpoint/2010/main" val="2133842340"/>
      </p:ext>
    </p:extLst>
  </p:cSld>
</p:sld>
</file>

<file path=ppt/slides/slide3.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3B7D9121-DEE4-4110-B471-EC39B7E77AFB}"/>
              </a:ext>
            </a:extLst>
          </p:cNvPr>
          <p:cNvSpPr>
            <a:spLocks xmlns:a="http://schemas.openxmlformats.org/drawingml/2006/main" noGrp="1"/>
          </p:cNvSpPr>
          <p:nvPr/>
        </p:nvSpPr>
        <p:spPr>
          <a:xfrm xmlns:a="http://schemas.openxmlformats.org/drawingml/2006/main">
            <a:off x="609600" y="4953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542A69"/>
                </a:solidFill>
                <a:latin typeface="Georgia"/>
                <a:ea typeface="Georgia"/>
                <a:cs typeface="Georgia"/>
              </a:defRPr>
            </a:pPr>
            <a:r>
              <a:rPr sz="3300" b="0">
                <a:solidFill>
                  <a:srgbClr val="542A69"/>
                </a:solidFill>
                <a:latin typeface="Georgia"/>
                <a:ea typeface="Georgia"/>
                <a:cs typeface="Georgia"/>
              </a:rPr>
              <a:t>The history behind each batch</a:t>
            </a:r>
          </a:p>
        </p:txBody>
      </p:sp>
      <p:sp>
        <p:nvSpPr>
          <p:cNvPr id="2" name="slide-subtitle">
            <a:extLst xmlns:a="http://schemas.openxmlformats.org/drawingml/2006/main">
              <a:ext uri="{FF2B5EF4-FFF2-40B4-BE49-F238E27FC236}">
                <a16:creationId xmlns:a16="http://schemas.microsoft.com/office/drawing/2014/main" id="{77B67EC5-184C-4A15-8969-DA98C624AB84}"/>
              </a:ext>
            </a:extLst>
          </p:cNvPr>
          <p:cNvSpPr>
            <a:spLocks xmlns:a="http://schemas.openxmlformats.org/drawingml/2006/main" noGrp="1"/>
          </p:cNvSpPr>
          <p:nvPr/>
        </p:nvSpPr>
        <p:spPr>
          <a:xfrm xmlns:a="http://schemas.openxmlformats.org/drawingml/2006/main">
            <a:off x="609600" y="1428750"/>
            <a:ext cx="10715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706B65"/>
                </a:solidFill>
                <a:latin typeface="Arial"/>
                <a:ea typeface="Arial"/>
                <a:cs typeface="Arial"/>
              </a:defRPr>
            </a:pPr>
            <a:r>
              <a:rPr sz="1725" b="0">
                <a:solidFill>
                  <a:srgbClr val="706B65"/>
                </a:solidFill>
                <a:latin typeface="Arial"/>
                <a:ea typeface="Arial"/>
                <a:cs typeface="Arial"/>
              </a:rPr>
              <a:t>Authorized ecosystem members can follow the permitted history of an assigned batch.</a:t>
            </a:r>
          </a:p>
        </p:txBody>
      </p:sp>
      <p:sp>
        <p:nvSpPr>
          <p:cNvPr id="3" name="footer">
            <a:extLst xmlns:a="http://schemas.openxmlformats.org/drawingml/2006/main">
              <a:ext uri="{FF2B5EF4-FFF2-40B4-BE49-F238E27FC236}">
                <a16:creationId xmlns:a16="http://schemas.microsoft.com/office/drawing/2014/main" id="{A13B5F02-2C53-4C43-9FE2-B90DB27E4786}"/>
              </a:ext>
            </a:extLst>
          </p:cNvPr>
          <p:cNvSpPr>
            <a:spLocks xmlns:a="http://schemas.openxmlformats.org/drawingml/2006/main" noGrp="1"/>
          </p:cNvSpPr>
          <p:nvPr/>
        </p:nvSpPr>
        <p:spPr>
          <a:xfrm xmlns:a="http://schemas.openxmlformats.org/drawingml/2006/main">
            <a:off x="609600" y="6543675"/>
            <a:ext cx="7143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00" b="0">
                <a:solidFill>
                  <a:srgbClr val="706B65"/>
                </a:solidFill>
                <a:latin typeface="Arial"/>
                <a:ea typeface="Arial"/>
                <a:cs typeface="Arial"/>
              </a:defRPr>
            </a:pPr>
            <a:r>
              <a:rPr sz="900" b="0">
                <a:solidFill>
                  <a:srgbClr val="706B65"/>
                </a:solidFill>
                <a:latin typeface="Arial"/>
                <a:ea typeface="Arial"/>
                <a:cs typeface="Arial"/>
              </a:rPr>
              <a:t>ROOTE ORIGIN SYSTEM</a:t>
            </a:r>
          </a:p>
        </p:txBody>
      </p:sp>
      <p:sp>
        <p:nvSpPr>
          <p:cNvPr id="4" name="slide-number">
            <a:extLst xmlns:a="http://schemas.openxmlformats.org/drawingml/2006/main">
              <a:ext uri="{FF2B5EF4-FFF2-40B4-BE49-F238E27FC236}">
                <a16:creationId xmlns:a16="http://schemas.microsoft.com/office/drawing/2014/main" id="{7DBEF07E-139D-478C-81C7-FC96DED6A4C4}"/>
              </a:ext>
            </a:extLst>
          </p:cNvPr>
          <p:cNvSpPr>
            <a:spLocks xmlns:a="http://schemas.openxmlformats.org/drawingml/2006/main" noGrp="1"/>
          </p:cNvSpPr>
          <p:nvPr/>
        </p:nvSpPr>
        <p:spPr>
          <a:xfrm xmlns:a="http://schemas.openxmlformats.org/drawingml/2006/main">
            <a:off x="11106150" y="65055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706B65"/>
                </a:solidFill>
                <a:latin typeface="Arial"/>
                <a:ea typeface="Arial"/>
                <a:cs typeface="Arial"/>
              </a:defRPr>
            </a:pPr>
            <a:r>
              <a:rPr sz="1125" b="0">
                <a:solidFill>
                  <a:srgbClr val="706B65"/>
                </a:solidFill>
                <a:latin typeface="Arial"/>
                <a:ea typeface="Arial"/>
                <a:cs typeface="Arial"/>
              </a:rPr>
              <a:t>03</a:t>
            </a:r>
          </a:p>
        </p:txBody>
      </p:sp>
      <p:graphicFrame>
        <p:nvGraphicFramePr>
          <p:cNvPr id="11" name=""/>
          <p:cNvGraphicFramePr/>
          <p:nvPr/>
        </p:nvGraphicFramePr>
        <p:xfrm>
          <a:off xmlns:a="http://schemas.openxmlformats.org/drawingml/2006/main" x="609600" y="2400300"/>
          <a:ext xmlns:a="http://schemas.openxmlformats.org/drawingml/2006/main" cx="10972800" cy="2619375"/>
        </p:xfrm>
        <a:graphic xmlns:a="http://schemas.openxmlformats.org/drawingml/2006/main">
          <a:graphicData uri="http://schemas.openxmlformats.org/drawingml/2006/table">
            <a:tbl>
              <a:tblPr firstRow="0" firstCol="0" bandRow="0"/>
              <a:tblGrid>
                <a:gridCol w="2743200"/>
                <a:gridCol w="2743200"/>
                <a:gridCol w="2743200"/>
                <a:gridCol w="2743200"/>
              </a:tblGrid>
              <a:tr h="523875">
                <a:tc>
                  <a:txBody>
                    <a:bodyPr wrap="square">
                      <a:noAutofit/>
                    </a:bodyPr>
                    <a:lstStyle/>
                    <a:p>
                      <a:r>
                        <a:rPr sz="1650" b="1">
                          <a:solidFill>
                            <a:srgbClr val="FFFFFF"/>
                          </a:solidFill>
                          <a:latin typeface="Arial"/>
                          <a:ea typeface="Arial"/>
                          <a:cs typeface="Arial"/>
                        </a:rPr>
                        <a:t>Farming</a:t>
                      </a:r>
                    </a:p>
                  </a:txBody>
                  <a:tcPr marL="133350" marR="133350" marT="95250" marB="95250" anchor="t">
                    <a:solidFill>
                      <a:srgbClr val="35583C"/>
                    </a:solidFill>
                  </a:tcPr>
                </a:tc>
                <a:tc>
                  <a:txBody>
                    <a:bodyPr wrap="square">
                      <a:noAutofit/>
                    </a:bodyPr>
                    <a:lstStyle/>
                    <a:p>
                      <a:r>
                        <a:rPr sz="1650" b="1">
                          <a:solidFill>
                            <a:srgbClr val="FFFFFF"/>
                          </a:solidFill>
                          <a:latin typeface="Arial"/>
                          <a:ea typeface="Arial"/>
                          <a:cs typeface="Arial"/>
                        </a:rPr>
                        <a:t>Harvest batch</a:t>
                      </a:r>
                    </a:p>
                  </a:txBody>
                  <a:tcPr marL="133350" marR="133350" marT="95250" marB="95250" anchor="t">
                    <a:solidFill>
                      <a:srgbClr val="35583C"/>
                    </a:solidFill>
                  </a:tcPr>
                </a:tc>
                <a:tc>
                  <a:txBody>
                    <a:bodyPr wrap="square">
                      <a:noAutofit/>
                    </a:bodyPr>
                    <a:lstStyle/>
                    <a:p>
                      <a:r>
                        <a:rPr sz="1650" b="1">
                          <a:solidFill>
                            <a:srgbClr val="FFFFFF"/>
                          </a:solidFill>
                          <a:latin typeface="Arial"/>
                          <a:ea typeface="Arial"/>
                          <a:cs typeface="Arial"/>
                        </a:rPr>
                        <a:t>Processing</a:t>
                      </a:r>
                    </a:p>
                  </a:txBody>
                  <a:tcPr marL="133350" marR="133350" marT="95250" marB="95250" anchor="t">
                    <a:solidFill>
                      <a:srgbClr val="35583C"/>
                    </a:solidFill>
                  </a:tcPr>
                </a:tc>
                <a:tc>
                  <a:txBody>
                    <a:bodyPr wrap="square">
                      <a:noAutofit/>
                    </a:bodyPr>
                    <a:lstStyle/>
                    <a:p>
                      <a:r>
                        <a:rPr sz="1650" b="1">
                          <a:solidFill>
                            <a:srgbClr val="FFFFFF"/>
                          </a:solidFill>
                          <a:latin typeface="Arial"/>
                          <a:ea typeface="Arial"/>
                          <a:cs typeface="Arial"/>
                        </a:rPr>
                        <a:t>Brand or distributor</a:t>
                      </a:r>
                    </a:p>
                  </a:txBody>
                  <a:tcPr marL="133350" marR="133350" marT="95250" marB="95250" anchor="t">
                    <a:solidFill>
                      <a:srgbClr val="35583C"/>
                    </a:solidFill>
                  </a:tcPr>
                </a:tc>
              </a:tr>
              <a:tr h="2095500">
                <a:tc>
                  <a:txBody>
                    <a:bodyPr wrap="square">
                      <a:noAutofit/>
                    </a:bodyPr>
                    <a:lstStyle/>
                    <a:p>
                      <a:r>
                        <a:rPr sz="1650" b="0">
                          <a:solidFill>
                            <a:srgbClr val="35583C"/>
                          </a:solidFill>
                          <a:latin typeface="Arial"/>
                          <a:ea typeface="Arial"/>
                          <a:cs typeface="Arial"/>
                        </a:rPr>
                        <a:t>Farm, grower and plot</a:t>
                      </a:r>
                    </a:p>
                    <a:p>
                      <a:r>
                        <a:rPr sz="1650" b="0">
                          <a:solidFill>
                            <a:srgbClr val="35583C"/>
                          </a:solidFill>
                          <a:latin typeface="Arial"/>
                          <a:ea typeface="Arial"/>
                          <a:cs typeface="Arial"/>
                        </a:rPr>
                        <a:t>Produce and variety</a:t>
                      </a:r>
                    </a:p>
                    <a:p>
                      <a:r>
                        <a:rPr sz="1650" b="0">
                          <a:solidFill>
                            <a:srgbClr val="35583C"/>
                          </a:solidFill>
                          <a:latin typeface="Arial"/>
                          <a:ea typeface="Arial"/>
                          <a:cs typeface="Arial"/>
                        </a:rPr>
                        <a:t>Planting date</a:t>
                      </a:r>
                    </a:p>
                    <a:p>
                      <a:r>
                        <a:rPr sz="1650" b="0">
                          <a:solidFill>
                            <a:srgbClr val="35583C"/>
                          </a:solidFill>
                          <a:latin typeface="Arial"/>
                          <a:ea typeface="Arial"/>
                          <a:cs typeface="Arial"/>
                        </a:rPr>
                        <a:t>Care and input notes</a:t>
                      </a:r>
                    </a:p>
                  </a:txBody>
                  <a:tcPr marL="133350" marR="133350" marT="95250" marB="95250" anchor="t">
                    <a:solidFill>
                      <a:srgbClr val="F6F3EA"/>
                    </a:solidFill>
                  </a:tcPr>
                </a:tc>
                <a:tc>
                  <a:txBody>
                    <a:bodyPr wrap="square">
                      <a:noAutofit/>
                    </a:bodyPr>
                    <a:lstStyle/>
                    <a:p>
                      <a:r>
                        <a:rPr sz="1650" b="0">
                          <a:solidFill>
                            <a:srgbClr val="34233E"/>
                          </a:solidFill>
                          <a:latin typeface="Arial"/>
                          <a:ea typeface="Arial"/>
                          <a:cs typeface="Arial"/>
                        </a:rPr>
                        <a:t>Unique batch ID</a:t>
                      </a:r>
                    </a:p>
                    <a:p>
                      <a:r>
                        <a:rPr sz="1650" b="0">
                          <a:solidFill>
                            <a:srgbClr val="34233E"/>
                          </a:solidFill>
                          <a:latin typeface="Arial"/>
                          <a:ea typeface="Arial"/>
                          <a:cs typeface="Arial"/>
                        </a:rPr>
                        <a:t>Harvest date</a:t>
                      </a:r>
                    </a:p>
                    <a:p>
                      <a:r>
                        <a:rPr sz="1650" b="0">
                          <a:solidFill>
                            <a:srgbClr val="34233E"/>
                          </a:solidFill>
                          <a:latin typeface="Arial"/>
                          <a:ea typeface="Arial"/>
                          <a:cs typeface="Arial"/>
                        </a:rPr>
                        <a:t>Quantity and unit</a:t>
                      </a:r>
                    </a:p>
                    <a:p>
                      <a:r>
                        <a:rPr sz="1650" b="0">
                          <a:solidFill>
                            <a:srgbClr val="34233E"/>
                          </a:solidFill>
                          <a:latin typeface="Arial"/>
                          <a:ea typeface="Arial"/>
                          <a:cs typeface="Arial"/>
                        </a:rPr>
                        <a:t>Status and availability</a:t>
                      </a:r>
                    </a:p>
                  </a:txBody>
                  <a:tcPr marL="133350" marR="133350" marT="95250" marB="95250" anchor="t">
                    <a:solidFill>
                      <a:srgbClr val="F6F3EA"/>
                    </a:solidFill>
                  </a:tcPr>
                </a:tc>
                <a:tc>
                  <a:txBody>
                    <a:bodyPr wrap="square">
                      <a:noAutofit/>
                    </a:bodyPr>
                    <a:lstStyle/>
                    <a:p>
                      <a:r>
                        <a:rPr sz="1650" b="0">
                          <a:solidFill>
                            <a:srgbClr val="34233E"/>
                          </a:solidFill>
                          <a:latin typeface="Arial"/>
                          <a:ea typeface="Arial"/>
                          <a:cs typeface="Arial"/>
                        </a:rPr>
                        <a:t>Processor identity</a:t>
                      </a:r>
                    </a:p>
                    <a:p>
                      <a:r>
                        <a:rPr sz="1650" b="0">
                          <a:solidFill>
                            <a:srgbClr val="34233E"/>
                          </a:solidFill>
                          <a:latin typeface="Arial"/>
                          <a:ea typeface="Arial"/>
                          <a:cs typeface="Arial"/>
                        </a:rPr>
                        <a:t>Processing date and site</a:t>
                      </a:r>
                    </a:p>
                    <a:p>
                      <a:r>
                        <a:rPr sz="1650" b="0">
                          <a:solidFill>
                            <a:srgbClr val="34233E"/>
                          </a:solidFill>
                          <a:latin typeface="Arial"/>
                          <a:ea typeface="Arial"/>
                          <a:cs typeface="Arial"/>
                        </a:rPr>
                        <a:t>Processed lot</a:t>
                      </a:r>
                    </a:p>
                    <a:p>
                      <a:r>
                        <a:rPr sz="1650" b="0">
                          <a:solidFill>
                            <a:srgbClr val="34233E"/>
                          </a:solidFill>
                          <a:latin typeface="Arial"/>
                          <a:ea typeface="Arial"/>
                          <a:cs typeface="Arial"/>
                        </a:rPr>
                        <a:t>Source harvest link</a:t>
                      </a:r>
                    </a:p>
                  </a:txBody>
                  <a:tcPr marL="133350" marR="133350" marT="95250" marB="95250" anchor="t">
                    <a:solidFill>
                      <a:srgbClr val="F6F3EA"/>
                    </a:solidFill>
                  </a:tcPr>
                </a:tc>
                <a:tc>
                  <a:txBody>
                    <a:bodyPr wrap="square">
                      <a:noAutofit/>
                    </a:bodyPr>
                    <a:lstStyle/>
                    <a:p>
                      <a:r>
                        <a:rPr sz="1650" b="0">
                          <a:solidFill>
                            <a:srgbClr val="34233E"/>
                          </a:solidFill>
                          <a:latin typeface="Arial"/>
                          <a:ea typeface="Arial"/>
                          <a:cs typeface="Arial"/>
                        </a:rPr>
                        <a:t>Intended recipient</a:t>
                      </a:r>
                    </a:p>
                    <a:p>
                      <a:r>
                        <a:rPr sz="1650" b="0">
                          <a:solidFill>
                            <a:srgbClr val="34233E"/>
                          </a:solidFill>
                          <a:latin typeface="Arial"/>
                          <a:ea typeface="Arial"/>
                          <a:cs typeface="Arial"/>
                        </a:rPr>
                        <a:t>Brand owner or distributor</a:t>
                      </a:r>
                    </a:p>
                    <a:p>
                      <a:r>
                        <a:rPr sz="1650" b="0">
                          <a:solidFill>
                            <a:srgbClr val="34233E"/>
                          </a:solidFill>
                          <a:latin typeface="Arial"/>
                          <a:ea typeface="Arial"/>
                          <a:cs typeface="Arial"/>
                        </a:rPr>
                        <a:t>Assigned acknowledgement</a:t>
                      </a:r>
                    </a:p>
                    <a:p>
                      <a:r>
                        <a:rPr sz="1650" b="0">
                          <a:solidFill>
                            <a:srgbClr val="34233E"/>
                          </a:solidFill>
                          <a:latin typeface="Arial"/>
                          <a:ea typeface="Arial"/>
                          <a:cs typeface="Arial"/>
                        </a:rPr>
                        <a:t>Linked origin history</a:t>
                      </a:r>
                    </a:p>
                  </a:txBody>
                  <a:tcPr marL="133350" marR="133350" marT="95250" marB="95250" anchor="t">
                    <a:solidFill>
                      <a:srgbClr val="F6F3EA"/>
                    </a:solidFill>
                  </a:tcPr>
                </a:tc>
              </a:tr>
            </a:tbl>
          </a:graphicData>
        </a:graphic>
      </p:graphicFrame>
      <p:sp>
        <p:nvSpPr>
          <p:cNvPr id="6" name="text-17">
            <a:extLst xmlns:a="http://schemas.openxmlformats.org/drawingml/2006/main">
              <a:ext uri="{FF2B5EF4-FFF2-40B4-BE49-F238E27FC236}">
                <a16:creationId xmlns:a16="http://schemas.microsoft.com/office/drawing/2014/main" id="{EB792544-A5FC-487F-9125-365E399728EA}"/>
              </a:ext>
            </a:extLst>
          </p:cNvPr>
          <p:cNvSpPr>
            <a:spLocks xmlns:a="http://schemas.openxmlformats.org/drawingml/2006/main" noGrp="1"/>
          </p:cNvSpPr>
          <p:nvPr/>
        </p:nvSpPr>
        <p:spPr>
          <a:xfrm xmlns:a="http://schemas.openxmlformats.org/drawingml/2006/main">
            <a:off x="609600" y="5410200"/>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5583C"/>
                </a:solidFill>
                <a:latin typeface="Arial"/>
                <a:ea typeface="Arial"/>
                <a:cs typeface="Arial"/>
              </a:defRPr>
            </a:pPr>
            <a:r>
              <a:rPr sz="1650" b="0">
                <a:solidFill>
                  <a:srgbClr val="35583C"/>
                </a:solidFill>
                <a:latin typeface="Arial"/>
                <a:ea typeface="Arial"/>
                <a:cs typeface="Arial"/>
              </a:rPr>
              <a:t>The first workflow links each processed lot to one source harvest batch. Participants supply the records.</a:t>
            </a:r>
          </a:p>
        </p:txBody>
      </p:sp>
    </p:spTree>
    <p:extLst>
      <p:ext uri="{BB962C8B-B14F-4D97-AF65-F5344CB8AC3E}">
        <p14:creationId xmlns:p14="http://schemas.microsoft.com/office/powerpoint/2010/main" val="95892259"/>
      </p:ext>
    </p:extLst>
  </p:cSld>
</p:sld>
</file>

<file path=ppt/slides/slide4.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0E28D28D-91ED-46F7-BE05-96332D855AD4}"/>
              </a:ext>
            </a:extLst>
          </p:cNvPr>
          <p:cNvSpPr>
            <a:spLocks xmlns:a="http://schemas.openxmlformats.org/drawingml/2006/main" noGrp="1"/>
          </p:cNvSpPr>
          <p:nvPr/>
        </p:nvSpPr>
        <p:spPr>
          <a:xfrm xmlns:a="http://schemas.openxmlformats.org/drawingml/2006/main">
            <a:off x="609600" y="4953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542A69"/>
                </a:solidFill>
                <a:latin typeface="Georgia"/>
                <a:ea typeface="Georgia"/>
                <a:cs typeface="Georgia"/>
              </a:defRPr>
            </a:pPr>
            <a:r>
              <a:rPr sz="3300" b="0">
                <a:solidFill>
                  <a:srgbClr val="542A69"/>
                </a:solidFill>
                <a:latin typeface="Georgia"/>
                <a:ea typeface="Georgia"/>
                <a:cs typeface="Georgia"/>
              </a:rPr>
              <a:t>Access across the ecosystem</a:t>
            </a:r>
          </a:p>
        </p:txBody>
      </p:sp>
      <p:sp>
        <p:nvSpPr>
          <p:cNvPr id="2" name="slide-subtitle">
            <a:extLst xmlns:a="http://schemas.openxmlformats.org/drawingml/2006/main">
              <a:ext uri="{FF2B5EF4-FFF2-40B4-BE49-F238E27FC236}">
                <a16:creationId xmlns:a16="http://schemas.microsoft.com/office/drawing/2014/main" id="{E4183DA0-EB3F-4C59-9932-389CE15E34F4}"/>
              </a:ext>
            </a:extLst>
          </p:cNvPr>
          <p:cNvSpPr>
            <a:spLocks xmlns:a="http://schemas.openxmlformats.org/drawingml/2006/main" noGrp="1"/>
          </p:cNvSpPr>
          <p:nvPr/>
        </p:nvSpPr>
        <p:spPr>
          <a:xfrm xmlns:a="http://schemas.openxmlformats.org/drawingml/2006/main">
            <a:off x="609600" y="1428750"/>
            <a:ext cx="10715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706B65"/>
                </a:solidFill>
                <a:latin typeface="Arial"/>
                <a:ea typeface="Arial"/>
                <a:cs typeface="Arial"/>
              </a:defRPr>
            </a:pPr>
            <a:r>
              <a:rPr sz="1725" b="0">
                <a:solidFill>
                  <a:srgbClr val="706B65"/>
                </a:solidFill>
                <a:latin typeface="Arial"/>
                <a:ea typeface="Arial"/>
                <a:cs typeface="Arial"/>
              </a:rPr>
              <a:t>The cooperative approves visibility rules. Each participant edits only the records their role permits.</a:t>
            </a:r>
          </a:p>
        </p:txBody>
      </p:sp>
      <p:sp>
        <p:nvSpPr>
          <p:cNvPr id="3" name="footer">
            <a:extLst xmlns:a="http://schemas.openxmlformats.org/drawingml/2006/main">
              <a:ext uri="{FF2B5EF4-FFF2-40B4-BE49-F238E27FC236}">
                <a16:creationId xmlns:a16="http://schemas.microsoft.com/office/drawing/2014/main" id="{3CC17699-420D-434C-9C24-EC72A4E6E17D}"/>
              </a:ext>
            </a:extLst>
          </p:cNvPr>
          <p:cNvSpPr>
            <a:spLocks xmlns:a="http://schemas.openxmlformats.org/drawingml/2006/main" noGrp="1"/>
          </p:cNvSpPr>
          <p:nvPr/>
        </p:nvSpPr>
        <p:spPr>
          <a:xfrm xmlns:a="http://schemas.openxmlformats.org/drawingml/2006/main">
            <a:off x="609600" y="6543675"/>
            <a:ext cx="7143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00" b="0">
                <a:solidFill>
                  <a:srgbClr val="706B65"/>
                </a:solidFill>
                <a:latin typeface="Arial"/>
                <a:ea typeface="Arial"/>
                <a:cs typeface="Arial"/>
              </a:defRPr>
            </a:pPr>
            <a:r>
              <a:rPr sz="900" b="0">
                <a:solidFill>
                  <a:srgbClr val="706B65"/>
                </a:solidFill>
                <a:latin typeface="Arial"/>
                <a:ea typeface="Arial"/>
                <a:cs typeface="Arial"/>
              </a:rPr>
              <a:t>ROOTE ORIGIN SYSTEM</a:t>
            </a:r>
          </a:p>
        </p:txBody>
      </p:sp>
      <p:sp>
        <p:nvSpPr>
          <p:cNvPr id="4" name="slide-number">
            <a:extLst xmlns:a="http://schemas.openxmlformats.org/drawingml/2006/main">
              <a:ext uri="{FF2B5EF4-FFF2-40B4-BE49-F238E27FC236}">
                <a16:creationId xmlns:a16="http://schemas.microsoft.com/office/drawing/2014/main" id="{CC5A03D3-029E-498E-ACAE-21C5E371C650}"/>
              </a:ext>
            </a:extLst>
          </p:cNvPr>
          <p:cNvSpPr>
            <a:spLocks xmlns:a="http://schemas.openxmlformats.org/drawingml/2006/main" noGrp="1"/>
          </p:cNvSpPr>
          <p:nvPr/>
        </p:nvSpPr>
        <p:spPr>
          <a:xfrm xmlns:a="http://schemas.openxmlformats.org/drawingml/2006/main">
            <a:off x="11106150" y="65055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706B65"/>
                </a:solidFill>
                <a:latin typeface="Arial"/>
                <a:ea typeface="Arial"/>
                <a:cs typeface="Arial"/>
              </a:defRPr>
            </a:pPr>
            <a:r>
              <a:rPr sz="1125" b="0">
                <a:solidFill>
                  <a:srgbClr val="706B65"/>
                </a:solidFill>
                <a:latin typeface="Arial"/>
                <a:ea typeface="Arial"/>
                <a:cs typeface="Arial"/>
              </a:rPr>
              <a:t>04</a:t>
            </a:r>
          </a:p>
        </p:txBody>
      </p:sp>
      <p:graphicFrame>
        <p:nvGraphicFramePr>
          <p:cNvPr id="11" name=""/>
          <p:cNvGraphicFramePr/>
          <p:nvPr/>
        </p:nvGraphicFramePr>
        <p:xfrm>
          <a:off xmlns:a="http://schemas.openxmlformats.org/drawingml/2006/main" x="609600" y="2190750"/>
          <a:ext xmlns:a="http://schemas.openxmlformats.org/drawingml/2006/main" cx="10972800" cy="3943350"/>
        </p:xfrm>
        <a:graphic xmlns:a="http://schemas.openxmlformats.org/drawingml/2006/main">
          <a:graphicData uri="http://schemas.openxmlformats.org/drawingml/2006/table">
            <a:tbl>
              <a:tblPr firstRow="0" firstCol="0" bandRow="0"/>
              <a:tblGrid>
                <a:gridCol w="2352675"/>
                <a:gridCol w="3667125"/>
                <a:gridCol w="4953000"/>
              </a:tblGrid>
              <a:tr h="466725">
                <a:tc>
                  <a:txBody>
                    <a:bodyPr wrap="square">
                      <a:noAutofit/>
                    </a:bodyPr>
                    <a:lstStyle/>
                    <a:p>
                      <a:r>
                        <a:rPr sz="1500" b="1">
                          <a:solidFill>
                            <a:srgbClr val="FFFFFF"/>
                          </a:solidFill>
                          <a:latin typeface="Arial"/>
                          <a:ea typeface="Arial"/>
                          <a:cs typeface="Arial"/>
                        </a:rPr>
                        <a:t>Participant</a:t>
                      </a:r>
                    </a:p>
                  </a:txBody>
                  <a:tcPr marL="133350" marR="133350" marT="95250" marB="95250" anchor="t">
                    <a:solidFill>
                      <a:srgbClr val="35583C"/>
                    </a:solidFill>
                  </a:tcPr>
                </a:tc>
                <a:tc>
                  <a:txBody>
                    <a:bodyPr wrap="square">
                      <a:noAutofit/>
                    </a:bodyPr>
                    <a:lstStyle/>
                    <a:p>
                      <a:r>
                        <a:rPr sz="1500" b="1">
                          <a:solidFill>
                            <a:srgbClr val="FFFFFF"/>
                          </a:solidFill>
                          <a:latin typeface="Arial"/>
                          <a:ea typeface="Arial"/>
                          <a:cs typeface="Arial"/>
                        </a:rPr>
                        <a:t>Can view</a:t>
                      </a:r>
                    </a:p>
                  </a:txBody>
                  <a:tcPr marL="133350" marR="133350" marT="95250" marB="95250" anchor="t">
                    <a:solidFill>
                      <a:srgbClr val="35583C"/>
                    </a:solidFill>
                  </a:tcPr>
                </a:tc>
                <a:tc>
                  <a:txBody>
                    <a:bodyPr wrap="square">
                      <a:noAutofit/>
                    </a:bodyPr>
                    <a:lstStyle/>
                    <a:p>
                      <a:r>
                        <a:rPr sz="1500" b="1">
                          <a:solidFill>
                            <a:srgbClr val="FFFFFF"/>
                          </a:solidFill>
                          <a:latin typeface="Arial"/>
                          <a:ea typeface="Arial"/>
                          <a:cs typeface="Arial"/>
                        </a:rPr>
                        <a:t>Can manage</a:t>
                      </a:r>
                    </a:p>
                  </a:txBody>
                  <a:tcPr marL="133350" marR="133350" marT="95250" marB="95250" anchor="t">
                    <a:solidFill>
                      <a:srgbClr val="35583C"/>
                    </a:solidFill>
                  </a:tcPr>
                </a:tc>
              </a:tr>
              <a:tr h="695325">
                <a:tc>
                  <a:txBody>
                    <a:bodyPr wrap="square">
                      <a:noAutofit/>
                    </a:bodyPr>
                    <a:lstStyle/>
                    <a:p>
                      <a:r>
                        <a:rPr sz="1500" b="0">
                          <a:solidFill>
                            <a:srgbClr val="35583C"/>
                          </a:solidFill>
                          <a:latin typeface="Arial"/>
                          <a:ea typeface="Arial"/>
                          <a:cs typeface="Arial"/>
                        </a:rPr>
                        <a:t>Administrator</a:t>
                      </a:r>
                    </a:p>
                  </a:txBody>
                  <a:tcPr marL="133350" marR="133350" marT="95250" marB="95250" anchor="t">
                    <a:solidFill>
                      <a:srgbClr val="F6F3EA"/>
                    </a:solidFill>
                  </a:tcPr>
                </a:tc>
                <a:tc>
                  <a:txBody>
                    <a:bodyPr wrap="square">
                      <a:noAutofit/>
                    </a:bodyPr>
                    <a:lstStyle/>
                    <a:p>
                      <a:r>
                        <a:rPr sz="1500" b="0">
                          <a:solidFill>
                            <a:srgbClr val="34233E"/>
                          </a:solidFill>
                          <a:latin typeface="Arial"/>
                          <a:ea typeface="Arial"/>
                          <a:cs typeface="Arial"/>
                        </a:rPr>
                        <a:t>All ecosystem records</a:t>
                      </a:r>
                    </a:p>
                  </a:txBody>
                  <a:tcPr marL="133350" marR="133350" marT="95250" marB="95250" anchor="t">
                    <a:solidFill>
                      <a:srgbClr val="F6F3EA"/>
                    </a:solidFill>
                  </a:tcPr>
                </a:tc>
                <a:tc>
                  <a:txBody>
                    <a:bodyPr wrap="square">
                      <a:noAutofit/>
                    </a:bodyPr>
                    <a:lstStyle/>
                    <a:p>
                      <a:r>
                        <a:rPr sz="1500" b="0">
                          <a:solidFill>
                            <a:srgbClr val="34233E"/>
                          </a:solidFill>
                          <a:latin typeface="Arial"/>
                          <a:ea typeface="Arial"/>
                          <a:cs typeface="Arial"/>
                        </a:rPr>
                        <a:t>Users, farms, produce, corrections and publication</a:t>
                      </a:r>
                    </a:p>
                  </a:txBody>
                  <a:tcPr marL="133350" marR="133350" marT="95250" marB="95250" anchor="t">
                    <a:solidFill>
                      <a:srgbClr val="F6F3EA"/>
                    </a:solidFill>
                  </a:tcPr>
                </a:tc>
              </a:tr>
              <a:tr h="695325">
                <a:tc>
                  <a:txBody>
                    <a:bodyPr wrap="square">
                      <a:noAutofit/>
                    </a:bodyPr>
                    <a:lstStyle/>
                    <a:p>
                      <a:r>
                        <a:rPr sz="1500" b="0">
                          <a:solidFill>
                            <a:srgbClr val="35583C"/>
                          </a:solidFill>
                          <a:latin typeface="Arial"/>
                          <a:ea typeface="Arial"/>
                          <a:cs typeface="Arial"/>
                        </a:rPr>
                        <a:t>Grower or farm team</a:t>
                      </a:r>
                    </a:p>
                  </a:txBody>
                  <a:tcPr marL="133350" marR="133350" marT="95250" marB="95250" anchor="t">
                    <a:solidFill>
                      <a:srgbClr val="F6F3EA"/>
                    </a:solidFill>
                  </a:tcPr>
                </a:tc>
                <a:tc>
                  <a:txBody>
                    <a:bodyPr wrap="square">
                      <a:noAutofit/>
                    </a:bodyPr>
                    <a:lstStyle/>
                    <a:p>
                      <a:r>
                        <a:rPr sz="1500" b="0">
                          <a:solidFill>
                            <a:srgbClr val="34233E"/>
                          </a:solidFill>
                          <a:latin typeface="Arial"/>
                          <a:ea typeface="Arial"/>
                          <a:cs typeface="Arial"/>
                        </a:rPr>
                        <a:t>Permitted batch history</a:t>
                      </a:r>
                    </a:p>
                  </a:txBody>
                  <a:tcPr marL="133350" marR="133350" marT="95250" marB="95250" anchor="t">
                    <a:solidFill>
                      <a:srgbClr val="F6F3EA"/>
                    </a:solidFill>
                  </a:tcPr>
                </a:tc>
                <a:tc>
                  <a:txBody>
                    <a:bodyPr wrap="square">
                      <a:noAutofit/>
                    </a:bodyPr>
                    <a:lstStyle/>
                    <a:p>
                      <a:r>
                        <a:rPr sz="1500" b="0">
                          <a:solidFill>
                            <a:srgbClr val="34233E"/>
                          </a:solidFill>
                          <a:latin typeface="Arial"/>
                          <a:ea typeface="Arial"/>
                          <a:cs typeface="Arial"/>
                        </a:rPr>
                        <a:t>Assigned growing and harvest records</a:t>
                      </a:r>
                    </a:p>
                  </a:txBody>
                  <a:tcPr marL="133350" marR="133350" marT="95250" marB="95250" anchor="t">
                    <a:solidFill>
                      <a:srgbClr val="F6F3EA"/>
                    </a:solidFill>
                  </a:tcPr>
                </a:tc>
              </a:tr>
              <a:tr h="695325">
                <a:tc>
                  <a:txBody>
                    <a:bodyPr wrap="square">
                      <a:noAutofit/>
                    </a:bodyPr>
                    <a:lstStyle/>
                    <a:p>
                      <a:r>
                        <a:rPr sz="1500" b="0">
                          <a:solidFill>
                            <a:srgbClr val="35583C"/>
                          </a:solidFill>
                          <a:latin typeface="Arial"/>
                          <a:ea typeface="Arial"/>
                          <a:cs typeface="Arial"/>
                        </a:rPr>
                        <a:t>Processor</a:t>
                      </a:r>
                    </a:p>
                  </a:txBody>
                  <a:tcPr marL="133350" marR="133350" marT="95250" marB="95250" anchor="t">
                    <a:solidFill>
                      <a:srgbClr val="F6F3EA"/>
                    </a:solidFill>
                  </a:tcPr>
                </a:tc>
                <a:tc>
                  <a:txBody>
                    <a:bodyPr wrap="square">
                      <a:noAutofit/>
                    </a:bodyPr>
                    <a:lstStyle/>
                    <a:p>
                      <a:r>
                        <a:rPr sz="1500" b="0">
                          <a:solidFill>
                            <a:srgbClr val="34233E"/>
                          </a:solidFill>
                          <a:latin typeface="Arial"/>
                          <a:ea typeface="Arial"/>
                          <a:cs typeface="Arial"/>
                        </a:rPr>
                        <a:t>Permitted origin and harvest records</a:t>
                      </a:r>
                    </a:p>
                  </a:txBody>
                  <a:tcPr marL="133350" marR="133350" marT="95250" marB="95250" anchor="t">
                    <a:solidFill>
                      <a:srgbClr val="F6F3EA"/>
                    </a:solidFill>
                  </a:tcPr>
                </a:tc>
                <a:tc>
                  <a:txBody>
                    <a:bodyPr wrap="square">
                      <a:noAutofit/>
                    </a:bodyPr>
                    <a:lstStyle/>
                    <a:p>
                      <a:r>
                        <a:rPr sz="1500" b="0">
                          <a:solidFill>
                            <a:srgbClr val="34233E"/>
                          </a:solidFill>
                          <a:latin typeface="Arial"/>
                          <a:ea typeface="Arial"/>
                          <a:cs typeface="Arial"/>
                        </a:rPr>
                        <a:t>Assigned processing, lot links and recipients</a:t>
                      </a:r>
                    </a:p>
                  </a:txBody>
                  <a:tcPr marL="133350" marR="133350" marT="95250" marB="95250" anchor="t">
                    <a:solidFill>
                      <a:srgbClr val="F6F3EA"/>
                    </a:solidFill>
                  </a:tcPr>
                </a:tc>
              </a:tr>
              <a:tr h="695325">
                <a:tc>
                  <a:txBody>
                    <a:bodyPr wrap="square">
                      <a:noAutofit/>
                    </a:bodyPr>
                    <a:lstStyle/>
                    <a:p>
                      <a:r>
                        <a:rPr sz="1500" b="0">
                          <a:solidFill>
                            <a:srgbClr val="35583C"/>
                          </a:solidFill>
                          <a:latin typeface="Arial"/>
                          <a:ea typeface="Arial"/>
                          <a:cs typeface="Arial"/>
                        </a:rPr>
                        <a:t>Brand owner or distributor</a:t>
                      </a:r>
                    </a:p>
                  </a:txBody>
                  <a:tcPr marL="133350" marR="133350" marT="95250" marB="95250" anchor="t">
                    <a:solidFill>
                      <a:srgbClr val="F6F3EA"/>
                    </a:solidFill>
                  </a:tcPr>
                </a:tc>
                <a:tc>
                  <a:txBody>
                    <a:bodyPr wrap="square">
                      <a:noAutofit/>
                    </a:bodyPr>
                    <a:lstStyle/>
                    <a:p>
                      <a:r>
                        <a:rPr sz="1500" b="0">
                          <a:solidFill>
                            <a:srgbClr val="34233E"/>
                          </a:solidFill>
                          <a:latin typeface="Arial"/>
                          <a:ea typeface="Arial"/>
                          <a:cs typeface="Arial"/>
                        </a:rPr>
                        <a:t>Permitted history of assigned batches</a:t>
                      </a:r>
                    </a:p>
                  </a:txBody>
                  <a:tcPr marL="133350" marR="133350" marT="95250" marB="95250" anchor="t">
                    <a:solidFill>
                      <a:srgbClr val="F6F3EA"/>
                    </a:solidFill>
                  </a:tcPr>
                </a:tc>
                <a:tc>
                  <a:txBody>
                    <a:bodyPr wrap="square">
                      <a:noAutofit/>
                    </a:bodyPr>
                    <a:lstStyle/>
                    <a:p>
                      <a:r>
                        <a:rPr sz="1500" b="0">
                          <a:solidFill>
                            <a:srgbClr val="34233E"/>
                          </a:solidFill>
                          <a:latin typeface="Arial"/>
                          <a:ea typeface="Arial"/>
                          <a:cs typeface="Arial"/>
                        </a:rPr>
                        <a:t>Assigned acknowledgement and own partner details</a:t>
                      </a:r>
                    </a:p>
                  </a:txBody>
                  <a:tcPr marL="133350" marR="133350" marT="95250" marB="95250" anchor="t">
                    <a:solidFill>
                      <a:srgbClr val="F6F3EA"/>
                    </a:solidFill>
                  </a:tcPr>
                </a:tc>
              </a:tr>
              <a:tr h="695325">
                <a:tc>
                  <a:txBody>
                    <a:bodyPr wrap="square">
                      <a:noAutofit/>
                    </a:bodyPr>
                    <a:lstStyle/>
                    <a:p>
                      <a:r>
                        <a:rPr sz="1500" b="0">
                          <a:solidFill>
                            <a:srgbClr val="35583C"/>
                          </a:solidFill>
                          <a:latin typeface="Arial"/>
                          <a:ea typeface="Arial"/>
                          <a:cs typeface="Arial"/>
                        </a:rPr>
                        <a:t>Consumer</a:t>
                      </a:r>
                    </a:p>
                  </a:txBody>
                  <a:tcPr marL="133350" marR="133350" marT="95250" marB="95250" anchor="t">
                    <a:solidFill>
                      <a:srgbClr val="F6F3EA"/>
                    </a:solidFill>
                  </a:tcPr>
                </a:tc>
                <a:tc>
                  <a:txBody>
                    <a:bodyPr wrap="square">
                      <a:noAutofit/>
                    </a:bodyPr>
                    <a:lstStyle/>
                    <a:p>
                      <a:r>
                        <a:rPr sz="1500" b="0">
                          <a:solidFill>
                            <a:srgbClr val="34233E"/>
                          </a:solidFill>
                          <a:latin typeface="Arial"/>
                          <a:ea typeface="Arial"/>
                          <a:cs typeface="Arial"/>
                        </a:rPr>
                        <a:t>Published profiles and batch summaries</a:t>
                      </a:r>
                    </a:p>
                  </a:txBody>
                  <a:tcPr marL="133350" marR="133350" marT="95250" marB="95250" anchor="t">
                    <a:solidFill>
                      <a:srgbClr val="F6F3EA"/>
                    </a:solidFill>
                  </a:tcPr>
                </a:tc>
                <a:tc>
                  <a:txBody>
                    <a:bodyPr wrap="square">
                      <a:noAutofit/>
                    </a:bodyPr>
                    <a:lstStyle/>
                    <a:p>
                      <a:r>
                        <a:rPr sz="1500" b="0">
                          <a:solidFill>
                            <a:srgbClr val="34233E"/>
                          </a:solidFill>
                          <a:latin typeface="Arial"/>
                          <a:ea typeface="Arial"/>
                          <a:cs typeface="Arial"/>
                        </a:rPr>
                        <a:t>Read access without a backend account</a:t>
                      </a:r>
                    </a:p>
                  </a:txBody>
                  <a:tcPr marL="133350" marR="133350" marT="95250" marB="95250" anchor="t">
                    <a:solidFill>
                      <a:srgbClr val="F6F3EA"/>
                    </a:solidFill>
                  </a:tcPr>
                </a:tc>
              </a:tr>
            </a:tbl>
          </a:graphicData>
        </a:graphic>
      </p:graphicFrame>
      <p:sp>
        <p:nvSpPr>
          <p:cNvPr id="6" name="text-18">
            <a:extLst xmlns:a="http://schemas.openxmlformats.org/drawingml/2006/main">
              <a:ext uri="{FF2B5EF4-FFF2-40B4-BE49-F238E27FC236}">
                <a16:creationId xmlns:a16="http://schemas.microsoft.com/office/drawing/2014/main" id="{13367DC5-03CF-4F62-9F8E-749A39C3267C}"/>
              </a:ext>
            </a:extLst>
          </p:cNvPr>
          <p:cNvSpPr>
            <a:spLocks xmlns:a="http://schemas.openxmlformats.org/drawingml/2006/main" noGrp="1"/>
          </p:cNvSpPr>
          <p:nvPr/>
        </p:nvSpPr>
        <p:spPr>
          <a:xfrm xmlns:a="http://schemas.openxmlformats.org/drawingml/2006/main">
            <a:off x="609600" y="6238875"/>
            <a:ext cx="1076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35583C"/>
                </a:solidFill>
                <a:latin typeface="Arial"/>
                <a:ea typeface="Arial"/>
                <a:cs typeface="Arial"/>
              </a:defRPr>
            </a:pPr>
            <a:r>
              <a:rPr sz="1350" b="0">
                <a:solidFill>
                  <a:srgbClr val="35583C"/>
                </a:solidFill>
                <a:latin typeface="Arial"/>
                <a:ea typeface="Arial"/>
                <a:cs typeface="Arial"/>
              </a:rPr>
              <a:t>Login, password recovery and server-side permission checks are part of the MVP.</a:t>
            </a:r>
          </a:p>
        </p:txBody>
      </p:sp>
    </p:spTree>
    <p:extLst>
      <p:ext uri="{BB962C8B-B14F-4D97-AF65-F5344CB8AC3E}">
        <p14:creationId xmlns:p14="http://schemas.microsoft.com/office/powerpoint/2010/main" val="1374424918"/>
      </p:ext>
    </p:extLst>
  </p:cSld>
</p:sld>
</file>

<file path=ppt/slides/slide5.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298BEBF6-88D1-45AF-93DE-55601A697BA3}"/>
              </a:ext>
            </a:extLst>
          </p:cNvPr>
          <p:cNvSpPr>
            <a:spLocks xmlns:a="http://schemas.openxmlformats.org/drawingml/2006/main" noGrp="1"/>
          </p:cNvSpPr>
          <p:nvPr/>
        </p:nvSpPr>
        <p:spPr>
          <a:xfrm xmlns:a="http://schemas.openxmlformats.org/drawingml/2006/main">
            <a:off x="609600" y="4953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542A69"/>
                </a:solidFill>
                <a:latin typeface="Georgia"/>
                <a:ea typeface="Georgia"/>
                <a:cs typeface="Georgia"/>
              </a:defRPr>
            </a:pPr>
            <a:r>
              <a:rPr sz="3300" b="0">
                <a:solidFill>
                  <a:srgbClr val="542A69"/>
                </a:solidFill>
                <a:latin typeface="Georgia"/>
                <a:ea typeface="Georgia"/>
                <a:cs typeface="Georgia"/>
              </a:rPr>
              <a:t>A public QR summary for each batch</a:t>
            </a:r>
          </a:p>
        </p:txBody>
      </p:sp>
      <p:sp>
        <p:nvSpPr>
          <p:cNvPr id="2" name="slide-subtitle">
            <a:extLst xmlns:a="http://schemas.openxmlformats.org/drawingml/2006/main">
              <a:ext uri="{FF2B5EF4-FFF2-40B4-BE49-F238E27FC236}">
                <a16:creationId xmlns:a16="http://schemas.microsoft.com/office/drawing/2014/main" id="{07FDF0B7-D02A-4BFD-9265-DDC1459CB113}"/>
              </a:ext>
            </a:extLst>
          </p:cNvPr>
          <p:cNvSpPr>
            <a:spLocks xmlns:a="http://schemas.openxmlformats.org/drawingml/2006/main" noGrp="1"/>
          </p:cNvSpPr>
          <p:nvPr/>
        </p:nvSpPr>
        <p:spPr>
          <a:xfrm xmlns:a="http://schemas.openxmlformats.org/drawingml/2006/main">
            <a:off x="609600" y="1428750"/>
            <a:ext cx="10715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706B65"/>
                </a:solidFill>
                <a:latin typeface="Arial"/>
                <a:ea typeface="Arial"/>
                <a:cs typeface="Arial"/>
              </a:defRPr>
            </a:pPr>
            <a:r>
              <a:rPr sz="1725" b="0">
                <a:solidFill>
                  <a:srgbClr val="706B65"/>
                </a:solidFill>
                <a:latin typeface="Arial"/>
                <a:ea typeface="Arial"/>
                <a:cs typeface="Arial"/>
              </a:rPr>
              <a:t>Consumers see an approved summary. Internal records stay in the protected portal.</a:t>
            </a:r>
          </a:p>
        </p:txBody>
      </p:sp>
      <p:sp>
        <p:nvSpPr>
          <p:cNvPr id="3" name="footer">
            <a:extLst xmlns:a="http://schemas.openxmlformats.org/drawingml/2006/main">
              <a:ext uri="{FF2B5EF4-FFF2-40B4-BE49-F238E27FC236}">
                <a16:creationId xmlns:a16="http://schemas.microsoft.com/office/drawing/2014/main" id="{81CF61F4-D9B7-41F8-BA8A-A853C9A6C01E}"/>
              </a:ext>
            </a:extLst>
          </p:cNvPr>
          <p:cNvSpPr>
            <a:spLocks xmlns:a="http://schemas.openxmlformats.org/drawingml/2006/main" noGrp="1"/>
          </p:cNvSpPr>
          <p:nvPr/>
        </p:nvSpPr>
        <p:spPr>
          <a:xfrm xmlns:a="http://schemas.openxmlformats.org/drawingml/2006/main">
            <a:off x="609600" y="6543675"/>
            <a:ext cx="7143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00" b="0">
                <a:solidFill>
                  <a:srgbClr val="706B65"/>
                </a:solidFill>
                <a:latin typeface="Arial"/>
                <a:ea typeface="Arial"/>
                <a:cs typeface="Arial"/>
              </a:defRPr>
            </a:pPr>
            <a:r>
              <a:rPr sz="900" b="0">
                <a:solidFill>
                  <a:srgbClr val="706B65"/>
                </a:solidFill>
                <a:latin typeface="Arial"/>
                <a:ea typeface="Arial"/>
                <a:cs typeface="Arial"/>
              </a:rPr>
              <a:t>ROOTE ORIGIN SYSTEM</a:t>
            </a:r>
          </a:p>
        </p:txBody>
      </p:sp>
      <p:sp>
        <p:nvSpPr>
          <p:cNvPr id="4" name="slide-number">
            <a:extLst xmlns:a="http://schemas.openxmlformats.org/drawingml/2006/main">
              <a:ext uri="{FF2B5EF4-FFF2-40B4-BE49-F238E27FC236}">
                <a16:creationId xmlns:a16="http://schemas.microsoft.com/office/drawing/2014/main" id="{1AC38A0C-7909-444D-A7AB-B698D79C850D}"/>
              </a:ext>
            </a:extLst>
          </p:cNvPr>
          <p:cNvSpPr>
            <a:spLocks xmlns:a="http://schemas.openxmlformats.org/drawingml/2006/main" noGrp="1"/>
          </p:cNvSpPr>
          <p:nvPr/>
        </p:nvSpPr>
        <p:spPr>
          <a:xfrm xmlns:a="http://schemas.openxmlformats.org/drawingml/2006/main">
            <a:off x="11106150" y="65055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706B65"/>
                </a:solidFill>
                <a:latin typeface="Arial"/>
                <a:ea typeface="Arial"/>
                <a:cs typeface="Arial"/>
              </a:defRPr>
            </a:pPr>
            <a:r>
              <a:rPr sz="1125" b="0">
                <a:solidFill>
                  <a:srgbClr val="706B65"/>
                </a:solidFill>
                <a:latin typeface="Arial"/>
                <a:ea typeface="Arial"/>
                <a:cs typeface="Arial"/>
              </a:rPr>
              <a:t>05</a:t>
            </a:r>
          </a:p>
        </p:txBody>
      </p:sp>
      <p:sp>
        <p:nvSpPr>
          <p:cNvPr id="5" name="text-19">
            <a:extLst xmlns:a="http://schemas.openxmlformats.org/drawingml/2006/main">
              <a:ext uri="{FF2B5EF4-FFF2-40B4-BE49-F238E27FC236}">
                <a16:creationId xmlns:a16="http://schemas.microsoft.com/office/drawing/2014/main" id="{6696EAA8-5AE5-4E9D-9E11-588FC61CB1A9}"/>
              </a:ext>
            </a:extLst>
          </p:cNvPr>
          <p:cNvSpPr>
            <a:spLocks xmlns:a="http://schemas.openxmlformats.org/drawingml/2006/main" noGrp="1"/>
          </p:cNvSpPr>
          <p:nvPr/>
        </p:nvSpPr>
        <p:spPr>
          <a:xfrm xmlns:a="http://schemas.openxmlformats.org/drawingml/2006/main">
            <a:off x="609600" y="2514600"/>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542A69"/>
                </a:solidFill>
                <a:latin typeface="Georgia"/>
                <a:ea typeface="Georgia"/>
                <a:cs typeface="Georgia"/>
              </a:defRPr>
            </a:pPr>
            <a:r>
              <a:rPr sz="2325" b="0">
                <a:solidFill>
                  <a:srgbClr val="542A69"/>
                </a:solidFill>
                <a:latin typeface="Georgia"/>
                <a:ea typeface="Georgia"/>
                <a:cs typeface="Georgia"/>
              </a:rPr>
              <a:t>The consumer view</a:t>
            </a:r>
          </a:p>
        </p:txBody>
      </p:sp>
      <p:sp>
        <p:nvSpPr>
          <p:cNvPr id="6" name="text-20">
            <a:extLst xmlns:a="http://schemas.openxmlformats.org/drawingml/2006/main">
              <a:ext uri="{FF2B5EF4-FFF2-40B4-BE49-F238E27FC236}">
                <a16:creationId xmlns:a16="http://schemas.microsoft.com/office/drawing/2014/main" id="{D7E0C2B2-76A5-4CA2-A4AA-A0C4F20340BA}"/>
              </a:ext>
            </a:extLst>
          </p:cNvPr>
          <p:cNvSpPr>
            <a:spLocks xmlns:a="http://schemas.openxmlformats.org/drawingml/2006/main" noGrp="1"/>
          </p:cNvSpPr>
          <p:nvPr/>
        </p:nvSpPr>
        <p:spPr>
          <a:xfrm xmlns:a="http://schemas.openxmlformats.org/drawingml/2006/main">
            <a:off x="609600" y="3209925"/>
            <a:ext cx="51054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34233E"/>
                </a:solidFill>
                <a:latin typeface="Arial"/>
                <a:ea typeface="Arial"/>
                <a:cs typeface="Arial"/>
              </a:defRPr>
            </a:pPr>
            <a:r>
              <a:rPr sz="1800" b="0">
                <a:solidFill>
                  <a:srgbClr val="34233E"/>
                </a:solidFill>
                <a:latin typeface="Arial"/>
                <a:ea typeface="Arial"/>
                <a:cs typeface="Arial"/>
              </a:rPr>
              <a:t>Batch ID and produce</a:t>
            </a:r>
          </a:p>
          <a:p xmlns:a="http://schemas.openxmlformats.org/drawingml/2006/main">
            <a:pPr algn="l">
              <a:defRPr sz="1800" b="0">
                <a:solidFill>
                  <a:srgbClr val="34233E"/>
                </a:solidFill>
                <a:latin typeface="Arial"/>
                <a:ea typeface="Arial"/>
                <a:cs typeface="Arial"/>
              </a:defRPr>
            </a:pPr>
            <a:r>
              <a:rPr sz="1800" b="0">
                <a:solidFill>
                  <a:srgbClr val="34233E"/>
                </a:solidFill>
                <a:latin typeface="Arial"/>
                <a:ea typeface="Arial"/>
                <a:cs typeface="Arial"/>
              </a:rPr>
              <a:t>Farm and approved location</a:t>
            </a:r>
          </a:p>
          <a:p xmlns:a="http://schemas.openxmlformats.org/drawingml/2006/main">
            <a:pPr algn="l">
              <a:defRPr sz="1800" b="0">
                <a:solidFill>
                  <a:srgbClr val="34233E"/>
                </a:solidFill>
                <a:latin typeface="Arial"/>
                <a:ea typeface="Arial"/>
                <a:cs typeface="Arial"/>
              </a:defRPr>
            </a:pPr>
            <a:r>
              <a:rPr sz="1800" b="0">
                <a:solidFill>
                  <a:srgbClr val="34233E"/>
                </a:solidFill>
                <a:latin typeface="Arial"/>
                <a:ea typeface="Arial"/>
                <a:cs typeface="Arial"/>
              </a:rPr>
              <a:t>Growing summary and harvest date</a:t>
            </a:r>
          </a:p>
          <a:p xmlns:a="http://schemas.openxmlformats.org/drawingml/2006/main">
            <a:pPr algn="l">
              <a:defRPr sz="1800" b="0">
                <a:solidFill>
                  <a:srgbClr val="34233E"/>
                </a:solidFill>
                <a:latin typeface="Arial"/>
                <a:ea typeface="Arial"/>
                <a:cs typeface="Arial"/>
              </a:defRPr>
            </a:pPr>
            <a:r>
              <a:rPr sz="1800" b="0">
                <a:solidFill>
                  <a:srgbClr val="34233E"/>
                </a:solidFill>
                <a:latin typeface="Arial"/>
                <a:ea typeface="Arial"/>
                <a:cs typeface="Arial"/>
              </a:rPr>
              <a:t>Approved processor and recipient names</a:t>
            </a:r>
          </a:p>
        </p:txBody>
      </p:sp>
      <p:sp>
        <p:nvSpPr>
          <p:cNvPr id="7" name="text-21">
            <a:extLst xmlns:a="http://schemas.openxmlformats.org/drawingml/2006/main">
              <a:ext uri="{FF2B5EF4-FFF2-40B4-BE49-F238E27FC236}">
                <a16:creationId xmlns:a16="http://schemas.microsoft.com/office/drawing/2014/main" id="{0B6530A4-3423-46BD-9F6B-BA0762B7DF61}"/>
              </a:ext>
            </a:extLst>
          </p:cNvPr>
          <p:cNvSpPr>
            <a:spLocks xmlns:a="http://schemas.openxmlformats.org/drawingml/2006/main" noGrp="1"/>
          </p:cNvSpPr>
          <p:nvPr/>
        </p:nvSpPr>
        <p:spPr>
          <a:xfrm xmlns:a="http://schemas.openxmlformats.org/drawingml/2006/main">
            <a:off x="6534150" y="2514600"/>
            <a:ext cx="5048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542A69"/>
                </a:solidFill>
                <a:latin typeface="Georgia"/>
                <a:ea typeface="Georgia"/>
                <a:cs typeface="Georgia"/>
              </a:defRPr>
            </a:pPr>
            <a:r>
              <a:rPr sz="2325" b="0">
                <a:solidFill>
                  <a:srgbClr val="542A69"/>
                </a:solidFill>
                <a:latin typeface="Georgia"/>
                <a:ea typeface="Georgia"/>
                <a:cs typeface="Georgia"/>
              </a:rPr>
              <a:t>Publication controls</a:t>
            </a:r>
          </a:p>
        </p:txBody>
      </p:sp>
      <p:sp>
        <p:nvSpPr>
          <p:cNvPr id="8" name="text-22">
            <a:extLst xmlns:a="http://schemas.openxmlformats.org/drawingml/2006/main">
              <a:ext uri="{FF2B5EF4-FFF2-40B4-BE49-F238E27FC236}">
                <a16:creationId xmlns:a16="http://schemas.microsoft.com/office/drawing/2014/main" id="{B1525195-646B-48A6-B9D2-29EF52798A9C}"/>
              </a:ext>
            </a:extLst>
          </p:cNvPr>
          <p:cNvSpPr>
            <a:spLocks xmlns:a="http://schemas.openxmlformats.org/drawingml/2006/main" noGrp="1"/>
          </p:cNvSpPr>
          <p:nvPr/>
        </p:nvSpPr>
        <p:spPr>
          <a:xfrm xmlns:a="http://schemas.openxmlformats.org/drawingml/2006/main">
            <a:off x="6534150" y="3209925"/>
            <a:ext cx="5048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34233E"/>
                </a:solidFill>
                <a:latin typeface="Arial"/>
                <a:ea typeface="Arial"/>
                <a:cs typeface="Arial"/>
              </a:defRPr>
            </a:pPr>
            <a:r>
              <a:rPr sz="1800" b="0">
                <a:solidFill>
                  <a:srgbClr val="34233E"/>
                </a:solidFill>
                <a:latin typeface="Arial"/>
                <a:ea typeface="Arial"/>
                <a:cs typeface="Arial"/>
              </a:rPr>
              <a:t>Administrator preview and approval</a:t>
            </a:r>
          </a:p>
          <a:p xmlns:a="http://schemas.openxmlformats.org/drawingml/2006/main">
            <a:pPr algn="l">
              <a:defRPr sz="1800" b="0">
                <a:solidFill>
                  <a:srgbClr val="34233E"/>
                </a:solidFill>
                <a:latin typeface="Arial"/>
                <a:ea typeface="Arial"/>
                <a:cs typeface="Arial"/>
              </a:defRPr>
            </a:pPr>
            <a:r>
              <a:rPr sz="1800" b="0">
                <a:solidFill>
                  <a:srgbClr val="34233E"/>
                </a:solidFill>
                <a:latin typeface="Arial"/>
                <a:ea typeface="Arial"/>
                <a:cs typeface="Arial"/>
              </a:rPr>
              <a:t>Publish or unpublish a summary</a:t>
            </a:r>
          </a:p>
          <a:p xmlns:a="http://schemas.openxmlformats.org/drawingml/2006/main">
            <a:pPr algn="l">
              <a:defRPr sz="1800" b="0">
                <a:solidFill>
                  <a:srgbClr val="34233E"/>
                </a:solidFill>
                <a:latin typeface="Arial"/>
                <a:ea typeface="Arial"/>
                <a:cs typeface="Arial"/>
              </a:defRPr>
            </a:pPr>
            <a:r>
              <a:rPr sz="1800" b="0">
                <a:solidFill>
                  <a:srgbClr val="34233E"/>
                </a:solidFill>
                <a:latin typeface="Arial"/>
                <a:ea typeface="Arial"/>
                <a:cs typeface="Arial"/>
              </a:rPr>
              <a:t>Stable URL for each batch</a:t>
            </a:r>
          </a:p>
          <a:p xmlns:a="http://schemas.openxmlformats.org/drawingml/2006/main">
            <a:pPr algn="l">
              <a:defRPr sz="1800" b="0">
                <a:solidFill>
                  <a:srgbClr val="34233E"/>
                </a:solidFill>
                <a:latin typeface="Arial"/>
                <a:ea typeface="Arial"/>
                <a:cs typeface="Arial"/>
              </a:defRPr>
            </a:pPr>
            <a:r>
              <a:rPr sz="1800" b="0">
                <a:solidFill>
                  <a:srgbClr val="34233E"/>
                </a:solidFill>
                <a:latin typeface="Arial"/>
                <a:ea typeface="Arial"/>
                <a:cs typeface="Arial"/>
              </a:rPr>
              <a:t>Downloadable PNG and SVG QR artwork</a:t>
            </a:r>
          </a:p>
        </p:txBody>
      </p:sp>
      <p:sp>
        <p:nvSpPr>
          <p:cNvPr id="9" name="divider-23">
            <a:extLst xmlns:a="http://schemas.openxmlformats.org/drawingml/2006/main">
              <a:ext uri="{FF2B5EF4-FFF2-40B4-BE49-F238E27FC236}">
                <a16:creationId xmlns:a16="http://schemas.microsoft.com/office/drawing/2014/main" id="{6C62BA32-8623-4C75-BC2D-357F68A9756F}"/>
              </a:ext>
            </a:extLst>
          </p:cNvPr>
          <p:cNvSpPr>
            <a:spLocks xmlns:a="http://schemas.openxmlformats.org/drawingml/2006/main" noGrp="1"/>
          </p:cNvSpPr>
          <p:nvPr/>
        </p:nvSpPr>
        <p:spPr>
          <a:xfrm xmlns:a="http://schemas.openxmlformats.org/drawingml/2006/main">
            <a:off x="609600" y="5334000"/>
            <a:ext cx="10972800" cy="0"/>
          </a:xfrm>
          <a:prstGeom xmlns:a="http://schemas.openxmlformats.org/drawingml/2006/main" prst="line">
            <a:avLst/>
          </a:prstGeom>
          <a:noFill xmlns:a="http://schemas.openxmlformats.org/drawingml/2006/main"/>
          <a:ln xmlns:a="http://schemas.openxmlformats.org/drawingml/2006/main" w="9525">
            <a:solidFill>
              <a:srgbClr val="D8D0BE"/>
            </a:solidFill>
            <a:prstDash val="solid"/>
          </a:ln>
        </p:spPr>
      </p:sp>
      <p:sp>
        <p:nvSpPr>
          <p:cNvPr id="10" name="text-24">
            <a:extLst xmlns:a="http://schemas.openxmlformats.org/drawingml/2006/main">
              <a:ext uri="{FF2B5EF4-FFF2-40B4-BE49-F238E27FC236}">
                <a16:creationId xmlns:a16="http://schemas.microsoft.com/office/drawing/2014/main" id="{1AA9A40C-603F-409C-B40B-E35FD4E27445}"/>
              </a:ext>
            </a:extLst>
          </p:cNvPr>
          <p:cNvSpPr>
            <a:spLocks xmlns:a="http://schemas.openxmlformats.org/drawingml/2006/main" noGrp="1"/>
          </p:cNvSpPr>
          <p:nvPr/>
        </p:nvSpPr>
        <p:spPr>
          <a:xfrm xmlns:a="http://schemas.openxmlformats.org/drawingml/2006/main">
            <a:off x="609600" y="561975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35583C"/>
                </a:solidFill>
                <a:latin typeface="Arial"/>
                <a:ea typeface="Arial"/>
                <a:cs typeface="Arial"/>
              </a:defRPr>
            </a:pPr>
            <a:r>
              <a:rPr sz="1725" b="1">
                <a:solidFill>
                  <a:srgbClr val="35583C"/>
                </a:solidFill>
                <a:latin typeface="Arial"/>
                <a:ea typeface="Arial"/>
                <a:cs typeface="Arial"/>
              </a:rPr>
              <a:t>Farm ID or QR opens a farm profile. Batch ID or QR opens that batch summary.</a:t>
            </a:r>
          </a:p>
        </p:txBody>
      </p:sp>
    </p:spTree>
    <p:extLst>
      <p:ext uri="{BB962C8B-B14F-4D97-AF65-F5344CB8AC3E}">
        <p14:creationId xmlns:p14="http://schemas.microsoft.com/office/powerpoint/2010/main" val="2016208471"/>
      </p:ext>
    </p:extLst>
  </p:cSld>
</p:sld>
</file>

<file path=ppt/slides/slide6.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1FE320C6-8641-42E8-A373-E65810310089}"/>
              </a:ext>
            </a:extLst>
          </p:cNvPr>
          <p:cNvSpPr>
            <a:spLocks xmlns:a="http://schemas.openxmlformats.org/drawingml/2006/main" noGrp="1"/>
          </p:cNvSpPr>
          <p:nvPr/>
        </p:nvSpPr>
        <p:spPr>
          <a:xfrm xmlns:a="http://schemas.openxmlformats.org/drawingml/2006/main">
            <a:off x="609600" y="4953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542A69"/>
                </a:solidFill>
                <a:latin typeface="Georgia"/>
                <a:ea typeface="Georgia"/>
                <a:cs typeface="Georgia"/>
              </a:defRPr>
            </a:pPr>
            <a:r>
              <a:rPr sz="3300" b="0">
                <a:solidFill>
                  <a:srgbClr val="542A69"/>
                </a:solidFill>
                <a:latin typeface="Georgia"/>
                <a:ea typeface="Georgia"/>
                <a:cs typeface="Georgia"/>
              </a:rPr>
              <a:t>From Root to Story</a:t>
            </a:r>
          </a:p>
        </p:txBody>
      </p:sp>
      <p:sp>
        <p:nvSpPr>
          <p:cNvPr id="2" name="slide-subtitle">
            <a:extLst xmlns:a="http://schemas.openxmlformats.org/drawingml/2006/main">
              <a:ext uri="{FF2B5EF4-FFF2-40B4-BE49-F238E27FC236}">
                <a16:creationId xmlns:a16="http://schemas.microsoft.com/office/drawing/2014/main" id="{F204144F-2AC8-443C-A9B4-FE220978807D}"/>
              </a:ext>
            </a:extLst>
          </p:cNvPr>
          <p:cNvSpPr>
            <a:spLocks xmlns:a="http://schemas.openxmlformats.org/drawingml/2006/main" noGrp="1"/>
          </p:cNvSpPr>
          <p:nvPr/>
        </p:nvSpPr>
        <p:spPr>
          <a:xfrm xmlns:a="http://schemas.openxmlformats.org/drawingml/2006/main">
            <a:off x="609600" y="1428750"/>
            <a:ext cx="10715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706B65"/>
                </a:solidFill>
                <a:latin typeface="Arial"/>
                <a:ea typeface="Arial"/>
                <a:cs typeface="Arial"/>
              </a:defRPr>
            </a:pPr>
            <a:r>
              <a:rPr sz="1725" b="0">
                <a:solidFill>
                  <a:srgbClr val="706B65"/>
                </a:solidFill>
                <a:latin typeface="Arial"/>
                <a:ea typeface="Arial"/>
                <a:cs typeface="Arial"/>
              </a:rPr>
              <a:t>The vine becomes the way into farm and batch discovery.</a:t>
            </a:r>
          </a:p>
        </p:txBody>
      </p:sp>
      <p:sp>
        <p:nvSpPr>
          <p:cNvPr id="3" name="footer">
            <a:extLst xmlns:a="http://schemas.openxmlformats.org/drawingml/2006/main">
              <a:ext uri="{FF2B5EF4-FFF2-40B4-BE49-F238E27FC236}">
                <a16:creationId xmlns:a16="http://schemas.microsoft.com/office/drawing/2014/main" id="{7EA16B53-8D12-4AAA-A640-C3AAFA0844D7}"/>
              </a:ext>
            </a:extLst>
          </p:cNvPr>
          <p:cNvSpPr>
            <a:spLocks xmlns:a="http://schemas.openxmlformats.org/drawingml/2006/main" noGrp="1"/>
          </p:cNvSpPr>
          <p:nvPr/>
        </p:nvSpPr>
        <p:spPr>
          <a:xfrm xmlns:a="http://schemas.openxmlformats.org/drawingml/2006/main">
            <a:off x="609600" y="6543675"/>
            <a:ext cx="7143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00" b="0">
                <a:solidFill>
                  <a:srgbClr val="706B65"/>
                </a:solidFill>
                <a:latin typeface="Arial"/>
                <a:ea typeface="Arial"/>
                <a:cs typeface="Arial"/>
              </a:defRPr>
            </a:pPr>
            <a:r>
              <a:rPr sz="900" b="0">
                <a:solidFill>
                  <a:srgbClr val="706B65"/>
                </a:solidFill>
                <a:latin typeface="Arial"/>
                <a:ea typeface="Arial"/>
                <a:cs typeface="Arial"/>
              </a:rPr>
              <a:t>ROOTE ORIGIN SYSTEM</a:t>
            </a:r>
          </a:p>
        </p:txBody>
      </p:sp>
      <p:sp>
        <p:nvSpPr>
          <p:cNvPr id="4" name="slide-number">
            <a:extLst xmlns:a="http://schemas.openxmlformats.org/drawingml/2006/main">
              <a:ext uri="{FF2B5EF4-FFF2-40B4-BE49-F238E27FC236}">
                <a16:creationId xmlns:a16="http://schemas.microsoft.com/office/drawing/2014/main" id="{9E5BDE4F-ED63-49A4-B6FD-98067880BB92}"/>
              </a:ext>
            </a:extLst>
          </p:cNvPr>
          <p:cNvSpPr>
            <a:spLocks xmlns:a="http://schemas.openxmlformats.org/drawingml/2006/main" noGrp="1"/>
          </p:cNvSpPr>
          <p:nvPr/>
        </p:nvSpPr>
        <p:spPr>
          <a:xfrm xmlns:a="http://schemas.openxmlformats.org/drawingml/2006/main">
            <a:off x="11106150" y="65055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706B65"/>
                </a:solidFill>
                <a:latin typeface="Arial"/>
                <a:ea typeface="Arial"/>
                <a:cs typeface="Arial"/>
              </a:defRPr>
            </a:pPr>
            <a:r>
              <a:rPr sz="1125" b="0">
                <a:solidFill>
                  <a:srgbClr val="706B65"/>
                </a:solidFill>
                <a:latin typeface="Arial"/>
                <a:ea typeface="Arial"/>
                <a:cs typeface="Arial"/>
              </a:rPr>
              <a:t>06</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2262ed21a3994e05"/>
          <a:stretch xmlns:a="http://schemas.openxmlformats.org/drawingml/2006/main"/>
        </p:blipFill>
        <p:spPr>
          <a:xfrm xmlns:a="http://schemas.openxmlformats.org/drawingml/2006/main">
            <a:off x="777240" y="2238375"/>
            <a:ext cx="6217920" cy="3886200"/>
          </a:xfrm>
          <a:prstGeom xmlns:a="http://schemas.openxmlformats.org/drawingml/2006/main" prst="rect">
            <a:avLst/>
          </a:prstGeom>
        </p:spPr>
      </p:pic>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de4eae062b884156"/>
          <a:stretch xmlns:a="http://schemas.openxmlformats.org/drawingml/2006/main"/>
        </p:blipFill>
        <p:spPr>
          <a:xfrm xmlns:a="http://schemas.openxmlformats.org/drawingml/2006/main">
            <a:off x="7372350" y="2295378"/>
            <a:ext cx="1743075" cy="3772193"/>
          </a:xfrm>
          <a:prstGeom xmlns:a="http://schemas.openxmlformats.org/drawingml/2006/main" prst="rect">
            <a:avLst/>
          </a:prstGeom>
        </p:spPr>
      </p:pic>
      <p:sp>
        <p:nvSpPr>
          <p:cNvPr id="7" name="text-25">
            <a:extLst xmlns:a="http://schemas.openxmlformats.org/drawingml/2006/main">
              <a:ext uri="{FF2B5EF4-FFF2-40B4-BE49-F238E27FC236}">
                <a16:creationId xmlns:a16="http://schemas.microsoft.com/office/drawing/2014/main" id="{1E7E5842-C4D4-40AF-8109-9F56B210F115}"/>
              </a:ext>
            </a:extLst>
          </p:cNvPr>
          <p:cNvSpPr>
            <a:spLocks xmlns:a="http://schemas.openxmlformats.org/drawingml/2006/main" noGrp="1"/>
          </p:cNvSpPr>
          <p:nvPr/>
        </p:nvSpPr>
        <p:spPr>
          <a:xfrm xmlns:a="http://schemas.openxmlformats.org/drawingml/2006/main">
            <a:off x="9410700" y="2400300"/>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35583C"/>
                </a:solidFill>
                <a:latin typeface="Arial"/>
                <a:ea typeface="Arial"/>
                <a:cs typeface="Arial"/>
              </a:defRPr>
            </a:pPr>
            <a:r>
              <a:rPr sz="1800" b="1">
                <a:solidFill>
                  <a:srgbClr val="35583C"/>
                </a:solidFill>
                <a:latin typeface="Arial"/>
                <a:ea typeface="Arial"/>
                <a:cs typeface="Arial"/>
              </a:rPr>
              <a:t>MVP discovery</a:t>
            </a:r>
          </a:p>
        </p:txBody>
      </p:sp>
      <p:sp>
        <p:nvSpPr>
          <p:cNvPr id="8" name="text-26">
            <a:extLst xmlns:a="http://schemas.openxmlformats.org/drawingml/2006/main">
              <a:ext uri="{FF2B5EF4-FFF2-40B4-BE49-F238E27FC236}">
                <a16:creationId xmlns:a16="http://schemas.microsoft.com/office/drawing/2014/main" id="{9DB57168-60DB-4F19-81E2-7EA879063355}"/>
              </a:ext>
            </a:extLst>
          </p:cNvPr>
          <p:cNvSpPr>
            <a:spLocks xmlns:a="http://schemas.openxmlformats.org/drawingml/2006/main" noGrp="1"/>
          </p:cNvSpPr>
          <p:nvPr/>
        </p:nvSpPr>
        <p:spPr>
          <a:xfrm xmlns:a="http://schemas.openxmlformats.org/drawingml/2006/main">
            <a:off x="9410700" y="2952750"/>
            <a:ext cx="2171700" cy="261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34233E"/>
                </a:solidFill>
                <a:latin typeface="Arial"/>
                <a:ea typeface="Arial"/>
                <a:cs typeface="Arial"/>
              </a:defRPr>
            </a:pPr>
            <a:r>
              <a:rPr sz="1575" b="0">
                <a:solidFill>
                  <a:srgbClr val="34233E"/>
                </a:solidFill>
                <a:latin typeface="Arial"/>
                <a:ea typeface="Arial"/>
                <a:cs typeface="Arial"/>
              </a:rPr>
              <a:t>Tip-leaf ID or QR lookup opens the correct profile or batch summary. Partner leaves lead into the public farm inventory.</a:t>
            </a:r>
          </a:p>
        </p:txBody>
      </p:sp>
      <p:sp>
        <p:nvSpPr>
          <p:cNvPr id="9" name="text-27">
            <a:extLst xmlns:a="http://schemas.openxmlformats.org/drawingml/2006/main">
              <a:ext uri="{FF2B5EF4-FFF2-40B4-BE49-F238E27FC236}">
                <a16:creationId xmlns:a16="http://schemas.microsoft.com/office/drawing/2014/main" id="{70867FA5-0B5D-4228-900C-55DD8BBA1B5E}"/>
              </a:ext>
            </a:extLst>
          </p:cNvPr>
          <p:cNvSpPr>
            <a:spLocks xmlns:a="http://schemas.openxmlformats.org/drawingml/2006/main" noGrp="1"/>
          </p:cNvSpPr>
          <p:nvPr/>
        </p:nvSpPr>
        <p:spPr>
          <a:xfrm xmlns:a="http://schemas.openxmlformats.org/drawingml/2006/main">
            <a:off x="609600" y="6229350"/>
            <a:ext cx="10715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706B65"/>
                </a:solidFill>
                <a:latin typeface="Arial"/>
                <a:ea typeface="Arial"/>
                <a:cs typeface="Arial"/>
              </a:defRPr>
            </a:pPr>
            <a:r>
              <a:rPr sz="1275" b="0">
                <a:solidFill>
                  <a:srgbClr val="706B65"/>
                </a:solidFill>
                <a:latin typeface="Arial"/>
                <a:ea typeface="Arial"/>
                <a:cs typeface="Arial"/>
              </a:rPr>
              <a:t>Existing scroll prototype. Backend and batch features are planned.</a:t>
            </a:r>
          </a:p>
        </p:txBody>
      </p:sp>
    </p:spTree>
    <p:extLst>
      <p:ext uri="{BB962C8B-B14F-4D97-AF65-F5344CB8AC3E}">
        <p14:creationId xmlns:p14="http://schemas.microsoft.com/office/powerpoint/2010/main" val="2126484910"/>
      </p:ext>
    </p:extLst>
  </p:cSld>
</p:sld>
</file>

<file path=ppt/slides/slide7.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bg>
      <p:bgPr>
        <a:solidFill>
          <a:srgbClr val="F6F3EA"/>
        </a:solidFill>
      </p:bgPr>
    </p:bg>
    <p:spTree>
      <p:nvGrpSpPr>
        <p:cNvPr id="1" name=""/>
        <p:cNvGrpSpPr/>
        <p:nvPr/>
      </p:nvGrpSpPr>
      <p:grpSpPr>
        <a:xfrm/>
      </p:grpSpPr>
      <p:sp>
        <p:nvSpPr>
          <p:cNvPr id="18" name="slide-title">
            <a:extLst>
              <a:ext uri="{FF2B5EF4-FFF2-40B4-BE49-F238E27FC236}">
                <ns2:creationId id="{EA3C8E77-9D71-4D77-8480-DE4E1EF3567E}"/>
              </a:ext>
            </a:extLst>
          </p:cNvPr>
          <p:cNvSpPr>
            <a:spLocks noGrp="1"/>
          </p:cNvSpPr>
          <p:nvPr/>
        </p:nvSpPr>
        <p:spPr>
          <a:xfrm>
            <a:off x="609600" y="495300"/>
            <a:ext cx="10972800" cy="781050"/>
          </a:xfrm>
          <a:prstGeom prst="rect">
            <a:avLst/>
          </a:prstGeom>
          <a:noFill/>
          <a:ln w="0">
            <a:noFill/>
          </a:ln>
        </p:spPr>
        <p:txBody>
          <a:bodyPr wrap="square" lIns="0" tIns="0" rIns="0" bIns="0" anchor="t">
            <a:noAutofit/>
          </a:bodyPr>
          <a:lstStyle/>
          <a:p>
            <a:pPr algn="l">
              <a:defRPr sz="3300" b="0">
                <a:solidFill>
                  <a:srgbClr val="542A69"/>
                </a:solidFill>
                <a:latin typeface="Georgia"/>
                <a:ea typeface="Georgia"/>
                <a:cs typeface="Georgia"/>
              </a:defRPr>
            </a:pPr>
            <a:r>
              <a:rPr sz="3300" b="0">
                <a:solidFill>
                  <a:srgbClr val="542A69"/>
                </a:solidFill>
                <a:latin typeface="Georgia"/>
                <a:ea typeface="Georgia"/>
                <a:cs typeface="Georgia"/>
              </a:rPr>
              <a:t>The connected plant journey</a:t>
            </a:r>
          </a:p>
        </p:txBody>
      </p:sp>
      <p:sp>
        <p:nvSpPr>
          <p:cNvPr id="2" name="slide-subtitle">
            <a:extLst>
              <a:ext uri="{FF2B5EF4-FFF2-40B4-BE49-F238E27FC236}">
                <ns2:creationId id="{B108B157-B06F-4F8E-B896-0A539BAF9F81}"/>
              </a:ext>
            </a:extLst>
          </p:cNvPr>
          <p:cNvSpPr>
            <a:spLocks noGrp="1"/>
          </p:cNvSpPr>
          <p:nvPr/>
        </p:nvSpPr>
        <p:spPr>
          <a:xfrm>
            <a:off x="609600" y="1428750"/>
            <a:ext cx="10715625" cy="762000"/>
          </a:xfrm>
          <a:prstGeom prst="rect">
            <a:avLst/>
          </a:prstGeom>
          <a:noFill/>
          <a:ln w="0">
            <a:noFill/>
          </a:ln>
        </p:spPr>
        <p:txBody>
          <a:bodyPr wrap="square" lIns="0" tIns="0" rIns="0" bIns="0" anchor="t">
            <a:noAutofit/>
          </a:bodyPr>
          <a:lstStyle/>
          <a:p>
            <a:pPr algn="l">
              <a:defRPr sz="1725" b="0">
                <a:solidFill>
                  <a:srgbClr val="706B65"/>
                </a:solidFill>
                <a:latin typeface="Arial"/>
                <a:ea typeface="Arial"/>
                <a:cs typeface="Arial"/>
              </a:defRPr>
            </a:pPr>
            <a:r>
              <a:rPr sz="1725" b="0">
                <a:solidFill>
                  <a:srgbClr val="706B65"/>
                </a:solidFill>
                <a:latin typeface="Arial"/>
                <a:ea typeface="Arial"/>
                <a:cs typeface="Arial"/>
              </a:rPr>
              <a:t>The existing prototype shows the proposed visual foundation in motion.</a:t>
            </a:r>
          </a:p>
        </p:txBody>
      </p:sp>
      <p:sp>
        <p:nvSpPr>
          <p:cNvPr id="3" name="footer">
            <a:extLst>
              <a:ext uri="{FF2B5EF4-FFF2-40B4-BE49-F238E27FC236}">
                <ns2:creationId id="{D7722AAB-328E-498A-9DB6-0C463184392E}"/>
              </a:ext>
            </a:extLst>
          </p:cNvPr>
          <p:cNvSpPr>
            <a:spLocks noGrp="1"/>
          </p:cNvSpPr>
          <p:nvPr/>
        </p:nvSpPr>
        <p:spPr>
          <a:xfrm>
            <a:off x="609600" y="6543675"/>
            <a:ext cx="7143750" cy="161925"/>
          </a:xfrm>
          <a:prstGeom prst="rect">
            <a:avLst/>
          </a:prstGeom>
          <a:noFill/>
          <a:ln w="0">
            <a:noFill/>
          </a:ln>
        </p:spPr>
        <p:txBody>
          <a:bodyPr wrap="square" lIns="0" tIns="0" rIns="0" bIns="0" anchor="t">
            <a:noAutofit/>
          </a:bodyPr>
          <a:lstStyle/>
          <a:p>
            <a:pPr algn="l">
              <a:defRPr sz="900" b="0">
                <a:solidFill>
                  <a:srgbClr val="706B65"/>
                </a:solidFill>
                <a:latin typeface="Arial"/>
                <a:ea typeface="Arial"/>
                <a:cs typeface="Arial"/>
              </a:defRPr>
            </a:pPr>
            <a:r>
              <a:rPr sz="900" b="0">
                <a:solidFill>
                  <a:srgbClr val="706B65"/>
                </a:solidFill>
                <a:latin typeface="Arial"/>
                <a:ea typeface="Arial"/>
                <a:cs typeface="Arial"/>
              </a:rPr>
              <a:t>ROOTE ORIGIN SYSTEM</a:t>
            </a:r>
          </a:p>
        </p:txBody>
      </p:sp>
      <p:sp>
        <p:nvSpPr>
          <p:cNvPr id="4" name="slide-number">
            <a:extLst>
              <a:ext uri="{FF2B5EF4-FFF2-40B4-BE49-F238E27FC236}">
                <ns2:creationId id="{60B53B7A-FDA4-4C13-ACF4-96EBCA28D151}"/>
              </a:ext>
            </a:extLst>
          </p:cNvPr>
          <p:cNvSpPr>
            <a:spLocks noGrp="1"/>
          </p:cNvSpPr>
          <p:nvPr/>
        </p:nvSpPr>
        <p:spPr>
          <a:xfrm>
            <a:off x="11106150" y="6505575"/>
            <a:ext cx="476250" cy="209550"/>
          </a:xfrm>
          <a:prstGeom prst="rect">
            <a:avLst/>
          </a:prstGeom>
          <a:noFill/>
          <a:ln w="0">
            <a:noFill/>
          </a:ln>
        </p:spPr>
        <p:txBody>
          <a:bodyPr wrap="square" lIns="0" tIns="0" rIns="0" bIns="0" anchor="t">
            <a:noAutofit/>
          </a:bodyPr>
          <a:lstStyle/>
          <a:p>
            <a:pPr algn="r">
              <a:defRPr sz="1125" b="0">
                <a:solidFill>
                  <a:srgbClr val="706B65"/>
                </a:solidFill>
                <a:latin typeface="Arial"/>
                <a:ea typeface="Arial"/>
                <a:cs typeface="Arial"/>
              </a:defRPr>
            </a:pPr>
            <a:r>
              <a:rPr sz="1125" b="0">
                <a:solidFill>
                  <a:srgbClr val="706B65"/>
                </a:solidFill>
                <a:latin typeface="Arial"/>
                <a:ea typeface="Arial"/>
                <a:cs typeface="Arial"/>
              </a:rPr>
              <a:t>07</a:t>
            </a:r>
          </a:p>
        </p:txBody>
      </p:sp>
      <p:sp>
        <p:nvSpPr>
          <p:cNvPr id="5" name="text-28">
            <a:extLst>
              <a:ext uri="{FF2B5EF4-FFF2-40B4-BE49-F238E27FC236}">
                <ns2:creationId id="{B8DF86A0-B783-4582-B659-72944CF03323}"/>
              </a:ext>
            </a:extLst>
          </p:cNvPr>
          <p:cNvSpPr>
            <a:spLocks noGrp="1"/>
          </p:cNvSpPr>
          <p:nvPr/>
        </p:nvSpPr>
        <p:spPr>
          <a:xfrm>
            <a:off x="7620000" y="2381250"/>
            <a:ext cx="342900" cy="285750"/>
          </a:xfrm>
          <a:prstGeom prst="rect">
            <a:avLst/>
          </a:prstGeom>
          <a:noFill/>
          <a:ln w="0">
            <a:noFill/>
          </a:ln>
        </p:spPr>
        <p:txBody>
          <a:bodyPr wrap="square" lIns="0" tIns="0" rIns="0" bIns="0" anchor="t">
            <a:noAutofit/>
          </a:bodyPr>
          <a:lstStyle/>
          <a:p>
            <a:pPr algn="l">
              <a:defRPr sz="1425" b="1">
                <a:solidFill>
                  <a:srgbClr val="35583C"/>
                </a:solidFill>
                <a:latin typeface="Arial"/>
                <a:ea typeface="Arial"/>
                <a:cs typeface="Arial"/>
              </a:defRPr>
            </a:pPr>
            <a:r>
              <a:rPr sz="1425" b="1">
                <a:solidFill>
                  <a:srgbClr val="35583C"/>
                </a:solidFill>
                <a:latin typeface="Arial"/>
                <a:ea typeface="Arial"/>
                <a:cs typeface="Arial"/>
              </a:rPr>
              <a:t>01</a:t>
            </a:r>
          </a:p>
        </p:txBody>
      </p:sp>
      <p:sp>
        <p:nvSpPr>
          <p:cNvPr id="6" name="text-29">
            <a:extLst>
              <a:ext uri="{FF2B5EF4-FFF2-40B4-BE49-F238E27FC236}">
                <ns2:creationId id="{C76C6A50-C94F-4919-B0E4-92C484416AC2}"/>
              </a:ext>
            </a:extLst>
          </p:cNvPr>
          <p:cNvSpPr>
            <a:spLocks noGrp="1"/>
          </p:cNvSpPr>
          <p:nvPr/>
        </p:nvSpPr>
        <p:spPr>
          <a:xfrm>
            <a:off x="8115300" y="2381250"/>
            <a:ext cx="3467100" cy="295275"/>
          </a:xfrm>
          <a:prstGeom prst="rect">
            <a:avLst/>
          </a:prstGeom>
          <a:noFill/>
          <a:ln w="0">
            <a:noFill/>
          </a:ln>
        </p:spPr>
        <p:txBody>
          <a:bodyPr wrap="square" lIns="0" tIns="0" rIns="0" bIns="0" anchor="t">
            <a:noAutofit/>
          </a:bodyPr>
          <a:lstStyle/>
          <a:p>
            <a:pPr algn="l">
              <a:defRPr sz="1725" b="1">
                <a:solidFill>
                  <a:srgbClr val="542A69"/>
                </a:solidFill>
                <a:latin typeface="Arial"/>
                <a:ea typeface="Arial"/>
                <a:cs typeface="Arial"/>
              </a:defRPr>
            </a:pPr>
            <a:r>
              <a:rPr sz="1725" b="1">
                <a:solidFill>
                  <a:srgbClr val="542A69"/>
                </a:solidFill>
                <a:latin typeface="Arial"/>
                <a:ea typeface="Arial"/>
                <a:cs typeface="Arial"/>
              </a:rPr>
              <a:t>Root and trellis</a:t>
            </a:r>
          </a:p>
        </p:txBody>
      </p:sp>
      <p:sp>
        <p:nvSpPr>
          <p:cNvPr id="7" name="text-30">
            <a:extLst>
              <a:ext uri="{FF2B5EF4-FFF2-40B4-BE49-F238E27FC236}">
                <ns2:creationId id="{ED7AA9B3-75F7-47C9-AE73-560E8FFAAD94}"/>
              </a:ext>
            </a:extLst>
          </p:cNvPr>
          <p:cNvSpPr>
            <a:spLocks noGrp="1"/>
          </p:cNvSpPr>
          <p:nvPr/>
        </p:nvSpPr>
        <p:spPr>
          <a:xfrm>
            <a:off x="8115300" y="2762250"/>
            <a:ext cx="3467100" cy="466725"/>
          </a:xfrm>
          <a:prstGeom prst="rect">
            <a:avLst/>
          </a:prstGeom>
          <a:noFill/>
          <a:ln w="0">
            <a:noFill/>
          </a:ln>
        </p:spPr>
        <p:txBody>
          <a:bodyPr wrap="square" lIns="0" tIns="0" rIns="0" bIns="0" anchor="t">
            <a:noAutofit/>
          </a:bodyPr>
          <a:lstStyle/>
          <a:p>
            <a:pPr algn="l">
              <a:defRPr sz="1500" b="0">
                <a:solidFill>
                  <a:srgbClr val="706B65"/>
                </a:solidFill>
                <a:latin typeface="Arial"/>
                <a:ea typeface="Arial"/>
                <a:cs typeface="Arial"/>
              </a:defRPr>
            </a:pPr>
            <a:r>
              <a:rPr sz="1500" b="0">
                <a:solidFill>
                  <a:srgbClr val="706B65"/>
                </a:solidFill>
                <a:latin typeface="Arial"/>
                <a:ea typeface="Arial"/>
                <a:cs typeface="Arial"/>
              </a:rPr>
              <a:t>The root drops into the soil.</a:t>
            </a:r>
          </a:p>
        </p:txBody>
      </p:sp>
      <p:sp>
        <p:nvSpPr>
          <p:cNvPr id="8" name="text-31">
            <a:extLst>
              <a:ext uri="{FF2B5EF4-FFF2-40B4-BE49-F238E27FC236}">
                <ns2:creationId id="{55260EB1-6B28-4EFA-A798-12BA934B87D0}"/>
              </a:ext>
            </a:extLst>
          </p:cNvPr>
          <p:cNvSpPr>
            <a:spLocks noGrp="1"/>
          </p:cNvSpPr>
          <p:nvPr/>
        </p:nvSpPr>
        <p:spPr>
          <a:xfrm>
            <a:off x="7620000" y="3267075"/>
            <a:ext cx="342900" cy="285750"/>
          </a:xfrm>
          <a:prstGeom prst="rect">
            <a:avLst/>
          </a:prstGeom>
          <a:noFill/>
          <a:ln w="0">
            <a:noFill/>
          </a:ln>
        </p:spPr>
        <p:txBody>
          <a:bodyPr wrap="square" lIns="0" tIns="0" rIns="0" bIns="0" anchor="t">
            <a:noAutofit/>
          </a:bodyPr>
          <a:lstStyle/>
          <a:p>
            <a:pPr algn="l">
              <a:defRPr sz="1425" b="1">
                <a:solidFill>
                  <a:srgbClr val="35583C"/>
                </a:solidFill>
                <a:latin typeface="Arial"/>
                <a:ea typeface="Arial"/>
                <a:cs typeface="Arial"/>
              </a:defRPr>
            </a:pPr>
            <a:r>
              <a:rPr sz="1425" b="1">
                <a:solidFill>
                  <a:srgbClr val="35583C"/>
                </a:solidFill>
                <a:latin typeface="Arial"/>
                <a:ea typeface="Arial"/>
                <a:cs typeface="Arial"/>
              </a:rPr>
              <a:t>02</a:t>
            </a:r>
          </a:p>
        </p:txBody>
      </p:sp>
      <p:sp>
        <p:nvSpPr>
          <p:cNvPr id="9" name="text-32">
            <a:extLst>
              <a:ext uri="{FF2B5EF4-FFF2-40B4-BE49-F238E27FC236}">
                <ns2:creationId id="{CDE5BB0D-1EE2-4760-AE53-53CE952C2447}"/>
              </a:ext>
            </a:extLst>
          </p:cNvPr>
          <p:cNvSpPr>
            <a:spLocks noGrp="1"/>
          </p:cNvSpPr>
          <p:nvPr/>
        </p:nvSpPr>
        <p:spPr>
          <a:xfrm>
            <a:off x="8115300" y="3267075"/>
            <a:ext cx="3467100" cy="295275"/>
          </a:xfrm>
          <a:prstGeom prst="rect">
            <a:avLst/>
          </a:prstGeom>
          <a:noFill/>
          <a:ln w="0">
            <a:noFill/>
          </a:ln>
        </p:spPr>
        <p:txBody>
          <a:bodyPr wrap="square" lIns="0" tIns="0" rIns="0" bIns="0" anchor="t">
            <a:noAutofit/>
          </a:bodyPr>
          <a:lstStyle/>
          <a:p>
            <a:pPr algn="l">
              <a:defRPr sz="1725" b="1">
                <a:solidFill>
                  <a:srgbClr val="542A69"/>
                </a:solidFill>
                <a:latin typeface="Arial"/>
                <a:ea typeface="Arial"/>
                <a:cs typeface="Arial"/>
              </a:defRPr>
            </a:pPr>
            <a:r>
              <a:rPr sz="1725" b="1">
                <a:solidFill>
                  <a:srgbClr val="542A69"/>
                </a:solidFill>
                <a:latin typeface="Arial"/>
                <a:ea typeface="Arial"/>
                <a:cs typeface="Arial"/>
              </a:rPr>
              <a:t>Vine and tip leaf</a:t>
            </a:r>
          </a:p>
        </p:txBody>
      </p:sp>
      <p:sp>
        <p:nvSpPr>
          <p:cNvPr id="10" name="text-33">
            <a:extLst>
              <a:ext uri="{FF2B5EF4-FFF2-40B4-BE49-F238E27FC236}">
                <ns2:creationId id="{4522DF1C-E23E-4143-A6DB-73B23EC097AF}"/>
              </a:ext>
            </a:extLst>
          </p:cNvPr>
          <p:cNvSpPr>
            <a:spLocks noGrp="1"/>
          </p:cNvSpPr>
          <p:nvPr/>
        </p:nvSpPr>
        <p:spPr>
          <a:xfrm>
            <a:off x="8115300" y="3648075"/>
            <a:ext cx="3467100" cy="466725"/>
          </a:xfrm>
          <a:prstGeom prst="rect">
            <a:avLst/>
          </a:prstGeom>
          <a:noFill/>
          <a:ln w="0">
            <a:noFill/>
          </a:ln>
        </p:spPr>
        <p:txBody>
          <a:bodyPr wrap="square" lIns="0" tIns="0" rIns="0" bIns="0" anchor="t">
            <a:noAutofit/>
          </a:bodyPr>
          <a:lstStyle/>
          <a:p>
            <a:pPr algn="l">
              <a:defRPr sz="1500" b="0">
                <a:solidFill>
                  <a:srgbClr val="706B65"/>
                </a:solidFill>
                <a:latin typeface="Arial"/>
                <a:ea typeface="Arial"/>
                <a:cs typeface="Arial"/>
              </a:defRPr>
            </a:pPr>
            <a:r>
              <a:rPr sz="1500" b="0">
                <a:solidFill>
                  <a:srgbClr val="706B65"/>
                </a:solidFill>
                <a:latin typeface="Arial"/>
                <a:ea typeface="Arial"/>
                <a:cs typeface="Arial"/>
              </a:rPr>
              <a:t>The growing vine reaches ID or QR lookup.</a:t>
            </a:r>
          </a:p>
        </p:txBody>
      </p:sp>
      <p:sp>
        <p:nvSpPr>
          <p:cNvPr id="11" name="text-34">
            <a:extLst>
              <a:ext uri="{FF2B5EF4-FFF2-40B4-BE49-F238E27FC236}">
                <ns2:creationId id="{CF8E3666-B6DB-4ACA-B177-666A4C07701A}"/>
              </a:ext>
            </a:extLst>
          </p:cNvPr>
          <p:cNvSpPr>
            <a:spLocks noGrp="1"/>
          </p:cNvSpPr>
          <p:nvPr/>
        </p:nvSpPr>
        <p:spPr>
          <a:xfrm>
            <a:off x="7620000" y="4152900"/>
            <a:ext cx="342900" cy="285750"/>
          </a:xfrm>
          <a:prstGeom prst="rect">
            <a:avLst/>
          </a:prstGeom>
          <a:noFill/>
          <a:ln w="0">
            <a:noFill/>
          </a:ln>
        </p:spPr>
        <p:txBody>
          <a:bodyPr wrap="square" lIns="0" tIns="0" rIns="0" bIns="0" anchor="t">
            <a:noAutofit/>
          </a:bodyPr>
          <a:lstStyle/>
          <a:p>
            <a:pPr algn="l">
              <a:defRPr sz="1425" b="1">
                <a:solidFill>
                  <a:srgbClr val="35583C"/>
                </a:solidFill>
                <a:latin typeface="Arial"/>
                <a:ea typeface="Arial"/>
                <a:cs typeface="Arial"/>
              </a:defRPr>
            </a:pPr>
            <a:r>
              <a:rPr sz="1425" b="1">
                <a:solidFill>
                  <a:srgbClr val="35583C"/>
                </a:solidFill>
                <a:latin typeface="Arial"/>
                <a:ea typeface="Arial"/>
                <a:cs typeface="Arial"/>
              </a:rPr>
              <a:t>03</a:t>
            </a:r>
          </a:p>
        </p:txBody>
      </p:sp>
      <p:sp>
        <p:nvSpPr>
          <p:cNvPr id="12" name="text-35">
            <a:extLst>
              <a:ext uri="{FF2B5EF4-FFF2-40B4-BE49-F238E27FC236}">
                <ns2:creationId id="{8FBAC6BF-6902-46F8-983D-736D43078468}"/>
              </a:ext>
            </a:extLst>
          </p:cNvPr>
          <p:cNvSpPr>
            <a:spLocks noGrp="1"/>
          </p:cNvSpPr>
          <p:nvPr/>
        </p:nvSpPr>
        <p:spPr>
          <a:xfrm>
            <a:off x="8115300" y="4152900"/>
            <a:ext cx="3467100" cy="295275"/>
          </a:xfrm>
          <a:prstGeom prst="rect">
            <a:avLst/>
          </a:prstGeom>
          <a:noFill/>
          <a:ln w="0">
            <a:noFill/>
          </a:ln>
        </p:spPr>
        <p:txBody>
          <a:bodyPr wrap="square" lIns="0" tIns="0" rIns="0" bIns="0" anchor="t">
            <a:noAutofit/>
          </a:bodyPr>
          <a:lstStyle/>
          <a:p>
            <a:pPr algn="l">
              <a:defRPr sz="1725" b="1">
                <a:solidFill>
                  <a:srgbClr val="542A69"/>
                </a:solidFill>
                <a:latin typeface="Arial"/>
                <a:ea typeface="Arial"/>
                <a:cs typeface="Arial"/>
              </a:defRPr>
            </a:pPr>
            <a:r>
              <a:rPr sz="1725" b="1">
                <a:solidFill>
                  <a:srgbClr val="542A69"/>
                </a:solidFill>
                <a:latin typeface="Arial"/>
                <a:ea typeface="Arial"/>
                <a:cs typeface="Arial"/>
              </a:rPr>
              <a:t>Stories during descent</a:t>
            </a:r>
          </a:p>
        </p:txBody>
      </p:sp>
      <p:sp>
        <p:nvSpPr>
          <p:cNvPr id="13" name="text-36">
            <a:extLst>
              <a:ext uri="{FF2B5EF4-FFF2-40B4-BE49-F238E27FC236}">
                <ns2:creationId id="{F5A6DF76-4391-4132-93BD-9DDD644640E2}"/>
              </a:ext>
            </a:extLst>
          </p:cNvPr>
          <p:cNvSpPr>
            <a:spLocks noGrp="1"/>
          </p:cNvSpPr>
          <p:nvPr/>
        </p:nvSpPr>
        <p:spPr>
          <a:xfrm>
            <a:off x="8115300" y="4533900"/>
            <a:ext cx="3467100" cy="466725"/>
          </a:xfrm>
          <a:prstGeom prst="rect">
            <a:avLst/>
          </a:prstGeom>
          <a:noFill/>
          <a:ln w="0">
            <a:noFill/>
          </a:ln>
        </p:spPr>
        <p:txBody>
          <a:bodyPr wrap="square" lIns="0" tIns="0" rIns="0" bIns="0" anchor="t">
            <a:noAutofit/>
          </a:bodyPr>
          <a:lstStyle/>
          <a:p>
            <a:pPr algn="l">
              <a:defRPr sz="1500" b="0">
                <a:solidFill>
                  <a:srgbClr val="706B65"/>
                </a:solidFill>
                <a:latin typeface="Arial"/>
                <a:ea typeface="Arial"/>
                <a:cs typeface="Arial"/>
              </a:defRPr>
            </a:pPr>
            <a:r>
              <a:rPr sz="1500" b="0">
                <a:solidFill>
                  <a:srgbClr val="706B65"/>
                </a:solidFill>
                <a:latin typeface="Arial"/>
                <a:ea typeface="Arial"/>
                <a:cs typeface="Arial"/>
              </a:rPr>
              <a:t>Company, growing and harvest details appear.</a:t>
            </a:r>
          </a:p>
        </p:txBody>
      </p:sp>
      <p:sp>
        <p:nvSpPr>
          <p:cNvPr id="14" name="text-37">
            <a:extLst>
              <a:ext uri="{FF2B5EF4-FFF2-40B4-BE49-F238E27FC236}">
                <ns2:creationId id="{BD18BCCD-7EE5-4A6C-96BA-EB84D5E42A60}"/>
              </a:ext>
            </a:extLst>
          </p:cNvPr>
          <p:cNvSpPr>
            <a:spLocks noGrp="1"/>
          </p:cNvSpPr>
          <p:nvPr/>
        </p:nvSpPr>
        <p:spPr>
          <a:xfrm>
            <a:off x="7620000" y="5038725"/>
            <a:ext cx="342900" cy="285750"/>
          </a:xfrm>
          <a:prstGeom prst="rect">
            <a:avLst/>
          </a:prstGeom>
          <a:noFill/>
          <a:ln w="0">
            <a:noFill/>
          </a:ln>
        </p:spPr>
        <p:txBody>
          <a:bodyPr wrap="square" lIns="0" tIns="0" rIns="0" bIns="0" anchor="t">
            <a:noAutofit/>
          </a:bodyPr>
          <a:lstStyle/>
          <a:p>
            <a:pPr algn="l">
              <a:defRPr sz="1425" b="1">
                <a:solidFill>
                  <a:srgbClr val="35583C"/>
                </a:solidFill>
                <a:latin typeface="Arial"/>
                <a:ea typeface="Arial"/>
                <a:cs typeface="Arial"/>
              </a:defRPr>
            </a:pPr>
            <a:r>
              <a:rPr sz="1425" b="1">
                <a:solidFill>
                  <a:srgbClr val="35583C"/>
                </a:solidFill>
                <a:latin typeface="Arial"/>
                <a:ea typeface="Arial"/>
                <a:cs typeface="Arial"/>
              </a:rPr>
              <a:t>04</a:t>
            </a:r>
          </a:p>
        </p:txBody>
      </p:sp>
      <p:sp>
        <p:nvSpPr>
          <p:cNvPr id="15" name="text-38">
            <a:extLst>
              <a:ext uri="{FF2B5EF4-FFF2-40B4-BE49-F238E27FC236}">
                <ns2:creationId id="{7E89B333-FC2E-4D72-ADC4-FEB0E9C7BE95}"/>
              </a:ext>
            </a:extLst>
          </p:cNvPr>
          <p:cNvSpPr>
            <a:spLocks noGrp="1"/>
          </p:cNvSpPr>
          <p:nvPr/>
        </p:nvSpPr>
        <p:spPr>
          <a:xfrm>
            <a:off x="8115300" y="5038725"/>
            <a:ext cx="3467100" cy="295275"/>
          </a:xfrm>
          <a:prstGeom prst="rect">
            <a:avLst/>
          </a:prstGeom>
          <a:noFill/>
          <a:ln w="0">
            <a:noFill/>
          </a:ln>
        </p:spPr>
        <p:txBody>
          <a:bodyPr wrap="square" lIns="0" tIns="0" rIns="0" bIns="0" anchor="t">
            <a:noAutofit/>
          </a:bodyPr>
          <a:lstStyle/>
          <a:p>
            <a:pPr algn="l">
              <a:defRPr sz="1725" b="1">
                <a:solidFill>
                  <a:srgbClr val="542A69"/>
                </a:solidFill>
                <a:latin typeface="Arial"/>
                <a:ea typeface="Arial"/>
                <a:cs typeface="Arial"/>
              </a:defRPr>
            </a:pPr>
            <a:r>
              <a:rPr sz="1725" b="1">
                <a:solidFill>
                  <a:srgbClr val="542A69"/>
                </a:solidFill>
                <a:latin typeface="Arial"/>
                <a:ea typeface="Arial"/>
                <a:cs typeface="Arial"/>
              </a:rPr>
              <a:t>Partners and leadership</a:t>
            </a:r>
          </a:p>
        </p:txBody>
      </p:sp>
      <p:sp>
        <p:nvSpPr>
          <p:cNvPr id="16" name="text-39">
            <a:extLst>
              <a:ext uri="{FF2B5EF4-FFF2-40B4-BE49-F238E27FC236}">
                <ns2:creationId id="{7EDA8965-7664-4710-94E7-7302A4291E4D}"/>
              </a:ext>
            </a:extLst>
          </p:cNvPr>
          <p:cNvSpPr>
            <a:spLocks noGrp="1"/>
          </p:cNvSpPr>
          <p:nvPr/>
        </p:nvSpPr>
        <p:spPr>
          <a:xfrm>
            <a:off x="8115300" y="5419725"/>
            <a:ext cx="3467100" cy="466725"/>
          </a:xfrm>
          <a:prstGeom prst="rect">
            <a:avLst/>
          </a:prstGeom>
          <a:noFill/>
          <a:ln w="0">
            <a:noFill/>
          </a:ln>
        </p:spPr>
        <p:txBody>
          <a:bodyPr wrap="square" lIns="0" tIns="0" rIns="0" bIns="0" anchor="t">
            <a:noAutofit/>
          </a:bodyPr>
          <a:lstStyle/>
          <a:p>
            <a:pPr algn="l">
              <a:defRPr sz="1500" b="0">
                <a:solidFill>
                  <a:srgbClr val="706B65"/>
                </a:solidFill>
                <a:latin typeface="Arial"/>
                <a:ea typeface="Arial"/>
                <a:cs typeface="Arial"/>
              </a:defRPr>
            </a:pPr>
            <a:r>
              <a:rPr sz="1500" b="0">
                <a:solidFill>
                  <a:srgbClr val="706B65"/>
                </a:solidFill>
                <a:latin typeface="Arial"/>
                <a:ea typeface="Arial"/>
                <a:cs typeface="Arial"/>
              </a:rPr>
              <a:t>Lower leaves reveal partners. The root becomes the leadership board.</a:t>
            </a:r>
          </a:p>
        </p:txBody>
      </p:sp>
      <p:sp>
        <p:nvSpPr>
          <p:cNvPr id="17" name="text-40">
            <a:extLst>
              <a:ext uri="{FF2B5EF4-FFF2-40B4-BE49-F238E27FC236}">
                <ns2:creationId id="{6907F3C5-7D97-41DA-BC11-FDD9FD8293A9}"/>
              </a:ext>
            </a:extLst>
          </p:cNvPr>
          <p:cNvSpPr>
            <a:spLocks noGrp="1"/>
          </p:cNvSpPr>
          <p:nvPr/>
        </p:nvSpPr>
        <p:spPr>
          <a:xfrm>
            <a:off x="609600" y="6191250"/>
            <a:ext cx="6705600" cy="257175"/>
          </a:xfrm>
          <a:prstGeom prst="rect">
            <a:avLst/>
          </a:prstGeom>
          <a:noFill/>
          <a:ln w="0">
            <a:noFill/>
          </a:ln>
        </p:spPr>
        <p:txBody>
          <a:bodyPr wrap="square" lIns="0" tIns="0" rIns="0" bIns="0" anchor="t">
            <a:noAutofit/>
          </a:bodyPr>
          <a:lstStyle/>
          <a:p>
            <a:pPr algn="l">
              <a:defRPr sz="1275" b="0">
                <a:solidFill>
                  <a:srgbClr val="35583C"/>
                </a:solidFill>
                <a:latin typeface="Arial"/>
                <a:ea typeface="Arial"/>
                <a:cs typeface="Arial"/>
              </a:defRPr>
            </a:pPr>
            <a:r>
              <a:rPr sz="1275" b="0">
                <a:solidFill>
                  <a:srgbClr val="35583C"/>
                </a:solidFill>
                <a:latin typeface="Arial"/>
                <a:ea typeface="Arial"/>
                <a:cs typeface="Arial"/>
              </a:rPr>
              <a:t>Click the embedded video in PowerPoint to play the existing prototype.</a:t>
            </a:r>
          </a:p>
        </p:txBody>
      </p:sp>
      <p:pic>
        <p:nvPicPr>
          <p:cNvPr id="19" name="Existing From Root to Story prototype video">
            <a:hlinkClick action="ppaction://media"/>
          </p:cNvPr>
          <p:cNvPicPr>
            <a:picLocks noChangeAspect="1"/>
          </p:cNvPicPr>
          <p:nvPr>
            <a:videoFile r:link="rIdRooteVideo"/>
            <p:extLst>
              <p:ext uri="{DAA4B4D4-6D71-4841-9C94-3DE7FCFB9230}">
                <p14:media r:embed="rIdRooteMedia"/>
              </p:ext>
            </p:extLst>
          </p:nvPr>
        </p:nvPicPr>
        <p:blipFill>
          <a:blip r:embed="rIdRootePoster"/>
          <a:stretch>
            <a:fillRect/>
          </a:stretch>
        </p:blipFill>
        <p:spPr>
          <a:xfrm>
            <a:off x="609600" y="2381250"/>
            <a:ext cx="6667500" cy="3752850"/>
          </a:xfrm>
          <a:prstGeom prst="rect">
            <a:avLst/>
          </a:prstGeom>
        </p:spPr>
      </p:pic>
    </p:spTree>
    <p:extLst>
      <p:ext uri="{BB962C8B-B14F-4D97-AF65-F5344CB8AC3E}">
        <p14:creationId val="697266781"/>
      </p:ext>
    </p:extLst>
  </p:cSld>
</p:sld>
</file>

<file path=ppt/slides/slide8.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22DAD92B-4A74-4453-8C10-487236C67BE5}"/>
              </a:ext>
            </a:extLst>
          </p:cNvPr>
          <p:cNvSpPr>
            <a:spLocks xmlns:a="http://schemas.openxmlformats.org/drawingml/2006/main" noGrp="1"/>
          </p:cNvSpPr>
          <p:nvPr/>
        </p:nvSpPr>
        <p:spPr>
          <a:xfrm xmlns:a="http://schemas.openxmlformats.org/drawingml/2006/main">
            <a:off x="609600" y="4953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542A69"/>
                </a:solidFill>
                <a:latin typeface="Georgia"/>
                <a:ea typeface="Georgia"/>
                <a:cs typeface="Georgia"/>
              </a:defRPr>
            </a:pPr>
            <a:r>
              <a:rPr sz="3300" b="0">
                <a:solidFill>
                  <a:srgbClr val="542A69"/>
                </a:solidFill>
                <a:latin typeface="Georgia"/>
                <a:ea typeface="Georgia"/>
                <a:cs typeface="Georgia"/>
              </a:rPr>
              <a:t>Grown Together in Davao</a:t>
            </a:r>
          </a:p>
        </p:txBody>
      </p:sp>
      <p:sp>
        <p:nvSpPr>
          <p:cNvPr id="2" name="slide-subtitle">
            <a:extLst xmlns:a="http://schemas.openxmlformats.org/drawingml/2006/main">
              <a:ext uri="{FF2B5EF4-FFF2-40B4-BE49-F238E27FC236}">
                <a16:creationId xmlns:a16="http://schemas.microsoft.com/office/drawing/2014/main" id="{F607FA52-AA57-49B0-8FF5-A91CFA14512D}"/>
              </a:ext>
            </a:extLst>
          </p:cNvPr>
          <p:cNvSpPr>
            <a:spLocks xmlns:a="http://schemas.openxmlformats.org/drawingml/2006/main" noGrp="1"/>
          </p:cNvSpPr>
          <p:nvPr/>
        </p:nvSpPr>
        <p:spPr>
          <a:xfrm xmlns:a="http://schemas.openxmlformats.org/drawingml/2006/main">
            <a:off x="609600" y="1428750"/>
            <a:ext cx="10715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706B65"/>
                </a:solidFill>
                <a:latin typeface="Arial"/>
                <a:ea typeface="Arial"/>
                <a:cs typeface="Arial"/>
              </a:defRPr>
            </a:pPr>
            <a:r>
              <a:rPr sz="1725" b="0">
                <a:solidFill>
                  <a:srgbClr val="706B65"/>
                </a:solidFill>
                <a:latin typeface="Arial"/>
                <a:ea typeface="Arial"/>
                <a:cs typeface="Arial"/>
              </a:rPr>
              <a:t>People and place lead visitors into the farm inventory.</a:t>
            </a:r>
          </a:p>
        </p:txBody>
      </p:sp>
      <p:sp>
        <p:nvSpPr>
          <p:cNvPr id="3" name="footer">
            <a:extLst xmlns:a="http://schemas.openxmlformats.org/drawingml/2006/main">
              <a:ext uri="{FF2B5EF4-FFF2-40B4-BE49-F238E27FC236}">
                <a16:creationId xmlns:a16="http://schemas.microsoft.com/office/drawing/2014/main" id="{E7815A60-6E5D-45CE-B3BF-FDA8EB60F1A3}"/>
              </a:ext>
            </a:extLst>
          </p:cNvPr>
          <p:cNvSpPr>
            <a:spLocks xmlns:a="http://schemas.openxmlformats.org/drawingml/2006/main" noGrp="1"/>
          </p:cNvSpPr>
          <p:nvPr/>
        </p:nvSpPr>
        <p:spPr>
          <a:xfrm xmlns:a="http://schemas.openxmlformats.org/drawingml/2006/main">
            <a:off x="609600" y="6543675"/>
            <a:ext cx="7143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00" b="0">
                <a:solidFill>
                  <a:srgbClr val="706B65"/>
                </a:solidFill>
                <a:latin typeface="Arial"/>
                <a:ea typeface="Arial"/>
                <a:cs typeface="Arial"/>
              </a:defRPr>
            </a:pPr>
            <a:r>
              <a:rPr sz="900" b="0">
                <a:solidFill>
                  <a:srgbClr val="706B65"/>
                </a:solidFill>
                <a:latin typeface="Arial"/>
                <a:ea typeface="Arial"/>
                <a:cs typeface="Arial"/>
              </a:rPr>
              <a:t>ROOTE ORIGIN SYSTEM</a:t>
            </a:r>
          </a:p>
        </p:txBody>
      </p:sp>
      <p:sp>
        <p:nvSpPr>
          <p:cNvPr id="4" name="slide-number">
            <a:extLst xmlns:a="http://schemas.openxmlformats.org/drawingml/2006/main">
              <a:ext uri="{FF2B5EF4-FFF2-40B4-BE49-F238E27FC236}">
                <a16:creationId xmlns:a16="http://schemas.microsoft.com/office/drawing/2014/main" id="{2EFFFAA2-EAB8-4CC8-BCEC-706165F00AA8}"/>
              </a:ext>
            </a:extLst>
          </p:cNvPr>
          <p:cNvSpPr>
            <a:spLocks xmlns:a="http://schemas.openxmlformats.org/drawingml/2006/main" noGrp="1"/>
          </p:cNvSpPr>
          <p:nvPr/>
        </p:nvSpPr>
        <p:spPr>
          <a:xfrm xmlns:a="http://schemas.openxmlformats.org/drawingml/2006/main">
            <a:off x="11106150" y="65055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706B65"/>
                </a:solidFill>
                <a:latin typeface="Arial"/>
                <a:ea typeface="Arial"/>
                <a:cs typeface="Arial"/>
              </a:defRPr>
            </a:pPr>
            <a:r>
              <a:rPr sz="1125" b="0">
                <a:solidFill>
                  <a:srgbClr val="706B65"/>
                </a:solidFill>
                <a:latin typeface="Arial"/>
                <a:ea typeface="Arial"/>
                <a:cs typeface="Arial"/>
              </a:rPr>
              <a:t>08</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525a67b4966641d2"/>
          <a:stretch xmlns:a="http://schemas.openxmlformats.org/drawingml/2006/main"/>
        </p:blipFill>
        <p:spPr>
          <a:xfrm xmlns:a="http://schemas.openxmlformats.org/drawingml/2006/main">
            <a:off x="1088136" y="2238375"/>
            <a:ext cx="5596128" cy="3886200"/>
          </a:xfrm>
          <a:prstGeom xmlns:a="http://schemas.openxmlformats.org/drawingml/2006/main" prst="rect">
            <a:avLst/>
          </a:prstGeom>
        </p:spPr>
      </p:pic>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b333f5d7364b4c3a"/>
          <a:stretch xmlns:a="http://schemas.openxmlformats.org/drawingml/2006/main"/>
        </p:blipFill>
        <p:spPr>
          <a:xfrm xmlns:a="http://schemas.openxmlformats.org/drawingml/2006/main">
            <a:off x="7372350" y="2295378"/>
            <a:ext cx="1743075" cy="3772193"/>
          </a:xfrm>
          <a:prstGeom xmlns:a="http://schemas.openxmlformats.org/drawingml/2006/main" prst="rect">
            <a:avLst/>
          </a:prstGeom>
        </p:spPr>
      </p:pic>
      <p:sp>
        <p:nvSpPr>
          <p:cNvPr id="7" name="text-41">
            <a:extLst xmlns:a="http://schemas.openxmlformats.org/drawingml/2006/main">
              <a:ext uri="{FF2B5EF4-FFF2-40B4-BE49-F238E27FC236}">
                <a16:creationId xmlns:a16="http://schemas.microsoft.com/office/drawing/2014/main" id="{0BB28F52-8E97-4686-B552-3F967971636A}"/>
              </a:ext>
            </a:extLst>
          </p:cNvPr>
          <p:cNvSpPr>
            <a:spLocks xmlns:a="http://schemas.openxmlformats.org/drawingml/2006/main" noGrp="1"/>
          </p:cNvSpPr>
          <p:nvPr/>
        </p:nvSpPr>
        <p:spPr>
          <a:xfrm xmlns:a="http://schemas.openxmlformats.org/drawingml/2006/main">
            <a:off x="9410700" y="2400300"/>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35583C"/>
                </a:solidFill>
                <a:latin typeface="Arial"/>
                <a:ea typeface="Arial"/>
                <a:cs typeface="Arial"/>
              </a:defRPr>
            </a:pPr>
            <a:r>
              <a:rPr sz="1800" b="1">
                <a:solidFill>
                  <a:srgbClr val="35583C"/>
                </a:solidFill>
                <a:latin typeface="Arial"/>
                <a:ea typeface="Arial"/>
                <a:cs typeface="Arial"/>
              </a:rPr>
              <a:t>MVP discovery</a:t>
            </a:r>
          </a:p>
        </p:txBody>
      </p:sp>
      <p:sp>
        <p:nvSpPr>
          <p:cNvPr id="8" name="text-42">
            <a:extLst xmlns:a="http://schemas.openxmlformats.org/drawingml/2006/main">
              <a:ext uri="{FF2B5EF4-FFF2-40B4-BE49-F238E27FC236}">
                <a16:creationId xmlns:a16="http://schemas.microsoft.com/office/drawing/2014/main" id="{9171FD56-2F5C-4005-9B9C-288A3654201F}"/>
              </a:ext>
            </a:extLst>
          </p:cNvPr>
          <p:cNvSpPr>
            <a:spLocks xmlns:a="http://schemas.openxmlformats.org/drawingml/2006/main" noGrp="1"/>
          </p:cNvSpPr>
          <p:nvPr/>
        </p:nvSpPr>
        <p:spPr>
          <a:xfrm xmlns:a="http://schemas.openxmlformats.org/drawingml/2006/main">
            <a:off x="9410700" y="2952750"/>
            <a:ext cx="2171700" cy="261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34233E"/>
                </a:solidFill>
                <a:latin typeface="Arial"/>
                <a:ea typeface="Arial"/>
                <a:cs typeface="Arial"/>
              </a:defRPr>
            </a:pPr>
            <a:r>
              <a:rPr sz="1575" b="0">
                <a:solidFill>
                  <a:srgbClr val="34233E"/>
                </a:solidFill>
                <a:latin typeface="Arial"/>
                <a:ea typeface="Arial"/>
                <a:cs typeface="Arial"/>
              </a:rPr>
              <a:t>Grower stories connect to farm cards. A clear lookup area supports farm IDs and published batch QR summaries.</a:t>
            </a:r>
          </a:p>
        </p:txBody>
      </p:sp>
      <p:sp>
        <p:nvSpPr>
          <p:cNvPr id="9" name="text-43">
            <a:extLst xmlns:a="http://schemas.openxmlformats.org/drawingml/2006/main">
              <a:ext uri="{FF2B5EF4-FFF2-40B4-BE49-F238E27FC236}">
                <a16:creationId xmlns:a16="http://schemas.microsoft.com/office/drawing/2014/main" id="{D987F34A-F127-484D-9FE5-D28D6C80EEB7}"/>
              </a:ext>
            </a:extLst>
          </p:cNvPr>
          <p:cNvSpPr>
            <a:spLocks xmlns:a="http://schemas.openxmlformats.org/drawingml/2006/main" noGrp="1"/>
          </p:cNvSpPr>
          <p:nvPr/>
        </p:nvSpPr>
        <p:spPr>
          <a:xfrm xmlns:a="http://schemas.openxmlformats.org/drawingml/2006/main">
            <a:off x="609600" y="6229350"/>
            <a:ext cx="10715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706B65"/>
                </a:solidFill>
                <a:latin typeface="Arial"/>
                <a:ea typeface="Arial"/>
                <a:cs typeface="Arial"/>
              </a:defRPr>
            </a:pPr>
            <a:r>
              <a:rPr sz="1275" b="0">
                <a:solidFill>
                  <a:srgbClr val="706B65"/>
                </a:solidFill>
                <a:latin typeface="Arial"/>
                <a:ea typeface="Arial"/>
                <a:cs typeface="Arial"/>
              </a:rPr>
              <a:t>Design concept. Motion and system integration are proposed.</a:t>
            </a:r>
          </a:p>
        </p:txBody>
      </p:sp>
    </p:spTree>
    <p:extLst>
      <p:ext uri="{BB962C8B-B14F-4D97-AF65-F5344CB8AC3E}">
        <p14:creationId xmlns:p14="http://schemas.microsoft.com/office/powerpoint/2010/main" val="1267478584"/>
      </p:ext>
    </p:extLst>
  </p:cSld>
</p:sld>
</file>

<file path=ppt/slides/slide9.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14" name="slide-title">
            <a:extLst xmlns:a="http://schemas.openxmlformats.org/drawingml/2006/main">
              <a:ext uri="{FF2B5EF4-FFF2-40B4-BE49-F238E27FC236}">
                <a16:creationId xmlns:a16="http://schemas.microsoft.com/office/drawing/2014/main" id="{8AF3E05C-3151-4C23-A86F-D9061BE87E74}"/>
              </a:ext>
            </a:extLst>
          </p:cNvPr>
          <p:cNvSpPr>
            <a:spLocks xmlns:a="http://schemas.openxmlformats.org/drawingml/2006/main" noGrp="1"/>
          </p:cNvSpPr>
          <p:nvPr/>
        </p:nvSpPr>
        <p:spPr>
          <a:xfrm xmlns:a="http://schemas.openxmlformats.org/drawingml/2006/main">
            <a:off x="609600" y="4953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542A69"/>
                </a:solidFill>
                <a:latin typeface="Georgia"/>
                <a:ea typeface="Georgia"/>
                <a:cs typeface="Georgia"/>
              </a:defRPr>
            </a:pPr>
            <a:r>
              <a:rPr sz="3300" b="0">
                <a:solidFill>
                  <a:srgbClr val="542A69"/>
                </a:solidFill>
                <a:latin typeface="Georgia"/>
                <a:ea typeface="Georgia"/>
                <a:cs typeface="Georgia"/>
              </a:rPr>
              <a:t>People, place and farm discovery</a:t>
            </a:r>
          </a:p>
        </p:txBody>
      </p:sp>
      <p:sp>
        <p:nvSpPr>
          <p:cNvPr id="2" name="slide-subtitle">
            <a:extLst xmlns:a="http://schemas.openxmlformats.org/drawingml/2006/main">
              <a:ext uri="{FF2B5EF4-FFF2-40B4-BE49-F238E27FC236}">
                <a16:creationId xmlns:a16="http://schemas.microsoft.com/office/drawing/2014/main" id="{D25D8CB7-B18A-4EB0-B4CD-023EE04A3A64}"/>
              </a:ext>
            </a:extLst>
          </p:cNvPr>
          <p:cNvSpPr>
            <a:spLocks xmlns:a="http://schemas.openxmlformats.org/drawingml/2006/main" noGrp="1"/>
          </p:cNvSpPr>
          <p:nvPr/>
        </p:nvSpPr>
        <p:spPr>
          <a:xfrm xmlns:a="http://schemas.openxmlformats.org/drawingml/2006/main">
            <a:off x="609600" y="1428750"/>
            <a:ext cx="10715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706B65"/>
                </a:solidFill>
                <a:latin typeface="Arial"/>
                <a:ea typeface="Arial"/>
                <a:cs typeface="Arial"/>
              </a:defRPr>
            </a:pPr>
            <a:r>
              <a:rPr sz="1725" b="0">
                <a:solidFill>
                  <a:srgbClr val="706B65"/>
                </a:solidFill>
                <a:latin typeface="Arial"/>
                <a:ea typeface="Arial"/>
                <a:cs typeface="Arial"/>
              </a:rPr>
              <a:t>Photography and headlines move on separate planes. Chapters settle for reading as growing, harvest and farm discovery appear.</a:t>
            </a:r>
          </a:p>
        </p:txBody>
      </p:sp>
      <p:sp>
        <p:nvSpPr>
          <p:cNvPr id="3" name="footer">
            <a:extLst xmlns:a="http://schemas.openxmlformats.org/drawingml/2006/main">
              <a:ext uri="{FF2B5EF4-FFF2-40B4-BE49-F238E27FC236}">
                <a16:creationId xmlns:a16="http://schemas.microsoft.com/office/drawing/2014/main" id="{8F840FFA-18FE-40C2-BFE1-DB0DC2197707}"/>
              </a:ext>
            </a:extLst>
          </p:cNvPr>
          <p:cNvSpPr>
            <a:spLocks xmlns:a="http://schemas.openxmlformats.org/drawingml/2006/main" noGrp="1"/>
          </p:cNvSpPr>
          <p:nvPr/>
        </p:nvSpPr>
        <p:spPr>
          <a:xfrm xmlns:a="http://schemas.openxmlformats.org/drawingml/2006/main">
            <a:off x="609600" y="6543675"/>
            <a:ext cx="7143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00" b="0">
                <a:solidFill>
                  <a:srgbClr val="706B65"/>
                </a:solidFill>
                <a:latin typeface="Arial"/>
                <a:ea typeface="Arial"/>
                <a:cs typeface="Arial"/>
              </a:defRPr>
            </a:pPr>
            <a:r>
              <a:rPr sz="900" b="0">
                <a:solidFill>
                  <a:srgbClr val="706B65"/>
                </a:solidFill>
                <a:latin typeface="Arial"/>
                <a:ea typeface="Arial"/>
                <a:cs typeface="Arial"/>
              </a:rPr>
              <a:t>ROOTE ORIGIN SYSTEM</a:t>
            </a:r>
          </a:p>
        </p:txBody>
      </p:sp>
      <p:sp>
        <p:nvSpPr>
          <p:cNvPr id="4" name="slide-number">
            <a:extLst xmlns:a="http://schemas.openxmlformats.org/drawingml/2006/main">
              <a:ext uri="{FF2B5EF4-FFF2-40B4-BE49-F238E27FC236}">
                <a16:creationId xmlns:a16="http://schemas.microsoft.com/office/drawing/2014/main" id="{D64954C4-47B5-4F7F-844D-0527E74AA549}"/>
              </a:ext>
            </a:extLst>
          </p:cNvPr>
          <p:cNvSpPr>
            <a:spLocks xmlns:a="http://schemas.openxmlformats.org/drawingml/2006/main" noGrp="1"/>
          </p:cNvSpPr>
          <p:nvPr/>
        </p:nvSpPr>
        <p:spPr>
          <a:xfrm xmlns:a="http://schemas.openxmlformats.org/drawingml/2006/main">
            <a:off x="11106150" y="65055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706B65"/>
                </a:solidFill>
                <a:latin typeface="Arial"/>
                <a:ea typeface="Arial"/>
                <a:cs typeface="Arial"/>
              </a:defRPr>
            </a:pPr>
            <a:r>
              <a:rPr sz="1125" b="0">
                <a:solidFill>
                  <a:srgbClr val="706B65"/>
                </a:solidFill>
                <a:latin typeface="Arial"/>
                <a:ea typeface="Arial"/>
                <a:cs typeface="Arial"/>
              </a:rPr>
              <a:t>09</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1a21bbe6077e4b19"/>
          <a:stretch xmlns:a="http://schemas.openxmlformats.org/drawingml/2006/main"/>
        </p:blipFill>
        <p:spPr>
          <a:xfrm xmlns:a="http://schemas.openxmlformats.org/drawingml/2006/main">
            <a:off x="609600" y="2618317"/>
            <a:ext cx="3352800" cy="1792817"/>
          </a:xfrm>
          <a:prstGeom xmlns:a="http://schemas.openxmlformats.org/drawingml/2006/main" prst="rect">
            <a:avLst/>
          </a:prstGeom>
        </p:spPr>
      </p:pic>
      <p:sp>
        <p:nvSpPr>
          <p:cNvPr id="6" name="text-44">
            <a:extLst xmlns:a="http://schemas.openxmlformats.org/drawingml/2006/main">
              <a:ext uri="{FF2B5EF4-FFF2-40B4-BE49-F238E27FC236}">
                <a16:creationId xmlns:a16="http://schemas.microsoft.com/office/drawing/2014/main" id="{F8892AD9-8A1E-4D14-8918-0B7B76E39E86}"/>
              </a:ext>
            </a:extLst>
          </p:cNvPr>
          <p:cNvSpPr>
            <a:spLocks xmlns:a="http://schemas.openxmlformats.org/drawingml/2006/main" noGrp="1"/>
          </p:cNvSpPr>
          <p:nvPr/>
        </p:nvSpPr>
        <p:spPr>
          <a:xfrm xmlns:a="http://schemas.openxmlformats.org/drawingml/2006/main">
            <a:off x="609600" y="4772025"/>
            <a:ext cx="335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42A69"/>
                </a:solidFill>
                <a:latin typeface="Georgia"/>
                <a:ea typeface="Georgia"/>
                <a:cs typeface="Georgia"/>
              </a:defRPr>
            </a:pPr>
            <a:r>
              <a:rPr sz="1875" b="0">
                <a:solidFill>
                  <a:srgbClr val="542A69"/>
                </a:solidFill>
                <a:latin typeface="Georgia"/>
                <a:ea typeface="Georgia"/>
                <a:cs typeface="Georgia"/>
              </a:rPr>
              <a:t>People &amp; place</a:t>
            </a:r>
          </a:p>
        </p:txBody>
      </p:sp>
      <p:sp>
        <p:nvSpPr>
          <p:cNvPr id="7" name="text-45">
            <a:extLst xmlns:a="http://schemas.openxmlformats.org/drawingml/2006/main">
              <a:ext uri="{FF2B5EF4-FFF2-40B4-BE49-F238E27FC236}">
                <a16:creationId xmlns:a16="http://schemas.microsoft.com/office/drawing/2014/main" id="{53CD91C4-FB1D-4C08-B11A-DBB2B5890A5C}"/>
              </a:ext>
            </a:extLst>
          </p:cNvPr>
          <p:cNvSpPr>
            <a:spLocks xmlns:a="http://schemas.openxmlformats.org/drawingml/2006/main" noGrp="1"/>
          </p:cNvSpPr>
          <p:nvPr/>
        </p:nvSpPr>
        <p:spPr>
          <a:xfrm xmlns:a="http://schemas.openxmlformats.org/drawingml/2006/main">
            <a:off x="609600" y="5514975"/>
            <a:ext cx="335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34233E"/>
                </a:solidFill>
                <a:latin typeface="Arial"/>
                <a:ea typeface="Arial"/>
                <a:cs typeface="Arial"/>
              </a:defRPr>
            </a:pPr>
            <a:r>
              <a:rPr sz="1425" b="0">
                <a:solidFill>
                  <a:srgbClr val="34233E"/>
                </a:solidFill>
                <a:latin typeface="Arial"/>
                <a:ea typeface="Arial"/>
                <a:cs typeface="Arial"/>
              </a:rPr>
              <a:t>The opening arch reveals the field. Photographs and headlines move on separate planes, then settle for reading.</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d80353c83a564113"/>
          <a:stretch xmlns:a="http://schemas.openxmlformats.org/drawingml/2006/main"/>
        </p:blipFill>
        <p:spPr>
          <a:xfrm xmlns:a="http://schemas.openxmlformats.org/drawingml/2006/main">
            <a:off x="4419600" y="2886075"/>
            <a:ext cx="3352800" cy="1257300"/>
          </a:xfrm>
          <a:prstGeom xmlns:a="http://schemas.openxmlformats.org/drawingml/2006/main" prst="rect">
            <a:avLst/>
          </a:prstGeom>
        </p:spPr>
      </p:pic>
      <p:sp>
        <p:nvSpPr>
          <p:cNvPr id="9" name="text-46">
            <a:extLst xmlns:a="http://schemas.openxmlformats.org/drawingml/2006/main">
              <a:ext uri="{FF2B5EF4-FFF2-40B4-BE49-F238E27FC236}">
                <a16:creationId xmlns:a16="http://schemas.microsoft.com/office/drawing/2014/main" id="{DD42B8FA-BA70-4A5C-9B80-F5E37FEB42AC}"/>
              </a:ext>
            </a:extLst>
          </p:cNvPr>
          <p:cNvSpPr>
            <a:spLocks xmlns:a="http://schemas.openxmlformats.org/drawingml/2006/main" noGrp="1"/>
          </p:cNvSpPr>
          <p:nvPr/>
        </p:nvSpPr>
        <p:spPr>
          <a:xfrm xmlns:a="http://schemas.openxmlformats.org/drawingml/2006/main">
            <a:off x="4419600" y="4772025"/>
            <a:ext cx="335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42A69"/>
                </a:solidFill>
                <a:latin typeface="Georgia"/>
                <a:ea typeface="Georgia"/>
                <a:cs typeface="Georgia"/>
              </a:defRPr>
            </a:pPr>
            <a:r>
              <a:rPr sz="1875" b="0">
                <a:solidFill>
                  <a:srgbClr val="542A69"/>
                </a:solidFill>
                <a:latin typeface="Georgia"/>
                <a:ea typeface="Georgia"/>
                <a:cs typeface="Georgia"/>
              </a:rPr>
              <a:t>A connected growing story</a:t>
            </a:r>
          </a:p>
        </p:txBody>
      </p:sp>
      <p:sp>
        <p:nvSpPr>
          <p:cNvPr id="10" name="text-47">
            <a:extLst xmlns:a="http://schemas.openxmlformats.org/drawingml/2006/main">
              <a:ext uri="{FF2B5EF4-FFF2-40B4-BE49-F238E27FC236}">
                <a16:creationId xmlns:a16="http://schemas.microsoft.com/office/drawing/2014/main" id="{AFC6BA3A-4711-4BFB-A1E7-5178B3D9C727}"/>
              </a:ext>
            </a:extLst>
          </p:cNvPr>
          <p:cNvSpPr>
            <a:spLocks xmlns:a="http://schemas.openxmlformats.org/drawingml/2006/main" noGrp="1"/>
          </p:cNvSpPr>
          <p:nvPr/>
        </p:nvSpPr>
        <p:spPr>
          <a:xfrm xmlns:a="http://schemas.openxmlformats.org/drawingml/2006/main">
            <a:off x="4419600" y="5514975"/>
            <a:ext cx="335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34233E"/>
                </a:solidFill>
                <a:latin typeface="Arial"/>
                <a:ea typeface="Arial"/>
                <a:cs typeface="Arial"/>
              </a:defRPr>
            </a:pPr>
            <a:r>
              <a:rPr sz="1425" b="0">
                <a:solidFill>
                  <a:srgbClr val="34233E"/>
                </a:solidFill>
                <a:latin typeface="Arial"/>
                <a:ea typeface="Arial"/>
                <a:cs typeface="Arial"/>
              </a:rPr>
              <a:t>A thin vine line leads into the soil, vine and harvest chapters. Each chapter arrives with a gentle upward reveal.</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4718455b355148d4"/>
          <a:stretch xmlns:a="http://schemas.openxmlformats.org/drawingml/2006/main"/>
        </p:blipFill>
        <p:spPr>
          <a:xfrm xmlns:a="http://schemas.openxmlformats.org/drawingml/2006/main">
            <a:off x="8229600" y="2714942"/>
            <a:ext cx="3352800" cy="1599565"/>
          </a:xfrm>
          <a:prstGeom xmlns:a="http://schemas.openxmlformats.org/drawingml/2006/main" prst="rect">
            <a:avLst/>
          </a:prstGeom>
        </p:spPr>
      </p:pic>
      <p:sp>
        <p:nvSpPr>
          <p:cNvPr id="12" name="text-48">
            <a:extLst xmlns:a="http://schemas.openxmlformats.org/drawingml/2006/main">
              <a:ext uri="{FF2B5EF4-FFF2-40B4-BE49-F238E27FC236}">
                <a16:creationId xmlns:a16="http://schemas.microsoft.com/office/drawing/2014/main" id="{43F0047F-F79E-446B-A833-F2B8075F61AF}"/>
              </a:ext>
            </a:extLst>
          </p:cNvPr>
          <p:cNvSpPr>
            <a:spLocks xmlns:a="http://schemas.openxmlformats.org/drawingml/2006/main" noGrp="1"/>
          </p:cNvSpPr>
          <p:nvPr/>
        </p:nvSpPr>
        <p:spPr>
          <a:xfrm xmlns:a="http://schemas.openxmlformats.org/drawingml/2006/main">
            <a:off x="8229600" y="4772025"/>
            <a:ext cx="335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42A69"/>
                </a:solidFill>
                <a:latin typeface="Georgia"/>
                <a:ea typeface="Georgia"/>
                <a:cs typeface="Georgia"/>
              </a:defRPr>
            </a:pPr>
            <a:r>
              <a:rPr sz="1875" b="0">
                <a:solidFill>
                  <a:srgbClr val="542A69"/>
                </a:solidFill>
                <a:latin typeface="Georgia"/>
                <a:ea typeface="Georgia"/>
                <a:cs typeface="Georgia"/>
              </a:rPr>
              <a:t>Meet a partner farm</a:t>
            </a:r>
          </a:p>
        </p:txBody>
      </p:sp>
      <p:sp>
        <p:nvSpPr>
          <p:cNvPr id="13" name="text-49">
            <a:extLst xmlns:a="http://schemas.openxmlformats.org/drawingml/2006/main">
              <a:ext uri="{FF2B5EF4-FFF2-40B4-BE49-F238E27FC236}">
                <a16:creationId xmlns:a16="http://schemas.microsoft.com/office/drawing/2014/main" id="{20DCD62F-AFE2-4B67-A8ED-6162D0C79C3E}"/>
              </a:ext>
            </a:extLst>
          </p:cNvPr>
          <p:cNvSpPr>
            <a:spLocks xmlns:a="http://schemas.openxmlformats.org/drawingml/2006/main" noGrp="1"/>
          </p:cNvSpPr>
          <p:nvPr/>
        </p:nvSpPr>
        <p:spPr>
          <a:xfrm xmlns:a="http://schemas.openxmlformats.org/drawingml/2006/main">
            <a:off x="8229600" y="5514975"/>
            <a:ext cx="335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34233E"/>
                </a:solidFill>
                <a:latin typeface="Arial"/>
                <a:ea typeface="Arial"/>
                <a:cs typeface="Arial"/>
              </a:defRPr>
            </a:pPr>
            <a:r>
              <a:rPr sz="1425" b="0">
                <a:solidFill>
                  <a:srgbClr val="34233E"/>
                </a:solidFill>
                <a:latin typeface="Arial"/>
                <a:ea typeface="Arial"/>
                <a:cs typeface="Arial"/>
              </a:rPr>
              <a:t>Farm profiles and published batch summaries resolve through the ID, QR or partner entry point.</a:t>
            </a:r>
          </a:p>
        </p:txBody>
      </p:sp>
    </p:spTree>
    <p:extLst>
      <p:ext uri="{BB962C8B-B14F-4D97-AF65-F5344CB8AC3E}">
        <p14:creationId xmlns:p14="http://schemas.microsoft.com/office/powerpoint/2010/main" val="171054800"/>
      </p:ext>
    </p:extLst>
  </p:cSld>
</p:sld>
</file>

<file path=ppt/slides/slide10.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A48B468A-1565-47A1-B3E9-0F101B508CD0}"/>
              </a:ext>
            </a:extLst>
          </p:cNvPr>
          <p:cNvSpPr>
            <a:spLocks xmlns:a="http://schemas.openxmlformats.org/drawingml/2006/main" noGrp="1"/>
          </p:cNvSpPr>
          <p:nvPr/>
        </p:nvSpPr>
        <p:spPr>
          <a:xfrm xmlns:a="http://schemas.openxmlformats.org/drawingml/2006/main">
            <a:off x="609600" y="4953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542A69"/>
                </a:solidFill>
                <a:latin typeface="Georgia"/>
                <a:ea typeface="Georgia"/>
                <a:cs typeface="Georgia"/>
              </a:defRPr>
            </a:pPr>
            <a:r>
              <a:rPr sz="3300" b="0">
                <a:solidFill>
                  <a:srgbClr val="542A69"/>
                </a:solidFill>
                <a:latin typeface="Georgia"/>
                <a:ea typeface="Georgia"/>
                <a:cs typeface="Georgia"/>
              </a:rPr>
              <a:t>Purple to the World</a:t>
            </a:r>
          </a:p>
        </p:txBody>
      </p:sp>
      <p:sp>
        <p:nvSpPr>
          <p:cNvPr id="2" name="slide-subtitle">
            <a:extLst xmlns:a="http://schemas.openxmlformats.org/drawingml/2006/main">
              <a:ext uri="{FF2B5EF4-FFF2-40B4-BE49-F238E27FC236}">
                <a16:creationId xmlns:a16="http://schemas.microsoft.com/office/drawing/2014/main" id="{2286B284-AF7E-4187-B4C5-A8B25B635A5B}"/>
              </a:ext>
            </a:extLst>
          </p:cNvPr>
          <p:cNvSpPr>
            <a:spLocks xmlns:a="http://schemas.openxmlformats.org/drawingml/2006/main" noGrp="1"/>
          </p:cNvSpPr>
          <p:nvPr/>
        </p:nvSpPr>
        <p:spPr>
          <a:xfrm xmlns:a="http://schemas.openxmlformats.org/drawingml/2006/main">
            <a:off x="609600" y="1428750"/>
            <a:ext cx="10715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706B65"/>
                </a:solidFill>
                <a:latin typeface="Arial"/>
                <a:ea typeface="Arial"/>
                <a:cs typeface="Arial"/>
              </a:defRPr>
            </a:pPr>
            <a:r>
              <a:rPr sz="1725" b="0">
                <a:solidFill>
                  <a:srgbClr val="706B65"/>
                </a:solidFill>
                <a:latin typeface="Arial"/>
                <a:ea typeface="Arial"/>
                <a:cs typeface="Arial"/>
              </a:rPr>
              <a:t>Produce discovery leads into the crop and its origin.</a:t>
            </a:r>
          </a:p>
        </p:txBody>
      </p:sp>
      <p:sp>
        <p:nvSpPr>
          <p:cNvPr id="3" name="footer">
            <a:extLst xmlns:a="http://schemas.openxmlformats.org/drawingml/2006/main">
              <a:ext uri="{FF2B5EF4-FFF2-40B4-BE49-F238E27FC236}">
                <a16:creationId xmlns:a16="http://schemas.microsoft.com/office/drawing/2014/main" id="{8B245AC8-9C2E-4DF5-9A44-E22DDD30F933}"/>
              </a:ext>
            </a:extLst>
          </p:cNvPr>
          <p:cNvSpPr>
            <a:spLocks xmlns:a="http://schemas.openxmlformats.org/drawingml/2006/main" noGrp="1"/>
          </p:cNvSpPr>
          <p:nvPr/>
        </p:nvSpPr>
        <p:spPr>
          <a:xfrm xmlns:a="http://schemas.openxmlformats.org/drawingml/2006/main">
            <a:off x="609600" y="6543675"/>
            <a:ext cx="7143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00" b="0">
                <a:solidFill>
                  <a:srgbClr val="706B65"/>
                </a:solidFill>
                <a:latin typeface="Arial"/>
                <a:ea typeface="Arial"/>
                <a:cs typeface="Arial"/>
              </a:defRPr>
            </a:pPr>
            <a:r>
              <a:rPr sz="900" b="0">
                <a:solidFill>
                  <a:srgbClr val="706B65"/>
                </a:solidFill>
                <a:latin typeface="Arial"/>
                <a:ea typeface="Arial"/>
                <a:cs typeface="Arial"/>
              </a:rPr>
              <a:t>ROOTE ORIGIN SYSTEM</a:t>
            </a:r>
          </a:p>
        </p:txBody>
      </p:sp>
      <p:sp>
        <p:nvSpPr>
          <p:cNvPr id="4" name="slide-number">
            <a:extLst xmlns:a="http://schemas.openxmlformats.org/drawingml/2006/main">
              <a:ext uri="{FF2B5EF4-FFF2-40B4-BE49-F238E27FC236}">
                <a16:creationId xmlns:a16="http://schemas.microsoft.com/office/drawing/2014/main" id="{F0217329-465F-4FD6-AE6A-DF399C1EEEBB}"/>
              </a:ext>
            </a:extLst>
          </p:cNvPr>
          <p:cNvSpPr>
            <a:spLocks xmlns:a="http://schemas.openxmlformats.org/drawingml/2006/main" noGrp="1"/>
          </p:cNvSpPr>
          <p:nvPr/>
        </p:nvSpPr>
        <p:spPr>
          <a:xfrm xmlns:a="http://schemas.openxmlformats.org/drawingml/2006/main">
            <a:off x="11106150" y="65055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706B65"/>
                </a:solidFill>
                <a:latin typeface="Arial"/>
                <a:ea typeface="Arial"/>
                <a:cs typeface="Arial"/>
              </a:defRPr>
            </a:pPr>
            <a:r>
              <a:rPr sz="1125" b="0">
                <a:solidFill>
                  <a:srgbClr val="706B65"/>
                </a:solidFill>
                <a:latin typeface="Arial"/>
                <a:ea typeface="Arial"/>
                <a:cs typeface="Arial"/>
              </a:rPr>
              <a:t>10</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1fd27dc372264d81"/>
          <a:stretch xmlns:a="http://schemas.openxmlformats.org/drawingml/2006/main"/>
        </p:blipFill>
        <p:spPr>
          <a:xfrm xmlns:a="http://schemas.openxmlformats.org/drawingml/2006/main">
            <a:off x="1088136" y="2238375"/>
            <a:ext cx="5596128" cy="3886200"/>
          </a:xfrm>
          <a:prstGeom xmlns:a="http://schemas.openxmlformats.org/drawingml/2006/main" prst="rect">
            <a:avLst/>
          </a:prstGeom>
        </p:spPr>
      </p:pic>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0c221ef92592476b"/>
          <a:stretch xmlns:a="http://schemas.openxmlformats.org/drawingml/2006/main"/>
        </p:blipFill>
        <p:spPr>
          <a:xfrm xmlns:a="http://schemas.openxmlformats.org/drawingml/2006/main">
            <a:off x="7372350" y="2295378"/>
            <a:ext cx="1743075" cy="3772193"/>
          </a:xfrm>
          <a:prstGeom xmlns:a="http://schemas.openxmlformats.org/drawingml/2006/main" prst="rect">
            <a:avLst/>
          </a:prstGeom>
        </p:spPr>
      </p:pic>
      <p:sp>
        <p:nvSpPr>
          <p:cNvPr id="7" name="text-50">
            <a:extLst xmlns:a="http://schemas.openxmlformats.org/drawingml/2006/main">
              <a:ext uri="{FF2B5EF4-FFF2-40B4-BE49-F238E27FC236}">
                <a16:creationId xmlns:a16="http://schemas.microsoft.com/office/drawing/2014/main" id="{7D00FE55-496F-48D5-9539-14B78AB7D057}"/>
              </a:ext>
            </a:extLst>
          </p:cNvPr>
          <p:cNvSpPr>
            <a:spLocks xmlns:a="http://schemas.openxmlformats.org/drawingml/2006/main" noGrp="1"/>
          </p:cNvSpPr>
          <p:nvPr/>
        </p:nvSpPr>
        <p:spPr>
          <a:xfrm xmlns:a="http://schemas.openxmlformats.org/drawingml/2006/main">
            <a:off x="9410700" y="2400300"/>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35583C"/>
                </a:solidFill>
                <a:latin typeface="Arial"/>
                <a:ea typeface="Arial"/>
                <a:cs typeface="Arial"/>
              </a:defRPr>
            </a:pPr>
            <a:r>
              <a:rPr sz="1800" b="1">
                <a:solidFill>
                  <a:srgbClr val="35583C"/>
                </a:solidFill>
                <a:latin typeface="Arial"/>
                <a:ea typeface="Arial"/>
                <a:cs typeface="Arial"/>
              </a:rPr>
              <a:t>MVP discovery</a:t>
            </a:r>
          </a:p>
        </p:txBody>
      </p:sp>
      <p:sp>
        <p:nvSpPr>
          <p:cNvPr id="8" name="text-51">
            <a:extLst xmlns:a="http://schemas.openxmlformats.org/drawingml/2006/main">
              <a:ext uri="{FF2B5EF4-FFF2-40B4-BE49-F238E27FC236}">
                <a16:creationId xmlns:a16="http://schemas.microsoft.com/office/drawing/2014/main" id="{FBA7D249-3E66-4F21-ACCE-C51A15C9E378}"/>
              </a:ext>
            </a:extLst>
          </p:cNvPr>
          <p:cNvSpPr>
            <a:spLocks xmlns:a="http://schemas.openxmlformats.org/drawingml/2006/main" noGrp="1"/>
          </p:cNvSpPr>
          <p:nvPr/>
        </p:nvSpPr>
        <p:spPr>
          <a:xfrm xmlns:a="http://schemas.openxmlformats.org/drawingml/2006/main">
            <a:off x="9410700" y="2952750"/>
            <a:ext cx="2171700" cy="261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34233E"/>
                </a:solidFill>
                <a:latin typeface="Arial"/>
                <a:ea typeface="Arial"/>
                <a:cs typeface="Arial"/>
              </a:defRPr>
            </a:pPr>
            <a:r>
              <a:rPr sz="1575" b="0">
                <a:solidFill>
                  <a:srgbClr val="34233E"/>
                </a:solidFill>
                <a:latin typeface="Arial"/>
                <a:ea typeface="Arial"/>
                <a:cs typeface="Arial"/>
              </a:rPr>
              <a:t>A bold product opening leads to produce filters, farm profiles and approved batch summaries for prospective partners.</a:t>
            </a:r>
          </a:p>
        </p:txBody>
      </p:sp>
      <p:sp>
        <p:nvSpPr>
          <p:cNvPr id="9" name="text-52">
            <a:extLst xmlns:a="http://schemas.openxmlformats.org/drawingml/2006/main">
              <a:ext uri="{FF2B5EF4-FFF2-40B4-BE49-F238E27FC236}">
                <a16:creationId xmlns:a16="http://schemas.microsoft.com/office/drawing/2014/main" id="{1E67F6B6-060A-4E64-9C31-48F99A9EB46B}"/>
              </a:ext>
            </a:extLst>
          </p:cNvPr>
          <p:cNvSpPr>
            <a:spLocks xmlns:a="http://schemas.openxmlformats.org/drawingml/2006/main" noGrp="1"/>
          </p:cNvSpPr>
          <p:nvPr/>
        </p:nvSpPr>
        <p:spPr>
          <a:xfrm xmlns:a="http://schemas.openxmlformats.org/drawingml/2006/main">
            <a:off x="609600" y="6229350"/>
            <a:ext cx="10715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706B65"/>
                </a:solidFill>
                <a:latin typeface="Arial"/>
                <a:ea typeface="Arial"/>
                <a:cs typeface="Arial"/>
              </a:defRPr>
            </a:pPr>
            <a:r>
              <a:rPr sz="1275" b="0">
                <a:solidFill>
                  <a:srgbClr val="706B65"/>
                </a:solidFill>
                <a:latin typeface="Arial"/>
                <a:ea typeface="Arial"/>
                <a:cs typeface="Arial"/>
              </a:rPr>
              <a:t>Design concept. Motion and system integration are proposed.</a:t>
            </a:r>
          </a:p>
        </p:txBody>
      </p:sp>
    </p:spTree>
    <p:extLst>
      <p:ext uri="{BB962C8B-B14F-4D97-AF65-F5344CB8AC3E}">
        <p14:creationId xmlns:p14="http://schemas.microsoft.com/office/powerpoint/2010/main" val="1535529011"/>
      </p:ext>
    </p:extLst>
  </p:cSld>
</p:sld>
</file>

<file path=ppt/slides/slide11.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14" name="slide-title">
            <a:extLst xmlns:a="http://schemas.openxmlformats.org/drawingml/2006/main">
              <a:ext uri="{FF2B5EF4-FFF2-40B4-BE49-F238E27FC236}">
                <a16:creationId xmlns:a16="http://schemas.microsoft.com/office/drawing/2014/main" id="{3D33B0A5-6A2C-4A0C-9BB6-B7CF1537631A}"/>
              </a:ext>
            </a:extLst>
          </p:cNvPr>
          <p:cNvSpPr>
            <a:spLocks xmlns:a="http://schemas.openxmlformats.org/drawingml/2006/main" noGrp="1"/>
          </p:cNvSpPr>
          <p:nvPr/>
        </p:nvSpPr>
        <p:spPr>
          <a:xfrm xmlns:a="http://schemas.openxmlformats.org/drawingml/2006/main">
            <a:off x="609600" y="4953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542A69"/>
                </a:solidFill>
                <a:latin typeface="Georgia"/>
                <a:ea typeface="Georgia"/>
                <a:cs typeface="Georgia"/>
              </a:defRPr>
            </a:pPr>
            <a:r>
              <a:rPr sz="3300" b="0">
                <a:solidFill>
                  <a:srgbClr val="542A69"/>
                </a:solidFill>
                <a:latin typeface="Georgia"/>
                <a:ea typeface="Georgia"/>
                <a:cs typeface="Georgia"/>
              </a:rPr>
              <a:t>Produce, origin and batch discovery</a:t>
            </a:r>
          </a:p>
        </p:txBody>
      </p:sp>
      <p:sp>
        <p:nvSpPr>
          <p:cNvPr id="2" name="slide-subtitle">
            <a:extLst xmlns:a="http://schemas.openxmlformats.org/drawingml/2006/main">
              <a:ext uri="{FF2B5EF4-FFF2-40B4-BE49-F238E27FC236}">
                <a16:creationId xmlns:a16="http://schemas.microsoft.com/office/drawing/2014/main" id="{7B0265E3-F60E-4664-B0A7-33E04600411B}"/>
              </a:ext>
            </a:extLst>
          </p:cNvPr>
          <p:cNvSpPr>
            <a:spLocks xmlns:a="http://schemas.openxmlformats.org/drawingml/2006/main" noGrp="1"/>
          </p:cNvSpPr>
          <p:nvPr/>
        </p:nvSpPr>
        <p:spPr>
          <a:xfrm xmlns:a="http://schemas.openxmlformats.org/drawingml/2006/main">
            <a:off x="609600" y="1428750"/>
            <a:ext cx="10715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706B65"/>
                </a:solidFill>
                <a:latin typeface="Arial"/>
                <a:ea typeface="Arial"/>
                <a:cs typeface="Arial"/>
              </a:defRPr>
            </a:pPr>
            <a:r>
              <a:rPr sz="1725" b="0">
                <a:solidFill>
                  <a:srgbClr val="706B65"/>
                </a:solidFill>
                <a:latin typeface="Arial"/>
                <a:ea typeface="Arial"/>
                <a:cs typeface="Arial"/>
              </a:rPr>
              <a:t>The yam shifts as product information arrives. Purple and pale sections guide the visitor toward farm and batch discovery.</a:t>
            </a:r>
          </a:p>
        </p:txBody>
      </p:sp>
      <p:sp>
        <p:nvSpPr>
          <p:cNvPr id="3" name="footer">
            <a:extLst xmlns:a="http://schemas.openxmlformats.org/drawingml/2006/main">
              <a:ext uri="{FF2B5EF4-FFF2-40B4-BE49-F238E27FC236}">
                <a16:creationId xmlns:a16="http://schemas.microsoft.com/office/drawing/2014/main" id="{5B8D8989-428E-4908-8B0F-31592C476F32}"/>
              </a:ext>
            </a:extLst>
          </p:cNvPr>
          <p:cNvSpPr>
            <a:spLocks xmlns:a="http://schemas.openxmlformats.org/drawingml/2006/main" noGrp="1"/>
          </p:cNvSpPr>
          <p:nvPr/>
        </p:nvSpPr>
        <p:spPr>
          <a:xfrm xmlns:a="http://schemas.openxmlformats.org/drawingml/2006/main">
            <a:off x="609600" y="6543675"/>
            <a:ext cx="7143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00" b="0">
                <a:solidFill>
                  <a:srgbClr val="706B65"/>
                </a:solidFill>
                <a:latin typeface="Arial"/>
                <a:ea typeface="Arial"/>
                <a:cs typeface="Arial"/>
              </a:defRPr>
            </a:pPr>
            <a:r>
              <a:rPr sz="900" b="0">
                <a:solidFill>
                  <a:srgbClr val="706B65"/>
                </a:solidFill>
                <a:latin typeface="Arial"/>
                <a:ea typeface="Arial"/>
                <a:cs typeface="Arial"/>
              </a:rPr>
              <a:t>ROOTE ORIGIN SYSTEM</a:t>
            </a:r>
          </a:p>
        </p:txBody>
      </p:sp>
      <p:sp>
        <p:nvSpPr>
          <p:cNvPr id="4" name="slide-number">
            <a:extLst xmlns:a="http://schemas.openxmlformats.org/drawingml/2006/main">
              <a:ext uri="{FF2B5EF4-FFF2-40B4-BE49-F238E27FC236}">
                <a16:creationId xmlns:a16="http://schemas.microsoft.com/office/drawing/2014/main" id="{AC213C47-F092-4408-B4FD-CE12A652392C}"/>
              </a:ext>
            </a:extLst>
          </p:cNvPr>
          <p:cNvSpPr>
            <a:spLocks xmlns:a="http://schemas.openxmlformats.org/drawingml/2006/main" noGrp="1"/>
          </p:cNvSpPr>
          <p:nvPr/>
        </p:nvSpPr>
        <p:spPr>
          <a:xfrm xmlns:a="http://schemas.openxmlformats.org/drawingml/2006/main">
            <a:off x="11106150" y="65055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706B65"/>
                </a:solidFill>
                <a:latin typeface="Arial"/>
                <a:ea typeface="Arial"/>
                <a:cs typeface="Arial"/>
              </a:defRPr>
            </a:pPr>
            <a:r>
              <a:rPr sz="1125" b="0">
                <a:solidFill>
                  <a:srgbClr val="706B65"/>
                </a:solidFill>
                <a:latin typeface="Arial"/>
                <a:ea typeface="Arial"/>
                <a:cs typeface="Arial"/>
              </a:rPr>
              <a:t>11</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81359e85d3c94036"/>
          <a:stretch xmlns:a="http://schemas.openxmlformats.org/drawingml/2006/main"/>
        </p:blipFill>
        <p:spPr>
          <a:xfrm xmlns:a="http://schemas.openxmlformats.org/drawingml/2006/main">
            <a:off x="609600" y="2728913"/>
            <a:ext cx="3352800" cy="1571625"/>
          </a:xfrm>
          <a:prstGeom xmlns:a="http://schemas.openxmlformats.org/drawingml/2006/main" prst="rect">
            <a:avLst/>
          </a:prstGeom>
        </p:spPr>
      </p:pic>
      <p:sp>
        <p:nvSpPr>
          <p:cNvPr id="6" name="text-53">
            <a:extLst xmlns:a="http://schemas.openxmlformats.org/drawingml/2006/main">
              <a:ext uri="{FF2B5EF4-FFF2-40B4-BE49-F238E27FC236}">
                <a16:creationId xmlns:a16="http://schemas.microsoft.com/office/drawing/2014/main" id="{C9D6D0AA-DE3A-416D-8F0A-C23D00075669}"/>
              </a:ext>
            </a:extLst>
          </p:cNvPr>
          <p:cNvSpPr>
            <a:spLocks xmlns:a="http://schemas.openxmlformats.org/drawingml/2006/main" noGrp="1"/>
          </p:cNvSpPr>
          <p:nvPr/>
        </p:nvSpPr>
        <p:spPr>
          <a:xfrm xmlns:a="http://schemas.openxmlformats.org/drawingml/2006/main">
            <a:off x="609600" y="4772025"/>
            <a:ext cx="335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42A69"/>
                </a:solidFill>
                <a:latin typeface="Georgia"/>
                <a:ea typeface="Georgia"/>
                <a:cs typeface="Georgia"/>
              </a:defRPr>
            </a:pPr>
            <a:r>
              <a:rPr sz="1875" b="0">
                <a:solidFill>
                  <a:srgbClr val="542A69"/>
                </a:solidFill>
                <a:latin typeface="Georgia"/>
                <a:ea typeface="Georgia"/>
                <a:cs typeface="Georgia"/>
              </a:rPr>
              <a:t>The crop comes forward</a:t>
            </a:r>
          </a:p>
        </p:txBody>
      </p:sp>
      <p:sp>
        <p:nvSpPr>
          <p:cNvPr id="7" name="text-54">
            <a:extLst xmlns:a="http://schemas.openxmlformats.org/drawingml/2006/main">
              <a:ext uri="{FF2B5EF4-FFF2-40B4-BE49-F238E27FC236}">
                <a16:creationId xmlns:a16="http://schemas.microsoft.com/office/drawing/2014/main" id="{FA030298-BA25-4061-87A5-BB02E7EBB3AC}"/>
              </a:ext>
            </a:extLst>
          </p:cNvPr>
          <p:cNvSpPr>
            <a:spLocks xmlns:a="http://schemas.openxmlformats.org/drawingml/2006/main" noGrp="1"/>
          </p:cNvSpPr>
          <p:nvPr/>
        </p:nvSpPr>
        <p:spPr>
          <a:xfrm xmlns:a="http://schemas.openxmlformats.org/drawingml/2006/main">
            <a:off x="609600" y="5514975"/>
            <a:ext cx="335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34233E"/>
                </a:solidFill>
                <a:latin typeface="Arial"/>
                <a:ea typeface="Arial"/>
                <a:cs typeface="Arial"/>
              </a:defRPr>
            </a:pPr>
            <a:r>
              <a:rPr sz="1425" b="0">
                <a:solidFill>
                  <a:srgbClr val="34233E"/>
                </a:solidFill>
                <a:latin typeface="Arial"/>
                <a:ea typeface="Arial"/>
                <a:cs typeface="Arial"/>
              </a:rPr>
              <a:t>The large yam turns slightly as the hero gives way to clear product and origin information.</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fcb5080199af4229"/>
          <a:stretch xmlns:a="http://schemas.openxmlformats.org/drawingml/2006/main"/>
        </p:blipFill>
        <p:spPr>
          <a:xfrm xmlns:a="http://schemas.openxmlformats.org/drawingml/2006/main">
            <a:off x="4419600" y="2756853"/>
            <a:ext cx="3352800" cy="1515745"/>
          </a:xfrm>
          <a:prstGeom xmlns:a="http://schemas.openxmlformats.org/drawingml/2006/main" prst="rect">
            <a:avLst/>
          </a:prstGeom>
        </p:spPr>
      </p:pic>
      <p:sp>
        <p:nvSpPr>
          <p:cNvPr id="9" name="text-55">
            <a:extLst xmlns:a="http://schemas.openxmlformats.org/drawingml/2006/main">
              <a:ext uri="{FF2B5EF4-FFF2-40B4-BE49-F238E27FC236}">
                <a16:creationId xmlns:a16="http://schemas.microsoft.com/office/drawing/2014/main" id="{0B3D14C9-BA03-4348-849F-B5C03C3E9B7E}"/>
              </a:ext>
            </a:extLst>
          </p:cNvPr>
          <p:cNvSpPr>
            <a:spLocks xmlns:a="http://schemas.openxmlformats.org/drawingml/2006/main" noGrp="1"/>
          </p:cNvSpPr>
          <p:nvPr/>
        </p:nvSpPr>
        <p:spPr>
          <a:xfrm xmlns:a="http://schemas.openxmlformats.org/drawingml/2006/main">
            <a:off x="4419600" y="4772025"/>
            <a:ext cx="335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42A69"/>
                </a:solidFill>
                <a:latin typeface="Georgia"/>
                <a:ea typeface="Georgia"/>
                <a:cs typeface="Georgia"/>
              </a:defRPr>
            </a:pPr>
            <a:r>
              <a:rPr sz="1875" b="0">
                <a:solidFill>
                  <a:srgbClr val="542A69"/>
                </a:solidFill>
                <a:latin typeface="Georgia"/>
                <a:ea typeface="Georgia"/>
                <a:cs typeface="Georgia"/>
              </a:rPr>
              <a:t>Roots connect to growers</a:t>
            </a:r>
          </a:p>
        </p:txBody>
      </p:sp>
      <p:sp>
        <p:nvSpPr>
          <p:cNvPr id="10" name="text-56">
            <a:extLst xmlns:a="http://schemas.openxmlformats.org/drawingml/2006/main">
              <a:ext uri="{FF2B5EF4-FFF2-40B4-BE49-F238E27FC236}">
                <a16:creationId xmlns:a16="http://schemas.microsoft.com/office/drawing/2014/main" id="{40220C40-F7D4-419B-B6CF-B60A18E2C2DE}"/>
              </a:ext>
            </a:extLst>
          </p:cNvPr>
          <p:cNvSpPr>
            <a:spLocks xmlns:a="http://schemas.openxmlformats.org/drawingml/2006/main" noGrp="1"/>
          </p:cNvSpPr>
          <p:nvPr/>
        </p:nvSpPr>
        <p:spPr>
          <a:xfrm xmlns:a="http://schemas.openxmlformats.org/drawingml/2006/main">
            <a:off x="4419600" y="5514975"/>
            <a:ext cx="335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34233E"/>
                </a:solidFill>
                <a:latin typeface="Arial"/>
                <a:ea typeface="Arial"/>
                <a:cs typeface="Arial"/>
              </a:defRPr>
            </a:pPr>
            <a:r>
              <a:rPr sz="1425" b="0">
                <a:solidFill>
                  <a:srgbClr val="34233E"/>
                </a:solidFill>
                <a:latin typeface="Arial"/>
                <a:ea typeface="Arial"/>
                <a:cs typeface="Arial"/>
              </a:rPr>
              <a:t>Purple and pale sections exchange focus. Grower photography enters as one bold visual panel.</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f6a8588246944877"/>
          <a:stretch xmlns:a="http://schemas.openxmlformats.org/drawingml/2006/main"/>
        </p:blipFill>
        <p:spPr>
          <a:xfrm xmlns:a="http://schemas.openxmlformats.org/drawingml/2006/main">
            <a:off x="8229600" y="2714942"/>
            <a:ext cx="3352800" cy="1599565"/>
          </a:xfrm>
          <a:prstGeom xmlns:a="http://schemas.openxmlformats.org/drawingml/2006/main" prst="rect">
            <a:avLst/>
          </a:prstGeom>
        </p:spPr>
      </p:pic>
      <p:sp>
        <p:nvSpPr>
          <p:cNvPr id="12" name="text-57">
            <a:extLst xmlns:a="http://schemas.openxmlformats.org/drawingml/2006/main">
              <a:ext uri="{FF2B5EF4-FFF2-40B4-BE49-F238E27FC236}">
                <a16:creationId xmlns:a16="http://schemas.microsoft.com/office/drawing/2014/main" id="{CB671185-8B96-4E32-BD48-1A7536959925}"/>
              </a:ext>
            </a:extLst>
          </p:cNvPr>
          <p:cNvSpPr>
            <a:spLocks xmlns:a="http://schemas.openxmlformats.org/drawingml/2006/main" noGrp="1"/>
          </p:cNvSpPr>
          <p:nvPr/>
        </p:nvSpPr>
        <p:spPr>
          <a:xfrm xmlns:a="http://schemas.openxmlformats.org/drawingml/2006/main">
            <a:off x="8229600" y="4772025"/>
            <a:ext cx="335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42A69"/>
                </a:solidFill>
                <a:latin typeface="Georgia"/>
                <a:ea typeface="Georgia"/>
                <a:cs typeface="Georgia"/>
              </a:defRPr>
            </a:pPr>
            <a:r>
              <a:rPr sz="1875" b="0">
                <a:solidFill>
                  <a:srgbClr val="542A69"/>
                </a:solidFill>
                <a:latin typeface="Georgia"/>
                <a:ea typeface="Georgia"/>
                <a:cs typeface="Georgia"/>
              </a:rPr>
              <a:t>From interest to discovery</a:t>
            </a:r>
          </a:p>
        </p:txBody>
      </p:sp>
      <p:sp>
        <p:nvSpPr>
          <p:cNvPr id="13" name="text-58">
            <a:extLst xmlns:a="http://schemas.openxmlformats.org/drawingml/2006/main">
              <a:ext uri="{FF2B5EF4-FFF2-40B4-BE49-F238E27FC236}">
                <a16:creationId xmlns:a16="http://schemas.microsoft.com/office/drawing/2014/main" id="{6BDC1D34-1354-4258-B0F3-5491F38A9907}"/>
              </a:ext>
            </a:extLst>
          </p:cNvPr>
          <p:cNvSpPr>
            <a:spLocks xmlns:a="http://schemas.openxmlformats.org/drawingml/2006/main" noGrp="1"/>
          </p:cNvSpPr>
          <p:nvPr/>
        </p:nvSpPr>
        <p:spPr>
          <a:xfrm xmlns:a="http://schemas.openxmlformats.org/drawingml/2006/main">
            <a:off x="8229600" y="5514975"/>
            <a:ext cx="335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34233E"/>
                </a:solidFill>
                <a:latin typeface="Arial"/>
                <a:ea typeface="Arial"/>
                <a:cs typeface="Arial"/>
              </a:defRPr>
            </a:pPr>
            <a:r>
              <a:rPr sz="1425" b="0">
                <a:solidFill>
                  <a:srgbClr val="34233E"/>
                </a:solidFill>
                <a:latin typeface="Arial"/>
                <a:ea typeface="Arial"/>
                <a:cs typeface="Arial"/>
              </a:rPr>
              <a:t>Farm profiles and published batch summaries resolve through the ID, QR or partner entry point.</a:t>
            </a:r>
          </a:p>
        </p:txBody>
      </p:sp>
    </p:spTree>
    <p:extLst>
      <p:ext uri="{BB962C8B-B14F-4D97-AF65-F5344CB8AC3E}">
        <p14:creationId xmlns:p14="http://schemas.microsoft.com/office/powerpoint/2010/main" val="205733307"/>
      </p:ext>
    </p:extLst>
  </p:cSld>
</p:sld>
</file>

<file path=ppt/slides/slide12.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411DF241-A6D8-459D-85D8-F2CEFDDF4206}"/>
              </a:ext>
            </a:extLst>
          </p:cNvPr>
          <p:cNvSpPr>
            <a:spLocks xmlns:a="http://schemas.openxmlformats.org/drawingml/2006/main" noGrp="1"/>
          </p:cNvSpPr>
          <p:nvPr/>
        </p:nvSpPr>
        <p:spPr>
          <a:xfrm xmlns:a="http://schemas.openxmlformats.org/drawingml/2006/main">
            <a:off x="609600" y="4953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542A69"/>
                </a:solidFill>
                <a:latin typeface="Georgia"/>
                <a:ea typeface="Georgia"/>
                <a:cs typeface="Georgia"/>
              </a:defRPr>
            </a:pPr>
            <a:r>
              <a:rPr sz="3300" b="0">
                <a:solidFill>
                  <a:srgbClr val="542A69"/>
                </a:solidFill>
                <a:latin typeface="Georgia"/>
                <a:ea typeface="Georgia"/>
                <a:cs typeface="Georgia"/>
              </a:rPr>
              <a:t>Three designs, the same system</a:t>
            </a:r>
          </a:p>
        </p:txBody>
      </p:sp>
      <p:sp>
        <p:nvSpPr>
          <p:cNvPr id="2" name="slide-subtitle">
            <a:extLst xmlns:a="http://schemas.openxmlformats.org/drawingml/2006/main">
              <a:ext uri="{FF2B5EF4-FFF2-40B4-BE49-F238E27FC236}">
                <a16:creationId xmlns:a16="http://schemas.microsoft.com/office/drawing/2014/main" id="{98B0AE16-45C1-4451-A84B-367EB299C167}"/>
              </a:ext>
            </a:extLst>
          </p:cNvPr>
          <p:cNvSpPr>
            <a:spLocks xmlns:a="http://schemas.openxmlformats.org/drawingml/2006/main" noGrp="1"/>
          </p:cNvSpPr>
          <p:nvPr/>
        </p:nvSpPr>
        <p:spPr>
          <a:xfrm xmlns:a="http://schemas.openxmlformats.org/drawingml/2006/main">
            <a:off x="609600" y="1428750"/>
            <a:ext cx="10715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706B65"/>
                </a:solidFill>
                <a:latin typeface="Arial"/>
                <a:ea typeface="Arial"/>
                <a:cs typeface="Arial"/>
              </a:defRPr>
            </a:pPr>
            <a:r>
              <a:rPr sz="1725" b="0">
                <a:solidFill>
                  <a:srgbClr val="706B65"/>
                </a:solidFill>
                <a:latin typeface="Arial"/>
                <a:ea typeface="Arial"/>
                <a:cs typeface="Arial"/>
              </a:rPr>
              <a:t>Choose the public experience. Every direction includes the agreed inventory, member portal and batch QR features.</a:t>
            </a:r>
          </a:p>
        </p:txBody>
      </p:sp>
      <p:sp>
        <p:nvSpPr>
          <p:cNvPr id="3" name="footer">
            <a:extLst xmlns:a="http://schemas.openxmlformats.org/drawingml/2006/main">
              <a:ext uri="{FF2B5EF4-FFF2-40B4-BE49-F238E27FC236}">
                <a16:creationId xmlns:a16="http://schemas.microsoft.com/office/drawing/2014/main" id="{EE2D1B0F-A8D9-4ED8-BC89-35428B74B19F}"/>
              </a:ext>
            </a:extLst>
          </p:cNvPr>
          <p:cNvSpPr>
            <a:spLocks xmlns:a="http://schemas.openxmlformats.org/drawingml/2006/main" noGrp="1"/>
          </p:cNvSpPr>
          <p:nvPr/>
        </p:nvSpPr>
        <p:spPr>
          <a:xfrm xmlns:a="http://schemas.openxmlformats.org/drawingml/2006/main">
            <a:off x="609600" y="6543675"/>
            <a:ext cx="7143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00" b="0">
                <a:solidFill>
                  <a:srgbClr val="706B65"/>
                </a:solidFill>
                <a:latin typeface="Arial"/>
                <a:ea typeface="Arial"/>
                <a:cs typeface="Arial"/>
              </a:defRPr>
            </a:pPr>
            <a:r>
              <a:rPr sz="900" b="0">
                <a:solidFill>
                  <a:srgbClr val="706B65"/>
                </a:solidFill>
                <a:latin typeface="Arial"/>
                <a:ea typeface="Arial"/>
                <a:cs typeface="Arial"/>
              </a:rPr>
              <a:t>ROOTE ORIGIN SYSTEM</a:t>
            </a:r>
          </a:p>
        </p:txBody>
      </p:sp>
      <p:sp>
        <p:nvSpPr>
          <p:cNvPr id="4" name="slide-number">
            <a:extLst xmlns:a="http://schemas.openxmlformats.org/drawingml/2006/main">
              <a:ext uri="{FF2B5EF4-FFF2-40B4-BE49-F238E27FC236}">
                <a16:creationId xmlns:a16="http://schemas.microsoft.com/office/drawing/2014/main" id="{A632A7CB-06B3-4F23-B906-537E4C711EBF}"/>
              </a:ext>
            </a:extLst>
          </p:cNvPr>
          <p:cNvSpPr>
            <a:spLocks xmlns:a="http://schemas.openxmlformats.org/drawingml/2006/main" noGrp="1"/>
          </p:cNvSpPr>
          <p:nvPr/>
        </p:nvSpPr>
        <p:spPr>
          <a:xfrm xmlns:a="http://schemas.openxmlformats.org/drawingml/2006/main">
            <a:off x="11106150" y="65055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706B65"/>
                </a:solidFill>
                <a:latin typeface="Arial"/>
                <a:ea typeface="Arial"/>
                <a:cs typeface="Arial"/>
              </a:defRPr>
            </a:pPr>
            <a:r>
              <a:rPr sz="1125" b="0">
                <a:solidFill>
                  <a:srgbClr val="706B65"/>
                </a:solidFill>
                <a:latin typeface="Arial"/>
                <a:ea typeface="Arial"/>
                <a:cs typeface="Arial"/>
              </a:rPr>
              <a:t>12</a:t>
            </a:r>
          </a:p>
        </p:txBody>
      </p:sp>
      <p:graphicFrame>
        <p:nvGraphicFramePr>
          <p:cNvPr id="11" name=""/>
          <p:cNvGraphicFramePr/>
          <p:nvPr/>
        </p:nvGraphicFramePr>
        <p:xfrm>
          <a:off xmlns:a="http://schemas.openxmlformats.org/drawingml/2006/main" x="609600" y="2447925"/>
          <a:ext xmlns:a="http://schemas.openxmlformats.org/drawingml/2006/main" cx="10972800" cy="2781300"/>
        </p:xfrm>
        <a:graphic xmlns:a="http://schemas.openxmlformats.org/drawingml/2006/main">
          <a:graphicData uri="http://schemas.openxmlformats.org/drawingml/2006/table">
            <a:tbl>
              <a:tblPr firstRow="0" firstCol="0" bandRow="0"/>
              <a:tblGrid>
                <a:gridCol w="2857500"/>
                <a:gridCol w="2476500"/>
                <a:gridCol w="2714625"/>
                <a:gridCol w="2924175"/>
              </a:tblGrid>
              <a:tr h="552450">
                <a:tc>
                  <a:txBody>
                    <a:bodyPr wrap="square">
                      <a:noAutofit/>
                    </a:bodyPr>
                    <a:lstStyle/>
                    <a:p>
                      <a:r>
                        <a:rPr sz="1650" b="1">
                          <a:solidFill>
                            <a:srgbClr val="FFFFFF"/>
                          </a:solidFill>
                          <a:latin typeface="Arial"/>
                          <a:ea typeface="Arial"/>
                          <a:cs typeface="Arial"/>
                        </a:rPr>
                        <a:t>Direction</a:t>
                      </a:r>
                    </a:p>
                  </a:txBody>
                  <a:tcPr marL="133350" marR="133350" marT="95250" marB="95250" anchor="t">
                    <a:solidFill>
                      <a:srgbClr val="35583C"/>
                    </a:solidFill>
                  </a:tcPr>
                </a:tc>
                <a:tc>
                  <a:txBody>
                    <a:bodyPr wrap="square">
                      <a:noAutofit/>
                    </a:bodyPr>
                    <a:lstStyle/>
                    <a:p>
                      <a:r>
                        <a:rPr sz="1650" b="1">
                          <a:solidFill>
                            <a:srgbClr val="FFFFFF"/>
                          </a:solidFill>
                          <a:latin typeface="Arial"/>
                          <a:ea typeface="Arial"/>
                          <a:cs typeface="Arial"/>
                        </a:rPr>
                        <a:t>Main emphasis</a:t>
                      </a:r>
                    </a:p>
                  </a:txBody>
                  <a:tcPr marL="133350" marR="133350" marT="95250" marB="95250" anchor="t">
                    <a:solidFill>
                      <a:srgbClr val="35583C"/>
                    </a:solidFill>
                  </a:tcPr>
                </a:tc>
                <a:tc>
                  <a:txBody>
                    <a:bodyPr wrap="square">
                      <a:noAutofit/>
                    </a:bodyPr>
                    <a:lstStyle/>
                    <a:p>
                      <a:r>
                        <a:rPr sz="1650" b="1">
                          <a:solidFill>
                            <a:srgbClr val="FFFFFF"/>
                          </a:solidFill>
                          <a:latin typeface="Arial"/>
                          <a:ea typeface="Arial"/>
                          <a:cs typeface="Arial"/>
                        </a:rPr>
                        <a:t>Scroll behavior</a:t>
                      </a:r>
                    </a:p>
                  </a:txBody>
                  <a:tcPr marL="133350" marR="133350" marT="95250" marB="95250" anchor="t">
                    <a:solidFill>
                      <a:srgbClr val="35583C"/>
                    </a:solidFill>
                  </a:tcPr>
                </a:tc>
                <a:tc>
                  <a:txBody>
                    <a:bodyPr wrap="square">
                      <a:noAutofit/>
                    </a:bodyPr>
                    <a:lstStyle/>
                    <a:p>
                      <a:r>
                        <a:rPr sz="1650" b="1">
                          <a:solidFill>
                            <a:srgbClr val="FFFFFF"/>
                          </a:solidFill>
                          <a:latin typeface="Arial"/>
                          <a:ea typeface="Arial"/>
                          <a:cs typeface="Arial"/>
                        </a:rPr>
                        <a:t>MVP discovery</a:t>
                      </a:r>
                    </a:p>
                  </a:txBody>
                  <a:tcPr marL="133350" marR="133350" marT="95250" marB="95250" anchor="t">
                    <a:solidFill>
                      <a:srgbClr val="35583C"/>
                    </a:solidFill>
                  </a:tcPr>
                </a:tc>
              </a:tr>
              <a:tr h="742950">
                <a:tc>
                  <a:txBody>
                    <a:bodyPr wrap="square">
                      <a:noAutofit/>
                    </a:bodyPr>
                    <a:lstStyle/>
                    <a:p>
                      <a:r>
                        <a:rPr sz="1650" b="0">
                          <a:solidFill>
                            <a:srgbClr val="35583C"/>
                          </a:solidFill>
                          <a:latin typeface="Arial"/>
                          <a:ea typeface="Arial"/>
                          <a:cs typeface="Arial"/>
                        </a:rPr>
                        <a:t>From Root to Story</a:t>
                      </a:r>
                    </a:p>
                  </a:txBody>
                  <a:tcPr marL="133350" marR="133350" marT="95250" marB="95250" anchor="t">
                    <a:solidFill>
                      <a:srgbClr val="F6F3EA"/>
                    </a:solidFill>
                  </a:tcPr>
                </a:tc>
                <a:tc>
                  <a:txBody>
                    <a:bodyPr wrap="square">
                      <a:noAutofit/>
                    </a:bodyPr>
                    <a:lstStyle/>
                    <a:p>
                      <a:r>
                        <a:rPr sz="1650" b="0">
                          <a:solidFill>
                            <a:srgbClr val="34233E"/>
                          </a:solidFill>
                          <a:latin typeface="Arial"/>
                          <a:ea typeface="Arial"/>
                          <a:cs typeface="Arial"/>
                        </a:rPr>
                        <a:t>Botanical storytelling</a:t>
                      </a:r>
                    </a:p>
                  </a:txBody>
                  <a:tcPr marL="133350" marR="133350" marT="95250" marB="95250" anchor="t">
                    <a:solidFill>
                      <a:srgbClr val="F6F3EA"/>
                    </a:solidFill>
                  </a:tcPr>
                </a:tc>
                <a:tc>
                  <a:txBody>
                    <a:bodyPr wrap="square">
                      <a:noAutofit/>
                    </a:bodyPr>
                    <a:lstStyle/>
                    <a:p>
                      <a:r>
                        <a:rPr sz="1650" b="0">
                          <a:solidFill>
                            <a:srgbClr val="34233E"/>
                          </a:solidFill>
                          <a:latin typeface="Arial"/>
                          <a:ea typeface="Arial"/>
                          <a:cs typeface="Arial"/>
                        </a:rPr>
                        <a:t>Continuous plant journey</a:t>
                      </a:r>
                    </a:p>
                  </a:txBody>
                  <a:tcPr marL="133350" marR="133350" marT="95250" marB="95250" anchor="t">
                    <a:solidFill>
                      <a:srgbClr val="F6F3EA"/>
                    </a:solidFill>
                  </a:tcPr>
                </a:tc>
                <a:tc>
                  <a:txBody>
                    <a:bodyPr wrap="square">
                      <a:noAutofit/>
                    </a:bodyPr>
                    <a:lstStyle/>
                    <a:p>
                      <a:r>
                        <a:rPr sz="1650" b="0">
                          <a:solidFill>
                            <a:srgbClr val="34233E"/>
                          </a:solidFill>
                          <a:latin typeface="Arial"/>
                          <a:ea typeface="Arial"/>
                          <a:cs typeface="Arial"/>
                        </a:rPr>
                        <a:t>Tip-leaf lookup and partner leaves</a:t>
                      </a:r>
                    </a:p>
                  </a:txBody>
                  <a:tcPr marL="133350" marR="133350" marT="95250" marB="95250" anchor="t">
                    <a:solidFill>
                      <a:srgbClr val="F6F3EA"/>
                    </a:solidFill>
                  </a:tcPr>
                </a:tc>
              </a:tr>
              <a:tr h="742950">
                <a:tc>
                  <a:txBody>
                    <a:bodyPr wrap="square">
                      <a:noAutofit/>
                    </a:bodyPr>
                    <a:lstStyle/>
                    <a:p>
                      <a:r>
                        <a:rPr sz="1650" b="0">
                          <a:solidFill>
                            <a:srgbClr val="35583C"/>
                          </a:solidFill>
                          <a:latin typeface="Arial"/>
                          <a:ea typeface="Arial"/>
                          <a:cs typeface="Arial"/>
                        </a:rPr>
                        <a:t>Grown Together in Davao</a:t>
                      </a:r>
                    </a:p>
                  </a:txBody>
                  <a:tcPr marL="133350" marR="133350" marT="95250" marB="95250" anchor="t">
                    <a:solidFill>
                      <a:srgbClr val="F6F3EA"/>
                    </a:solidFill>
                  </a:tcPr>
                </a:tc>
                <a:tc>
                  <a:txBody>
                    <a:bodyPr wrap="square">
                      <a:noAutofit/>
                    </a:bodyPr>
                    <a:lstStyle/>
                    <a:p>
                      <a:r>
                        <a:rPr sz="1650" b="0">
                          <a:solidFill>
                            <a:srgbClr val="34233E"/>
                          </a:solidFill>
                          <a:latin typeface="Arial"/>
                          <a:ea typeface="Arial"/>
                          <a:cs typeface="Arial"/>
                        </a:rPr>
                        <a:t>Growers and place</a:t>
                      </a:r>
                    </a:p>
                  </a:txBody>
                  <a:tcPr marL="133350" marR="133350" marT="95250" marB="95250" anchor="t">
                    <a:solidFill>
                      <a:srgbClr val="F6F3EA"/>
                    </a:solidFill>
                  </a:tcPr>
                </a:tc>
                <a:tc>
                  <a:txBody>
                    <a:bodyPr wrap="square">
                      <a:noAutofit/>
                    </a:bodyPr>
                    <a:lstStyle/>
                    <a:p>
                      <a:r>
                        <a:rPr sz="1650" b="0">
                          <a:solidFill>
                            <a:srgbClr val="34233E"/>
                          </a:solidFill>
                          <a:latin typeface="Arial"/>
                          <a:ea typeface="Arial"/>
                          <a:cs typeface="Arial"/>
                        </a:rPr>
                        <a:t>Readable editorial chapters</a:t>
                      </a:r>
                    </a:p>
                  </a:txBody>
                  <a:tcPr marL="133350" marR="133350" marT="95250" marB="95250" anchor="t">
                    <a:solidFill>
                      <a:srgbClr val="F6F3EA"/>
                    </a:solidFill>
                  </a:tcPr>
                </a:tc>
                <a:tc>
                  <a:txBody>
                    <a:bodyPr wrap="square">
                      <a:noAutofit/>
                    </a:bodyPr>
                    <a:lstStyle/>
                    <a:p>
                      <a:r>
                        <a:rPr sz="1650" b="0">
                          <a:solidFill>
                            <a:srgbClr val="34233E"/>
                          </a:solidFill>
                          <a:latin typeface="Arial"/>
                          <a:ea typeface="Arial"/>
                          <a:cs typeface="Arial"/>
                        </a:rPr>
                        <a:t>Farm cards and a visible lookup area</a:t>
                      </a:r>
                    </a:p>
                  </a:txBody>
                  <a:tcPr marL="133350" marR="133350" marT="95250" marB="95250" anchor="t">
                    <a:solidFill>
                      <a:srgbClr val="F6F3EA"/>
                    </a:solidFill>
                  </a:tcPr>
                </a:tc>
              </a:tr>
              <a:tr h="742950">
                <a:tc>
                  <a:txBody>
                    <a:bodyPr wrap="square">
                      <a:noAutofit/>
                    </a:bodyPr>
                    <a:lstStyle/>
                    <a:p>
                      <a:r>
                        <a:rPr sz="1650" b="0">
                          <a:solidFill>
                            <a:srgbClr val="35583C"/>
                          </a:solidFill>
                          <a:latin typeface="Arial"/>
                          <a:ea typeface="Arial"/>
                          <a:cs typeface="Arial"/>
                        </a:rPr>
                        <a:t>Purple to the World</a:t>
                      </a:r>
                    </a:p>
                  </a:txBody>
                  <a:tcPr marL="133350" marR="133350" marT="95250" marB="95250" anchor="t">
                    <a:solidFill>
                      <a:srgbClr val="F6F3EA"/>
                    </a:solidFill>
                  </a:tcPr>
                </a:tc>
                <a:tc>
                  <a:txBody>
                    <a:bodyPr wrap="square">
                      <a:noAutofit/>
                    </a:bodyPr>
                    <a:lstStyle/>
                    <a:p>
                      <a:r>
                        <a:rPr sz="1650" b="0">
                          <a:solidFill>
                            <a:srgbClr val="34233E"/>
                          </a:solidFill>
                          <a:latin typeface="Arial"/>
                          <a:ea typeface="Arial"/>
                          <a:cs typeface="Arial"/>
                        </a:rPr>
                        <a:t>Produce and prospective buyers</a:t>
                      </a:r>
                    </a:p>
                  </a:txBody>
                  <a:tcPr marL="133350" marR="133350" marT="95250" marB="95250" anchor="t">
                    <a:solidFill>
                      <a:srgbClr val="F6F3EA"/>
                    </a:solidFill>
                  </a:tcPr>
                </a:tc>
                <a:tc>
                  <a:txBody>
                    <a:bodyPr wrap="square">
                      <a:noAutofit/>
                    </a:bodyPr>
                    <a:lstStyle/>
                    <a:p>
                      <a:r>
                        <a:rPr sz="1650" b="0">
                          <a:solidFill>
                            <a:srgbClr val="34233E"/>
                          </a:solidFill>
                          <a:latin typeface="Arial"/>
                          <a:ea typeface="Arial"/>
                          <a:cs typeface="Arial"/>
                        </a:rPr>
                        <a:t>Product movement and transitions</a:t>
                      </a:r>
                    </a:p>
                  </a:txBody>
                  <a:tcPr marL="133350" marR="133350" marT="95250" marB="95250" anchor="t">
                    <a:solidFill>
                      <a:srgbClr val="F6F3EA"/>
                    </a:solidFill>
                  </a:tcPr>
                </a:tc>
                <a:tc>
                  <a:txBody>
                    <a:bodyPr wrap="square">
                      <a:noAutofit/>
                    </a:bodyPr>
                    <a:lstStyle/>
                    <a:p>
                      <a:r>
                        <a:rPr sz="1650" b="0">
                          <a:solidFill>
                            <a:srgbClr val="34233E"/>
                          </a:solidFill>
                          <a:latin typeface="Arial"/>
                          <a:ea typeface="Arial"/>
                          <a:cs typeface="Arial"/>
                        </a:rPr>
                        <a:t>Produce catalogue and origin links</a:t>
                      </a:r>
                    </a:p>
                  </a:txBody>
                  <a:tcPr marL="133350" marR="133350" marT="95250" marB="95250" anchor="t">
                    <a:solidFill>
                      <a:srgbClr val="F6F3EA"/>
                    </a:solidFill>
                  </a:tcPr>
                </a:tc>
              </a:tr>
            </a:tbl>
          </a:graphicData>
        </a:graphic>
      </p:graphicFrame>
      <p:sp>
        <p:nvSpPr>
          <p:cNvPr id="6" name="text-59">
            <a:extLst xmlns:a="http://schemas.openxmlformats.org/drawingml/2006/main">
              <a:ext uri="{FF2B5EF4-FFF2-40B4-BE49-F238E27FC236}">
                <a16:creationId xmlns:a16="http://schemas.microsoft.com/office/drawing/2014/main" id="{9A220A80-FF11-4712-B2C1-15D65A76A93C}"/>
              </a:ext>
            </a:extLst>
          </p:cNvPr>
          <p:cNvSpPr>
            <a:spLocks xmlns:a="http://schemas.openxmlformats.org/drawingml/2006/main" noGrp="1"/>
          </p:cNvSpPr>
          <p:nvPr/>
        </p:nvSpPr>
        <p:spPr>
          <a:xfrm xmlns:a="http://schemas.openxmlformats.org/drawingml/2006/main">
            <a:off x="609600" y="5581650"/>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35583C"/>
                </a:solidFill>
                <a:latin typeface="Arial"/>
                <a:ea typeface="Arial"/>
                <a:cs typeface="Arial"/>
              </a:defRPr>
            </a:pPr>
            <a:r>
              <a:rPr sz="1725" b="0">
                <a:solidFill>
                  <a:srgbClr val="35583C"/>
                </a:solidFill>
                <a:latin typeface="Arial"/>
                <a:ea typeface="Arial"/>
                <a:cs typeface="Arial"/>
              </a:rPr>
              <a:t>The selected direction needs approved cooperative photography, copy and farm records.</a:t>
            </a:r>
          </a:p>
        </p:txBody>
      </p:sp>
    </p:spTree>
    <p:extLst>
      <p:ext uri="{BB962C8B-B14F-4D97-AF65-F5344CB8AC3E}">
        <p14:creationId xmlns:p14="http://schemas.microsoft.com/office/powerpoint/2010/main" val="926162881"/>
      </p:ext>
    </p:extLst>
  </p:cSld>
</p:sld>
</file>

<file path=ppt/slides/slide13.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15" name="slide-title">
            <a:extLst xmlns:a="http://schemas.openxmlformats.org/drawingml/2006/main">
              <a:ext uri="{FF2B5EF4-FFF2-40B4-BE49-F238E27FC236}">
                <a16:creationId xmlns:a16="http://schemas.microsoft.com/office/drawing/2014/main" id="{3B2282B3-D948-43FE-9724-A5EC8AF92796}"/>
              </a:ext>
            </a:extLst>
          </p:cNvPr>
          <p:cNvSpPr>
            <a:spLocks xmlns:a="http://schemas.openxmlformats.org/drawingml/2006/main" noGrp="1"/>
          </p:cNvSpPr>
          <p:nvPr/>
        </p:nvSpPr>
        <p:spPr>
          <a:xfrm xmlns:a="http://schemas.openxmlformats.org/drawingml/2006/main">
            <a:off x="609600" y="4953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542A69"/>
                </a:solidFill>
                <a:latin typeface="Georgia"/>
                <a:ea typeface="Georgia"/>
                <a:cs typeface="Georgia"/>
              </a:defRPr>
            </a:pPr>
            <a:r>
              <a:rPr sz="3300" b="0">
                <a:solidFill>
                  <a:srgbClr val="542A69"/>
                </a:solidFill>
                <a:latin typeface="Georgia"/>
                <a:ea typeface="Georgia"/>
                <a:cs typeface="Georgia"/>
              </a:rPr>
              <a:t>MERN implementation</a:t>
            </a:r>
          </a:p>
        </p:txBody>
      </p:sp>
      <p:sp>
        <p:nvSpPr>
          <p:cNvPr id="2" name="slide-subtitle">
            <a:extLst xmlns:a="http://schemas.openxmlformats.org/drawingml/2006/main">
              <a:ext uri="{FF2B5EF4-FFF2-40B4-BE49-F238E27FC236}">
                <a16:creationId xmlns:a16="http://schemas.microsoft.com/office/drawing/2014/main" id="{C16736D9-8AF9-4176-BB0C-9CD788991C28}"/>
              </a:ext>
            </a:extLst>
          </p:cNvPr>
          <p:cNvSpPr>
            <a:spLocks xmlns:a="http://schemas.openxmlformats.org/drawingml/2006/main" noGrp="1"/>
          </p:cNvSpPr>
          <p:nvPr/>
        </p:nvSpPr>
        <p:spPr>
          <a:xfrm xmlns:a="http://schemas.openxmlformats.org/drawingml/2006/main">
            <a:off x="609600" y="1428750"/>
            <a:ext cx="10715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706B65"/>
                </a:solidFill>
                <a:latin typeface="Arial"/>
                <a:ea typeface="Arial"/>
                <a:cs typeface="Arial"/>
              </a:defRPr>
            </a:pPr>
            <a:r>
              <a:rPr sz="1725" b="0">
                <a:solidFill>
                  <a:srgbClr val="706B65"/>
                </a:solidFill>
                <a:latin typeface="Arial"/>
                <a:ea typeface="Arial"/>
                <a:cs typeface="Arial"/>
              </a:rPr>
              <a:t>MongoDB, Express, React and Node.js 26, with TypeScript across the frontend and backend.</a:t>
            </a:r>
          </a:p>
        </p:txBody>
      </p:sp>
      <p:sp>
        <p:nvSpPr>
          <p:cNvPr id="3" name="footer">
            <a:extLst xmlns:a="http://schemas.openxmlformats.org/drawingml/2006/main">
              <a:ext uri="{FF2B5EF4-FFF2-40B4-BE49-F238E27FC236}">
                <a16:creationId xmlns:a16="http://schemas.microsoft.com/office/drawing/2014/main" id="{89039134-4750-4924-B4BB-FA490D5AD8C6}"/>
              </a:ext>
            </a:extLst>
          </p:cNvPr>
          <p:cNvSpPr>
            <a:spLocks xmlns:a="http://schemas.openxmlformats.org/drawingml/2006/main" noGrp="1"/>
          </p:cNvSpPr>
          <p:nvPr/>
        </p:nvSpPr>
        <p:spPr>
          <a:xfrm xmlns:a="http://schemas.openxmlformats.org/drawingml/2006/main">
            <a:off x="609600" y="6543675"/>
            <a:ext cx="7143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00" b="0">
                <a:solidFill>
                  <a:srgbClr val="706B65"/>
                </a:solidFill>
                <a:latin typeface="Arial"/>
                <a:ea typeface="Arial"/>
                <a:cs typeface="Arial"/>
              </a:defRPr>
            </a:pPr>
            <a:r>
              <a:rPr sz="900" b="0">
                <a:solidFill>
                  <a:srgbClr val="706B65"/>
                </a:solidFill>
                <a:latin typeface="Arial"/>
                <a:ea typeface="Arial"/>
                <a:cs typeface="Arial"/>
              </a:rPr>
              <a:t>ROOTE ORIGIN SYSTEM</a:t>
            </a:r>
          </a:p>
        </p:txBody>
      </p:sp>
      <p:sp>
        <p:nvSpPr>
          <p:cNvPr id="4" name="slide-number">
            <a:extLst xmlns:a="http://schemas.openxmlformats.org/drawingml/2006/main">
              <a:ext uri="{FF2B5EF4-FFF2-40B4-BE49-F238E27FC236}">
                <a16:creationId xmlns:a16="http://schemas.microsoft.com/office/drawing/2014/main" id="{3E3973C0-8725-4B06-A597-F04CD436149E}"/>
              </a:ext>
            </a:extLst>
          </p:cNvPr>
          <p:cNvSpPr>
            <a:spLocks xmlns:a="http://schemas.openxmlformats.org/drawingml/2006/main" noGrp="1"/>
          </p:cNvSpPr>
          <p:nvPr/>
        </p:nvSpPr>
        <p:spPr>
          <a:xfrm xmlns:a="http://schemas.openxmlformats.org/drawingml/2006/main">
            <a:off x="11106150" y="65055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706B65"/>
                </a:solidFill>
                <a:latin typeface="Arial"/>
                <a:ea typeface="Arial"/>
                <a:cs typeface="Arial"/>
              </a:defRPr>
            </a:pPr>
            <a:r>
              <a:rPr sz="1125" b="0">
                <a:solidFill>
                  <a:srgbClr val="706B65"/>
                </a:solidFill>
                <a:latin typeface="Arial"/>
                <a:ea typeface="Arial"/>
                <a:cs typeface="Arial"/>
              </a:rPr>
              <a:t>13</a:t>
            </a:r>
          </a:p>
        </p:txBody>
      </p:sp>
      <p:sp>
        <p:nvSpPr>
          <p:cNvPr id="5" name="text-60">
            <a:extLst xmlns:a="http://schemas.openxmlformats.org/drawingml/2006/main">
              <a:ext uri="{FF2B5EF4-FFF2-40B4-BE49-F238E27FC236}">
                <a16:creationId xmlns:a16="http://schemas.microsoft.com/office/drawing/2014/main" id="{4F7E477E-5225-43AF-A3C9-134AC216D7AF}"/>
              </a:ext>
            </a:extLst>
          </p:cNvPr>
          <p:cNvSpPr>
            <a:spLocks xmlns:a="http://schemas.openxmlformats.org/drawingml/2006/main" noGrp="1"/>
          </p:cNvSpPr>
          <p:nvPr/>
        </p:nvSpPr>
        <p:spPr>
          <a:xfrm xmlns:a="http://schemas.openxmlformats.org/drawingml/2006/main">
            <a:off x="609600" y="2524125"/>
            <a:ext cx="3238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42A69"/>
                </a:solidFill>
                <a:latin typeface="Georgia"/>
                <a:ea typeface="Georgia"/>
                <a:cs typeface="Georgia"/>
              </a:defRPr>
            </a:pPr>
            <a:r>
              <a:rPr sz="1950" b="0">
                <a:solidFill>
                  <a:srgbClr val="542A69"/>
                </a:solidFill>
                <a:latin typeface="Georgia"/>
                <a:ea typeface="Georgia"/>
                <a:cs typeface="Georgia"/>
              </a:rPr>
              <a:t>React</a:t>
            </a:r>
          </a:p>
        </p:txBody>
      </p:sp>
      <p:sp>
        <p:nvSpPr>
          <p:cNvPr id="6" name="text-61">
            <a:extLst xmlns:a="http://schemas.openxmlformats.org/drawingml/2006/main">
              <a:ext uri="{FF2B5EF4-FFF2-40B4-BE49-F238E27FC236}">
                <a16:creationId xmlns:a16="http://schemas.microsoft.com/office/drawing/2014/main" id="{741407D6-A090-4B65-8F72-19D4E1F62C80}"/>
              </a:ext>
            </a:extLst>
          </p:cNvPr>
          <p:cNvSpPr>
            <a:spLocks xmlns:a="http://schemas.openxmlformats.org/drawingml/2006/main" noGrp="1"/>
          </p:cNvSpPr>
          <p:nvPr/>
        </p:nvSpPr>
        <p:spPr>
          <a:xfrm xmlns:a="http://schemas.openxmlformats.org/drawingml/2006/main">
            <a:off x="4181475" y="2543175"/>
            <a:ext cx="70199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4233E"/>
                </a:solidFill>
                <a:latin typeface="Arial"/>
                <a:ea typeface="Arial"/>
                <a:cs typeface="Arial"/>
              </a:defRPr>
            </a:pPr>
            <a:r>
              <a:rPr sz="1650" b="0">
                <a:solidFill>
                  <a:srgbClr val="34233E"/>
                </a:solidFill>
                <a:latin typeface="Arial"/>
                <a:ea typeface="Arial"/>
                <a:cs typeface="Arial"/>
              </a:rPr>
              <a:t>Animated public website, farm inventory, batch summaries and the member dashboard.</a:t>
            </a:r>
          </a:p>
        </p:txBody>
      </p:sp>
      <p:sp>
        <p:nvSpPr>
          <p:cNvPr id="7" name="divider-62">
            <a:extLst xmlns:a="http://schemas.openxmlformats.org/drawingml/2006/main">
              <a:ext uri="{FF2B5EF4-FFF2-40B4-BE49-F238E27FC236}">
                <a16:creationId xmlns:a16="http://schemas.microsoft.com/office/drawing/2014/main" id="{96114A7E-0B21-45A0-850C-97DA81F3A19F}"/>
              </a:ext>
            </a:extLst>
          </p:cNvPr>
          <p:cNvSpPr>
            <a:spLocks xmlns:a="http://schemas.openxmlformats.org/drawingml/2006/main" noGrp="1"/>
          </p:cNvSpPr>
          <p:nvPr/>
        </p:nvSpPr>
        <p:spPr>
          <a:xfrm xmlns:a="http://schemas.openxmlformats.org/drawingml/2006/main">
            <a:off x="609600" y="3457575"/>
            <a:ext cx="10591800" cy="0"/>
          </a:xfrm>
          <a:prstGeom xmlns:a="http://schemas.openxmlformats.org/drawingml/2006/main" prst="line">
            <a:avLst/>
          </a:prstGeom>
          <a:noFill xmlns:a="http://schemas.openxmlformats.org/drawingml/2006/main"/>
          <a:ln xmlns:a="http://schemas.openxmlformats.org/drawingml/2006/main" w="9525">
            <a:solidFill>
              <a:srgbClr val="D8D0BE"/>
            </a:solidFill>
            <a:prstDash val="solid"/>
          </a:ln>
        </p:spPr>
      </p:sp>
      <p:sp>
        <p:nvSpPr>
          <p:cNvPr id="8" name="text-63">
            <a:extLst xmlns:a="http://schemas.openxmlformats.org/drawingml/2006/main">
              <a:ext uri="{FF2B5EF4-FFF2-40B4-BE49-F238E27FC236}">
                <a16:creationId xmlns:a16="http://schemas.microsoft.com/office/drawing/2014/main" id="{71D711A2-43EC-43BD-98FF-24917FF3DCED}"/>
              </a:ext>
            </a:extLst>
          </p:cNvPr>
          <p:cNvSpPr>
            <a:spLocks xmlns:a="http://schemas.openxmlformats.org/drawingml/2006/main" noGrp="1"/>
          </p:cNvSpPr>
          <p:nvPr/>
        </p:nvSpPr>
        <p:spPr>
          <a:xfrm xmlns:a="http://schemas.openxmlformats.org/drawingml/2006/main">
            <a:off x="609600" y="3600450"/>
            <a:ext cx="3238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42A69"/>
                </a:solidFill>
                <a:latin typeface="Georgia"/>
                <a:ea typeface="Georgia"/>
                <a:cs typeface="Georgia"/>
              </a:defRPr>
            </a:pPr>
            <a:r>
              <a:rPr sz="1950" b="0">
                <a:solidFill>
                  <a:srgbClr val="542A69"/>
                </a:solidFill>
                <a:latin typeface="Georgia"/>
                <a:ea typeface="Georgia"/>
                <a:cs typeface="Georgia"/>
              </a:rPr>
              <a:t>Express and Node.js 26</a:t>
            </a:r>
          </a:p>
        </p:txBody>
      </p:sp>
      <p:sp>
        <p:nvSpPr>
          <p:cNvPr id="9" name="text-64">
            <a:extLst xmlns:a="http://schemas.openxmlformats.org/drawingml/2006/main">
              <a:ext uri="{FF2B5EF4-FFF2-40B4-BE49-F238E27FC236}">
                <a16:creationId xmlns:a16="http://schemas.microsoft.com/office/drawing/2014/main" id="{7FA5714C-B035-4B77-83E0-FEB3940AF52A}"/>
              </a:ext>
            </a:extLst>
          </p:cNvPr>
          <p:cNvSpPr>
            <a:spLocks xmlns:a="http://schemas.openxmlformats.org/drawingml/2006/main" noGrp="1"/>
          </p:cNvSpPr>
          <p:nvPr/>
        </p:nvSpPr>
        <p:spPr>
          <a:xfrm xmlns:a="http://schemas.openxmlformats.org/drawingml/2006/main">
            <a:off x="4181475" y="3619500"/>
            <a:ext cx="70199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4233E"/>
                </a:solidFill>
                <a:latin typeface="Arial"/>
                <a:ea typeface="Arial"/>
                <a:cs typeface="Arial"/>
              </a:defRPr>
            </a:pPr>
            <a:r>
              <a:rPr sz="1650" b="0">
                <a:solidFill>
                  <a:srgbClr val="34233E"/>
                </a:solidFill>
                <a:latin typeface="Arial"/>
                <a:ea typeface="Arial"/>
                <a:cs typeface="Arial"/>
              </a:rPr>
              <a:t>API validation, authenticated access, role permissions and publication controls.</a:t>
            </a:r>
          </a:p>
        </p:txBody>
      </p:sp>
      <p:sp>
        <p:nvSpPr>
          <p:cNvPr id="10" name="divider-65">
            <a:extLst xmlns:a="http://schemas.openxmlformats.org/drawingml/2006/main">
              <a:ext uri="{FF2B5EF4-FFF2-40B4-BE49-F238E27FC236}">
                <a16:creationId xmlns:a16="http://schemas.microsoft.com/office/drawing/2014/main" id="{D9314ABF-16E6-4520-904D-17FF0FB7E869}"/>
              </a:ext>
            </a:extLst>
          </p:cNvPr>
          <p:cNvSpPr>
            <a:spLocks xmlns:a="http://schemas.openxmlformats.org/drawingml/2006/main" noGrp="1"/>
          </p:cNvSpPr>
          <p:nvPr/>
        </p:nvSpPr>
        <p:spPr>
          <a:xfrm xmlns:a="http://schemas.openxmlformats.org/drawingml/2006/main">
            <a:off x="609600" y="4533900"/>
            <a:ext cx="10591800" cy="0"/>
          </a:xfrm>
          <a:prstGeom xmlns:a="http://schemas.openxmlformats.org/drawingml/2006/main" prst="line">
            <a:avLst/>
          </a:prstGeom>
          <a:noFill xmlns:a="http://schemas.openxmlformats.org/drawingml/2006/main"/>
          <a:ln xmlns:a="http://schemas.openxmlformats.org/drawingml/2006/main" w="9525">
            <a:solidFill>
              <a:srgbClr val="D8D0BE"/>
            </a:solidFill>
            <a:prstDash val="solid"/>
          </a:ln>
        </p:spPr>
      </p:sp>
      <p:sp>
        <p:nvSpPr>
          <p:cNvPr id="11" name="text-66">
            <a:extLst xmlns:a="http://schemas.openxmlformats.org/drawingml/2006/main">
              <a:ext uri="{FF2B5EF4-FFF2-40B4-BE49-F238E27FC236}">
                <a16:creationId xmlns:a16="http://schemas.microsoft.com/office/drawing/2014/main" id="{9D730289-7CB5-4268-9324-10599D70A98B}"/>
              </a:ext>
            </a:extLst>
          </p:cNvPr>
          <p:cNvSpPr>
            <a:spLocks xmlns:a="http://schemas.openxmlformats.org/drawingml/2006/main" noGrp="1"/>
          </p:cNvSpPr>
          <p:nvPr/>
        </p:nvSpPr>
        <p:spPr>
          <a:xfrm xmlns:a="http://schemas.openxmlformats.org/drawingml/2006/main">
            <a:off x="609600" y="4676775"/>
            <a:ext cx="3238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42A69"/>
                </a:solidFill>
                <a:latin typeface="Georgia"/>
                <a:ea typeface="Georgia"/>
                <a:cs typeface="Georgia"/>
              </a:defRPr>
            </a:pPr>
            <a:r>
              <a:rPr sz="1950" b="0">
                <a:solidFill>
                  <a:srgbClr val="542A69"/>
                </a:solidFill>
                <a:latin typeface="Georgia"/>
                <a:ea typeface="Georgia"/>
                <a:cs typeface="Georgia"/>
              </a:rPr>
              <a:t>MongoDB</a:t>
            </a:r>
          </a:p>
        </p:txBody>
      </p:sp>
      <p:sp>
        <p:nvSpPr>
          <p:cNvPr id="12" name="text-67">
            <a:extLst xmlns:a="http://schemas.openxmlformats.org/drawingml/2006/main">
              <a:ext uri="{FF2B5EF4-FFF2-40B4-BE49-F238E27FC236}">
                <a16:creationId xmlns:a16="http://schemas.microsoft.com/office/drawing/2014/main" id="{05B4939C-D7C8-4B1D-B92B-C4EA2D13344F}"/>
              </a:ext>
            </a:extLst>
          </p:cNvPr>
          <p:cNvSpPr>
            <a:spLocks xmlns:a="http://schemas.openxmlformats.org/drawingml/2006/main" noGrp="1"/>
          </p:cNvSpPr>
          <p:nvPr/>
        </p:nvSpPr>
        <p:spPr>
          <a:xfrm xmlns:a="http://schemas.openxmlformats.org/drawingml/2006/main">
            <a:off x="4181475" y="4695825"/>
            <a:ext cx="70199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4233E"/>
                </a:solidFill>
                <a:latin typeface="Arial"/>
                <a:ea typeface="Arial"/>
                <a:cs typeface="Arial"/>
              </a:defRPr>
            </a:pPr>
            <a:r>
              <a:rPr sz="1650" b="0">
                <a:solidFill>
                  <a:srgbClr val="34233E"/>
                </a:solidFill>
                <a:latin typeface="Arial"/>
                <a:ea typeface="Arial"/>
                <a:cs typeface="Arial"/>
              </a:rPr>
              <a:t>Farms, produce, members, batches, processing links, recipients and record history.</a:t>
            </a:r>
          </a:p>
        </p:txBody>
      </p:sp>
      <p:sp>
        <p:nvSpPr>
          <p:cNvPr id="13" name="divider-68">
            <a:extLst xmlns:a="http://schemas.openxmlformats.org/drawingml/2006/main">
              <a:ext uri="{FF2B5EF4-FFF2-40B4-BE49-F238E27FC236}">
                <a16:creationId xmlns:a16="http://schemas.microsoft.com/office/drawing/2014/main" id="{E232B499-70C2-47DE-916B-BF22A08251D6}"/>
              </a:ext>
            </a:extLst>
          </p:cNvPr>
          <p:cNvSpPr>
            <a:spLocks xmlns:a="http://schemas.openxmlformats.org/drawingml/2006/main" noGrp="1"/>
          </p:cNvSpPr>
          <p:nvPr/>
        </p:nvSpPr>
        <p:spPr>
          <a:xfrm xmlns:a="http://schemas.openxmlformats.org/drawingml/2006/main">
            <a:off x="609600" y="5724525"/>
            <a:ext cx="10972800" cy="0"/>
          </a:xfrm>
          <a:prstGeom xmlns:a="http://schemas.openxmlformats.org/drawingml/2006/main" prst="line">
            <a:avLst/>
          </a:prstGeom>
          <a:noFill xmlns:a="http://schemas.openxmlformats.org/drawingml/2006/main"/>
          <a:ln xmlns:a="http://schemas.openxmlformats.org/drawingml/2006/main" w="9525">
            <a:solidFill>
              <a:srgbClr val="D8D0BE"/>
            </a:solidFill>
            <a:prstDash val="solid"/>
          </a:ln>
        </p:spPr>
      </p:sp>
      <p:sp>
        <p:nvSpPr>
          <p:cNvPr id="14" name="text-69">
            <a:extLst xmlns:a="http://schemas.openxmlformats.org/drawingml/2006/main">
              <a:ext uri="{FF2B5EF4-FFF2-40B4-BE49-F238E27FC236}">
                <a16:creationId xmlns:a16="http://schemas.microsoft.com/office/drawing/2014/main" id="{87B8A133-BFDC-4B5E-9AA2-2C82116D3C36}"/>
              </a:ext>
            </a:extLst>
          </p:cNvPr>
          <p:cNvSpPr>
            <a:spLocks xmlns:a="http://schemas.openxmlformats.org/drawingml/2006/main" noGrp="1"/>
          </p:cNvSpPr>
          <p:nvPr/>
        </p:nvSpPr>
        <p:spPr>
          <a:xfrm xmlns:a="http://schemas.openxmlformats.org/drawingml/2006/main">
            <a:off x="609600" y="5953125"/>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35583C"/>
                </a:solidFill>
                <a:latin typeface="Arial"/>
                <a:ea typeface="Arial"/>
                <a:cs typeface="Arial"/>
              </a:defRPr>
            </a:pPr>
            <a:r>
              <a:rPr sz="1575" b="0">
                <a:solidFill>
                  <a:srgbClr val="35583C"/>
                </a:solidFill>
                <a:latin typeface="Arial"/>
                <a:ea typeface="Arial"/>
                <a:cs typeface="Arial"/>
              </a:rPr>
              <a:t>UI text and colors stay in constants. Operators edit farm and batch data through the protected dashboard.</a:t>
            </a:r>
          </a:p>
        </p:txBody>
      </p:sp>
    </p:spTree>
    <p:extLst>
      <p:ext uri="{BB962C8B-B14F-4D97-AF65-F5344CB8AC3E}">
        <p14:creationId xmlns:p14="http://schemas.microsoft.com/office/powerpoint/2010/main" val="887768350"/>
      </p:ext>
    </p:extLst>
  </p:cSld>
</p:sld>
</file>

<file path=ppt/slides/slide14.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B56133DE-E961-4C31-A5DC-B9F110400A27}"/>
              </a:ext>
            </a:extLst>
          </p:cNvPr>
          <p:cNvSpPr>
            <a:spLocks xmlns:a="http://schemas.openxmlformats.org/drawingml/2006/main" noGrp="1"/>
          </p:cNvSpPr>
          <p:nvPr/>
        </p:nvSpPr>
        <p:spPr>
          <a:xfrm xmlns:a="http://schemas.openxmlformats.org/drawingml/2006/main">
            <a:off x="609600" y="4953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542A69"/>
                </a:solidFill>
                <a:latin typeface="Georgia"/>
                <a:ea typeface="Georgia"/>
                <a:cs typeface="Georgia"/>
              </a:defRPr>
            </a:pPr>
            <a:r>
              <a:rPr sz="3300" b="0">
                <a:solidFill>
                  <a:srgbClr val="542A69"/>
                </a:solidFill>
                <a:latin typeface="Georgia"/>
                <a:ea typeface="Georgia"/>
                <a:cs typeface="Georgia"/>
              </a:rPr>
              <a:t>Delivery plan: Weeks 1 to 5</a:t>
            </a:r>
          </a:p>
        </p:txBody>
      </p:sp>
      <p:sp>
        <p:nvSpPr>
          <p:cNvPr id="2" name="slide-subtitle">
            <a:extLst xmlns:a="http://schemas.openxmlformats.org/drawingml/2006/main">
              <a:ext uri="{FF2B5EF4-FFF2-40B4-BE49-F238E27FC236}">
                <a16:creationId xmlns:a16="http://schemas.microsoft.com/office/drawing/2014/main" id="{EF2A0EA2-C837-4B61-8167-F20F2DA69591}"/>
              </a:ext>
            </a:extLst>
          </p:cNvPr>
          <p:cNvSpPr>
            <a:spLocks xmlns:a="http://schemas.openxmlformats.org/drawingml/2006/main" noGrp="1"/>
          </p:cNvSpPr>
          <p:nvPr/>
        </p:nvSpPr>
        <p:spPr>
          <a:xfrm xmlns:a="http://schemas.openxmlformats.org/drawingml/2006/main">
            <a:off x="609600" y="1428750"/>
            <a:ext cx="10715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706B65"/>
                </a:solidFill>
                <a:latin typeface="Arial"/>
                <a:ea typeface="Arial"/>
                <a:cs typeface="Arial"/>
              </a:defRPr>
            </a:pPr>
            <a:r>
              <a:rPr sz="1725" b="0">
                <a:solidFill>
                  <a:srgbClr val="706B65"/>
                </a:solidFill>
                <a:latin typeface="Arial"/>
                <a:ea typeface="Arial"/>
                <a:cs typeface="Arial"/>
              </a:rPr>
              <a:t>A target of 10 working weeks from the agreed kickoff.</a:t>
            </a:r>
          </a:p>
        </p:txBody>
      </p:sp>
      <p:sp>
        <p:nvSpPr>
          <p:cNvPr id="3" name="footer">
            <a:extLst xmlns:a="http://schemas.openxmlformats.org/drawingml/2006/main">
              <a:ext uri="{FF2B5EF4-FFF2-40B4-BE49-F238E27FC236}">
                <a16:creationId xmlns:a16="http://schemas.microsoft.com/office/drawing/2014/main" id="{AAEA3D70-1E3B-46FE-87F1-D0B324076B26}"/>
              </a:ext>
            </a:extLst>
          </p:cNvPr>
          <p:cNvSpPr>
            <a:spLocks xmlns:a="http://schemas.openxmlformats.org/drawingml/2006/main" noGrp="1"/>
          </p:cNvSpPr>
          <p:nvPr/>
        </p:nvSpPr>
        <p:spPr>
          <a:xfrm xmlns:a="http://schemas.openxmlformats.org/drawingml/2006/main">
            <a:off x="609600" y="6543675"/>
            <a:ext cx="7143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00" b="0">
                <a:solidFill>
                  <a:srgbClr val="706B65"/>
                </a:solidFill>
                <a:latin typeface="Arial"/>
                <a:ea typeface="Arial"/>
                <a:cs typeface="Arial"/>
              </a:defRPr>
            </a:pPr>
            <a:r>
              <a:rPr sz="900" b="0">
                <a:solidFill>
                  <a:srgbClr val="706B65"/>
                </a:solidFill>
                <a:latin typeface="Arial"/>
                <a:ea typeface="Arial"/>
                <a:cs typeface="Arial"/>
              </a:rPr>
              <a:t>ROOTE ORIGIN SYSTEM</a:t>
            </a:r>
          </a:p>
        </p:txBody>
      </p:sp>
      <p:sp>
        <p:nvSpPr>
          <p:cNvPr id="4" name="slide-number">
            <a:extLst xmlns:a="http://schemas.openxmlformats.org/drawingml/2006/main">
              <a:ext uri="{FF2B5EF4-FFF2-40B4-BE49-F238E27FC236}">
                <a16:creationId xmlns:a16="http://schemas.microsoft.com/office/drawing/2014/main" id="{B41AC300-8E7D-4B6F-ACB1-F5B06446A7A0}"/>
              </a:ext>
            </a:extLst>
          </p:cNvPr>
          <p:cNvSpPr>
            <a:spLocks xmlns:a="http://schemas.openxmlformats.org/drawingml/2006/main" noGrp="1"/>
          </p:cNvSpPr>
          <p:nvPr/>
        </p:nvSpPr>
        <p:spPr>
          <a:xfrm xmlns:a="http://schemas.openxmlformats.org/drawingml/2006/main">
            <a:off x="11106150" y="65055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706B65"/>
                </a:solidFill>
                <a:latin typeface="Arial"/>
                <a:ea typeface="Arial"/>
                <a:cs typeface="Arial"/>
              </a:defRPr>
            </a:pPr>
            <a:r>
              <a:rPr sz="1125" b="0">
                <a:solidFill>
                  <a:srgbClr val="706B65"/>
                </a:solidFill>
                <a:latin typeface="Arial"/>
                <a:ea typeface="Arial"/>
                <a:cs typeface="Arial"/>
              </a:rPr>
              <a:t>14</a:t>
            </a:r>
          </a:p>
        </p:txBody>
      </p:sp>
      <p:graphicFrame>
        <p:nvGraphicFramePr>
          <p:cNvPr id="11" name=""/>
          <p:cNvGraphicFramePr/>
          <p:nvPr/>
        </p:nvGraphicFramePr>
        <p:xfrm>
          <a:off xmlns:a="http://schemas.openxmlformats.org/drawingml/2006/main" x="609600" y="2190750"/>
          <a:ext xmlns:a="http://schemas.openxmlformats.org/drawingml/2006/main" cx="10972800" cy="3895725"/>
        </p:xfrm>
        <a:graphic xmlns:a="http://schemas.openxmlformats.org/drawingml/2006/main">
          <a:graphicData uri="http://schemas.openxmlformats.org/drawingml/2006/table">
            <a:tbl>
              <a:tblPr firstRow="0" firstCol="0" bandRow="0"/>
              <a:tblGrid>
                <a:gridCol w="1095375"/>
                <a:gridCol w="3000375"/>
                <a:gridCol w="6877050"/>
              </a:tblGrid>
              <a:tr h="466725">
                <a:tc>
                  <a:txBody>
                    <a:bodyPr wrap="square">
                      <a:noAutofit/>
                    </a:bodyPr>
                    <a:lstStyle/>
                    <a:p>
                      <a:r>
                        <a:rPr sz="1575" b="1">
                          <a:solidFill>
                            <a:srgbClr val="FFFFFF"/>
                          </a:solidFill>
                          <a:latin typeface="Arial"/>
                          <a:ea typeface="Arial"/>
                          <a:cs typeface="Arial"/>
                        </a:rPr>
                        <a:t>Week</a:t>
                      </a:r>
                    </a:p>
                  </a:txBody>
                  <a:tcPr marL="133350" marR="133350" marT="95250" marB="95250" anchor="t">
                    <a:solidFill>
                      <a:srgbClr val="35583C"/>
                    </a:solidFill>
                  </a:tcPr>
                </a:tc>
                <a:tc>
                  <a:txBody>
                    <a:bodyPr wrap="square">
                      <a:noAutofit/>
                    </a:bodyPr>
                    <a:lstStyle/>
                    <a:p>
                      <a:r>
                        <a:rPr sz="1575" b="1">
                          <a:solidFill>
                            <a:srgbClr val="FFFFFF"/>
                          </a:solidFill>
                          <a:latin typeface="Arial"/>
                          <a:ea typeface="Arial"/>
                          <a:cs typeface="Arial"/>
                        </a:rPr>
                        <a:t>Milestone</a:t>
                      </a:r>
                    </a:p>
                  </a:txBody>
                  <a:tcPr marL="133350" marR="133350" marT="95250" marB="95250" anchor="t">
                    <a:solidFill>
                      <a:srgbClr val="35583C"/>
                    </a:solidFill>
                  </a:tcPr>
                </a:tc>
                <a:tc>
                  <a:txBody>
                    <a:bodyPr wrap="square">
                      <a:noAutofit/>
                    </a:bodyPr>
                    <a:lstStyle/>
                    <a:p>
                      <a:r>
                        <a:rPr sz="1575" b="1">
                          <a:solidFill>
                            <a:srgbClr val="FFFFFF"/>
                          </a:solidFill>
                          <a:latin typeface="Arial"/>
                          <a:ea typeface="Arial"/>
                          <a:cs typeface="Arial"/>
                        </a:rPr>
                        <a:t>Planned output</a:t>
                      </a:r>
                    </a:p>
                  </a:txBody>
                  <a:tcPr marL="133350" marR="133350" marT="95250" marB="95250" anchor="t">
                    <a:solidFill>
                      <a:srgbClr val="35583C"/>
                    </a:solidFill>
                  </a:tcPr>
                </a:tc>
              </a:tr>
              <a:tr h="685800">
                <a:tc>
                  <a:txBody>
                    <a:bodyPr wrap="square">
                      <a:noAutofit/>
                    </a:bodyPr>
                    <a:lstStyle/>
                    <a:p>
                      <a:r>
                        <a:rPr sz="1575" b="0">
                          <a:solidFill>
                            <a:srgbClr val="35583C"/>
                          </a:solidFill>
                          <a:latin typeface="Arial"/>
                          <a:ea typeface="Arial"/>
                          <a:cs typeface="Arial"/>
                        </a:rPr>
                        <a:t>Week 1</a:t>
                      </a:r>
                    </a:p>
                  </a:txBody>
                  <a:tcPr marL="133350" marR="133350" marT="95250" marB="95250" anchor="t">
                    <a:solidFill>
                      <a:srgbClr val="F6F3EA"/>
                    </a:solidFill>
                  </a:tcPr>
                </a:tc>
                <a:tc>
                  <a:txBody>
                    <a:bodyPr wrap="square">
                      <a:noAutofit/>
                    </a:bodyPr>
                    <a:lstStyle/>
                    <a:p>
                      <a:r>
                        <a:rPr sz="1575" b="0">
                          <a:solidFill>
                            <a:srgbClr val="34233E"/>
                          </a:solidFill>
                          <a:latin typeface="Arial"/>
                          <a:ea typeface="Arial"/>
                          <a:cs typeface="Arial"/>
                        </a:rPr>
                        <a:t>Confirm the system</a:t>
                      </a:r>
                    </a:p>
                  </a:txBody>
                  <a:tcPr marL="133350" marR="133350" marT="95250" marB="95250" anchor="t">
                    <a:solidFill>
                      <a:srgbClr val="F6F3EA"/>
                    </a:solidFill>
                  </a:tcPr>
                </a:tc>
                <a:tc>
                  <a:txBody>
                    <a:bodyPr wrap="square">
                      <a:noAutofit/>
                    </a:bodyPr>
                    <a:lstStyle/>
                    <a:p>
                      <a:r>
                        <a:rPr sz="1575" b="0">
                          <a:solidFill>
                            <a:srgbClr val="34233E"/>
                          </a:solidFill>
                          <a:latin typeface="Arial"/>
                          <a:ea typeface="Arial"/>
                          <a:cs typeface="Arial"/>
                        </a:rPr>
                        <a:t>Approve fields, roles, public/private rules, pilot data, one design direction and the batch workflow.</a:t>
                      </a:r>
                    </a:p>
                  </a:txBody>
                  <a:tcPr marL="133350" marR="133350" marT="95250" marB="95250" anchor="t">
                    <a:solidFill>
                      <a:srgbClr val="F6F3EA"/>
                    </a:solidFill>
                  </a:tcPr>
                </a:tc>
              </a:tr>
              <a:tr h="685800">
                <a:tc>
                  <a:txBody>
                    <a:bodyPr wrap="square">
                      <a:noAutofit/>
                    </a:bodyPr>
                    <a:lstStyle/>
                    <a:p>
                      <a:r>
                        <a:rPr sz="1575" b="0">
                          <a:solidFill>
                            <a:srgbClr val="35583C"/>
                          </a:solidFill>
                          <a:latin typeface="Arial"/>
                          <a:ea typeface="Arial"/>
                          <a:cs typeface="Arial"/>
                        </a:rPr>
                        <a:t>Week 2</a:t>
                      </a:r>
                    </a:p>
                  </a:txBody>
                  <a:tcPr marL="133350" marR="133350" marT="95250" marB="95250" anchor="t">
                    <a:solidFill>
                      <a:srgbClr val="F6F3EA"/>
                    </a:solidFill>
                  </a:tcPr>
                </a:tc>
                <a:tc>
                  <a:txBody>
                    <a:bodyPr wrap="square">
                      <a:noAutofit/>
                    </a:bodyPr>
                    <a:lstStyle/>
                    <a:p>
                      <a:r>
                        <a:rPr sz="1575" b="0">
                          <a:solidFill>
                            <a:srgbClr val="34233E"/>
                          </a:solidFill>
                          <a:latin typeface="Arial"/>
                          <a:ea typeface="Arial"/>
                          <a:cs typeface="Arial"/>
                        </a:rPr>
                        <a:t>Build the foundation</a:t>
                      </a:r>
                    </a:p>
                  </a:txBody>
                  <a:tcPr marL="133350" marR="133350" marT="95250" marB="95250" anchor="t">
                    <a:solidFill>
                      <a:srgbClr val="F6F3EA"/>
                    </a:solidFill>
                  </a:tcPr>
                </a:tc>
                <a:tc>
                  <a:txBody>
                    <a:bodyPr wrap="square">
                      <a:noAutofit/>
                    </a:bodyPr>
                    <a:lstStyle/>
                    <a:p>
                      <a:r>
                        <a:rPr sz="1575" b="0">
                          <a:solidFill>
                            <a:srgbClr val="34233E"/>
                          </a:solidFill>
                          <a:latin typeface="Arial"/>
                          <a:ea typeface="Arial"/>
                          <a:cs typeface="Arial"/>
                        </a:rPr>
                        <a:t>Set up MongoDB, the Express/Node.js API, authentication, environments and server-side access rules.</a:t>
                      </a:r>
                    </a:p>
                  </a:txBody>
                  <a:tcPr marL="133350" marR="133350" marT="95250" marB="95250" anchor="t">
                    <a:solidFill>
                      <a:srgbClr val="F6F3EA"/>
                    </a:solidFill>
                  </a:tcPr>
                </a:tc>
              </a:tr>
              <a:tr h="685800">
                <a:tc>
                  <a:txBody>
                    <a:bodyPr wrap="square">
                      <a:noAutofit/>
                    </a:bodyPr>
                    <a:lstStyle/>
                    <a:p>
                      <a:r>
                        <a:rPr sz="1575" b="0">
                          <a:solidFill>
                            <a:srgbClr val="35583C"/>
                          </a:solidFill>
                          <a:latin typeface="Arial"/>
                          <a:ea typeface="Arial"/>
                          <a:cs typeface="Arial"/>
                        </a:rPr>
                        <a:t>Week 3</a:t>
                      </a:r>
                    </a:p>
                  </a:txBody>
                  <a:tcPr marL="133350" marR="133350" marT="95250" marB="95250" anchor="t">
                    <a:solidFill>
                      <a:srgbClr val="F6F3EA"/>
                    </a:solidFill>
                  </a:tcPr>
                </a:tc>
                <a:tc>
                  <a:txBody>
                    <a:bodyPr wrap="square">
                      <a:noAutofit/>
                    </a:bodyPr>
                    <a:lstStyle/>
                    <a:p>
                      <a:r>
                        <a:rPr sz="1575" b="0">
                          <a:solidFill>
                            <a:srgbClr val="34233E"/>
                          </a:solidFill>
                          <a:latin typeface="Arial"/>
                          <a:ea typeface="Arial"/>
                          <a:cs typeface="Arial"/>
                        </a:rPr>
                        <a:t>Organize the ecosystem</a:t>
                      </a:r>
                    </a:p>
                  </a:txBody>
                  <a:tcPr marL="133350" marR="133350" marT="95250" marB="95250" anchor="t">
                    <a:solidFill>
                      <a:srgbClr val="F6F3EA"/>
                    </a:solidFill>
                  </a:tcPr>
                </a:tc>
                <a:tc>
                  <a:txBody>
                    <a:bodyPr wrap="square">
                      <a:noAutofit/>
                    </a:bodyPr>
                    <a:lstStyle/>
                    <a:p>
                      <a:r>
                        <a:rPr sz="1575" b="0">
                          <a:solidFill>
                            <a:srgbClr val="34233E"/>
                          </a:solidFill>
                          <a:latin typeface="Arial"/>
                          <a:ea typeface="Arial"/>
                          <a:cs typeface="Arial"/>
                        </a:rPr>
                        <a:t>Build farm, produce, partner and account management; prepare the public inventory structure.</a:t>
                      </a:r>
                    </a:p>
                  </a:txBody>
                  <a:tcPr marL="133350" marR="133350" marT="95250" marB="95250" anchor="t">
                    <a:solidFill>
                      <a:srgbClr val="F6F3EA"/>
                    </a:solidFill>
                  </a:tcPr>
                </a:tc>
              </a:tr>
              <a:tr h="685800">
                <a:tc>
                  <a:txBody>
                    <a:bodyPr wrap="square">
                      <a:noAutofit/>
                    </a:bodyPr>
                    <a:lstStyle/>
                    <a:p>
                      <a:r>
                        <a:rPr sz="1575" b="0">
                          <a:solidFill>
                            <a:srgbClr val="35583C"/>
                          </a:solidFill>
                          <a:latin typeface="Arial"/>
                          <a:ea typeface="Arial"/>
                          <a:cs typeface="Arial"/>
                        </a:rPr>
                        <a:t>Week 4</a:t>
                      </a:r>
                    </a:p>
                  </a:txBody>
                  <a:tcPr marL="133350" marR="133350" marT="95250" marB="95250" anchor="t">
                    <a:solidFill>
                      <a:srgbClr val="F6F3EA"/>
                    </a:solidFill>
                  </a:tcPr>
                </a:tc>
                <a:tc>
                  <a:txBody>
                    <a:bodyPr wrap="square">
                      <a:noAutofit/>
                    </a:bodyPr>
                    <a:lstStyle/>
                    <a:p>
                      <a:r>
                        <a:rPr sz="1575" b="0">
                          <a:solidFill>
                            <a:srgbClr val="34233E"/>
                          </a:solidFill>
                          <a:latin typeface="Arial"/>
                          <a:ea typeface="Arial"/>
                          <a:cs typeface="Arial"/>
                        </a:rPr>
                        <a:t>Capture farming details</a:t>
                      </a:r>
                    </a:p>
                  </a:txBody>
                  <a:tcPr marL="133350" marR="133350" marT="95250" marB="95250" anchor="t">
                    <a:solidFill>
                      <a:srgbClr val="F6F3EA"/>
                    </a:solidFill>
                  </a:tcPr>
                </a:tc>
                <a:tc>
                  <a:txBody>
                    <a:bodyPr wrap="square">
                      <a:noAutofit/>
                    </a:bodyPr>
                    <a:lstStyle/>
                    <a:p>
                      <a:r>
                        <a:rPr sz="1575" b="0">
                          <a:solidFill>
                            <a:srgbClr val="34233E"/>
                          </a:solidFill>
                          <a:latin typeface="Arial"/>
                          <a:ea typeface="Arial"/>
                          <a:cs typeface="Arial"/>
                        </a:rPr>
                        <a:t>Implement planting, plot/site, care/input notes and authorized record editing.</a:t>
                      </a:r>
                    </a:p>
                  </a:txBody>
                  <a:tcPr marL="133350" marR="133350" marT="95250" marB="95250" anchor="t">
                    <a:solidFill>
                      <a:srgbClr val="F6F3EA"/>
                    </a:solidFill>
                  </a:tcPr>
                </a:tc>
              </a:tr>
              <a:tr h="685800">
                <a:tc>
                  <a:txBody>
                    <a:bodyPr wrap="square">
                      <a:noAutofit/>
                    </a:bodyPr>
                    <a:lstStyle/>
                    <a:p>
                      <a:r>
                        <a:rPr sz="1575" b="0">
                          <a:solidFill>
                            <a:srgbClr val="35583C"/>
                          </a:solidFill>
                          <a:latin typeface="Arial"/>
                          <a:ea typeface="Arial"/>
                          <a:cs typeface="Arial"/>
                        </a:rPr>
                        <a:t>Week 5</a:t>
                      </a:r>
                    </a:p>
                  </a:txBody>
                  <a:tcPr marL="133350" marR="133350" marT="95250" marB="95250" anchor="t">
                    <a:solidFill>
                      <a:srgbClr val="F6F3EA"/>
                    </a:solidFill>
                  </a:tcPr>
                </a:tc>
                <a:tc>
                  <a:txBody>
                    <a:bodyPr wrap="square">
                      <a:noAutofit/>
                    </a:bodyPr>
                    <a:lstStyle/>
                    <a:p>
                      <a:r>
                        <a:rPr sz="1575" b="0">
                          <a:solidFill>
                            <a:srgbClr val="34233E"/>
                          </a:solidFill>
                          <a:latin typeface="Arial"/>
                          <a:ea typeface="Arial"/>
                          <a:cs typeface="Arial"/>
                        </a:rPr>
                        <a:t>Track harvest batches</a:t>
                      </a:r>
                    </a:p>
                  </a:txBody>
                  <a:tcPr marL="133350" marR="133350" marT="95250" marB="95250" anchor="t">
                    <a:solidFill>
                      <a:srgbClr val="F6F3EA"/>
                    </a:solidFill>
                  </a:tcPr>
                </a:tc>
                <a:tc>
                  <a:txBody>
                    <a:bodyPr wrap="square">
                      <a:noAutofit/>
                    </a:bodyPr>
                    <a:lstStyle/>
                    <a:p>
                      <a:r>
                        <a:rPr sz="1575" b="0">
                          <a:solidFill>
                            <a:srgbClr val="34233E"/>
                          </a:solidFill>
                          <a:latin typeface="Arial"/>
                          <a:ea typeface="Arial"/>
                          <a:cs typeface="Arial"/>
                        </a:rPr>
                        <a:t>Implement batch IDs, harvest dates, quantities, availability/status and record history.</a:t>
                      </a:r>
                    </a:p>
                  </a:txBody>
                  <a:tcPr marL="133350" marR="133350" marT="95250" marB="95250" anchor="t">
                    <a:solidFill>
                      <a:srgbClr val="F6F3EA"/>
                    </a:solidFill>
                  </a:tcPr>
                </a:tc>
              </a:tr>
            </a:tbl>
          </a:graphicData>
        </a:graphic>
      </p:graphicFrame>
      <p:sp>
        <p:nvSpPr>
          <p:cNvPr id="6" name="text-70">
            <a:extLst xmlns:a="http://schemas.openxmlformats.org/drawingml/2006/main">
              <a:ext uri="{FF2B5EF4-FFF2-40B4-BE49-F238E27FC236}">
                <a16:creationId xmlns:a16="http://schemas.microsoft.com/office/drawing/2014/main" id="{E4E441C4-CE49-492C-B25B-B83293728595}"/>
              </a:ext>
            </a:extLst>
          </p:cNvPr>
          <p:cNvSpPr>
            <a:spLocks xmlns:a="http://schemas.openxmlformats.org/drawingml/2006/main" noGrp="1"/>
          </p:cNvSpPr>
          <p:nvPr/>
        </p:nvSpPr>
        <p:spPr>
          <a:xfrm xmlns:a="http://schemas.openxmlformats.org/drawingml/2006/main">
            <a:off x="609600" y="6210300"/>
            <a:ext cx="1076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35583C"/>
                </a:solidFill>
                <a:latin typeface="Arial"/>
                <a:ea typeface="Arial"/>
                <a:cs typeface="Arial"/>
              </a:defRPr>
            </a:pPr>
            <a:r>
              <a:rPr sz="1350" b="0">
                <a:solidFill>
                  <a:srgbClr val="35583C"/>
                </a:solidFill>
                <a:latin typeface="Arial"/>
                <a:ea typeface="Arial"/>
                <a:cs typeface="Arial"/>
              </a:rPr>
              <a:t>Confirm scope, content, access rules and working availability before kickoff.</a:t>
            </a:r>
          </a:p>
        </p:txBody>
      </p:sp>
    </p:spTree>
    <p:extLst>
      <p:ext uri="{BB962C8B-B14F-4D97-AF65-F5344CB8AC3E}">
        <p14:creationId xmlns:p14="http://schemas.microsoft.com/office/powerpoint/2010/main" val="1811341263"/>
      </p:ext>
    </p:extLst>
  </p:cSld>
</p:sld>
</file>

<file path=ppt/slides/slide15.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97DDF774-A827-407E-B2D7-8BED29F56C01}"/>
              </a:ext>
            </a:extLst>
          </p:cNvPr>
          <p:cNvSpPr>
            <a:spLocks xmlns:a="http://schemas.openxmlformats.org/drawingml/2006/main" noGrp="1"/>
          </p:cNvSpPr>
          <p:nvPr/>
        </p:nvSpPr>
        <p:spPr>
          <a:xfrm xmlns:a="http://schemas.openxmlformats.org/drawingml/2006/main">
            <a:off x="609600" y="4953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542A69"/>
                </a:solidFill>
                <a:latin typeface="Georgia"/>
                <a:ea typeface="Georgia"/>
                <a:cs typeface="Georgia"/>
              </a:defRPr>
            </a:pPr>
            <a:r>
              <a:rPr sz="3300" b="0">
                <a:solidFill>
                  <a:srgbClr val="542A69"/>
                </a:solidFill>
                <a:latin typeface="Georgia"/>
                <a:ea typeface="Georgia"/>
                <a:cs typeface="Georgia"/>
              </a:rPr>
              <a:t>Delivery plan: Weeks 6 to 10</a:t>
            </a:r>
          </a:p>
        </p:txBody>
      </p:sp>
      <p:sp>
        <p:nvSpPr>
          <p:cNvPr id="2" name="slide-subtitle">
            <a:extLst xmlns:a="http://schemas.openxmlformats.org/drawingml/2006/main">
              <a:ext uri="{FF2B5EF4-FFF2-40B4-BE49-F238E27FC236}">
                <a16:creationId xmlns:a16="http://schemas.microsoft.com/office/drawing/2014/main" id="{AFC3DA2D-D562-4551-A630-D2E335B3911D}"/>
              </a:ext>
            </a:extLst>
          </p:cNvPr>
          <p:cNvSpPr>
            <a:spLocks xmlns:a="http://schemas.openxmlformats.org/drawingml/2006/main" noGrp="1"/>
          </p:cNvSpPr>
          <p:nvPr/>
        </p:nvSpPr>
        <p:spPr>
          <a:xfrm xmlns:a="http://schemas.openxmlformats.org/drawingml/2006/main">
            <a:off x="609600" y="1428750"/>
            <a:ext cx="10715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706B65"/>
                </a:solidFill>
                <a:latin typeface="Arial"/>
                <a:ea typeface="Arial"/>
                <a:cs typeface="Arial"/>
              </a:defRPr>
            </a:pPr>
            <a:r>
              <a:rPr sz="1725" b="0">
                <a:solidFill>
                  <a:srgbClr val="706B65"/>
                </a:solidFill>
                <a:latin typeface="Arial"/>
                <a:ea typeface="Arial"/>
                <a:cs typeface="Arial"/>
              </a:rPr>
              <a:t>A target of 10 working weeks from the agreed kickoff.</a:t>
            </a:r>
          </a:p>
        </p:txBody>
      </p:sp>
      <p:sp>
        <p:nvSpPr>
          <p:cNvPr id="3" name="footer">
            <a:extLst xmlns:a="http://schemas.openxmlformats.org/drawingml/2006/main">
              <a:ext uri="{FF2B5EF4-FFF2-40B4-BE49-F238E27FC236}">
                <a16:creationId xmlns:a16="http://schemas.microsoft.com/office/drawing/2014/main" id="{BF83F67B-357C-4AE8-AB60-724FB21FF232}"/>
              </a:ext>
            </a:extLst>
          </p:cNvPr>
          <p:cNvSpPr>
            <a:spLocks xmlns:a="http://schemas.openxmlformats.org/drawingml/2006/main" noGrp="1"/>
          </p:cNvSpPr>
          <p:nvPr/>
        </p:nvSpPr>
        <p:spPr>
          <a:xfrm xmlns:a="http://schemas.openxmlformats.org/drawingml/2006/main">
            <a:off x="609600" y="6543675"/>
            <a:ext cx="7143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00" b="0">
                <a:solidFill>
                  <a:srgbClr val="706B65"/>
                </a:solidFill>
                <a:latin typeface="Arial"/>
                <a:ea typeface="Arial"/>
                <a:cs typeface="Arial"/>
              </a:defRPr>
            </a:pPr>
            <a:r>
              <a:rPr sz="900" b="0">
                <a:solidFill>
                  <a:srgbClr val="706B65"/>
                </a:solidFill>
                <a:latin typeface="Arial"/>
                <a:ea typeface="Arial"/>
                <a:cs typeface="Arial"/>
              </a:rPr>
              <a:t>ROOTE ORIGIN SYSTEM</a:t>
            </a:r>
          </a:p>
        </p:txBody>
      </p:sp>
      <p:sp>
        <p:nvSpPr>
          <p:cNvPr id="4" name="slide-number">
            <a:extLst xmlns:a="http://schemas.openxmlformats.org/drawingml/2006/main">
              <a:ext uri="{FF2B5EF4-FFF2-40B4-BE49-F238E27FC236}">
                <a16:creationId xmlns:a16="http://schemas.microsoft.com/office/drawing/2014/main" id="{16568753-8770-44BC-9973-92E48A102939}"/>
              </a:ext>
            </a:extLst>
          </p:cNvPr>
          <p:cNvSpPr>
            <a:spLocks xmlns:a="http://schemas.openxmlformats.org/drawingml/2006/main" noGrp="1"/>
          </p:cNvSpPr>
          <p:nvPr/>
        </p:nvSpPr>
        <p:spPr>
          <a:xfrm xmlns:a="http://schemas.openxmlformats.org/drawingml/2006/main">
            <a:off x="11106150" y="65055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706B65"/>
                </a:solidFill>
                <a:latin typeface="Arial"/>
                <a:ea typeface="Arial"/>
                <a:cs typeface="Arial"/>
              </a:defRPr>
            </a:pPr>
            <a:r>
              <a:rPr sz="1125" b="0">
                <a:solidFill>
                  <a:srgbClr val="706B65"/>
                </a:solidFill>
                <a:latin typeface="Arial"/>
                <a:ea typeface="Arial"/>
                <a:cs typeface="Arial"/>
              </a:rPr>
              <a:t>15</a:t>
            </a:r>
          </a:p>
        </p:txBody>
      </p:sp>
      <p:graphicFrame>
        <p:nvGraphicFramePr>
          <p:cNvPr id="11" name=""/>
          <p:cNvGraphicFramePr/>
          <p:nvPr/>
        </p:nvGraphicFramePr>
        <p:xfrm>
          <a:off xmlns:a="http://schemas.openxmlformats.org/drawingml/2006/main" x="609600" y="2190750"/>
          <a:ext xmlns:a="http://schemas.openxmlformats.org/drawingml/2006/main" cx="10972800" cy="3895725"/>
        </p:xfrm>
        <a:graphic xmlns:a="http://schemas.openxmlformats.org/drawingml/2006/main">
          <a:graphicData uri="http://schemas.openxmlformats.org/drawingml/2006/table">
            <a:tbl>
              <a:tblPr firstRow="0" firstCol="0" bandRow="0"/>
              <a:tblGrid>
                <a:gridCol w="1095375"/>
                <a:gridCol w="3000375"/>
                <a:gridCol w="6877050"/>
              </a:tblGrid>
              <a:tr h="466725">
                <a:tc>
                  <a:txBody>
                    <a:bodyPr wrap="square">
                      <a:noAutofit/>
                    </a:bodyPr>
                    <a:lstStyle/>
                    <a:p>
                      <a:r>
                        <a:rPr sz="1575" b="1">
                          <a:solidFill>
                            <a:srgbClr val="FFFFFF"/>
                          </a:solidFill>
                          <a:latin typeface="Arial"/>
                          <a:ea typeface="Arial"/>
                          <a:cs typeface="Arial"/>
                        </a:rPr>
                        <a:t>Week</a:t>
                      </a:r>
                    </a:p>
                  </a:txBody>
                  <a:tcPr marL="133350" marR="133350" marT="95250" marB="95250" anchor="t">
                    <a:solidFill>
                      <a:srgbClr val="35583C"/>
                    </a:solidFill>
                  </a:tcPr>
                </a:tc>
                <a:tc>
                  <a:txBody>
                    <a:bodyPr wrap="square">
                      <a:noAutofit/>
                    </a:bodyPr>
                    <a:lstStyle/>
                    <a:p>
                      <a:r>
                        <a:rPr sz="1575" b="1">
                          <a:solidFill>
                            <a:srgbClr val="FFFFFF"/>
                          </a:solidFill>
                          <a:latin typeface="Arial"/>
                          <a:ea typeface="Arial"/>
                          <a:cs typeface="Arial"/>
                        </a:rPr>
                        <a:t>Milestone</a:t>
                      </a:r>
                    </a:p>
                  </a:txBody>
                  <a:tcPr marL="133350" marR="133350" marT="95250" marB="95250" anchor="t">
                    <a:solidFill>
                      <a:srgbClr val="35583C"/>
                    </a:solidFill>
                  </a:tcPr>
                </a:tc>
                <a:tc>
                  <a:txBody>
                    <a:bodyPr wrap="square">
                      <a:noAutofit/>
                    </a:bodyPr>
                    <a:lstStyle/>
                    <a:p>
                      <a:r>
                        <a:rPr sz="1575" b="1">
                          <a:solidFill>
                            <a:srgbClr val="FFFFFF"/>
                          </a:solidFill>
                          <a:latin typeface="Arial"/>
                          <a:ea typeface="Arial"/>
                          <a:cs typeface="Arial"/>
                        </a:rPr>
                        <a:t>Planned output</a:t>
                      </a:r>
                    </a:p>
                  </a:txBody>
                  <a:tcPr marL="133350" marR="133350" marT="95250" marB="95250" anchor="t">
                    <a:solidFill>
                      <a:srgbClr val="35583C"/>
                    </a:solidFill>
                  </a:tcPr>
                </a:tc>
              </a:tr>
              <a:tr h="685800">
                <a:tc>
                  <a:txBody>
                    <a:bodyPr wrap="square">
                      <a:noAutofit/>
                    </a:bodyPr>
                    <a:lstStyle/>
                    <a:p>
                      <a:r>
                        <a:rPr sz="1575" b="0">
                          <a:solidFill>
                            <a:srgbClr val="35583C"/>
                          </a:solidFill>
                          <a:latin typeface="Arial"/>
                          <a:ea typeface="Arial"/>
                          <a:cs typeface="Arial"/>
                        </a:rPr>
                        <a:t>Week 6</a:t>
                      </a:r>
                    </a:p>
                  </a:txBody>
                  <a:tcPr marL="133350" marR="133350" marT="95250" marB="95250" anchor="t">
                    <a:solidFill>
                      <a:srgbClr val="F6F3EA"/>
                    </a:solidFill>
                  </a:tcPr>
                </a:tc>
                <a:tc>
                  <a:txBody>
                    <a:bodyPr wrap="square">
                      <a:noAutofit/>
                    </a:bodyPr>
                    <a:lstStyle/>
                    <a:p>
                      <a:r>
                        <a:rPr sz="1575" b="0">
                          <a:solidFill>
                            <a:srgbClr val="34233E"/>
                          </a:solidFill>
                          <a:latin typeface="Arial"/>
                          <a:ea typeface="Arial"/>
                          <a:cs typeface="Arial"/>
                        </a:rPr>
                        <a:t>Connect processing &amp; recipients</a:t>
                      </a:r>
                    </a:p>
                  </a:txBody>
                  <a:tcPr marL="133350" marR="133350" marT="95250" marB="95250" anchor="t">
                    <a:solidFill>
                      <a:srgbClr val="F6F3EA"/>
                    </a:solidFill>
                  </a:tcPr>
                </a:tc>
                <a:tc>
                  <a:txBody>
                    <a:bodyPr wrap="square">
                      <a:noAutofit/>
                    </a:bodyPr>
                    <a:lstStyle/>
                    <a:p>
                      <a:r>
                        <a:rPr sz="1575" b="0">
                          <a:solidFill>
                            <a:srgbClr val="34233E"/>
                          </a:solidFill>
                          <a:latin typeface="Arial"/>
                          <a:ea typeface="Arial"/>
                          <a:cs typeface="Arial"/>
                        </a:rPr>
                        <a:t>Link processors, processed lots, brand owners and distributors to their source batches.</a:t>
                      </a:r>
                    </a:p>
                  </a:txBody>
                  <a:tcPr marL="133350" marR="133350" marT="95250" marB="95250" anchor="t">
                    <a:solidFill>
                      <a:srgbClr val="F6F3EA"/>
                    </a:solidFill>
                  </a:tcPr>
                </a:tc>
              </a:tr>
              <a:tr h="685800">
                <a:tc>
                  <a:txBody>
                    <a:bodyPr wrap="square">
                      <a:noAutofit/>
                    </a:bodyPr>
                    <a:lstStyle/>
                    <a:p>
                      <a:r>
                        <a:rPr sz="1575" b="0">
                          <a:solidFill>
                            <a:srgbClr val="35583C"/>
                          </a:solidFill>
                          <a:latin typeface="Arial"/>
                          <a:ea typeface="Arial"/>
                          <a:cs typeface="Arial"/>
                        </a:rPr>
                        <a:t>Week 7</a:t>
                      </a:r>
                    </a:p>
                  </a:txBody>
                  <a:tcPr marL="133350" marR="133350" marT="95250" marB="95250" anchor="t">
                    <a:solidFill>
                      <a:srgbClr val="F6F3EA"/>
                    </a:solidFill>
                  </a:tcPr>
                </a:tc>
                <a:tc>
                  <a:txBody>
                    <a:bodyPr wrap="square">
                      <a:noAutofit/>
                    </a:bodyPr>
                    <a:lstStyle/>
                    <a:p>
                      <a:r>
                        <a:rPr sz="1575" b="0">
                          <a:solidFill>
                            <a:srgbClr val="34233E"/>
                          </a:solidFill>
                          <a:latin typeface="Arial"/>
                          <a:ea typeface="Arial"/>
                          <a:cs typeface="Arial"/>
                        </a:rPr>
                        <a:t>Publish the consumer view</a:t>
                      </a:r>
                    </a:p>
                  </a:txBody>
                  <a:tcPr marL="133350" marR="133350" marT="95250" marB="95250" anchor="t">
                    <a:solidFill>
                      <a:srgbClr val="F6F3EA"/>
                    </a:solidFill>
                  </a:tcPr>
                </a:tc>
                <a:tc>
                  <a:txBody>
                    <a:bodyPr wrap="square">
                      <a:noAutofit/>
                    </a:bodyPr>
                    <a:lstStyle/>
                    <a:p>
                      <a:r>
                        <a:rPr sz="1575" b="0">
                          <a:solidFill>
                            <a:srgbClr val="34233E"/>
                          </a:solidFill>
                          <a:latin typeface="Arial"/>
                          <a:ea typeface="Arial"/>
                          <a:cs typeface="Arial"/>
                        </a:rPr>
                        <a:t>Build approved batch summaries, publication controls, stable URLs and QR downloads.</a:t>
                      </a:r>
                    </a:p>
                  </a:txBody>
                  <a:tcPr marL="133350" marR="133350" marT="95250" marB="95250" anchor="t">
                    <a:solidFill>
                      <a:srgbClr val="F6F3EA"/>
                    </a:solidFill>
                  </a:tcPr>
                </a:tc>
              </a:tr>
              <a:tr h="685800">
                <a:tc>
                  <a:txBody>
                    <a:bodyPr wrap="square">
                      <a:noAutofit/>
                    </a:bodyPr>
                    <a:lstStyle/>
                    <a:p>
                      <a:r>
                        <a:rPr sz="1575" b="0">
                          <a:solidFill>
                            <a:srgbClr val="35583C"/>
                          </a:solidFill>
                          <a:latin typeface="Arial"/>
                          <a:ea typeface="Arial"/>
                          <a:cs typeface="Arial"/>
                        </a:rPr>
                        <a:t>Week 8</a:t>
                      </a:r>
                    </a:p>
                  </a:txBody>
                  <a:tcPr marL="133350" marR="133350" marT="95250" marB="95250" anchor="t">
                    <a:solidFill>
                      <a:srgbClr val="F6F3EA"/>
                    </a:solidFill>
                  </a:tcPr>
                </a:tc>
                <a:tc>
                  <a:txBody>
                    <a:bodyPr wrap="square">
                      <a:noAutofit/>
                    </a:bodyPr>
                    <a:lstStyle/>
                    <a:p>
                      <a:r>
                        <a:rPr sz="1575" b="0">
                          <a:solidFill>
                            <a:srgbClr val="34233E"/>
                          </a:solidFill>
                          <a:latin typeface="Arial"/>
                          <a:ea typeface="Arial"/>
                          <a:cs typeface="Arial"/>
                        </a:rPr>
                        <a:t>Connect the landing experience</a:t>
                      </a:r>
                    </a:p>
                  </a:txBody>
                  <a:tcPr marL="133350" marR="133350" marT="95250" marB="95250" anchor="t">
                    <a:solidFill>
                      <a:srgbClr val="F6F3EA"/>
                    </a:solidFill>
                  </a:tcPr>
                </a:tc>
                <a:tc>
                  <a:txBody>
                    <a:bodyPr wrap="square">
                      <a:noAutofit/>
                    </a:bodyPr>
                    <a:lstStyle/>
                    <a:p>
                      <a:r>
                        <a:rPr sz="1575" b="0">
                          <a:solidFill>
                            <a:srgbClr val="34233E"/>
                          </a:solidFill>
                          <a:latin typeface="Arial"/>
                          <a:ea typeface="Arial"/>
                          <a:cs typeface="Arial"/>
                        </a:rPr>
                        <a:t>Integrate live public inventory, lookup and batch links; refine mobile and scroll behavior.</a:t>
                      </a:r>
                    </a:p>
                  </a:txBody>
                  <a:tcPr marL="133350" marR="133350" marT="95250" marB="95250" anchor="t">
                    <a:solidFill>
                      <a:srgbClr val="F6F3EA"/>
                    </a:solidFill>
                  </a:tcPr>
                </a:tc>
              </a:tr>
              <a:tr h="685800">
                <a:tc>
                  <a:txBody>
                    <a:bodyPr wrap="square">
                      <a:noAutofit/>
                    </a:bodyPr>
                    <a:lstStyle/>
                    <a:p>
                      <a:r>
                        <a:rPr sz="1575" b="0">
                          <a:solidFill>
                            <a:srgbClr val="35583C"/>
                          </a:solidFill>
                          <a:latin typeface="Arial"/>
                          <a:ea typeface="Arial"/>
                          <a:cs typeface="Arial"/>
                        </a:rPr>
                        <a:t>Week 9</a:t>
                      </a:r>
                    </a:p>
                  </a:txBody>
                  <a:tcPr marL="133350" marR="133350" marT="95250" marB="95250" anchor="t">
                    <a:solidFill>
                      <a:srgbClr val="F6F3EA"/>
                    </a:solidFill>
                  </a:tcPr>
                </a:tc>
                <a:tc>
                  <a:txBody>
                    <a:bodyPr wrap="square">
                      <a:noAutofit/>
                    </a:bodyPr>
                    <a:lstStyle/>
                    <a:p>
                      <a:r>
                        <a:rPr sz="1575" b="0">
                          <a:solidFill>
                            <a:srgbClr val="34233E"/>
                          </a:solidFill>
                          <a:latin typeface="Arial"/>
                          <a:ea typeface="Arial"/>
                          <a:cs typeface="Arial"/>
                        </a:rPr>
                        <a:t>Review &amp; accept the pilot</a:t>
                      </a:r>
                    </a:p>
                  </a:txBody>
                  <a:tcPr marL="133350" marR="133350" marT="95250" marB="95250" anchor="t">
                    <a:solidFill>
                      <a:srgbClr val="F6F3EA"/>
                    </a:solidFill>
                  </a:tcPr>
                </a:tc>
                <a:tc>
                  <a:txBody>
                    <a:bodyPr wrap="square">
                      <a:noAutofit/>
                    </a:bodyPr>
                    <a:lstStyle/>
                    <a:p>
                      <a:r>
                        <a:rPr sz="1575" b="0">
                          <a:solidFill>
                            <a:srgbClr val="34233E"/>
                          </a:solidFill>
                          <a:latin typeface="Arial"/>
                          <a:ea typeface="Arial"/>
                          <a:cs typeface="Arial"/>
                        </a:rPr>
                        <a:t>Run workflow, role, QR and device checks; complete two consolidated in-scope revision rounds.</a:t>
                      </a:r>
                    </a:p>
                  </a:txBody>
                  <a:tcPr marL="133350" marR="133350" marT="95250" marB="95250" anchor="t">
                    <a:solidFill>
                      <a:srgbClr val="F6F3EA"/>
                    </a:solidFill>
                  </a:tcPr>
                </a:tc>
              </a:tr>
              <a:tr h="685800">
                <a:tc>
                  <a:txBody>
                    <a:bodyPr wrap="square">
                      <a:noAutofit/>
                    </a:bodyPr>
                    <a:lstStyle/>
                    <a:p>
                      <a:r>
                        <a:rPr sz="1575" b="0">
                          <a:solidFill>
                            <a:srgbClr val="35583C"/>
                          </a:solidFill>
                          <a:latin typeface="Arial"/>
                          <a:ea typeface="Arial"/>
                          <a:cs typeface="Arial"/>
                        </a:rPr>
                        <a:t>Week 10</a:t>
                      </a:r>
                    </a:p>
                  </a:txBody>
                  <a:tcPr marL="133350" marR="133350" marT="95250" marB="95250" anchor="t">
                    <a:solidFill>
                      <a:srgbClr val="F6F3EA"/>
                    </a:solidFill>
                  </a:tcPr>
                </a:tc>
                <a:tc>
                  <a:txBody>
                    <a:bodyPr wrap="square">
                      <a:noAutofit/>
                    </a:bodyPr>
                    <a:lstStyle/>
                    <a:p>
                      <a:r>
                        <a:rPr sz="1575" b="0">
                          <a:solidFill>
                            <a:srgbClr val="34233E"/>
                          </a:solidFill>
                          <a:latin typeface="Arial"/>
                          <a:ea typeface="Arial"/>
                          <a:cs typeface="Arial"/>
                        </a:rPr>
                        <a:t>Launch &amp; transfer</a:t>
                      </a:r>
                    </a:p>
                  </a:txBody>
                  <a:tcPr marL="133350" marR="133350" marT="95250" marB="95250" anchor="t">
                    <a:solidFill>
                      <a:srgbClr val="F6F3EA"/>
                    </a:solidFill>
                  </a:tcPr>
                </a:tc>
                <a:tc>
                  <a:txBody>
                    <a:bodyPr wrap="square">
                      <a:noAutofit/>
                    </a:bodyPr>
                    <a:lstStyle/>
                    <a:p>
                      <a:r>
                        <a:rPr sz="1575" b="0">
                          <a:solidFill>
                            <a:srgbClr val="34233E"/>
                          </a:solidFill>
                          <a:latin typeface="Arial"/>
                          <a:ea typeface="Arial"/>
                          <a:cs typeface="Arial"/>
                        </a:rPr>
                        <a:t>Configure HTTPS/backups, check restore, train operators, hand over source and start defect support.</a:t>
                      </a:r>
                    </a:p>
                  </a:txBody>
                  <a:tcPr marL="133350" marR="133350" marT="95250" marB="95250" anchor="t">
                    <a:solidFill>
                      <a:srgbClr val="F6F3EA"/>
                    </a:solidFill>
                  </a:tcPr>
                </a:tc>
              </a:tr>
            </a:tbl>
          </a:graphicData>
        </a:graphic>
      </p:graphicFrame>
      <p:sp>
        <p:nvSpPr>
          <p:cNvPr id="6" name="text-71">
            <a:extLst xmlns:a="http://schemas.openxmlformats.org/drawingml/2006/main">
              <a:ext uri="{FF2B5EF4-FFF2-40B4-BE49-F238E27FC236}">
                <a16:creationId xmlns:a16="http://schemas.microsoft.com/office/drawing/2014/main" id="{0F8A13B7-0481-4CD5-99BA-FF6DA0EB04D8}"/>
              </a:ext>
            </a:extLst>
          </p:cNvPr>
          <p:cNvSpPr>
            <a:spLocks xmlns:a="http://schemas.openxmlformats.org/drawingml/2006/main" noGrp="1"/>
          </p:cNvSpPr>
          <p:nvPr/>
        </p:nvSpPr>
        <p:spPr>
          <a:xfrm xmlns:a="http://schemas.openxmlformats.org/drawingml/2006/main">
            <a:off x="609600" y="6210300"/>
            <a:ext cx="1076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35583C"/>
                </a:solidFill>
                <a:latin typeface="Arial"/>
                <a:ea typeface="Arial"/>
                <a:cs typeface="Arial"/>
              </a:defRPr>
            </a:pPr>
            <a:r>
              <a:rPr sz="1350" b="0">
                <a:solidFill>
                  <a:srgbClr val="35583C"/>
                </a:solidFill>
                <a:latin typeface="Arial"/>
                <a:ea typeface="Arial"/>
                <a:cs typeface="Arial"/>
              </a:rPr>
              <a:t>Client review, missing data or approved scope changes can move the target launch.</a:t>
            </a:r>
          </a:p>
        </p:txBody>
      </p:sp>
    </p:spTree>
    <p:extLst>
      <p:ext uri="{BB962C8B-B14F-4D97-AF65-F5344CB8AC3E}">
        <p14:creationId xmlns:p14="http://schemas.microsoft.com/office/powerpoint/2010/main" val="1771972204"/>
      </p:ext>
    </p:extLst>
  </p:cSld>
</p:sld>
</file>

<file path=ppt/slides/slide16.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18" name="slide-title">
            <a:extLst xmlns:a="http://schemas.openxmlformats.org/drawingml/2006/main">
              <a:ext uri="{FF2B5EF4-FFF2-40B4-BE49-F238E27FC236}">
                <a16:creationId xmlns:a16="http://schemas.microsoft.com/office/drawing/2014/main" id="{021CF3F5-58A9-4B43-A28D-C0D5816FC800}"/>
              </a:ext>
            </a:extLst>
          </p:cNvPr>
          <p:cNvSpPr>
            <a:spLocks xmlns:a="http://schemas.openxmlformats.org/drawingml/2006/main" noGrp="1"/>
          </p:cNvSpPr>
          <p:nvPr/>
        </p:nvSpPr>
        <p:spPr>
          <a:xfrm xmlns:a="http://schemas.openxmlformats.org/drawingml/2006/main">
            <a:off x="609600" y="4953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542A69"/>
                </a:solidFill>
                <a:latin typeface="Georgia"/>
                <a:ea typeface="Georgia"/>
                <a:cs typeface="Georgia"/>
              </a:defRPr>
            </a:pPr>
            <a:r>
              <a:rPr sz="3300" b="0">
                <a:solidFill>
                  <a:srgbClr val="542A69"/>
                </a:solidFill>
                <a:latin typeface="Georgia"/>
                <a:ea typeface="Georgia"/>
                <a:cs typeface="Georgia"/>
              </a:rPr>
              <a:t>Pilot acceptance and handover</a:t>
            </a:r>
          </a:p>
        </p:txBody>
      </p:sp>
      <p:sp>
        <p:nvSpPr>
          <p:cNvPr id="2" name="slide-subtitle">
            <a:extLst xmlns:a="http://schemas.openxmlformats.org/drawingml/2006/main">
              <a:ext uri="{FF2B5EF4-FFF2-40B4-BE49-F238E27FC236}">
                <a16:creationId xmlns:a16="http://schemas.microsoft.com/office/drawing/2014/main" id="{74A4ADE1-C9D8-4F78-A02D-A2328CC3AB99}"/>
              </a:ext>
            </a:extLst>
          </p:cNvPr>
          <p:cNvSpPr>
            <a:spLocks xmlns:a="http://schemas.openxmlformats.org/drawingml/2006/main" noGrp="1"/>
          </p:cNvSpPr>
          <p:nvPr/>
        </p:nvSpPr>
        <p:spPr>
          <a:xfrm xmlns:a="http://schemas.openxmlformats.org/drawingml/2006/main">
            <a:off x="609600" y="1428750"/>
            <a:ext cx="10715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706B65"/>
                </a:solidFill>
                <a:latin typeface="Arial"/>
                <a:ea typeface="Arial"/>
                <a:cs typeface="Arial"/>
              </a:defRPr>
            </a:pPr>
            <a:r>
              <a:rPr sz="1725" b="0">
                <a:solidFill>
                  <a:srgbClr val="706B65"/>
                </a:solidFill>
                <a:latin typeface="Arial"/>
                <a:ea typeface="Arial"/>
                <a:cs typeface="Arial"/>
              </a:rPr>
              <a:t>Review working features on staging before the production launch.</a:t>
            </a:r>
          </a:p>
        </p:txBody>
      </p:sp>
      <p:sp>
        <p:nvSpPr>
          <p:cNvPr id="3" name="footer">
            <a:extLst xmlns:a="http://schemas.openxmlformats.org/drawingml/2006/main">
              <a:ext uri="{FF2B5EF4-FFF2-40B4-BE49-F238E27FC236}">
                <a16:creationId xmlns:a16="http://schemas.microsoft.com/office/drawing/2014/main" id="{DC31AF80-5ED2-4DD2-A651-00BDA986E3B2}"/>
              </a:ext>
            </a:extLst>
          </p:cNvPr>
          <p:cNvSpPr>
            <a:spLocks xmlns:a="http://schemas.openxmlformats.org/drawingml/2006/main" noGrp="1"/>
          </p:cNvSpPr>
          <p:nvPr/>
        </p:nvSpPr>
        <p:spPr>
          <a:xfrm xmlns:a="http://schemas.openxmlformats.org/drawingml/2006/main">
            <a:off x="609600" y="6543675"/>
            <a:ext cx="7143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00" b="0">
                <a:solidFill>
                  <a:srgbClr val="706B65"/>
                </a:solidFill>
                <a:latin typeface="Arial"/>
                <a:ea typeface="Arial"/>
                <a:cs typeface="Arial"/>
              </a:defRPr>
            </a:pPr>
            <a:r>
              <a:rPr sz="900" b="0">
                <a:solidFill>
                  <a:srgbClr val="706B65"/>
                </a:solidFill>
                <a:latin typeface="Arial"/>
                <a:ea typeface="Arial"/>
                <a:cs typeface="Arial"/>
              </a:rPr>
              <a:t>ROOTE ORIGIN SYSTEM</a:t>
            </a:r>
          </a:p>
        </p:txBody>
      </p:sp>
      <p:sp>
        <p:nvSpPr>
          <p:cNvPr id="4" name="slide-number">
            <a:extLst xmlns:a="http://schemas.openxmlformats.org/drawingml/2006/main">
              <a:ext uri="{FF2B5EF4-FFF2-40B4-BE49-F238E27FC236}">
                <a16:creationId xmlns:a16="http://schemas.microsoft.com/office/drawing/2014/main" id="{873DBC6E-01A7-4C1E-B2C3-AB8A52AB5077}"/>
              </a:ext>
            </a:extLst>
          </p:cNvPr>
          <p:cNvSpPr>
            <a:spLocks xmlns:a="http://schemas.openxmlformats.org/drawingml/2006/main" noGrp="1"/>
          </p:cNvSpPr>
          <p:nvPr/>
        </p:nvSpPr>
        <p:spPr>
          <a:xfrm xmlns:a="http://schemas.openxmlformats.org/drawingml/2006/main">
            <a:off x="11106150" y="65055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706B65"/>
                </a:solidFill>
                <a:latin typeface="Arial"/>
                <a:ea typeface="Arial"/>
                <a:cs typeface="Arial"/>
              </a:defRPr>
            </a:pPr>
            <a:r>
              <a:rPr sz="1125" b="0">
                <a:solidFill>
                  <a:srgbClr val="706B65"/>
                </a:solidFill>
                <a:latin typeface="Arial"/>
                <a:ea typeface="Arial"/>
                <a:cs typeface="Arial"/>
              </a:rPr>
              <a:t>16</a:t>
            </a:r>
          </a:p>
        </p:txBody>
      </p:sp>
      <p:sp>
        <p:nvSpPr>
          <p:cNvPr id="5" name="text-72">
            <a:extLst xmlns:a="http://schemas.openxmlformats.org/drawingml/2006/main">
              <a:ext uri="{FF2B5EF4-FFF2-40B4-BE49-F238E27FC236}">
                <a16:creationId xmlns:a16="http://schemas.microsoft.com/office/drawing/2014/main" id="{69183BEA-E4F8-4B63-BAA6-DB47EAD01BCF}"/>
              </a:ext>
            </a:extLst>
          </p:cNvPr>
          <p:cNvSpPr>
            <a:spLocks xmlns:a="http://schemas.openxmlformats.org/drawingml/2006/main" noGrp="1"/>
          </p:cNvSpPr>
          <p:nvPr/>
        </p:nvSpPr>
        <p:spPr>
          <a:xfrm xmlns:a="http://schemas.openxmlformats.org/drawingml/2006/main">
            <a:off x="609600" y="2495550"/>
            <a:ext cx="5286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542A69"/>
                </a:solidFill>
                <a:latin typeface="Georgia"/>
                <a:ea typeface="Georgia"/>
                <a:cs typeface="Georgia"/>
              </a:defRPr>
            </a:pPr>
            <a:r>
              <a:rPr sz="2325" b="0">
                <a:solidFill>
                  <a:srgbClr val="542A69"/>
                </a:solidFill>
                <a:latin typeface="Georgia"/>
                <a:ea typeface="Georgia"/>
                <a:cs typeface="Georgia"/>
              </a:rPr>
              <a:t>Acceptance checks</a:t>
            </a:r>
          </a:p>
        </p:txBody>
      </p:sp>
      <p:sp>
        <p:nvSpPr>
          <p:cNvPr id="6" name="text-73">
            <a:extLst xmlns:a="http://schemas.openxmlformats.org/drawingml/2006/main">
              <a:ext uri="{FF2B5EF4-FFF2-40B4-BE49-F238E27FC236}">
                <a16:creationId xmlns:a16="http://schemas.microsoft.com/office/drawing/2014/main" id="{FA2CDA82-C676-4B0E-8E39-5B320FD70277}"/>
              </a:ext>
            </a:extLst>
          </p:cNvPr>
          <p:cNvSpPr>
            <a:spLocks xmlns:a="http://schemas.openxmlformats.org/drawingml/2006/main" noGrp="1"/>
          </p:cNvSpPr>
          <p:nvPr/>
        </p:nvSpPr>
        <p:spPr>
          <a:xfrm xmlns:a="http://schemas.openxmlformats.org/drawingml/2006/main">
            <a:off x="609600" y="3219450"/>
            <a:ext cx="5257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4233E"/>
                </a:solidFill>
                <a:latin typeface="Arial"/>
                <a:ea typeface="Arial"/>
                <a:cs typeface="Arial"/>
              </a:defRPr>
            </a:pPr>
            <a:r>
              <a:rPr sz="1650" b="0">
                <a:solidFill>
                  <a:srgbClr val="34233E"/>
                </a:solidFill>
                <a:latin typeface="Arial"/>
                <a:ea typeface="Arial"/>
                <a:cs typeface="Arial"/>
              </a:rPr>
              <a:t>A complete farming-to-recipient batch journey</a:t>
            </a:r>
          </a:p>
        </p:txBody>
      </p:sp>
      <p:sp>
        <p:nvSpPr>
          <p:cNvPr id="7" name="text-74">
            <a:extLst xmlns:a="http://schemas.openxmlformats.org/drawingml/2006/main">
              <a:ext uri="{FF2B5EF4-FFF2-40B4-BE49-F238E27FC236}">
                <a16:creationId xmlns:a16="http://schemas.microsoft.com/office/drawing/2014/main" id="{36D32884-C9E1-48B8-B88A-90177296393D}"/>
              </a:ext>
            </a:extLst>
          </p:cNvPr>
          <p:cNvSpPr>
            <a:spLocks xmlns:a="http://schemas.openxmlformats.org/drawingml/2006/main" noGrp="1"/>
          </p:cNvSpPr>
          <p:nvPr/>
        </p:nvSpPr>
        <p:spPr>
          <a:xfrm xmlns:a="http://schemas.openxmlformats.org/drawingml/2006/main">
            <a:off x="609600" y="3714750"/>
            <a:ext cx="5257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4233E"/>
                </a:solidFill>
                <a:latin typeface="Arial"/>
                <a:ea typeface="Arial"/>
                <a:cs typeface="Arial"/>
              </a:defRPr>
            </a:pPr>
            <a:r>
              <a:rPr sz="1650" b="0">
                <a:solidFill>
                  <a:srgbClr val="34233E"/>
                </a:solidFill>
                <a:latin typeface="Arial"/>
                <a:ea typeface="Arial"/>
                <a:cs typeface="Arial"/>
              </a:rPr>
              <a:t>Saved records after refresh and re-login</a:t>
            </a:r>
          </a:p>
        </p:txBody>
      </p:sp>
      <p:sp>
        <p:nvSpPr>
          <p:cNvPr id="8" name="text-75">
            <a:extLst xmlns:a="http://schemas.openxmlformats.org/drawingml/2006/main">
              <a:ext uri="{FF2B5EF4-FFF2-40B4-BE49-F238E27FC236}">
                <a16:creationId xmlns:a16="http://schemas.microsoft.com/office/drawing/2014/main" id="{9091620D-8000-4DA3-AC82-ADF17BBA6CFA}"/>
              </a:ext>
            </a:extLst>
          </p:cNvPr>
          <p:cNvSpPr>
            <a:spLocks xmlns:a="http://schemas.openxmlformats.org/drawingml/2006/main" noGrp="1"/>
          </p:cNvSpPr>
          <p:nvPr/>
        </p:nvSpPr>
        <p:spPr>
          <a:xfrm xmlns:a="http://schemas.openxmlformats.org/drawingml/2006/main">
            <a:off x="609600" y="4210050"/>
            <a:ext cx="5257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4233E"/>
                </a:solidFill>
                <a:latin typeface="Arial"/>
                <a:ea typeface="Arial"/>
                <a:cs typeface="Arial"/>
              </a:defRPr>
            </a:pPr>
            <a:r>
              <a:rPr sz="1650" b="0">
                <a:solidFill>
                  <a:srgbClr val="34233E"/>
                </a:solidFill>
                <a:latin typeface="Arial"/>
                <a:ea typeface="Arial"/>
                <a:cs typeface="Arial"/>
              </a:rPr>
              <a:t>Enforced public and private access</a:t>
            </a:r>
          </a:p>
        </p:txBody>
      </p:sp>
      <p:sp>
        <p:nvSpPr>
          <p:cNvPr id="9" name="text-76">
            <a:extLst xmlns:a="http://schemas.openxmlformats.org/drawingml/2006/main">
              <a:ext uri="{FF2B5EF4-FFF2-40B4-BE49-F238E27FC236}">
                <a16:creationId xmlns:a16="http://schemas.microsoft.com/office/drawing/2014/main" id="{A522D598-F5C5-4EC8-A509-5B7BF64C5770}"/>
              </a:ext>
            </a:extLst>
          </p:cNvPr>
          <p:cNvSpPr>
            <a:spLocks xmlns:a="http://schemas.openxmlformats.org/drawingml/2006/main" noGrp="1"/>
          </p:cNvSpPr>
          <p:nvPr/>
        </p:nvSpPr>
        <p:spPr>
          <a:xfrm xmlns:a="http://schemas.openxmlformats.org/drawingml/2006/main">
            <a:off x="609600" y="4705350"/>
            <a:ext cx="5257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4233E"/>
                </a:solidFill>
                <a:latin typeface="Arial"/>
                <a:ea typeface="Arial"/>
                <a:cs typeface="Arial"/>
              </a:defRPr>
            </a:pPr>
            <a:r>
              <a:rPr sz="1650" b="0">
                <a:solidFill>
                  <a:srgbClr val="34233E"/>
                </a:solidFill>
                <a:latin typeface="Arial"/>
                <a:ea typeface="Arial"/>
                <a:cs typeface="Arial"/>
              </a:rPr>
              <a:t>Correct production QR destinations</a:t>
            </a:r>
          </a:p>
        </p:txBody>
      </p:sp>
      <p:sp>
        <p:nvSpPr>
          <p:cNvPr id="10" name="text-77">
            <a:extLst xmlns:a="http://schemas.openxmlformats.org/drawingml/2006/main">
              <a:ext uri="{FF2B5EF4-FFF2-40B4-BE49-F238E27FC236}">
                <a16:creationId xmlns:a16="http://schemas.microsoft.com/office/drawing/2014/main" id="{5FE6BA75-DE5A-4D19-BDB6-CD4ACC126CD7}"/>
              </a:ext>
            </a:extLst>
          </p:cNvPr>
          <p:cNvSpPr>
            <a:spLocks xmlns:a="http://schemas.openxmlformats.org/drawingml/2006/main" noGrp="1"/>
          </p:cNvSpPr>
          <p:nvPr/>
        </p:nvSpPr>
        <p:spPr>
          <a:xfrm xmlns:a="http://schemas.openxmlformats.org/drawingml/2006/main">
            <a:off x="609600" y="5200650"/>
            <a:ext cx="5257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4233E"/>
                </a:solidFill>
                <a:latin typeface="Arial"/>
                <a:ea typeface="Arial"/>
                <a:cs typeface="Arial"/>
              </a:defRPr>
            </a:pPr>
            <a:r>
              <a:rPr sz="1650" b="0">
                <a:solidFill>
                  <a:srgbClr val="34233E"/>
                </a:solidFill>
                <a:latin typeface="Arial"/>
                <a:ea typeface="Arial"/>
                <a:cs typeface="Arial"/>
              </a:rPr>
              <a:t>Mobile, keyboard and reduced-motion checks</a:t>
            </a:r>
          </a:p>
        </p:txBody>
      </p:sp>
      <p:sp>
        <p:nvSpPr>
          <p:cNvPr id="11" name="text-78">
            <a:extLst xmlns:a="http://schemas.openxmlformats.org/drawingml/2006/main">
              <a:ext uri="{FF2B5EF4-FFF2-40B4-BE49-F238E27FC236}">
                <a16:creationId xmlns:a16="http://schemas.microsoft.com/office/drawing/2014/main" id="{0D122E53-8C29-4874-AE07-8816AF0D3491}"/>
              </a:ext>
            </a:extLst>
          </p:cNvPr>
          <p:cNvSpPr>
            <a:spLocks xmlns:a="http://schemas.openxmlformats.org/drawingml/2006/main" noGrp="1"/>
          </p:cNvSpPr>
          <p:nvPr/>
        </p:nvSpPr>
        <p:spPr>
          <a:xfrm xmlns:a="http://schemas.openxmlformats.org/drawingml/2006/main">
            <a:off x="6619875" y="2495550"/>
            <a:ext cx="49625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542A69"/>
                </a:solidFill>
                <a:latin typeface="Georgia"/>
                <a:ea typeface="Georgia"/>
                <a:cs typeface="Georgia"/>
              </a:defRPr>
            </a:pPr>
            <a:r>
              <a:rPr sz="2325" b="0">
                <a:solidFill>
                  <a:srgbClr val="542A69"/>
                </a:solidFill>
                <a:latin typeface="Georgia"/>
                <a:ea typeface="Georgia"/>
                <a:cs typeface="Georgia"/>
              </a:rPr>
              <a:t>Client inputs</a:t>
            </a:r>
          </a:p>
        </p:txBody>
      </p:sp>
      <p:sp>
        <p:nvSpPr>
          <p:cNvPr id="12" name="text-79">
            <a:extLst xmlns:a="http://schemas.openxmlformats.org/drawingml/2006/main">
              <a:ext uri="{FF2B5EF4-FFF2-40B4-BE49-F238E27FC236}">
                <a16:creationId xmlns:a16="http://schemas.microsoft.com/office/drawing/2014/main" id="{02AB8B49-2A24-463A-A808-31D434E7E8C9}"/>
              </a:ext>
            </a:extLst>
          </p:cNvPr>
          <p:cNvSpPr>
            <a:spLocks xmlns:a="http://schemas.openxmlformats.org/drawingml/2006/main" noGrp="1"/>
          </p:cNvSpPr>
          <p:nvPr/>
        </p:nvSpPr>
        <p:spPr>
          <a:xfrm xmlns:a="http://schemas.openxmlformats.org/drawingml/2006/main">
            <a:off x="6619875" y="3219450"/>
            <a:ext cx="49625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4233E"/>
                </a:solidFill>
                <a:latin typeface="Arial"/>
                <a:ea typeface="Arial"/>
                <a:cs typeface="Arial"/>
              </a:defRPr>
            </a:pPr>
            <a:r>
              <a:rPr sz="1650" b="0">
                <a:solidFill>
                  <a:srgbClr val="34233E"/>
                </a:solidFill>
                <a:latin typeface="Arial"/>
                <a:ea typeface="Arial"/>
                <a:cs typeface="Arial"/>
              </a:rPr>
              <a:t>Approved identity, photographs and leadership roles</a:t>
            </a:r>
          </a:p>
        </p:txBody>
      </p:sp>
      <p:sp>
        <p:nvSpPr>
          <p:cNvPr id="13" name="text-80">
            <a:extLst xmlns:a="http://schemas.openxmlformats.org/drawingml/2006/main">
              <a:ext uri="{FF2B5EF4-FFF2-40B4-BE49-F238E27FC236}">
                <a16:creationId xmlns:a16="http://schemas.microsoft.com/office/drawing/2014/main" id="{2B3B71A4-4551-44A7-8A7D-4EE817D16CAD}"/>
              </a:ext>
            </a:extLst>
          </p:cNvPr>
          <p:cNvSpPr>
            <a:spLocks xmlns:a="http://schemas.openxmlformats.org/drawingml/2006/main" noGrp="1"/>
          </p:cNvSpPr>
          <p:nvPr/>
        </p:nvSpPr>
        <p:spPr>
          <a:xfrm xmlns:a="http://schemas.openxmlformats.org/drawingml/2006/main">
            <a:off x="6619875" y="3848100"/>
            <a:ext cx="49625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4233E"/>
                </a:solidFill>
                <a:latin typeface="Arial"/>
                <a:ea typeface="Arial"/>
                <a:cs typeface="Arial"/>
              </a:defRPr>
            </a:pPr>
            <a:r>
              <a:rPr sz="1650" b="0">
                <a:solidFill>
                  <a:srgbClr val="34233E"/>
                </a:solidFill>
                <a:latin typeface="Arial"/>
                <a:ea typeface="Arial"/>
                <a:cs typeface="Arial"/>
              </a:rPr>
              <a:t>Farm, produce, batch and partner records</a:t>
            </a:r>
          </a:p>
        </p:txBody>
      </p:sp>
      <p:sp>
        <p:nvSpPr>
          <p:cNvPr id="14" name="text-81">
            <a:extLst xmlns:a="http://schemas.openxmlformats.org/drawingml/2006/main">
              <a:ext uri="{FF2B5EF4-FFF2-40B4-BE49-F238E27FC236}">
                <a16:creationId xmlns:a16="http://schemas.microsoft.com/office/drawing/2014/main" id="{A994713C-8B4E-40A6-A209-EE3EEC48C14C}"/>
              </a:ext>
            </a:extLst>
          </p:cNvPr>
          <p:cNvSpPr>
            <a:spLocks xmlns:a="http://schemas.openxmlformats.org/drawingml/2006/main" noGrp="1"/>
          </p:cNvSpPr>
          <p:nvPr/>
        </p:nvSpPr>
        <p:spPr>
          <a:xfrm xmlns:a="http://schemas.openxmlformats.org/drawingml/2006/main">
            <a:off x="6619875" y="4476750"/>
            <a:ext cx="49625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4233E"/>
                </a:solidFill>
                <a:latin typeface="Arial"/>
                <a:ea typeface="Arial"/>
                <a:cs typeface="Arial"/>
              </a:defRPr>
            </a:pPr>
            <a:r>
              <a:rPr sz="1650" b="0">
                <a:solidFill>
                  <a:srgbClr val="34233E"/>
                </a:solidFill>
                <a:latin typeface="Arial"/>
                <a:ea typeface="Arial"/>
                <a:cs typeface="Arial"/>
              </a:rPr>
              <a:t>Role assignments and public-field approval</a:t>
            </a:r>
          </a:p>
        </p:txBody>
      </p:sp>
      <p:sp>
        <p:nvSpPr>
          <p:cNvPr id="15" name="text-82">
            <a:extLst xmlns:a="http://schemas.openxmlformats.org/drawingml/2006/main">
              <a:ext uri="{FF2B5EF4-FFF2-40B4-BE49-F238E27FC236}">
                <a16:creationId xmlns:a16="http://schemas.microsoft.com/office/drawing/2014/main" id="{9E1C4BAD-31A2-4F02-BD1E-E3AB164C22C4}"/>
              </a:ext>
            </a:extLst>
          </p:cNvPr>
          <p:cNvSpPr>
            <a:spLocks xmlns:a="http://schemas.openxmlformats.org/drawingml/2006/main" noGrp="1"/>
          </p:cNvSpPr>
          <p:nvPr/>
        </p:nvSpPr>
        <p:spPr>
          <a:xfrm xmlns:a="http://schemas.openxmlformats.org/drawingml/2006/main">
            <a:off x="6619875" y="5105400"/>
            <a:ext cx="49625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34233E"/>
                </a:solidFill>
                <a:latin typeface="Arial"/>
                <a:ea typeface="Arial"/>
                <a:cs typeface="Arial"/>
              </a:defRPr>
            </a:pPr>
            <a:r>
              <a:rPr sz="1650" b="0">
                <a:solidFill>
                  <a:srgbClr val="34233E"/>
                </a:solidFill>
                <a:latin typeface="Arial"/>
                <a:ea typeface="Arial"/>
                <a:cs typeface="Arial"/>
              </a:rPr>
              <a:t>Client-owned deployment accounts and review feedback</a:t>
            </a:r>
          </a:p>
        </p:txBody>
      </p:sp>
      <p:sp>
        <p:nvSpPr>
          <p:cNvPr id="16" name="divider-83">
            <a:extLst xmlns:a="http://schemas.openxmlformats.org/drawingml/2006/main">
              <a:ext uri="{FF2B5EF4-FFF2-40B4-BE49-F238E27FC236}">
                <a16:creationId xmlns:a16="http://schemas.microsoft.com/office/drawing/2014/main" id="{FBDA1708-8116-4776-9CEB-0ED6EE96E08E}"/>
              </a:ext>
            </a:extLst>
          </p:cNvPr>
          <p:cNvSpPr>
            <a:spLocks xmlns:a="http://schemas.openxmlformats.org/drawingml/2006/main" noGrp="1"/>
          </p:cNvSpPr>
          <p:nvPr/>
        </p:nvSpPr>
        <p:spPr>
          <a:xfrm xmlns:a="http://schemas.openxmlformats.org/drawingml/2006/main">
            <a:off x="609600" y="5791200"/>
            <a:ext cx="10972800" cy="0"/>
          </a:xfrm>
          <a:prstGeom xmlns:a="http://schemas.openxmlformats.org/drawingml/2006/main" prst="line">
            <a:avLst/>
          </a:prstGeom>
          <a:noFill xmlns:a="http://schemas.openxmlformats.org/drawingml/2006/main"/>
          <a:ln xmlns:a="http://schemas.openxmlformats.org/drawingml/2006/main" w="9525">
            <a:solidFill>
              <a:srgbClr val="D8D0BE"/>
            </a:solidFill>
            <a:prstDash val="solid"/>
          </a:ln>
        </p:spPr>
      </p:sp>
      <p:sp>
        <p:nvSpPr>
          <p:cNvPr id="17" name="text-84">
            <a:extLst xmlns:a="http://schemas.openxmlformats.org/drawingml/2006/main">
              <a:ext uri="{FF2B5EF4-FFF2-40B4-BE49-F238E27FC236}">
                <a16:creationId xmlns:a16="http://schemas.microsoft.com/office/drawing/2014/main" id="{9317AB91-61E7-45BD-965D-84A6E888E678}"/>
              </a:ext>
            </a:extLst>
          </p:cNvPr>
          <p:cNvSpPr>
            <a:spLocks xmlns:a="http://schemas.openxmlformats.org/drawingml/2006/main" noGrp="1"/>
          </p:cNvSpPr>
          <p:nvPr/>
        </p:nvSpPr>
        <p:spPr>
          <a:xfrm xmlns:a="http://schemas.openxmlformats.org/drawingml/2006/main">
            <a:off x="609600" y="6048375"/>
            <a:ext cx="10896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35583C"/>
                </a:solidFill>
                <a:latin typeface="Arial"/>
                <a:ea typeface="Arial"/>
                <a:cs typeface="Arial"/>
              </a:defRPr>
            </a:pPr>
            <a:r>
              <a:rPr sz="1425" b="0">
                <a:solidFill>
                  <a:srgbClr val="35583C"/>
                </a:solidFill>
                <a:latin typeface="Arial"/>
                <a:ea typeface="Arial"/>
                <a:cs typeface="Arial"/>
              </a:rPr>
              <a:t>Assisted setup: 10 farms, 20 batches and 25 accounts. These are onboarding allowances, not record limits.</a:t>
            </a:r>
          </a:p>
        </p:txBody>
      </p:sp>
    </p:spTree>
    <p:extLst>
      <p:ext uri="{BB962C8B-B14F-4D97-AF65-F5344CB8AC3E}">
        <p14:creationId xmlns:p14="http://schemas.microsoft.com/office/powerpoint/2010/main" val="752194059"/>
      </p:ext>
    </p:extLst>
  </p:cSld>
</p:sld>
</file>

<file path=ppt/slides/slide17.xml><?xml version="1.0" encoding="utf-8"?>
<p:sld xmlns:p="http://schemas.openxmlformats.org/presentationml/2006/main">
  <p:cSld>
    <p:bg>
      <p:bgPr>
        <a:solidFill xmlns:a="http://schemas.openxmlformats.org/drawingml/2006/main">
          <a:srgbClr val="F6F3EA"/>
        </a:solidFill>
      </p:bgPr>
    </p:bg>
    <p:spTree>
      <p:nvGrpSpPr>
        <p:cNvPr id="1" name=""/>
        <p:cNvGrpSpPr/>
        <p:nvPr/>
      </p:nvGrpSpPr>
      <p:grpSpPr>
        <a:xfrm xmlns:a="http://schemas.openxmlformats.org/drawingml/2006/main"/>
      </p:grpSpPr>
      <p:sp>
        <p:nvSpPr>
          <p:cNvPr id="17" name="slide-title">
            <a:extLst xmlns:a="http://schemas.openxmlformats.org/drawingml/2006/main">
              <a:ext uri="{FF2B5EF4-FFF2-40B4-BE49-F238E27FC236}">
                <a16:creationId xmlns:a16="http://schemas.microsoft.com/office/drawing/2014/main" id="{BD717FF9-20E6-44B2-AE33-9D639E381804}"/>
              </a:ext>
            </a:extLst>
          </p:cNvPr>
          <p:cNvSpPr>
            <a:spLocks xmlns:a="http://schemas.openxmlformats.org/drawingml/2006/main" noGrp="1"/>
          </p:cNvSpPr>
          <p:nvPr/>
        </p:nvSpPr>
        <p:spPr>
          <a:xfrm xmlns:a="http://schemas.openxmlformats.org/drawingml/2006/main">
            <a:off x="609600" y="4953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542A69"/>
                </a:solidFill>
                <a:latin typeface="Georgia"/>
                <a:ea typeface="Georgia"/>
                <a:cs typeface="Georgia"/>
              </a:defRPr>
            </a:pPr>
            <a:r>
              <a:rPr sz="3300" b="0">
                <a:solidFill>
                  <a:srgbClr val="542A69"/>
                </a:solidFill>
                <a:latin typeface="Georgia"/>
                <a:ea typeface="Georgia"/>
                <a:cs typeface="Georgia"/>
              </a:rPr>
              <a:t>How should we work together?</a:t>
            </a:r>
          </a:p>
        </p:txBody>
      </p:sp>
      <p:sp>
        <p:nvSpPr>
          <p:cNvPr id="2" name="footer">
            <a:extLst xmlns:a="http://schemas.openxmlformats.org/drawingml/2006/main">
              <a:ext uri="{FF2B5EF4-FFF2-40B4-BE49-F238E27FC236}">
                <a16:creationId xmlns:a16="http://schemas.microsoft.com/office/drawing/2014/main" id="{264C9CD7-8C92-4299-A6EE-DA3C0A355114}"/>
              </a:ext>
            </a:extLst>
          </p:cNvPr>
          <p:cNvSpPr>
            <a:spLocks xmlns:a="http://schemas.openxmlformats.org/drawingml/2006/main" noGrp="1"/>
          </p:cNvSpPr>
          <p:nvPr/>
        </p:nvSpPr>
        <p:spPr>
          <a:xfrm xmlns:a="http://schemas.openxmlformats.org/drawingml/2006/main">
            <a:off x="609600" y="6543675"/>
            <a:ext cx="7143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00" b="0">
                <a:solidFill>
                  <a:srgbClr val="706B65"/>
                </a:solidFill>
                <a:latin typeface="Arial"/>
                <a:ea typeface="Arial"/>
                <a:cs typeface="Arial"/>
              </a:defRPr>
            </a:pPr>
            <a:r>
              <a:rPr sz="900" b="0">
                <a:solidFill>
                  <a:srgbClr val="706B65"/>
                </a:solidFill>
                <a:latin typeface="Arial"/>
                <a:ea typeface="Arial"/>
                <a:cs typeface="Arial"/>
              </a:rPr>
              <a:t>ROOTE ORIGIN SYSTEM</a:t>
            </a:r>
          </a:p>
        </p:txBody>
      </p:sp>
      <p:sp>
        <p:nvSpPr>
          <p:cNvPr id="3" name="slide-number">
            <a:extLst xmlns:a="http://schemas.openxmlformats.org/drawingml/2006/main">
              <a:ext uri="{FF2B5EF4-FFF2-40B4-BE49-F238E27FC236}">
                <a16:creationId xmlns:a16="http://schemas.microsoft.com/office/drawing/2014/main" id="{8D0084BC-D350-4D58-9C49-0C0BF446461B}"/>
              </a:ext>
            </a:extLst>
          </p:cNvPr>
          <p:cNvSpPr>
            <a:spLocks xmlns:a="http://schemas.openxmlformats.org/drawingml/2006/main" noGrp="1"/>
          </p:cNvSpPr>
          <p:nvPr/>
        </p:nvSpPr>
        <p:spPr>
          <a:xfrm xmlns:a="http://schemas.openxmlformats.org/drawingml/2006/main">
            <a:off x="11106150" y="65055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706B65"/>
                </a:solidFill>
                <a:latin typeface="Arial"/>
                <a:ea typeface="Arial"/>
                <a:cs typeface="Arial"/>
              </a:defRPr>
            </a:pPr>
            <a:r>
              <a:rPr sz="1125" b="0">
                <a:solidFill>
                  <a:srgbClr val="706B65"/>
                </a:solidFill>
                <a:latin typeface="Arial"/>
                <a:ea typeface="Arial"/>
                <a:cs typeface="Arial"/>
              </a:rPr>
              <a:t>17</a:t>
            </a:r>
          </a:p>
        </p:txBody>
      </p:sp>
      <p:sp>
        <p:nvSpPr>
          <p:cNvPr id="4" name="text-85">
            <a:extLst xmlns:a="http://schemas.openxmlformats.org/drawingml/2006/main">
              <a:ext uri="{FF2B5EF4-FFF2-40B4-BE49-F238E27FC236}">
                <a16:creationId xmlns:a16="http://schemas.microsoft.com/office/drawing/2014/main" id="{491865D4-47B9-4FF5-A037-F864A47E6EED}"/>
              </a:ext>
            </a:extLst>
          </p:cNvPr>
          <p:cNvSpPr>
            <a:spLocks xmlns:a="http://schemas.openxmlformats.org/drawingml/2006/main" noGrp="1"/>
          </p:cNvSpPr>
          <p:nvPr/>
        </p:nvSpPr>
        <p:spPr>
          <a:xfrm xmlns:a="http://schemas.openxmlformats.org/drawingml/2006/main">
            <a:off x="609600" y="1619250"/>
            <a:ext cx="106680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35583C"/>
                </a:solidFill>
                <a:latin typeface="Arial"/>
                <a:ea typeface="Arial"/>
                <a:cs typeface="Arial"/>
              </a:defRPr>
            </a:pPr>
            <a:r>
              <a:rPr sz="2625" b="0">
                <a:solidFill>
                  <a:srgbClr val="35583C"/>
                </a:solidFill>
                <a:latin typeface="Arial"/>
                <a:ea typeface="Arial"/>
                <a:cs typeface="Arial"/>
              </a:rPr>
              <a:t>Will this be project-based, a service contract for an agreed period, or direct employment?</a:t>
            </a:r>
          </a:p>
        </p:txBody>
      </p:sp>
      <p:sp>
        <p:nvSpPr>
          <p:cNvPr id="5" name="text-86">
            <a:extLst xmlns:a="http://schemas.openxmlformats.org/drawingml/2006/main">
              <a:ext uri="{FF2B5EF4-FFF2-40B4-BE49-F238E27FC236}">
                <a16:creationId xmlns:a16="http://schemas.microsoft.com/office/drawing/2014/main" id="{A33C36A8-9AEA-44F7-9ABE-03A4E8AB4492}"/>
              </a:ext>
            </a:extLst>
          </p:cNvPr>
          <p:cNvSpPr>
            <a:spLocks xmlns:a="http://schemas.openxmlformats.org/drawingml/2006/main" noGrp="1"/>
          </p:cNvSpPr>
          <p:nvPr/>
        </p:nvSpPr>
        <p:spPr>
          <a:xfrm xmlns:a="http://schemas.openxmlformats.org/drawingml/2006/main">
            <a:off x="609600" y="3314700"/>
            <a:ext cx="335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542A69"/>
                </a:solidFill>
                <a:latin typeface="Georgia"/>
                <a:ea typeface="Georgia"/>
                <a:cs typeface="Georgia"/>
              </a:defRPr>
            </a:pPr>
            <a:r>
              <a:rPr sz="2325" b="0">
                <a:solidFill>
                  <a:srgbClr val="542A69"/>
                </a:solidFill>
                <a:latin typeface="Georgia"/>
                <a:ea typeface="Georgia"/>
                <a:cs typeface="Georgia"/>
              </a:rPr>
              <a:t>Project-based</a:t>
            </a:r>
          </a:p>
        </p:txBody>
      </p:sp>
      <p:sp>
        <p:nvSpPr>
          <p:cNvPr id="6" name="text-87">
            <a:extLst xmlns:a="http://schemas.openxmlformats.org/drawingml/2006/main">
              <a:ext uri="{FF2B5EF4-FFF2-40B4-BE49-F238E27FC236}">
                <a16:creationId xmlns:a16="http://schemas.microsoft.com/office/drawing/2014/main" id="{B3E943A8-BDE8-4F58-B5F7-1BFDBC27B4BA}"/>
              </a:ext>
            </a:extLst>
          </p:cNvPr>
          <p:cNvSpPr>
            <a:spLocks xmlns:a="http://schemas.openxmlformats.org/drawingml/2006/main" noGrp="1"/>
          </p:cNvSpPr>
          <p:nvPr/>
        </p:nvSpPr>
        <p:spPr>
          <a:xfrm xmlns:a="http://schemas.openxmlformats.org/drawingml/2006/main">
            <a:off x="609600" y="4057650"/>
            <a:ext cx="335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34233E"/>
                </a:solidFill>
                <a:latin typeface="Arial"/>
                <a:ea typeface="Arial"/>
                <a:cs typeface="Arial"/>
              </a:defRPr>
            </a:pPr>
            <a:r>
              <a:rPr sz="1725" b="0">
                <a:solidFill>
                  <a:srgbClr val="34233E"/>
                </a:solidFill>
                <a:latin typeface="Arial"/>
                <a:ea typeface="Arial"/>
                <a:cs typeface="Arial"/>
              </a:rPr>
              <a:t>Deliver the defined MVP through agreed milestones and a handover.</a:t>
            </a:r>
          </a:p>
        </p:txBody>
      </p:sp>
      <p:sp>
        <p:nvSpPr>
          <p:cNvPr id="7" name="divider-88">
            <a:extLst xmlns:a="http://schemas.openxmlformats.org/drawingml/2006/main">
              <a:ext uri="{FF2B5EF4-FFF2-40B4-BE49-F238E27FC236}">
                <a16:creationId xmlns:a16="http://schemas.microsoft.com/office/drawing/2014/main" id="{22AF411E-C499-477E-ABDF-CE04062077ED}"/>
              </a:ext>
            </a:extLst>
          </p:cNvPr>
          <p:cNvSpPr>
            <a:spLocks xmlns:a="http://schemas.openxmlformats.org/drawingml/2006/main" noGrp="1"/>
          </p:cNvSpPr>
          <p:nvPr/>
        </p:nvSpPr>
        <p:spPr>
          <a:xfrm xmlns:a="http://schemas.openxmlformats.org/drawingml/2006/main">
            <a:off x="609600" y="5114925"/>
            <a:ext cx="3352800" cy="0"/>
          </a:xfrm>
          <a:prstGeom xmlns:a="http://schemas.openxmlformats.org/drawingml/2006/main" prst="line">
            <a:avLst/>
          </a:prstGeom>
          <a:noFill xmlns:a="http://schemas.openxmlformats.org/drawingml/2006/main"/>
          <a:ln xmlns:a="http://schemas.openxmlformats.org/drawingml/2006/main" w="9525">
            <a:solidFill>
              <a:srgbClr val="D8D0BE"/>
            </a:solidFill>
            <a:prstDash val="solid"/>
          </a:ln>
        </p:spPr>
      </p:sp>
      <p:sp>
        <p:nvSpPr>
          <p:cNvPr id="8" name="text-89">
            <a:extLst xmlns:a="http://schemas.openxmlformats.org/drawingml/2006/main">
              <a:ext uri="{FF2B5EF4-FFF2-40B4-BE49-F238E27FC236}">
                <a16:creationId xmlns:a16="http://schemas.microsoft.com/office/drawing/2014/main" id="{06331219-B39C-4510-A51A-B31228AC9C1B}"/>
              </a:ext>
            </a:extLst>
          </p:cNvPr>
          <p:cNvSpPr>
            <a:spLocks xmlns:a="http://schemas.openxmlformats.org/drawingml/2006/main" noGrp="1"/>
          </p:cNvSpPr>
          <p:nvPr/>
        </p:nvSpPr>
        <p:spPr>
          <a:xfrm xmlns:a="http://schemas.openxmlformats.org/drawingml/2006/main">
            <a:off x="609600" y="5372100"/>
            <a:ext cx="335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35583C"/>
                </a:solidFill>
                <a:latin typeface="Arial"/>
                <a:ea typeface="Arial"/>
                <a:cs typeface="Arial"/>
              </a:defRPr>
            </a:pPr>
            <a:r>
              <a:rPr sz="1500" b="0">
                <a:solidFill>
                  <a:srgbClr val="35583C"/>
                </a:solidFill>
                <a:latin typeface="Arial"/>
                <a:ea typeface="Arial"/>
                <a:cs typeface="Arial"/>
              </a:rPr>
              <a:t>Does the engagement end after MVP acceptance and launch support?</a:t>
            </a:r>
          </a:p>
        </p:txBody>
      </p:sp>
      <p:sp>
        <p:nvSpPr>
          <p:cNvPr id="9" name="text-90">
            <a:extLst xmlns:a="http://schemas.openxmlformats.org/drawingml/2006/main">
              <a:ext uri="{FF2B5EF4-FFF2-40B4-BE49-F238E27FC236}">
                <a16:creationId xmlns:a16="http://schemas.microsoft.com/office/drawing/2014/main" id="{A68357FF-2C09-49A3-A8A4-6BB15D4D3286}"/>
              </a:ext>
            </a:extLst>
          </p:cNvPr>
          <p:cNvSpPr>
            <a:spLocks xmlns:a="http://schemas.openxmlformats.org/drawingml/2006/main" noGrp="1"/>
          </p:cNvSpPr>
          <p:nvPr/>
        </p:nvSpPr>
        <p:spPr>
          <a:xfrm xmlns:a="http://schemas.openxmlformats.org/drawingml/2006/main">
            <a:off x="4419600" y="3314700"/>
            <a:ext cx="335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542A69"/>
                </a:solidFill>
                <a:latin typeface="Georgia"/>
                <a:ea typeface="Georgia"/>
                <a:cs typeface="Georgia"/>
              </a:defRPr>
            </a:pPr>
            <a:r>
              <a:rPr sz="2325" b="0">
                <a:solidFill>
                  <a:srgbClr val="542A69"/>
                </a:solidFill>
                <a:latin typeface="Georgia"/>
                <a:ea typeface="Georgia"/>
                <a:cs typeface="Georgia"/>
              </a:rPr>
              <a:t>Service contract</a:t>
            </a:r>
          </a:p>
        </p:txBody>
      </p:sp>
      <p:sp>
        <p:nvSpPr>
          <p:cNvPr id="10" name="text-91">
            <a:extLst xmlns:a="http://schemas.openxmlformats.org/drawingml/2006/main">
              <a:ext uri="{FF2B5EF4-FFF2-40B4-BE49-F238E27FC236}">
                <a16:creationId xmlns:a16="http://schemas.microsoft.com/office/drawing/2014/main" id="{D1536419-2B3A-4163-B73C-27891A055A5E}"/>
              </a:ext>
            </a:extLst>
          </p:cNvPr>
          <p:cNvSpPr>
            <a:spLocks xmlns:a="http://schemas.openxmlformats.org/drawingml/2006/main" noGrp="1"/>
          </p:cNvSpPr>
          <p:nvPr/>
        </p:nvSpPr>
        <p:spPr>
          <a:xfrm xmlns:a="http://schemas.openxmlformats.org/drawingml/2006/main">
            <a:off x="4419600" y="4057650"/>
            <a:ext cx="335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34233E"/>
                </a:solidFill>
                <a:latin typeface="Arial"/>
                <a:ea typeface="Arial"/>
                <a:cs typeface="Arial"/>
              </a:defRPr>
            </a:pPr>
            <a:r>
              <a:rPr sz="1725" b="0">
                <a:solidFill>
                  <a:srgbClr val="34233E"/>
                </a:solidFill>
                <a:latin typeface="Arial"/>
                <a:ea typeface="Arial"/>
                <a:cs typeface="Arial"/>
              </a:rPr>
              <a:t>Provide development and support over an agreed period.</a:t>
            </a:r>
          </a:p>
        </p:txBody>
      </p:sp>
      <p:sp>
        <p:nvSpPr>
          <p:cNvPr id="11" name="divider-92">
            <a:extLst xmlns:a="http://schemas.openxmlformats.org/drawingml/2006/main">
              <a:ext uri="{FF2B5EF4-FFF2-40B4-BE49-F238E27FC236}">
                <a16:creationId xmlns:a16="http://schemas.microsoft.com/office/drawing/2014/main" id="{D6823DF4-E8FD-4828-89A7-8B4329D45F41}"/>
              </a:ext>
            </a:extLst>
          </p:cNvPr>
          <p:cNvSpPr>
            <a:spLocks xmlns:a="http://schemas.openxmlformats.org/drawingml/2006/main" noGrp="1"/>
          </p:cNvSpPr>
          <p:nvPr/>
        </p:nvSpPr>
        <p:spPr>
          <a:xfrm xmlns:a="http://schemas.openxmlformats.org/drawingml/2006/main">
            <a:off x="4419600" y="5114925"/>
            <a:ext cx="3352800" cy="0"/>
          </a:xfrm>
          <a:prstGeom xmlns:a="http://schemas.openxmlformats.org/drawingml/2006/main" prst="line">
            <a:avLst/>
          </a:prstGeom>
          <a:noFill xmlns:a="http://schemas.openxmlformats.org/drawingml/2006/main"/>
          <a:ln xmlns:a="http://schemas.openxmlformats.org/drawingml/2006/main" w="9525">
            <a:solidFill>
              <a:srgbClr val="D8D0BE"/>
            </a:solidFill>
            <a:prstDash val="solid"/>
          </a:ln>
        </p:spPr>
      </p:sp>
      <p:sp>
        <p:nvSpPr>
          <p:cNvPr id="12" name="text-93">
            <a:extLst xmlns:a="http://schemas.openxmlformats.org/drawingml/2006/main">
              <a:ext uri="{FF2B5EF4-FFF2-40B4-BE49-F238E27FC236}">
                <a16:creationId xmlns:a16="http://schemas.microsoft.com/office/drawing/2014/main" id="{E54FBD3D-8865-420A-9AFC-4770A7AF8C92}"/>
              </a:ext>
            </a:extLst>
          </p:cNvPr>
          <p:cNvSpPr>
            <a:spLocks xmlns:a="http://schemas.openxmlformats.org/drawingml/2006/main" noGrp="1"/>
          </p:cNvSpPr>
          <p:nvPr/>
        </p:nvSpPr>
        <p:spPr>
          <a:xfrm xmlns:a="http://schemas.openxmlformats.org/drawingml/2006/main">
            <a:off x="4419600" y="5372100"/>
            <a:ext cx="335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35583C"/>
                </a:solidFill>
                <a:latin typeface="Arial"/>
                <a:ea typeface="Arial"/>
                <a:cs typeface="Arial"/>
              </a:defRPr>
            </a:pPr>
            <a:r>
              <a:rPr sz="1500" b="0">
                <a:solidFill>
                  <a:srgbClr val="35583C"/>
                </a:solidFill>
                <a:latin typeface="Arial"/>
                <a:ea typeface="Arial"/>
                <a:cs typeface="Arial"/>
              </a:rPr>
              <a:t>What duration, work commitment and ongoing support do you expect?</a:t>
            </a:r>
          </a:p>
        </p:txBody>
      </p:sp>
      <p:sp>
        <p:nvSpPr>
          <p:cNvPr id="13" name="text-94">
            <a:extLst xmlns:a="http://schemas.openxmlformats.org/drawingml/2006/main">
              <a:ext uri="{FF2B5EF4-FFF2-40B4-BE49-F238E27FC236}">
                <a16:creationId xmlns:a16="http://schemas.microsoft.com/office/drawing/2014/main" id="{C44A9B8A-8818-4B59-8C16-1A128482A58E}"/>
              </a:ext>
            </a:extLst>
          </p:cNvPr>
          <p:cNvSpPr>
            <a:spLocks xmlns:a="http://schemas.openxmlformats.org/drawingml/2006/main" noGrp="1"/>
          </p:cNvSpPr>
          <p:nvPr/>
        </p:nvSpPr>
        <p:spPr>
          <a:xfrm xmlns:a="http://schemas.openxmlformats.org/drawingml/2006/main">
            <a:off x="8229600" y="3314700"/>
            <a:ext cx="335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542A69"/>
                </a:solidFill>
                <a:latin typeface="Georgia"/>
                <a:ea typeface="Georgia"/>
                <a:cs typeface="Georgia"/>
              </a:defRPr>
            </a:pPr>
            <a:r>
              <a:rPr sz="2325" b="0">
                <a:solidFill>
                  <a:srgbClr val="542A69"/>
                </a:solidFill>
                <a:latin typeface="Georgia"/>
                <a:ea typeface="Georgia"/>
                <a:cs typeface="Georgia"/>
              </a:rPr>
              <a:t>Direct employment</a:t>
            </a:r>
          </a:p>
        </p:txBody>
      </p:sp>
      <p:sp>
        <p:nvSpPr>
          <p:cNvPr id="14" name="text-95">
            <a:extLst xmlns:a="http://schemas.openxmlformats.org/drawingml/2006/main">
              <a:ext uri="{FF2B5EF4-FFF2-40B4-BE49-F238E27FC236}">
                <a16:creationId xmlns:a16="http://schemas.microsoft.com/office/drawing/2014/main" id="{0E0A6C24-C326-4234-B0DC-730F9C19C3E7}"/>
              </a:ext>
            </a:extLst>
          </p:cNvPr>
          <p:cNvSpPr>
            <a:spLocks xmlns:a="http://schemas.openxmlformats.org/drawingml/2006/main" noGrp="1"/>
          </p:cNvSpPr>
          <p:nvPr/>
        </p:nvSpPr>
        <p:spPr>
          <a:xfrm xmlns:a="http://schemas.openxmlformats.org/drawingml/2006/main">
            <a:off x="8229600" y="4057650"/>
            <a:ext cx="335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34233E"/>
                </a:solidFill>
                <a:latin typeface="Arial"/>
                <a:ea typeface="Arial"/>
                <a:cs typeface="Arial"/>
              </a:defRPr>
            </a:pPr>
            <a:r>
              <a:rPr sz="1725" b="0">
                <a:solidFill>
                  <a:srgbClr val="34233E"/>
                </a:solidFill>
                <a:latin typeface="Arial"/>
                <a:ea typeface="Arial"/>
                <a:cs typeface="Arial"/>
              </a:rPr>
              <a:t>Join the team in a role that supports the system and broader priorities.</a:t>
            </a:r>
          </a:p>
        </p:txBody>
      </p:sp>
      <p:sp>
        <p:nvSpPr>
          <p:cNvPr id="15" name="divider-96">
            <a:extLst xmlns:a="http://schemas.openxmlformats.org/drawingml/2006/main">
              <a:ext uri="{FF2B5EF4-FFF2-40B4-BE49-F238E27FC236}">
                <a16:creationId xmlns:a16="http://schemas.microsoft.com/office/drawing/2014/main" id="{98E70096-8917-4B7D-8CD3-E4F3ACCEE11A}"/>
              </a:ext>
            </a:extLst>
          </p:cNvPr>
          <p:cNvSpPr>
            <a:spLocks xmlns:a="http://schemas.openxmlformats.org/drawingml/2006/main" noGrp="1"/>
          </p:cNvSpPr>
          <p:nvPr/>
        </p:nvSpPr>
        <p:spPr>
          <a:xfrm xmlns:a="http://schemas.openxmlformats.org/drawingml/2006/main">
            <a:off x="8229600" y="5114925"/>
            <a:ext cx="3352800" cy="0"/>
          </a:xfrm>
          <a:prstGeom xmlns:a="http://schemas.openxmlformats.org/drawingml/2006/main" prst="line">
            <a:avLst/>
          </a:prstGeom>
          <a:noFill xmlns:a="http://schemas.openxmlformats.org/drawingml/2006/main"/>
          <a:ln xmlns:a="http://schemas.openxmlformats.org/drawingml/2006/main" w="9525">
            <a:solidFill>
              <a:srgbClr val="D8D0BE"/>
            </a:solidFill>
            <a:prstDash val="solid"/>
          </a:ln>
        </p:spPr>
      </p:sp>
      <p:sp>
        <p:nvSpPr>
          <p:cNvPr id="16" name="text-97">
            <a:extLst xmlns:a="http://schemas.openxmlformats.org/drawingml/2006/main">
              <a:ext uri="{FF2B5EF4-FFF2-40B4-BE49-F238E27FC236}">
                <a16:creationId xmlns:a16="http://schemas.microsoft.com/office/drawing/2014/main" id="{A3147142-8802-433E-9757-4E21A19B653C}"/>
              </a:ext>
            </a:extLst>
          </p:cNvPr>
          <p:cNvSpPr>
            <a:spLocks xmlns:a="http://schemas.openxmlformats.org/drawingml/2006/main" noGrp="1"/>
          </p:cNvSpPr>
          <p:nvPr/>
        </p:nvSpPr>
        <p:spPr>
          <a:xfrm xmlns:a="http://schemas.openxmlformats.org/drawingml/2006/main">
            <a:off x="8229600" y="5372100"/>
            <a:ext cx="335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35583C"/>
                </a:solidFill>
                <a:latin typeface="Arial"/>
                <a:ea typeface="Arial"/>
                <a:cs typeface="Arial"/>
              </a:defRPr>
            </a:pPr>
            <a:r>
              <a:rPr sz="1500" b="0">
                <a:solidFill>
                  <a:srgbClr val="35583C"/>
                </a:solidFill>
                <a:latin typeface="Arial"/>
                <a:ea typeface="Arial"/>
                <a:cs typeface="Arial"/>
              </a:rPr>
              <a:t>What role, reporting line and responsibilities do you have in mind?</a:t>
            </a:r>
          </a:p>
        </p:txBody>
      </p:sp>
    </p:spTree>
    <p:extLst>
      <p:ext uri="{BB962C8B-B14F-4D97-AF65-F5344CB8AC3E}">
        <p14:creationId xmlns:p14="http://schemas.microsoft.com/office/powerpoint/2010/main" val="1048320008"/>
      </p:ext>
    </p:extLst>
  </p:cSld>
</p:sld>
</file>

<file path=ppt/slides/slide18.xml><?xml version="1.0" encoding="utf-8"?>
<p:sld xmlns:p="http://schemas.openxmlformats.org/presentationml/2006/main">
  <p:cSld>
    <p:bg>
      <p:bgPr>
        <a:solidFill xmlns:a="http://schemas.openxmlformats.org/drawingml/2006/main">
          <a:srgbClr val="542A69"/>
        </a:solidFill>
      </p:bgPr>
    </p:bg>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FE211334-AF31-4C14-AE8A-2AB74B275D96}"/>
              </a:ext>
            </a:extLst>
          </p:cNvPr>
          <p:cNvSpPr>
            <a:spLocks xmlns:a="http://schemas.openxmlformats.org/drawingml/2006/main" noGrp="1"/>
          </p:cNvSpPr>
          <p:nvPr/>
        </p:nvSpPr>
        <p:spPr>
          <a:xfrm xmlns:a="http://schemas.openxmlformats.org/drawingml/2006/main">
            <a:off x="609600" y="4953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F6F3EA"/>
                </a:solidFill>
                <a:latin typeface="Georgia"/>
                <a:ea typeface="Georgia"/>
                <a:cs typeface="Georgia"/>
              </a:defRPr>
            </a:pPr>
            <a:r>
              <a:rPr sz="3300" b="0">
                <a:solidFill>
                  <a:srgbClr val="F6F3EA"/>
                </a:solidFill>
                <a:latin typeface="Georgia"/>
                <a:ea typeface="Georgia"/>
                <a:cs typeface="Georgia"/>
              </a:rPr>
              <a:t>Decisions for the client discussion</a:t>
            </a:r>
          </a:p>
        </p:txBody>
      </p:sp>
      <p:sp>
        <p:nvSpPr>
          <p:cNvPr id="2" name="footer">
            <a:extLst xmlns:a="http://schemas.openxmlformats.org/drawingml/2006/main">
              <a:ext uri="{FF2B5EF4-FFF2-40B4-BE49-F238E27FC236}">
                <a16:creationId xmlns:a16="http://schemas.microsoft.com/office/drawing/2014/main" id="{737A8992-CDE2-46E6-AA60-53844A92FCE7}"/>
              </a:ext>
            </a:extLst>
          </p:cNvPr>
          <p:cNvSpPr>
            <a:spLocks xmlns:a="http://schemas.openxmlformats.org/drawingml/2006/main" noGrp="1"/>
          </p:cNvSpPr>
          <p:nvPr/>
        </p:nvSpPr>
        <p:spPr>
          <a:xfrm xmlns:a="http://schemas.openxmlformats.org/drawingml/2006/main">
            <a:off x="609600" y="6543675"/>
            <a:ext cx="7143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00" b="0">
                <a:solidFill>
                  <a:srgbClr val="C2CE9F"/>
                </a:solidFill>
                <a:latin typeface="Arial"/>
                <a:ea typeface="Arial"/>
                <a:cs typeface="Arial"/>
              </a:defRPr>
            </a:pPr>
            <a:r>
              <a:rPr sz="900" b="0">
                <a:solidFill>
                  <a:srgbClr val="C2CE9F"/>
                </a:solidFill>
                <a:latin typeface="Arial"/>
                <a:ea typeface="Arial"/>
                <a:cs typeface="Arial"/>
              </a:rPr>
              <a:t>ROOTE ORIGIN SYSTEM</a:t>
            </a:r>
          </a:p>
        </p:txBody>
      </p:sp>
      <p:sp>
        <p:nvSpPr>
          <p:cNvPr id="3" name="slide-number">
            <a:extLst xmlns:a="http://schemas.openxmlformats.org/drawingml/2006/main">
              <a:ext uri="{FF2B5EF4-FFF2-40B4-BE49-F238E27FC236}">
                <a16:creationId xmlns:a16="http://schemas.microsoft.com/office/drawing/2014/main" id="{08E7705E-684E-440C-AB29-DA7CF476AF6C}"/>
              </a:ext>
            </a:extLst>
          </p:cNvPr>
          <p:cNvSpPr>
            <a:spLocks xmlns:a="http://schemas.openxmlformats.org/drawingml/2006/main" noGrp="1"/>
          </p:cNvSpPr>
          <p:nvPr/>
        </p:nvSpPr>
        <p:spPr>
          <a:xfrm xmlns:a="http://schemas.openxmlformats.org/drawingml/2006/main">
            <a:off x="11106150" y="65055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C2CE9F"/>
                </a:solidFill>
                <a:latin typeface="Arial"/>
                <a:ea typeface="Arial"/>
                <a:cs typeface="Arial"/>
              </a:defRPr>
            </a:pPr>
            <a:r>
              <a:rPr sz="1125" b="0">
                <a:solidFill>
                  <a:srgbClr val="C2CE9F"/>
                </a:solidFill>
                <a:latin typeface="Arial"/>
                <a:ea typeface="Arial"/>
                <a:cs typeface="Arial"/>
              </a:rPr>
              <a:t>18</a:t>
            </a:r>
          </a:p>
        </p:txBody>
      </p:sp>
      <p:sp>
        <p:nvSpPr>
          <p:cNvPr id="4" name="text-98">
            <a:extLst xmlns:a="http://schemas.openxmlformats.org/drawingml/2006/main">
              <a:ext uri="{FF2B5EF4-FFF2-40B4-BE49-F238E27FC236}">
                <a16:creationId xmlns:a16="http://schemas.microsoft.com/office/drawing/2014/main" id="{42F23D88-D36F-412C-BBC2-6A33771D074C}"/>
              </a:ext>
            </a:extLst>
          </p:cNvPr>
          <p:cNvSpPr>
            <a:spLocks xmlns:a="http://schemas.openxmlformats.org/drawingml/2006/main" noGrp="1"/>
          </p:cNvSpPr>
          <p:nvPr/>
        </p:nvSpPr>
        <p:spPr>
          <a:xfrm xmlns:a="http://schemas.openxmlformats.org/drawingml/2006/main">
            <a:off x="609600" y="2257425"/>
            <a:ext cx="5219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F6F3EA"/>
                </a:solidFill>
                <a:latin typeface="Georgia"/>
                <a:ea typeface="Georgia"/>
                <a:cs typeface="Georgia"/>
              </a:defRPr>
            </a:pPr>
            <a:r>
              <a:rPr sz="2325" b="0">
                <a:solidFill>
                  <a:srgbClr val="F6F3EA"/>
                </a:solidFill>
                <a:latin typeface="Georgia"/>
                <a:ea typeface="Georgia"/>
                <a:cs typeface="Georgia"/>
              </a:rPr>
              <a:t>Preferred design</a:t>
            </a:r>
          </a:p>
        </p:txBody>
      </p:sp>
      <p:sp>
        <p:nvSpPr>
          <p:cNvPr id="5" name="text-99">
            <a:extLst xmlns:a="http://schemas.openxmlformats.org/drawingml/2006/main">
              <a:ext uri="{FF2B5EF4-FFF2-40B4-BE49-F238E27FC236}">
                <a16:creationId xmlns:a16="http://schemas.microsoft.com/office/drawing/2014/main" id="{DDFFB971-ED6E-47EF-826A-C8C1DDE7A3F2}"/>
              </a:ext>
            </a:extLst>
          </p:cNvPr>
          <p:cNvSpPr>
            <a:spLocks xmlns:a="http://schemas.openxmlformats.org/drawingml/2006/main" noGrp="1"/>
          </p:cNvSpPr>
          <p:nvPr/>
        </p:nvSpPr>
        <p:spPr>
          <a:xfrm xmlns:a="http://schemas.openxmlformats.org/drawingml/2006/main">
            <a:off x="609600" y="2933700"/>
            <a:ext cx="5095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F6F3EA"/>
                </a:solidFill>
                <a:latin typeface="Arial"/>
                <a:ea typeface="Arial"/>
                <a:cs typeface="Arial"/>
              </a:defRPr>
            </a:pPr>
            <a:r>
              <a:rPr sz="1800" b="0">
                <a:solidFill>
                  <a:srgbClr val="F6F3EA"/>
                </a:solidFill>
                <a:latin typeface="Arial"/>
                <a:ea typeface="Arial"/>
                <a:cs typeface="Arial"/>
              </a:rPr>
              <a:t>Which of the three directions best represents the cooperative?</a:t>
            </a:r>
          </a:p>
        </p:txBody>
      </p:sp>
      <p:sp>
        <p:nvSpPr>
          <p:cNvPr id="6" name="text-100">
            <a:extLst xmlns:a="http://schemas.openxmlformats.org/drawingml/2006/main">
              <a:ext uri="{FF2B5EF4-FFF2-40B4-BE49-F238E27FC236}">
                <a16:creationId xmlns:a16="http://schemas.microsoft.com/office/drawing/2014/main" id="{8FF72AAE-7E83-440F-BB42-6022C4308CC6}"/>
              </a:ext>
            </a:extLst>
          </p:cNvPr>
          <p:cNvSpPr>
            <a:spLocks xmlns:a="http://schemas.openxmlformats.org/drawingml/2006/main" noGrp="1"/>
          </p:cNvSpPr>
          <p:nvPr/>
        </p:nvSpPr>
        <p:spPr>
          <a:xfrm xmlns:a="http://schemas.openxmlformats.org/drawingml/2006/main">
            <a:off x="6362700" y="2257425"/>
            <a:ext cx="5219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F6F3EA"/>
                </a:solidFill>
                <a:latin typeface="Georgia"/>
                <a:ea typeface="Georgia"/>
                <a:cs typeface="Georgia"/>
              </a:defRPr>
            </a:pPr>
            <a:r>
              <a:rPr sz="2325" b="0">
                <a:solidFill>
                  <a:srgbClr val="F6F3EA"/>
                </a:solidFill>
                <a:latin typeface="Georgia"/>
                <a:ea typeface="Georgia"/>
                <a:cs typeface="Georgia"/>
              </a:rPr>
              <a:t>Pilot workflow</a:t>
            </a:r>
          </a:p>
        </p:txBody>
      </p:sp>
      <p:sp>
        <p:nvSpPr>
          <p:cNvPr id="7" name="text-101">
            <a:extLst xmlns:a="http://schemas.openxmlformats.org/drawingml/2006/main">
              <a:ext uri="{FF2B5EF4-FFF2-40B4-BE49-F238E27FC236}">
                <a16:creationId xmlns:a16="http://schemas.microsoft.com/office/drawing/2014/main" id="{94849769-9719-41E1-8245-9B6EE877A57C}"/>
              </a:ext>
            </a:extLst>
          </p:cNvPr>
          <p:cNvSpPr>
            <a:spLocks xmlns:a="http://schemas.openxmlformats.org/drawingml/2006/main" noGrp="1"/>
          </p:cNvSpPr>
          <p:nvPr/>
        </p:nvSpPr>
        <p:spPr>
          <a:xfrm xmlns:a="http://schemas.openxmlformats.org/drawingml/2006/main">
            <a:off x="6362700" y="2933700"/>
            <a:ext cx="5095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F6F3EA"/>
                </a:solidFill>
                <a:latin typeface="Arial"/>
                <a:ea typeface="Arial"/>
                <a:cs typeface="Arial"/>
              </a:defRPr>
            </a:pPr>
            <a:r>
              <a:rPr sz="1800" b="0">
                <a:solidFill>
                  <a:srgbClr val="F6F3EA"/>
                </a:solidFill>
                <a:latin typeface="Arial"/>
                <a:ea typeface="Arial"/>
                <a:cs typeface="Arial"/>
              </a:rPr>
              <a:t>Who provides each batch record, and which details may consumers see?</a:t>
            </a:r>
          </a:p>
        </p:txBody>
      </p:sp>
      <p:sp>
        <p:nvSpPr>
          <p:cNvPr id="8" name="text-102">
            <a:extLst xmlns:a="http://schemas.openxmlformats.org/drawingml/2006/main">
              <a:ext uri="{FF2B5EF4-FFF2-40B4-BE49-F238E27FC236}">
                <a16:creationId xmlns:a16="http://schemas.microsoft.com/office/drawing/2014/main" id="{8CE75E43-8AAA-4DDB-8585-21F0C266471D}"/>
              </a:ext>
            </a:extLst>
          </p:cNvPr>
          <p:cNvSpPr>
            <a:spLocks xmlns:a="http://schemas.openxmlformats.org/drawingml/2006/main" noGrp="1"/>
          </p:cNvSpPr>
          <p:nvPr/>
        </p:nvSpPr>
        <p:spPr>
          <a:xfrm xmlns:a="http://schemas.openxmlformats.org/drawingml/2006/main">
            <a:off x="609600" y="3952875"/>
            <a:ext cx="5219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F6F3EA"/>
                </a:solidFill>
                <a:latin typeface="Georgia"/>
                <a:ea typeface="Georgia"/>
                <a:cs typeface="Georgia"/>
              </a:defRPr>
            </a:pPr>
            <a:r>
              <a:rPr sz="2325" b="0">
                <a:solidFill>
                  <a:srgbClr val="F6F3EA"/>
                </a:solidFill>
                <a:latin typeface="Georgia"/>
                <a:ea typeface="Georgia"/>
                <a:cs typeface="Georgia"/>
              </a:rPr>
              <a:t>Working arrangement</a:t>
            </a:r>
          </a:p>
        </p:txBody>
      </p:sp>
      <p:sp>
        <p:nvSpPr>
          <p:cNvPr id="9" name="text-103">
            <a:extLst xmlns:a="http://schemas.openxmlformats.org/drawingml/2006/main">
              <a:ext uri="{FF2B5EF4-FFF2-40B4-BE49-F238E27FC236}">
                <a16:creationId xmlns:a16="http://schemas.microsoft.com/office/drawing/2014/main" id="{D6D4EB87-3E35-4924-9915-9A295A08E9E1}"/>
              </a:ext>
            </a:extLst>
          </p:cNvPr>
          <p:cNvSpPr>
            <a:spLocks xmlns:a="http://schemas.openxmlformats.org/drawingml/2006/main" noGrp="1"/>
          </p:cNvSpPr>
          <p:nvPr/>
        </p:nvSpPr>
        <p:spPr>
          <a:xfrm xmlns:a="http://schemas.openxmlformats.org/drawingml/2006/main">
            <a:off x="609600" y="4629150"/>
            <a:ext cx="5095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F6F3EA"/>
                </a:solidFill>
                <a:latin typeface="Arial"/>
                <a:ea typeface="Arial"/>
                <a:cs typeface="Arial"/>
              </a:defRPr>
            </a:pPr>
            <a:r>
              <a:rPr sz="1800" b="0">
                <a:solidFill>
                  <a:srgbClr val="F6F3EA"/>
                </a:solidFill>
                <a:latin typeface="Arial"/>
                <a:ea typeface="Arial"/>
                <a:cs typeface="Arial"/>
              </a:rPr>
              <a:t>Project-based, a service contract for an agreed period, or direct employment?</a:t>
            </a:r>
          </a:p>
        </p:txBody>
      </p:sp>
      <p:sp>
        <p:nvSpPr>
          <p:cNvPr id="10" name="text-104">
            <a:extLst xmlns:a="http://schemas.openxmlformats.org/drawingml/2006/main">
              <a:ext uri="{FF2B5EF4-FFF2-40B4-BE49-F238E27FC236}">
                <a16:creationId xmlns:a16="http://schemas.microsoft.com/office/drawing/2014/main" id="{0F5442E3-B135-4325-98C0-48DD951C9ACC}"/>
              </a:ext>
            </a:extLst>
          </p:cNvPr>
          <p:cNvSpPr>
            <a:spLocks xmlns:a="http://schemas.openxmlformats.org/drawingml/2006/main" noGrp="1"/>
          </p:cNvSpPr>
          <p:nvPr/>
        </p:nvSpPr>
        <p:spPr>
          <a:xfrm xmlns:a="http://schemas.openxmlformats.org/drawingml/2006/main">
            <a:off x="6362700" y="3952875"/>
            <a:ext cx="5219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F6F3EA"/>
                </a:solidFill>
                <a:latin typeface="Georgia"/>
                <a:ea typeface="Georgia"/>
                <a:cs typeface="Georgia"/>
              </a:defRPr>
            </a:pPr>
            <a:r>
              <a:rPr sz="2325" b="0">
                <a:solidFill>
                  <a:srgbClr val="F6F3EA"/>
                </a:solidFill>
                <a:latin typeface="Georgia"/>
                <a:ea typeface="Georgia"/>
                <a:cs typeface="Georgia"/>
              </a:rPr>
              <a:t>Kickoff readiness</a:t>
            </a:r>
          </a:p>
        </p:txBody>
      </p:sp>
      <p:sp>
        <p:nvSpPr>
          <p:cNvPr id="11" name="text-105">
            <a:extLst xmlns:a="http://schemas.openxmlformats.org/drawingml/2006/main">
              <a:ext uri="{FF2B5EF4-FFF2-40B4-BE49-F238E27FC236}">
                <a16:creationId xmlns:a16="http://schemas.microsoft.com/office/drawing/2014/main" id="{8AEBD5A2-20C8-4C61-9BAE-2A33385433FA}"/>
              </a:ext>
            </a:extLst>
          </p:cNvPr>
          <p:cNvSpPr>
            <a:spLocks xmlns:a="http://schemas.openxmlformats.org/drawingml/2006/main" noGrp="1"/>
          </p:cNvSpPr>
          <p:nvPr/>
        </p:nvSpPr>
        <p:spPr>
          <a:xfrm xmlns:a="http://schemas.openxmlformats.org/drawingml/2006/main">
            <a:off x="6362700" y="4629150"/>
            <a:ext cx="5095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F6F3EA"/>
                </a:solidFill>
                <a:latin typeface="Arial"/>
                <a:ea typeface="Arial"/>
                <a:cs typeface="Arial"/>
              </a:defRPr>
            </a:pPr>
            <a:r>
              <a:rPr sz="1800" b="0">
                <a:solidFill>
                  <a:srgbClr val="F6F3EA"/>
                </a:solidFill>
                <a:latin typeface="Arial"/>
                <a:ea typeface="Arial"/>
                <a:cs typeface="Arial"/>
              </a:rPr>
              <a:t>Who approves the pilot data and reviews progress each week?</a:t>
            </a:r>
          </a:p>
        </p:txBody>
      </p:sp>
      <p:sp>
        <p:nvSpPr>
          <p:cNvPr id="12" name="text-106">
            <a:extLst xmlns:a="http://schemas.openxmlformats.org/drawingml/2006/main">
              <a:ext uri="{FF2B5EF4-FFF2-40B4-BE49-F238E27FC236}">
                <a16:creationId xmlns:a16="http://schemas.microsoft.com/office/drawing/2014/main" id="{1F27F615-3750-4BDC-BA68-6ADE5B849B95}"/>
              </a:ext>
            </a:extLst>
          </p:cNvPr>
          <p:cNvSpPr>
            <a:spLocks xmlns:a="http://schemas.openxmlformats.org/drawingml/2006/main" noGrp="1"/>
          </p:cNvSpPr>
          <p:nvPr/>
        </p:nvSpPr>
        <p:spPr>
          <a:xfrm xmlns:a="http://schemas.openxmlformats.org/drawingml/2006/main">
            <a:off x="609600" y="6038850"/>
            <a:ext cx="10648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C2CE9F"/>
                </a:solidFill>
                <a:latin typeface="Arial"/>
                <a:ea typeface="Arial"/>
                <a:cs typeface="Arial"/>
              </a:defRPr>
            </a:pPr>
            <a:r>
              <a:rPr sz="1500" b="0">
                <a:solidFill>
                  <a:srgbClr val="C2CE9F"/>
                </a:solidFill>
                <a:latin typeface="Arial"/>
                <a:ea typeface="Arial"/>
                <a:cs typeface="Arial"/>
              </a:rPr>
              <a:t>The chosen design and confirmed workflow become the basis for implementation.</a:t>
            </a:r>
          </a:p>
        </p:txBody>
      </p:sp>
    </p:spTree>
    <p:extLst>
      <p:ext uri="{BB962C8B-B14F-4D97-AF65-F5344CB8AC3E}">
        <p14:creationId xmlns:p14="http://schemas.microsoft.com/office/powerpoint/2010/main" val="105745877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2026-10-03T09:17:50.9920000Z</dcterms:created>
  <dcterms:modified xsi:type="dcterms:W3CDTF">2026-10-03T09:17:50.9920000Z</dcterms:modified>
</coreProperties>
</file>