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704de00374804de2" /><Relationship Type="http://schemas.openxmlformats.org/officeDocument/2006/relationships/extended-properties" Target="/docProps/app.xml" Id="R4633ee28ac9542e9" /><Relationship Type="http://schemas.openxmlformats.org/officeDocument/2006/relationships/officeDocument" Target="/ppt/presentation.xml" Id="Rd443d2213a3d4f5b" /></Relationships>
</file>

<file path=ppt/presentation.xml><?xml version="1.0" encoding="utf-8"?>
<p:presentation xmlns:p="http://schemas.openxmlformats.org/presentationml/2006/main">
  <p:sldMasterIdLst>
    <p:sldMasterId xmlns:r="http://schemas.openxmlformats.org/officeDocument/2006/relationships" id="2147483648" r:id="R82b31b8ced064070"/>
  </p:sldMasterIdLst>
  <p:notesMasterIdLst>
    <p:notesMasterId xmlns:r="http://schemas.openxmlformats.org/officeDocument/2006/relationships" r:id="R4c168291ade04ae0"/>
  </p:notesMasterIdLst>
  <p:sldIdLst>
    <p:sldId xmlns:r="http://schemas.openxmlformats.org/officeDocument/2006/relationships" id="256" r:id="R0e7e0e1e79a648b1"/>
    <p:sldId xmlns:r="http://schemas.openxmlformats.org/officeDocument/2006/relationships" id="257" r:id="R11b155e147d24d7e"/>
    <p:sldId xmlns:r="http://schemas.openxmlformats.org/officeDocument/2006/relationships" id="258" r:id="R2e9e54e2757b4a3f"/>
    <p:sldId xmlns:r="http://schemas.openxmlformats.org/officeDocument/2006/relationships" id="259" r:id="R934b5c43b7cc46ae"/>
    <p:sldId xmlns:r="http://schemas.openxmlformats.org/officeDocument/2006/relationships" id="260" r:id="R8c95c6bc1e254936"/>
    <p:sldId xmlns:r="http://schemas.openxmlformats.org/officeDocument/2006/relationships" id="261" r:id="Rd122541dddf642e5"/>
    <p:sldId xmlns:r="http://schemas.openxmlformats.org/officeDocument/2006/relationships" id="262" r:id="Re00c8862b1694948"/>
    <p:sldId xmlns:r="http://schemas.openxmlformats.org/officeDocument/2006/relationships" id="263" r:id="Rbd856a5be3194875"/>
    <p:sldId xmlns:r="http://schemas.openxmlformats.org/officeDocument/2006/relationships" id="264" r:id="Rb5143d5577064a81"/>
    <p:sldId xmlns:r="http://schemas.openxmlformats.org/officeDocument/2006/relationships" id="265" r:id="R537d04af26614568"/>
    <p:sldId xmlns:r="http://schemas.openxmlformats.org/officeDocument/2006/relationships" id="266" r:id="Ra4e6e12be53c4234"/>
    <p:sldId xmlns:r="http://schemas.openxmlformats.org/officeDocument/2006/relationships" id="267" r:id="R07895179ab0542a3"/>
    <p:sldId xmlns:r="http://schemas.openxmlformats.org/officeDocument/2006/relationships" id="268" r:id="Rf3c251416d754814"/>
    <p:sldId xmlns:r="http://schemas.openxmlformats.org/officeDocument/2006/relationships" id="269" r:id="R7ca5b3e0072e47b5"/>
    <p:sldId xmlns:r="http://schemas.openxmlformats.org/officeDocument/2006/relationships" id="270" r:id="R3f882fba0f0d47e5"/>
    <p:sldId xmlns:r="http://schemas.openxmlformats.org/officeDocument/2006/relationships" id="271" r:id="Rcf55d4abad1541ca"/>
    <p:sldId xmlns:r="http://schemas.openxmlformats.org/officeDocument/2006/relationships" id="272" r:id="R0ead832fc7044ec6"/>
    <p:sldId xmlns:r="http://schemas.openxmlformats.org/officeDocument/2006/relationships" id="273" r:id="R0a5c3609a8e34a91"/>
    <p:sldId xmlns:r="http://schemas.openxmlformats.org/officeDocument/2006/relationships" id="274" r:id="R990114869b2e48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9ce0b123ec4c4f" /><Relationship Type="http://schemas.openxmlformats.org/officeDocument/2006/relationships/slideMaster" Target="/ppt/slideMasters/slideMaster1.xml" Id="R82b31b8ced064070" /><Relationship Type="http://schemas.openxmlformats.org/officeDocument/2006/relationships/notesMaster" Target="/ppt/notesMasters/notesMaster1.xml" Id="R4c168291ade04ae0" /><Relationship Type="http://schemas.openxmlformats.org/officeDocument/2006/relationships/presProps" Target="/ppt/presProps.xml" Id="R64e63082b36e4703" /><Relationship Type="http://schemas.openxmlformats.org/officeDocument/2006/relationships/tableStyles" Target="/ppt/tableStyles.xml" Id="R27f70923dc82496c" /><Relationship Type="http://schemas.openxmlformats.org/officeDocument/2006/relationships/slide" Target="/ppt/slides/slide1.xml" Id="R0e7e0e1e79a648b1" /><Relationship Type="http://schemas.openxmlformats.org/officeDocument/2006/relationships/slide" Target="/ppt/slides/slide2.xml" Id="R11b155e147d24d7e" /><Relationship Type="http://schemas.openxmlformats.org/officeDocument/2006/relationships/slide" Target="/ppt/slides/slide3.xml" Id="R2e9e54e2757b4a3f" /><Relationship Type="http://schemas.openxmlformats.org/officeDocument/2006/relationships/slide" Target="/ppt/slides/slide4.xml" Id="R934b5c43b7cc46ae" /><Relationship Type="http://schemas.openxmlformats.org/officeDocument/2006/relationships/slide" Target="/ppt/slides/slide5.xml" Id="R8c95c6bc1e254936" /><Relationship Type="http://schemas.openxmlformats.org/officeDocument/2006/relationships/slide" Target="/ppt/slides/slide6.xml" Id="Rd122541dddf642e5" /><Relationship Type="http://schemas.openxmlformats.org/officeDocument/2006/relationships/slide" Target="/ppt/slides/slide7.xml" Id="Re00c8862b1694948" /><Relationship Type="http://schemas.openxmlformats.org/officeDocument/2006/relationships/slide" Target="/ppt/slides/slide8.xml" Id="Rbd856a5be3194875" /><Relationship Type="http://schemas.openxmlformats.org/officeDocument/2006/relationships/slide" Target="/ppt/slides/slide9.xml" Id="Rb5143d5577064a81" /><Relationship Type="http://schemas.openxmlformats.org/officeDocument/2006/relationships/slide" Target="/ppt/slides/slide10.xml" Id="R537d04af26614568" /><Relationship Type="http://schemas.openxmlformats.org/officeDocument/2006/relationships/slide" Target="/ppt/slides/slide11.xml" Id="Ra4e6e12be53c4234" /><Relationship Type="http://schemas.openxmlformats.org/officeDocument/2006/relationships/slide" Target="/ppt/slides/slide12.xml" Id="R07895179ab0542a3" /><Relationship Type="http://schemas.openxmlformats.org/officeDocument/2006/relationships/slide" Target="/ppt/slides/slide13.xml" Id="Rf3c251416d754814" /><Relationship Type="http://schemas.openxmlformats.org/officeDocument/2006/relationships/slide" Target="/ppt/slides/slide14.xml" Id="R7ca5b3e0072e47b5" /><Relationship Type="http://schemas.openxmlformats.org/officeDocument/2006/relationships/slide" Target="/ppt/slides/slide15.xml" Id="R3f882fba0f0d47e5" /><Relationship Type="http://schemas.openxmlformats.org/officeDocument/2006/relationships/slide" Target="/ppt/slides/slide16.xml" Id="Rcf55d4abad1541ca" /><Relationship Type="http://schemas.openxmlformats.org/officeDocument/2006/relationships/slide" Target="/ppt/slides/slide17.xml" Id="R0ead832fc7044ec6" /><Relationship Type="http://schemas.openxmlformats.org/officeDocument/2006/relationships/slide" Target="/ppt/slides/slide18.xml" Id="R0a5c3609a8e34a91" /><Relationship Type="http://schemas.openxmlformats.org/officeDocument/2006/relationships/slide" Target="/ppt/slides/slide19.xml" Id="R990114869b2e48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da2afc737943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565a04f4ac4f82" /><Relationship Type="http://schemas.openxmlformats.org/officeDocument/2006/relationships/notesMaster" Target="/ppt/notesMasters/notesMaster1.xml" Id="R0b2461a8e13141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803ed2d3614c4b" /><Relationship Type="http://schemas.openxmlformats.org/officeDocument/2006/relationships/notesMaster" Target="/ppt/notesMasters/notesMaster1.xml" Id="R2faa014101624a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fbfdae2d324fec" /><Relationship Type="http://schemas.openxmlformats.org/officeDocument/2006/relationships/notesMaster" Target="/ppt/notesMasters/notesMaster1.xml" Id="R4d1ad9126dcf43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5ce74f2c934d61" /><Relationship Type="http://schemas.openxmlformats.org/officeDocument/2006/relationships/notesMaster" Target="/ppt/notesMasters/notesMaster1.xml" Id="R64e7464b86134a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cb0c3743d145d4" /><Relationship Type="http://schemas.openxmlformats.org/officeDocument/2006/relationships/notesMaster" Target="/ppt/notesMasters/notesMaster1.xml" Id="Rd68c9da9fe3c4e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f56dde189f46e9" /><Relationship Type="http://schemas.openxmlformats.org/officeDocument/2006/relationships/notesMaster" Target="/ppt/notesMasters/notesMaster1.xml" Id="R182b68e653ef4e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f6ca4d8d96432f" /><Relationship Type="http://schemas.openxmlformats.org/officeDocument/2006/relationships/notesMaster" Target="/ppt/notesMasters/notesMaster1.xml" Id="R9ffc85d879134e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e3ff16869345ec" /><Relationship Type="http://schemas.openxmlformats.org/officeDocument/2006/relationships/notesMaster" Target="/ppt/notesMasters/notesMaster1.xml" Id="R8e8a803eb87b48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6efe5825114938" /><Relationship Type="http://schemas.openxmlformats.org/officeDocument/2006/relationships/notesMaster" Target="/ppt/notesMasters/notesMaster1.xml" Id="R1ac65946e49743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69fef0b2164acf" /><Relationship Type="http://schemas.openxmlformats.org/officeDocument/2006/relationships/notesMaster" Target="/ppt/notesMasters/notesMaster1.xml" Id="R778aa613ef1c4b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38844762174092" /><Relationship Type="http://schemas.openxmlformats.org/officeDocument/2006/relationships/notesMaster" Target="/ppt/notesMasters/notesMaster1.xml" Id="Rc90a6436540b48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cfeec456085450d" /><Relationship Type="http://schemas.openxmlformats.org/officeDocument/2006/relationships/notesMaster" Target="/ppt/notesMasters/notesMaster1.xml" Id="Ree5c5605a1414a0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133b3f9e9b049ea" /><Relationship Type="http://schemas.openxmlformats.org/officeDocument/2006/relationships/notesMaster" Target="/ppt/notesMasters/notesMaster1.xml" Id="R82d9a31fb965403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9f80aaecdf4664" /><Relationship Type="http://schemas.openxmlformats.org/officeDocument/2006/relationships/notesMaster" Target="/ppt/notesMasters/notesMaster1.xml" Id="R7a0cad84481644c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574d8281084760" /><Relationship Type="http://schemas.openxmlformats.org/officeDocument/2006/relationships/notesMaster" Target="/ppt/notesMasters/notesMaster1.xml" Id="Rf039e4d103744a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bec6c95eeea45c8" /><Relationship Type="http://schemas.openxmlformats.org/officeDocument/2006/relationships/notesMaster" Target="/ppt/notesMasters/notesMaster1.xml" Id="Rc97f88892b4d4ec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2aad5e86c834b5c" /><Relationship Type="http://schemas.openxmlformats.org/officeDocument/2006/relationships/notesMaster" Target="/ppt/notesMasters/notesMaster1.xml" Id="Rf5e7251e3c414b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a04add46e5d4c13" /><Relationship Type="http://schemas.openxmlformats.org/officeDocument/2006/relationships/notesMaster" Target="/ppt/notesMasters/notesMaster1.xml" Id="Red1d9b4f6c674f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dffcf4f06db43fb" /><Relationship Type="http://schemas.openxmlformats.org/officeDocument/2006/relationships/notesMaster" Target="/ppt/notesMasters/notesMaster1.xml" Id="R338b05e473424e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the Roote Origin MVP, choose one of the three public design directions, and confirm the intended working arrangement. The photograph is AI-generated illustrative imagery from the earlier concept deck, not actual cooperative members. Replace draft branding and photography with approved client material.</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public prototype supplies the visual foundation. The MVP builds a new backend. Only one chosen public design is implemented. Ordinary data entry happens in the protected dashboard.</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database captures agreed farming details and a dated record history. Mixed-origin blending and complex split/merge reconciliation remain outside the pilot. Recorded traceability does not independently certify authenticity or export eligibility.</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access follows approved batch assignments. Enforce restrictions in the API as well as the interface. Consumers require no member account. Growers, processors, brand owners and distributors use the protected member portal.</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contacts, internal notes and commercial details stay private unless the cooperative explicitly approves publication. Physical printing is outside the MVP.</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Plant an ube root, follow its vine into the sky, then discover the cooperative and its farms on connected leaves.</a:t>
            </a:r>
          </a:p>
          <a:p xmlns:a="http://schemas.openxmlformats.org/drawingml/2006/main">
            <a:r>
              <a:t>Tip-leaf ID or QR lookup opens the correct profile or batch summary. Partner leaves lead into the public farm inventory.</a:t>
            </a:r>
          </a:p>
          <a:p xmlns:a="http://schemas.openxmlformats.org/drawingml/2006/main">
            <a:r>
              <a:t>Working prototype. The recording shows actual browser behavior. Sample copy and roles will need client confirmation.</a:t>
            </a:r>
          </a:p>
          <a:p xmlns:a="http://schemas.openxmlformats.org/drawingml/2006/main">
            <a:r>
              <a:t>The existing mockup labels show the original farm-focused concept. The approved implementation will add batch discovery and inventory access under Roote Origin. More animation to produce and maintain. A reading view supports simpler browsing.</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recording uses sample farm data. The new member portal and batch summaries are part of the planned MVP.</a:t>
            </a:r>
          </a:p>
          <a:p xmlns:a="http://schemas.openxmlformats.org/drawingml/2006/main">
            <a:r>
              <a:t>Click the native embedded MP4 to play the prototype recording. It shows the root, vine, lookup, growing, harvest, partners and leadership. Backend records and public batch pages are planned features.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warm editorial website that introduces the cooperative through its people, Davao setting and shared growing story.</a:t>
            </a:r>
          </a:p>
          <a:p xmlns:a="http://schemas.openxmlformats.org/drawingml/2006/main">
            <a:r>
              <a:t>Grower stories connect to farm cards. A clear lookup area supports farm IDs and published batch QR summaries.</a:t>
            </a:r>
          </a:p>
          <a:p xmlns:a="http://schemas.openxmlformats.org/drawingml/2006/main">
            <a:r>
              <a:t>Concept preview. The farm photograph is AI-generated illustrative imagery, not actual cooperative members. Motion is proposed.</a:t>
            </a:r>
          </a:p>
          <a:p xmlns:a="http://schemas.openxmlformats.org/drawingml/2006/main">
            <a:r>
              <a:t>The existing mockup labels show the original farm-focused concept. The approved implementation will add batch discovery and inventory access under Roote Origin. Strongest with original photography of the cooperative and its members.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preview. The farm photograph is AI-generated illustrative imagery, not actual cooperative members. Motion is proposed.</a:t>
            </a:r>
          </a:p>
          <a:p xmlns:a="http://schemas.openxmlformats.org/drawingml/2006/main">
            <a:r>
              <a:t>Photography and headlines move on separate planes. Chapters settle for reading as growing, harvest and farm discovery appear.</a:t>
            </a:r>
          </a:p>
          <a:p xmlns:a="http://schemas.openxmlformats.org/drawingml/2006/main">
            <a:r>
              <a:t>Grower stories connect to farm cards. A clear lookup area supports farm IDs and published batch QR summaries.</a:t>
            </a:r>
          </a:p>
          <a:p xmlns:a="http://schemas.openxmlformats.org/drawingml/2006/main">
            <a:r>
              <a:t>The MVP adapts the lookup section for farms and batch summaries. Reduced-motion visitors can read complete sections without movement.</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confident purple identity that brings the crop forward, then connects visitors to the people and farm information behind it.</a:t>
            </a:r>
          </a:p>
          <a:p xmlns:a="http://schemas.openxmlformats.org/drawingml/2006/main">
            <a:r>
              <a:t>A bold product opening leads to produce filters, farm profiles and approved batch summaries for prospective partners.</a:t>
            </a:r>
          </a:p>
          <a:p xmlns:a="http://schemas.openxmlformats.org/drawingml/2006/main">
            <a:r>
              <a:t>Concept preview. Global reach is a proposed brand direction, not a claim of existing export contracts or certification. Motion is proposed.</a:t>
            </a:r>
          </a:p>
          <a:p xmlns:a="http://schemas.openxmlformats.org/drawingml/2006/main">
            <a:r>
              <a:t>The existing mockup labels show the original farm-focused concept. The approved implementation will add batch discovery and inventory access under Roote Origin. Buyer-specific specifications and contact information need client-supplied content.</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preview. Global reach is a proposed brand direction, not a claim of existing export contracts or certification. Motion is proposed.</a:t>
            </a:r>
          </a:p>
          <a:p xmlns:a="http://schemas.openxmlformats.org/drawingml/2006/main">
            <a:r>
              <a:t>The yam shifts as product information arrives. Purple and pale sections guide the visitor toward farm and batch discovery.</a:t>
            </a:r>
          </a:p>
          <a:p xmlns:a="http://schemas.openxmlformats.org/drawingml/2006/main">
            <a:r>
              <a:t>A bold product opening leads to produce filters, farm profiles and approved batch summaries for prospective partners.</a:t>
            </a:r>
          </a:p>
          <a:p xmlns:a="http://schemas.openxmlformats.org/drawingml/2006/main">
            <a:r>
              <a:t>The MVP adapts the lookup section for farms and batch summaries. Reduced-motion visitors can read complete sections without movement.</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directions share one MVP scope. The client chooses one visual direction. From Root to Story prioritizes the continuous plant journey. Grown Together centers cooperative growers. Purple to the World prioritizes produce and origin discovery. No design assumes export contracts or certification.</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 hosting, authentication, file storage and backup retention at kickoff. Include HTTPS deployment, source files and editing/deployment documentation.</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ten-week plan follows the MVP proposal. Confirm the final schedule after agreeing the engagement arrangement and available working time. Request consolidated review feedback within two working days. Week 9 includes the agreed pilot review and two revision rounds.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ten-week plan follows the MVP proposal. Confirm the final schedule after agreeing the engagement arrangement and available working time. Request consolidated review feedback within two working days. Week 9 includes the agreed pilot review and two revision rounds.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launch support covers defects in the delivered scope. Ongoing data entry, new workflows and provider outages require agreed arrangements. Mixed-origin blending, independent certification, native/offline applications and extra languages remain outside the first pilot.</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Acceptance includes Android/Chrome and iPhone/Safari camera checks, a backup restore check, operator training, source/documentation handover and 30-day defect support after launch. The inventory covers manually maintained quantities/availability. E-commerce, full ERP stock control, external integrations, mixed-origin blending and independent certification are outside the initial MVP.</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client to select the intended arrangement and explain expectations. The user clarified that contractual means a service contract for an agreed period. Discuss ongoing work, reporting, acceptance, account/source handover and post-launch ownership of tasks. These are discussion prompts, not agreed legal classifications or final terms.</a:t>
            </a:r>
          </a:p>
          <a:p xmlns:a="http://schemas.openxmlformats.org/drawingml/2006/main">
            <a:r>
              <a:t>Confirm the arrangement, availability and responsibilities before agreeing final engagement terms.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 the preferred design, pilot workflow, publication rules, working arrangement and approver. Confirm agreed availability before scheduling the ten-week MVP. The selected design and approved scope form the implementation basis.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bc8830ad8c43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e07181ed764e5a" /><Relationship Type="http://schemas.openxmlformats.org/officeDocument/2006/relationships/slideLayout" Target="/ppt/slideLayouts/slideLayout1.xml" Id="R9ab89921983948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b89921983948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b898d79d83e480f" /><Relationship Type="http://schemas.openxmlformats.org/officeDocument/2006/relationships/image" Target="/ppt/media/image.jpeg" Id="R975d377230494831" /><Relationship Type="http://schemas.openxmlformats.org/officeDocument/2006/relationships/notesSlide" Target="/ppt/notesSlides/notesSlide1.xml" Id="R00ee8c3c25364c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0042ffefe147fa" /><Relationship Type="http://schemas.openxmlformats.org/officeDocument/2006/relationships/notesSlide" Target="/ppt/notesSlides/notesSlide2.xml" Id="Raf19d8f1df3d4b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93a8ce5cf34316" /><Relationship Type="http://schemas.openxmlformats.org/officeDocument/2006/relationships/notesSlide" Target="/ppt/notesSlides/notesSlide3.xml" Id="Rad8ed5563ec94e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91464631534b0f" /><Relationship Type="http://schemas.openxmlformats.org/officeDocument/2006/relationships/notesSlide" Target="/ppt/notesSlides/notesSlide4.xml" Id="R60afcaca6aa542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d279d6eb2024cd8" /><Relationship Type="http://schemas.openxmlformats.org/officeDocument/2006/relationships/notesSlide" Target="/ppt/notesSlides/notesSlide5.xml" Id="Rf428e8262a0341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8b94eaa6dd4773" /><Relationship Type="http://schemas.openxmlformats.org/officeDocument/2006/relationships/image" Target="/ppt/media/image2.jpeg" Id="Re23444d55e634ea3" /><Relationship Type="http://schemas.openxmlformats.org/officeDocument/2006/relationships/image" Target="/ppt/media/image3.jpeg" Id="R6cd07cadbb2d4c22" /><Relationship Type="http://schemas.openxmlformats.org/officeDocument/2006/relationships/notesSlide" Target="/ppt/notesSlides/notesSlide6.xml" Id="R9500dae457be448a" /></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ba3b24944a4b45ae" /><ns0:Relationship Type="http://schemas.openxmlformats.org/officeDocument/2006/relationships/notesSlide" Target="/ppt/notesSlides/notesSlide7.xml" Id="Rb40e9e94419c437b" /><ns0:Relationship Id="rIdRooteVideo" Type="http://schemas.openxmlformats.org/officeDocument/2006/relationships/video" Target="../media/roote-prototype.mp4" /><ns0:Relationship Id="rIdRooteMedia" Type="http://schemas.microsoft.com/office/2007/relationships/media" Target="../media/roote-prototype.mp4" /><ns0:Relationship Id="rIdRootePoster" Type="http://schemas.openxmlformats.org/officeDocument/2006/relationships/image" Target="../media/roote-prototype.png" /></ns0: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6c9477e5ff4a50" /><Relationship Type="http://schemas.openxmlformats.org/officeDocument/2006/relationships/image" Target="/ppt/media/image4.jpeg" Id="R0a2aa67f5fdc4403" /><Relationship Type="http://schemas.openxmlformats.org/officeDocument/2006/relationships/image" Target="/ppt/media/image5.jpeg" Id="Rc537119c24904844" /><Relationship Type="http://schemas.openxmlformats.org/officeDocument/2006/relationships/notesSlide" Target="/ppt/notesSlides/notesSlide8.xml" Id="R86e279b12f9d40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96c06a8bbc44a61" /><Relationship Type="http://schemas.openxmlformats.org/officeDocument/2006/relationships/image" Target="/ppt/media/image.png" Id="R1bccfaaa50cf4f8c" /><Relationship Type="http://schemas.openxmlformats.org/officeDocument/2006/relationships/image" Target="/ppt/media/image2.png" Id="R1206fcf47da04ee1" /><Relationship Type="http://schemas.openxmlformats.org/officeDocument/2006/relationships/image" Target="/ppt/media/image3.png" Id="R0b691cdb72e34e40" /><Relationship Type="http://schemas.openxmlformats.org/officeDocument/2006/relationships/notesSlide" Target="/ppt/notesSlides/notesSlide9.xml" Id="R8502c7ff22674d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662336403014c81" /><Relationship Type="http://schemas.openxmlformats.org/officeDocument/2006/relationships/image" Target="/ppt/media/image6.jpeg" Id="Ra0c0a19b3a1a4a48" /><Relationship Type="http://schemas.openxmlformats.org/officeDocument/2006/relationships/image" Target="/ppt/media/image7.jpeg" Id="R132c9a2ece2a4870" /><Relationship Type="http://schemas.openxmlformats.org/officeDocument/2006/relationships/notesSlide" Target="/ppt/notesSlides/notesSlide10.xml" Id="R8ee4647f6ca240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8cd4ef0ed8245b3" /><Relationship Type="http://schemas.openxmlformats.org/officeDocument/2006/relationships/image" Target="/ppt/media/image4.png" Id="R7c5fd7fcefcf4170" /><Relationship Type="http://schemas.openxmlformats.org/officeDocument/2006/relationships/image" Target="/ppt/media/image5.png" Id="R342dcba50faf4243" /><Relationship Type="http://schemas.openxmlformats.org/officeDocument/2006/relationships/image" Target="/ppt/media/image6.png" Id="R0ad14c31b1964949" /><Relationship Type="http://schemas.openxmlformats.org/officeDocument/2006/relationships/notesSlide" Target="/ppt/notesSlides/notesSlide11.xml" Id="Rec68d5ad5d0840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8a69c9d1b9f4081" /><Relationship Type="http://schemas.openxmlformats.org/officeDocument/2006/relationships/notesSlide" Target="/ppt/notesSlides/notesSlide12.xml" Id="Rdf5114e77b3d447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8057e0104e3443a" /><Relationship Type="http://schemas.openxmlformats.org/officeDocument/2006/relationships/notesSlide" Target="/ppt/notesSlides/notesSlide13.xml" Id="R11b7bd9795f64b4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2d079a37cc145c0" /><Relationship Type="http://schemas.openxmlformats.org/officeDocument/2006/relationships/notesSlide" Target="/ppt/notesSlides/notesSlide14.xml" Id="Ref70d6a23149481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2bf9d9f6d7a46b7" /><Relationship Type="http://schemas.openxmlformats.org/officeDocument/2006/relationships/notesSlide" Target="/ppt/notesSlides/notesSlide15.xml" Id="R4100336bacf04b1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4d263eacda2410a" /><Relationship Type="http://schemas.openxmlformats.org/officeDocument/2006/relationships/notesSlide" Target="/ppt/notesSlides/notesSlide16.xml" Id="Rce15dde33fd24dc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31df24fc9264603" /><Relationship Type="http://schemas.openxmlformats.org/officeDocument/2006/relationships/notesSlide" Target="/ppt/notesSlides/notesSlide17.xml" Id="R65937668c8504b3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fad75e22f3c4ebd" /><Relationship Type="http://schemas.openxmlformats.org/officeDocument/2006/relationships/notesSlide" Target="/ppt/notesSlides/notesSlide18.xml" Id="Rbcdaa10d404a4c6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233b68c6b3c4fce" /><Relationship Type="http://schemas.openxmlformats.org/officeDocument/2006/relationships/notesSlide" Target="/ppt/notesSlides/notesSlide19.xml" Id="R1da880fb2f35416d" /></Relationships>
</file>

<file path=ppt/slides/slide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9" name="footer">
            <a:extLst xmlns:a="http://schemas.openxmlformats.org/drawingml/2006/main">
              <a:ext uri="{FF2B5EF4-FFF2-40B4-BE49-F238E27FC236}">
                <a16:creationId xmlns:a16="http://schemas.microsoft.com/office/drawing/2014/main" id="{BE2E4F0B-59AA-4342-8BCD-1CBF9B7741CC}"/>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2" name="slide-number">
            <a:extLst xmlns:a="http://schemas.openxmlformats.org/drawingml/2006/main">
              <a:ext uri="{FF2B5EF4-FFF2-40B4-BE49-F238E27FC236}">
                <a16:creationId xmlns:a16="http://schemas.microsoft.com/office/drawing/2014/main" id="{11E652B1-566B-4A61-93AB-81CD7FE52210}"/>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75d377230494831"/>
          <a:srcRect xmlns:a="http://schemas.openxmlformats.org/drawingml/2006/main" l="4367" t="0" r="4367"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4" name="cover-title">
            <a:extLst xmlns:a="http://schemas.openxmlformats.org/drawingml/2006/main">
              <a:ext uri="{FF2B5EF4-FFF2-40B4-BE49-F238E27FC236}">
                <a16:creationId xmlns:a16="http://schemas.microsoft.com/office/drawing/2014/main" id="{7FCFFCFC-281C-4887-B9AD-310828D35C3D}"/>
              </a:ext>
            </a:extLst>
          </p:cNvPr>
          <p:cNvSpPr>
            <a:spLocks xmlns:a="http://schemas.openxmlformats.org/drawingml/2006/main" noGrp="1"/>
          </p:cNvSpPr>
          <p:nvPr/>
        </p:nvSpPr>
        <p:spPr>
          <a:xfrm xmlns:a="http://schemas.openxmlformats.org/drawingml/2006/main">
            <a:off x="609600" y="1028700"/>
            <a:ext cx="6000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0">
                <a:solidFill>
                  <a:srgbClr val="542A69"/>
                </a:solidFill>
                <a:latin typeface="Georgia"/>
                <a:ea typeface="Georgia"/>
                <a:cs typeface="Georgia"/>
              </a:defRPr>
            </a:pPr>
            <a:r>
              <a:rPr sz="4950" b="0">
                <a:solidFill>
                  <a:srgbClr val="542A69"/>
                </a:solidFill>
                <a:latin typeface="Georgia"/>
                <a:ea typeface="Georgia"/>
                <a:cs typeface="Georgia"/>
              </a:rPr>
              <a:t>Roote Origin</a:t>
            </a:r>
          </a:p>
          <a:p xmlns:a="http://schemas.openxmlformats.org/drawingml/2006/main">
            <a:pPr algn="l">
              <a:defRPr sz="4950" b="0">
                <a:solidFill>
                  <a:srgbClr val="542A69"/>
                </a:solidFill>
                <a:latin typeface="Georgia"/>
                <a:ea typeface="Georgia"/>
                <a:cs typeface="Georgia"/>
              </a:defRPr>
            </a:pPr>
            <a:r>
              <a:rPr sz="4950" b="0">
                <a:solidFill>
                  <a:srgbClr val="542A69"/>
                </a:solidFill>
                <a:latin typeface="Georgia"/>
                <a:ea typeface="Georgia"/>
                <a:cs typeface="Georgia"/>
              </a:rPr>
              <a:t>System</a:t>
            </a:r>
          </a:p>
        </p:txBody>
      </p:sp>
      <p:sp>
        <p:nvSpPr>
          <p:cNvPr id="5" name="text-1">
            <a:extLst xmlns:a="http://schemas.openxmlformats.org/drawingml/2006/main">
              <a:ext uri="{FF2B5EF4-FFF2-40B4-BE49-F238E27FC236}">
                <a16:creationId xmlns:a16="http://schemas.microsoft.com/office/drawing/2014/main" id="{CBF2FD03-C8EC-4510-A383-68D3BBCAA1DF}"/>
              </a:ext>
            </a:extLst>
          </p:cNvPr>
          <p:cNvSpPr>
            <a:spLocks xmlns:a="http://schemas.openxmlformats.org/drawingml/2006/main" noGrp="1"/>
          </p:cNvSpPr>
          <p:nvPr/>
        </p:nvSpPr>
        <p:spPr>
          <a:xfrm xmlns:a="http://schemas.openxmlformats.org/drawingml/2006/main">
            <a:off x="609600" y="3343275"/>
            <a:ext cx="590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5583C"/>
                </a:solidFill>
                <a:latin typeface="Arial"/>
                <a:ea typeface="Arial"/>
                <a:cs typeface="Arial"/>
              </a:defRPr>
            </a:pPr>
            <a:r>
              <a:rPr sz="2100" b="0">
                <a:solidFill>
                  <a:srgbClr val="35583C"/>
                </a:solidFill>
                <a:latin typeface="Arial"/>
                <a:ea typeface="Arial"/>
                <a:cs typeface="Arial"/>
              </a:rPr>
              <a:t>MVP scope and three design directions</a:t>
            </a:r>
          </a:p>
        </p:txBody>
      </p:sp>
      <p:sp>
        <p:nvSpPr>
          <p:cNvPr id="6" name="text-2">
            <a:extLst xmlns:a="http://schemas.openxmlformats.org/drawingml/2006/main">
              <a:ext uri="{FF2B5EF4-FFF2-40B4-BE49-F238E27FC236}">
                <a16:creationId xmlns:a16="http://schemas.microsoft.com/office/drawing/2014/main" id="{8C416721-277B-468F-9E8C-8BC5AD448E28}"/>
              </a:ext>
            </a:extLst>
          </p:cNvPr>
          <p:cNvSpPr>
            <a:spLocks xmlns:a="http://schemas.openxmlformats.org/drawingml/2006/main" noGrp="1"/>
          </p:cNvSpPr>
          <p:nvPr/>
        </p:nvSpPr>
        <p:spPr>
          <a:xfrm xmlns:a="http://schemas.openxmlformats.org/drawingml/2006/main">
            <a:off x="609600" y="4381500"/>
            <a:ext cx="590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Ube Farm Cooperative</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Davao, Philippines</a:t>
            </a:r>
          </a:p>
        </p:txBody>
      </p:sp>
      <p:sp>
        <p:nvSpPr>
          <p:cNvPr id="7" name="text-3">
            <a:extLst xmlns:a="http://schemas.openxmlformats.org/drawingml/2006/main">
              <a:ext uri="{FF2B5EF4-FFF2-40B4-BE49-F238E27FC236}">
                <a16:creationId xmlns:a16="http://schemas.microsoft.com/office/drawing/2014/main" id="{C5BED63F-7C3C-4546-8364-4E106F809349}"/>
              </a:ext>
            </a:extLst>
          </p:cNvPr>
          <p:cNvSpPr>
            <a:spLocks xmlns:a="http://schemas.openxmlformats.org/drawingml/2006/main" noGrp="1"/>
          </p:cNvSpPr>
          <p:nvPr/>
        </p:nvSpPr>
        <p:spPr>
          <a:xfrm xmlns:a="http://schemas.openxmlformats.org/drawingml/2006/main">
            <a:off x="609600" y="5467350"/>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706B65"/>
                </a:solidFill>
                <a:latin typeface="Arial"/>
                <a:ea typeface="Arial"/>
                <a:cs typeface="Arial"/>
              </a:defRPr>
            </a:pPr>
            <a:r>
              <a:rPr sz="1425" b="0">
                <a:solidFill>
                  <a:srgbClr val="706B65"/>
                </a:solidFill>
                <a:latin typeface="Arial"/>
                <a:ea typeface="Arial"/>
                <a:cs typeface="Arial"/>
              </a:rPr>
              <a:t>Client discussion</a:t>
            </a:r>
          </a:p>
          <a:p xmlns:a="http://schemas.openxmlformats.org/drawingml/2006/main">
            <a:pPr algn="l">
              <a:defRPr sz="1425" b="0">
                <a:solidFill>
                  <a:srgbClr val="706B65"/>
                </a:solidFill>
                <a:latin typeface="Arial"/>
                <a:ea typeface="Arial"/>
                <a:cs typeface="Arial"/>
              </a:defRPr>
            </a:pPr>
            <a:r>
              <a:rPr sz="1425" b="0">
                <a:solidFill>
                  <a:srgbClr val="706B65"/>
                </a:solidFill>
                <a:latin typeface="Arial"/>
                <a:ea typeface="Arial"/>
                <a:cs typeface="Arial"/>
              </a:rPr>
              <a:t>3 October 2026</a:t>
            </a:r>
          </a:p>
        </p:txBody>
      </p:sp>
      <p:sp>
        <p:nvSpPr>
          <p:cNvPr id="8" name="text-4">
            <a:extLst xmlns:a="http://schemas.openxmlformats.org/drawingml/2006/main">
              <a:ext uri="{FF2B5EF4-FFF2-40B4-BE49-F238E27FC236}">
                <a16:creationId xmlns:a16="http://schemas.microsoft.com/office/drawing/2014/main" id="{B9A26E7B-DB59-4C91-A17B-4901C6060EC3}"/>
              </a:ext>
            </a:extLst>
          </p:cNvPr>
          <p:cNvSpPr>
            <a:spLocks xmlns:a="http://schemas.openxmlformats.org/drawingml/2006/main" noGrp="1"/>
          </p:cNvSpPr>
          <p:nvPr/>
        </p:nvSpPr>
        <p:spPr>
          <a:xfrm xmlns:a="http://schemas.openxmlformats.org/drawingml/2006/main">
            <a:off x="7467600" y="639127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Illustrative concept photo</a:t>
            </a:r>
          </a:p>
        </p:txBody>
      </p:sp>
    </p:spTree>
    <p:extLst>
      <p:ext uri="{BB962C8B-B14F-4D97-AF65-F5344CB8AC3E}">
        <p14:creationId xmlns:p14="http://schemas.microsoft.com/office/powerpoint/2010/main" val="686996679"/>
      </p:ext>
    </p:extLst>
  </p:cSld>
</p:sld>
</file>

<file path=ppt/slides/slide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1E432722-8EA7-4838-9294-7002F8A5A316}"/>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The Roote Origin MVP</a:t>
            </a:r>
          </a:p>
        </p:txBody>
      </p:sp>
      <p:sp>
        <p:nvSpPr>
          <p:cNvPr id="2" name="slide-subtitle">
            <a:extLst xmlns:a="http://schemas.openxmlformats.org/drawingml/2006/main">
              <a:ext uri="{FF2B5EF4-FFF2-40B4-BE49-F238E27FC236}">
                <a16:creationId xmlns:a16="http://schemas.microsoft.com/office/drawing/2014/main" id="{4420F58D-762F-477D-B943-F862E08AB0D2}"/>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Farm discovery and batch records for the cooperative ecosystem, starting with ube.</a:t>
            </a:r>
          </a:p>
        </p:txBody>
      </p:sp>
      <p:sp>
        <p:nvSpPr>
          <p:cNvPr id="3" name="footer">
            <a:extLst xmlns:a="http://schemas.openxmlformats.org/drawingml/2006/main">
              <a:ext uri="{FF2B5EF4-FFF2-40B4-BE49-F238E27FC236}">
                <a16:creationId xmlns:a16="http://schemas.microsoft.com/office/drawing/2014/main" id="{79BA6671-BE4B-4486-9B2C-6D6653133CE7}"/>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2A59FE8A-AB7F-42E8-9D19-A29A11D5AA0B}"/>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02</a:t>
            </a:r>
          </a:p>
        </p:txBody>
      </p:sp>
      <p:sp>
        <p:nvSpPr>
          <p:cNvPr id="5" name="text-5">
            <a:extLst xmlns:a="http://schemas.openxmlformats.org/drawingml/2006/main">
              <a:ext uri="{FF2B5EF4-FFF2-40B4-BE49-F238E27FC236}">
                <a16:creationId xmlns:a16="http://schemas.microsoft.com/office/drawing/2014/main" id="{45288ACF-69F8-47AD-BBA3-84348DDD9884}"/>
              </a:ext>
            </a:extLst>
          </p:cNvPr>
          <p:cNvSpPr>
            <a:spLocks xmlns:a="http://schemas.openxmlformats.org/drawingml/2006/main" noGrp="1"/>
          </p:cNvSpPr>
          <p:nvPr/>
        </p:nvSpPr>
        <p:spPr>
          <a:xfrm xmlns:a="http://schemas.openxmlformats.org/drawingml/2006/main">
            <a:off x="609600" y="24003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Public farm inventory</a:t>
            </a:r>
          </a:p>
        </p:txBody>
      </p:sp>
      <p:sp>
        <p:nvSpPr>
          <p:cNvPr id="6" name="text-6">
            <a:extLst xmlns:a="http://schemas.openxmlformats.org/drawingml/2006/main">
              <a:ext uri="{FF2B5EF4-FFF2-40B4-BE49-F238E27FC236}">
                <a16:creationId xmlns:a16="http://schemas.microsoft.com/office/drawing/2014/main" id="{A222278D-9CF2-413C-A082-3F1F86F6D14E}"/>
              </a:ext>
            </a:extLst>
          </p:cNvPr>
          <p:cNvSpPr>
            <a:spLocks xmlns:a="http://schemas.openxmlformats.org/drawingml/2006/main" noGrp="1"/>
          </p:cNvSpPr>
          <p:nvPr/>
        </p:nvSpPr>
        <p:spPr>
          <a:xfrm xmlns:a="http://schemas.openxmlformats.org/drawingml/2006/main">
            <a:off x="4181475" y="24193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Discover approved farms and produce. Find a farm profile or a published batch by ID, QR or partner link.</a:t>
            </a:r>
          </a:p>
        </p:txBody>
      </p:sp>
      <p:sp>
        <p:nvSpPr>
          <p:cNvPr id="7" name="divider-7">
            <a:extLst xmlns:a="http://schemas.openxmlformats.org/drawingml/2006/main">
              <a:ext uri="{FF2B5EF4-FFF2-40B4-BE49-F238E27FC236}">
                <a16:creationId xmlns:a16="http://schemas.microsoft.com/office/drawing/2014/main" id="{0EF60749-D526-473A-A1F7-3BDFB28CBBC5}"/>
              </a:ext>
            </a:extLst>
          </p:cNvPr>
          <p:cNvSpPr>
            <a:spLocks xmlns:a="http://schemas.openxmlformats.org/drawingml/2006/main" noGrp="1"/>
          </p:cNvSpPr>
          <p:nvPr/>
        </p:nvSpPr>
        <p:spPr>
          <a:xfrm xmlns:a="http://schemas.openxmlformats.org/drawingml/2006/main">
            <a:off x="609600" y="309562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8" name="text-8">
            <a:extLst xmlns:a="http://schemas.openxmlformats.org/drawingml/2006/main">
              <a:ext uri="{FF2B5EF4-FFF2-40B4-BE49-F238E27FC236}">
                <a16:creationId xmlns:a16="http://schemas.microsoft.com/office/drawing/2014/main" id="{B5CBBE15-CCD5-4E94-AF86-2181BDEE76DE}"/>
              </a:ext>
            </a:extLst>
          </p:cNvPr>
          <p:cNvSpPr>
            <a:spLocks xmlns:a="http://schemas.openxmlformats.org/drawingml/2006/main" noGrp="1"/>
          </p:cNvSpPr>
          <p:nvPr/>
        </p:nvSpPr>
        <p:spPr>
          <a:xfrm xmlns:a="http://schemas.openxmlformats.org/drawingml/2006/main">
            <a:off x="609600" y="32385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Protected member portal</a:t>
            </a:r>
          </a:p>
        </p:txBody>
      </p:sp>
      <p:sp>
        <p:nvSpPr>
          <p:cNvPr id="9" name="text-9">
            <a:extLst xmlns:a="http://schemas.openxmlformats.org/drawingml/2006/main">
              <a:ext uri="{FF2B5EF4-FFF2-40B4-BE49-F238E27FC236}">
                <a16:creationId xmlns:a16="http://schemas.microsoft.com/office/drawing/2014/main" id="{4DB24E1B-1285-40A7-BACD-3921D024C50A}"/>
              </a:ext>
            </a:extLst>
          </p:cNvPr>
          <p:cNvSpPr>
            <a:spLocks xmlns:a="http://schemas.openxmlformats.org/drawingml/2006/main" noGrp="1"/>
          </p:cNvSpPr>
          <p:nvPr/>
        </p:nvSpPr>
        <p:spPr>
          <a:xfrm xmlns:a="http://schemas.openxmlformats.org/drawingml/2006/main">
            <a:off x="4181475" y="32575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Growers, processors and recipients manage their assigned records. Administrators control access and publication.</a:t>
            </a:r>
          </a:p>
        </p:txBody>
      </p:sp>
      <p:sp>
        <p:nvSpPr>
          <p:cNvPr id="10" name="divider-10">
            <a:extLst xmlns:a="http://schemas.openxmlformats.org/drawingml/2006/main">
              <a:ext uri="{FF2B5EF4-FFF2-40B4-BE49-F238E27FC236}">
                <a16:creationId xmlns:a16="http://schemas.microsoft.com/office/drawing/2014/main" id="{D269DC1C-A405-40EE-ADA4-62D43E95C545}"/>
              </a:ext>
            </a:extLst>
          </p:cNvPr>
          <p:cNvSpPr>
            <a:spLocks xmlns:a="http://schemas.openxmlformats.org/drawingml/2006/main" noGrp="1"/>
          </p:cNvSpPr>
          <p:nvPr/>
        </p:nvSpPr>
        <p:spPr>
          <a:xfrm xmlns:a="http://schemas.openxmlformats.org/drawingml/2006/main">
            <a:off x="609600" y="393382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1" name="text-11">
            <a:extLst xmlns:a="http://schemas.openxmlformats.org/drawingml/2006/main">
              <a:ext uri="{FF2B5EF4-FFF2-40B4-BE49-F238E27FC236}">
                <a16:creationId xmlns:a16="http://schemas.microsoft.com/office/drawing/2014/main" id="{B6FBCB90-7C77-45C7-8504-C4EAC9B89F9E}"/>
              </a:ext>
            </a:extLst>
          </p:cNvPr>
          <p:cNvSpPr>
            <a:spLocks xmlns:a="http://schemas.openxmlformats.org/drawingml/2006/main" noGrp="1"/>
          </p:cNvSpPr>
          <p:nvPr/>
        </p:nvSpPr>
        <p:spPr>
          <a:xfrm xmlns:a="http://schemas.openxmlformats.org/drawingml/2006/main">
            <a:off x="609600" y="40767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Connected batch history</a:t>
            </a:r>
          </a:p>
        </p:txBody>
      </p:sp>
      <p:sp>
        <p:nvSpPr>
          <p:cNvPr id="12" name="text-12">
            <a:extLst xmlns:a="http://schemas.openxmlformats.org/drawingml/2006/main">
              <a:ext uri="{FF2B5EF4-FFF2-40B4-BE49-F238E27FC236}">
                <a16:creationId xmlns:a16="http://schemas.microsoft.com/office/drawing/2014/main" id="{FE0F35DB-3334-46E9-A738-A9B778182B1B}"/>
              </a:ext>
            </a:extLst>
          </p:cNvPr>
          <p:cNvSpPr>
            <a:spLocks xmlns:a="http://schemas.openxmlformats.org/drawingml/2006/main" noGrp="1"/>
          </p:cNvSpPr>
          <p:nvPr/>
        </p:nvSpPr>
        <p:spPr>
          <a:xfrm xmlns:a="http://schemas.openxmlformats.org/drawingml/2006/main">
            <a:off x="4181475" y="40957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Record farming details, harvest dates and quantities, then link each batch to its processor and intended brand owner or distributor.</a:t>
            </a:r>
          </a:p>
        </p:txBody>
      </p:sp>
      <p:sp>
        <p:nvSpPr>
          <p:cNvPr id="13" name="divider-13">
            <a:extLst xmlns:a="http://schemas.openxmlformats.org/drawingml/2006/main">
              <a:ext uri="{FF2B5EF4-FFF2-40B4-BE49-F238E27FC236}">
                <a16:creationId xmlns:a16="http://schemas.microsoft.com/office/drawing/2014/main" id="{67F765CE-3E65-4813-AAC0-BAA33DDEB9E1}"/>
              </a:ext>
            </a:extLst>
          </p:cNvPr>
          <p:cNvSpPr>
            <a:spLocks xmlns:a="http://schemas.openxmlformats.org/drawingml/2006/main" noGrp="1"/>
          </p:cNvSpPr>
          <p:nvPr/>
        </p:nvSpPr>
        <p:spPr>
          <a:xfrm xmlns:a="http://schemas.openxmlformats.org/drawingml/2006/main">
            <a:off x="609600" y="477202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4" name="text-14">
            <a:extLst xmlns:a="http://schemas.openxmlformats.org/drawingml/2006/main">
              <a:ext uri="{FF2B5EF4-FFF2-40B4-BE49-F238E27FC236}">
                <a16:creationId xmlns:a16="http://schemas.microsoft.com/office/drawing/2014/main" id="{CCFFD920-6D78-4191-9E4E-C4D85FEBF602}"/>
              </a:ext>
            </a:extLst>
          </p:cNvPr>
          <p:cNvSpPr>
            <a:spLocks xmlns:a="http://schemas.openxmlformats.org/drawingml/2006/main" noGrp="1"/>
          </p:cNvSpPr>
          <p:nvPr/>
        </p:nvSpPr>
        <p:spPr>
          <a:xfrm xmlns:a="http://schemas.openxmlformats.org/drawingml/2006/main">
            <a:off x="609600" y="49149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Consumer QR summaries</a:t>
            </a:r>
          </a:p>
        </p:txBody>
      </p:sp>
      <p:sp>
        <p:nvSpPr>
          <p:cNvPr id="15" name="text-15">
            <a:extLst xmlns:a="http://schemas.openxmlformats.org/drawingml/2006/main">
              <a:ext uri="{FF2B5EF4-FFF2-40B4-BE49-F238E27FC236}">
                <a16:creationId xmlns:a16="http://schemas.microsoft.com/office/drawing/2014/main" id="{924FB4A0-EE3E-4098-82D2-A35C8F457376}"/>
              </a:ext>
            </a:extLst>
          </p:cNvPr>
          <p:cNvSpPr>
            <a:spLocks xmlns:a="http://schemas.openxmlformats.org/drawingml/2006/main" noGrp="1"/>
          </p:cNvSpPr>
          <p:nvPr/>
        </p:nvSpPr>
        <p:spPr>
          <a:xfrm xmlns:a="http://schemas.openxmlformats.org/drawingml/2006/main">
            <a:off x="4181475" y="49339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Publish a selected summary for each batch. Consumers scan it at a cafe, restaurant or on packaging without logging in.</a:t>
            </a:r>
          </a:p>
        </p:txBody>
      </p:sp>
      <p:sp>
        <p:nvSpPr>
          <p:cNvPr id="16" name="text-16">
            <a:extLst xmlns:a="http://schemas.openxmlformats.org/drawingml/2006/main">
              <a:ext uri="{FF2B5EF4-FFF2-40B4-BE49-F238E27FC236}">
                <a16:creationId xmlns:a16="http://schemas.microsoft.com/office/drawing/2014/main" id="{1014C645-C48D-439D-ACB2-535ADBE7361F}"/>
              </a:ext>
            </a:extLst>
          </p:cNvPr>
          <p:cNvSpPr>
            <a:spLocks xmlns:a="http://schemas.openxmlformats.org/drawingml/2006/main" noGrp="1"/>
          </p:cNvSpPr>
          <p:nvPr/>
        </p:nvSpPr>
        <p:spPr>
          <a:xfrm xmlns:a="http://schemas.openxmlformats.org/drawingml/2006/main">
            <a:off x="609600" y="6115050"/>
            <a:ext cx="10763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5583C"/>
                </a:solidFill>
                <a:latin typeface="Arial"/>
                <a:ea typeface="Arial"/>
                <a:cs typeface="Arial"/>
              </a:defRPr>
            </a:pPr>
            <a:r>
              <a:rPr sz="1500" b="1">
                <a:solidFill>
                  <a:srgbClr val="35583C"/>
                </a:solidFill>
                <a:latin typeface="Arial"/>
                <a:ea typeface="Arial"/>
                <a:cs typeface="Arial"/>
              </a:rPr>
              <a:t>One selected website direction and one new backend serve the same MVP.</a:t>
            </a:r>
          </a:p>
        </p:txBody>
      </p:sp>
    </p:spTree>
    <p:extLst>
      <p:ext uri="{BB962C8B-B14F-4D97-AF65-F5344CB8AC3E}">
        <p14:creationId xmlns:p14="http://schemas.microsoft.com/office/powerpoint/2010/main" val="1070479833"/>
      </p:ext>
    </p:extLst>
  </p:cSld>
</p:sld>
</file>

<file path=ppt/slides/slide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3C45B8C9-D8CB-4DDB-891B-84016AB9B1B9}"/>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The history behind each batch</a:t>
            </a:r>
          </a:p>
        </p:txBody>
      </p:sp>
      <p:sp>
        <p:nvSpPr>
          <p:cNvPr id="2" name="slide-subtitle">
            <a:extLst xmlns:a="http://schemas.openxmlformats.org/drawingml/2006/main">
              <a:ext uri="{FF2B5EF4-FFF2-40B4-BE49-F238E27FC236}">
                <a16:creationId xmlns:a16="http://schemas.microsoft.com/office/drawing/2014/main" id="{5E4E7313-5852-473B-9822-EC1F28FCF863}"/>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Authorized ecosystem members can follow the permitted history of an assigned batch.</a:t>
            </a:r>
          </a:p>
        </p:txBody>
      </p:sp>
      <p:sp>
        <p:nvSpPr>
          <p:cNvPr id="3" name="footer">
            <a:extLst xmlns:a="http://schemas.openxmlformats.org/drawingml/2006/main">
              <a:ext uri="{FF2B5EF4-FFF2-40B4-BE49-F238E27FC236}">
                <a16:creationId xmlns:a16="http://schemas.microsoft.com/office/drawing/2014/main" id="{F7FC7419-971F-4142-A66C-6E2263B112E7}"/>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0ACB8EAB-4A7F-4C83-B9A6-8ABD40357CEE}"/>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03</a:t>
            </a:r>
          </a:p>
        </p:txBody>
      </p:sp>
      <p:graphicFrame>
        <p:nvGraphicFramePr>
          <p:cNvPr id="11" name=""/>
          <p:cNvGraphicFramePr/>
          <p:nvPr/>
        </p:nvGraphicFramePr>
        <p:xfrm>
          <a:off xmlns:a="http://schemas.openxmlformats.org/drawingml/2006/main" x="609600" y="2400300"/>
          <a:ext xmlns:a="http://schemas.openxmlformats.org/drawingml/2006/main" cx="10972800" cy="2619375"/>
        </p:xfrm>
        <a:graphic xmlns:a="http://schemas.openxmlformats.org/drawingml/2006/main">
          <a:graphicData uri="http://schemas.openxmlformats.org/drawingml/2006/table">
            <a:tbl>
              <a:tblPr firstRow="0" firstCol="0" bandRow="0"/>
              <a:tblGrid>
                <a:gridCol w="2743200"/>
                <a:gridCol w="2743200"/>
                <a:gridCol w="2743200"/>
                <a:gridCol w="2743200"/>
              </a:tblGrid>
              <a:tr h="523875">
                <a:tc>
                  <a:txBody>
                    <a:bodyPr wrap="square">
                      <a:noAutofit/>
                    </a:bodyPr>
                    <a:lstStyle/>
                    <a:p>
                      <a:r>
                        <a:rPr sz="1650" b="1">
                          <a:solidFill>
                            <a:srgbClr val="FFFFFF"/>
                          </a:solidFill>
                          <a:latin typeface="Arial"/>
                          <a:ea typeface="Arial"/>
                          <a:cs typeface="Arial"/>
                        </a:rPr>
                        <a:t>Farming</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Harvest batch</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Processing</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Brand or distributor</a:t>
                      </a:r>
                    </a:p>
                  </a:txBody>
                  <a:tcPr marL="133350" marR="133350" marT="95250" marB="95250" anchor="t">
                    <a:solidFill>
                      <a:srgbClr val="35583C"/>
                    </a:solidFill>
                  </a:tcPr>
                </a:tc>
              </a:tr>
              <a:tr h="2095500">
                <a:tc>
                  <a:txBody>
                    <a:bodyPr wrap="square">
                      <a:noAutofit/>
                    </a:bodyPr>
                    <a:lstStyle/>
                    <a:p>
                      <a:r>
                        <a:rPr sz="1650" b="0">
                          <a:solidFill>
                            <a:srgbClr val="35583C"/>
                          </a:solidFill>
                          <a:latin typeface="Arial"/>
                          <a:ea typeface="Arial"/>
                          <a:cs typeface="Arial"/>
                        </a:rPr>
                        <a:t>Farm, grower and plot</a:t>
                      </a:r>
                    </a:p>
                    <a:p>
                      <a:r>
                        <a:rPr sz="1650" b="0">
                          <a:solidFill>
                            <a:srgbClr val="35583C"/>
                          </a:solidFill>
                          <a:latin typeface="Arial"/>
                          <a:ea typeface="Arial"/>
                          <a:cs typeface="Arial"/>
                        </a:rPr>
                        <a:t>Produce and variety</a:t>
                      </a:r>
                    </a:p>
                    <a:p>
                      <a:r>
                        <a:rPr sz="1650" b="0">
                          <a:solidFill>
                            <a:srgbClr val="35583C"/>
                          </a:solidFill>
                          <a:latin typeface="Arial"/>
                          <a:ea typeface="Arial"/>
                          <a:cs typeface="Arial"/>
                        </a:rPr>
                        <a:t>Planting date</a:t>
                      </a:r>
                    </a:p>
                    <a:p>
                      <a:r>
                        <a:rPr sz="1650" b="0">
                          <a:solidFill>
                            <a:srgbClr val="35583C"/>
                          </a:solidFill>
                          <a:latin typeface="Arial"/>
                          <a:ea typeface="Arial"/>
                          <a:cs typeface="Arial"/>
                        </a:rPr>
                        <a:t>Care and input notes</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Unique batch ID</a:t>
                      </a:r>
                    </a:p>
                    <a:p>
                      <a:r>
                        <a:rPr sz="1650" b="0">
                          <a:solidFill>
                            <a:srgbClr val="34233E"/>
                          </a:solidFill>
                          <a:latin typeface="Arial"/>
                          <a:ea typeface="Arial"/>
                          <a:cs typeface="Arial"/>
                        </a:rPr>
                        <a:t>Harvest date</a:t>
                      </a:r>
                    </a:p>
                    <a:p>
                      <a:r>
                        <a:rPr sz="1650" b="0">
                          <a:solidFill>
                            <a:srgbClr val="34233E"/>
                          </a:solidFill>
                          <a:latin typeface="Arial"/>
                          <a:ea typeface="Arial"/>
                          <a:cs typeface="Arial"/>
                        </a:rPr>
                        <a:t>Quantity and unit</a:t>
                      </a:r>
                    </a:p>
                    <a:p>
                      <a:r>
                        <a:rPr sz="1650" b="0">
                          <a:solidFill>
                            <a:srgbClr val="34233E"/>
                          </a:solidFill>
                          <a:latin typeface="Arial"/>
                          <a:ea typeface="Arial"/>
                          <a:cs typeface="Arial"/>
                        </a:rPr>
                        <a:t>Status and availability</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Processor identity</a:t>
                      </a:r>
                    </a:p>
                    <a:p>
                      <a:r>
                        <a:rPr sz="1650" b="0">
                          <a:solidFill>
                            <a:srgbClr val="34233E"/>
                          </a:solidFill>
                          <a:latin typeface="Arial"/>
                          <a:ea typeface="Arial"/>
                          <a:cs typeface="Arial"/>
                        </a:rPr>
                        <a:t>Processing date and site</a:t>
                      </a:r>
                    </a:p>
                    <a:p>
                      <a:r>
                        <a:rPr sz="1650" b="0">
                          <a:solidFill>
                            <a:srgbClr val="34233E"/>
                          </a:solidFill>
                          <a:latin typeface="Arial"/>
                          <a:ea typeface="Arial"/>
                          <a:cs typeface="Arial"/>
                        </a:rPr>
                        <a:t>Processed lot</a:t>
                      </a:r>
                    </a:p>
                    <a:p>
                      <a:r>
                        <a:rPr sz="1650" b="0">
                          <a:solidFill>
                            <a:srgbClr val="34233E"/>
                          </a:solidFill>
                          <a:latin typeface="Arial"/>
                          <a:ea typeface="Arial"/>
                          <a:cs typeface="Arial"/>
                        </a:rPr>
                        <a:t>Source harvest link</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Intended recipient</a:t>
                      </a:r>
                    </a:p>
                    <a:p>
                      <a:r>
                        <a:rPr sz="1650" b="0">
                          <a:solidFill>
                            <a:srgbClr val="34233E"/>
                          </a:solidFill>
                          <a:latin typeface="Arial"/>
                          <a:ea typeface="Arial"/>
                          <a:cs typeface="Arial"/>
                        </a:rPr>
                        <a:t>Brand owner or distributor</a:t>
                      </a:r>
                    </a:p>
                    <a:p>
                      <a:r>
                        <a:rPr sz="1650" b="0">
                          <a:solidFill>
                            <a:srgbClr val="34233E"/>
                          </a:solidFill>
                          <a:latin typeface="Arial"/>
                          <a:ea typeface="Arial"/>
                          <a:cs typeface="Arial"/>
                        </a:rPr>
                        <a:t>Assigned acknowledgement</a:t>
                      </a:r>
                    </a:p>
                    <a:p>
                      <a:r>
                        <a:rPr sz="1650" b="0">
                          <a:solidFill>
                            <a:srgbClr val="34233E"/>
                          </a:solidFill>
                          <a:latin typeface="Arial"/>
                          <a:ea typeface="Arial"/>
                          <a:cs typeface="Arial"/>
                        </a:rPr>
                        <a:t>Linked origin history</a:t>
                      </a:r>
                    </a:p>
                  </a:txBody>
                  <a:tcPr marL="133350" marR="133350" marT="95250" marB="95250" anchor="t">
                    <a:solidFill>
                      <a:srgbClr val="F6F3EA"/>
                    </a:solidFill>
                  </a:tcPr>
                </a:tc>
              </a:tr>
            </a:tbl>
          </a:graphicData>
        </a:graphic>
      </p:graphicFrame>
      <p:sp>
        <p:nvSpPr>
          <p:cNvPr id="6" name="text-17">
            <a:extLst xmlns:a="http://schemas.openxmlformats.org/drawingml/2006/main">
              <a:ext uri="{FF2B5EF4-FFF2-40B4-BE49-F238E27FC236}">
                <a16:creationId xmlns:a16="http://schemas.microsoft.com/office/drawing/2014/main" id="{1BA42DD0-3D76-4928-806A-3244EDE21DFC}"/>
              </a:ext>
            </a:extLst>
          </p:cNvPr>
          <p:cNvSpPr>
            <a:spLocks xmlns:a="http://schemas.openxmlformats.org/drawingml/2006/main" noGrp="1"/>
          </p:cNvSpPr>
          <p:nvPr/>
        </p:nvSpPr>
        <p:spPr>
          <a:xfrm xmlns:a="http://schemas.openxmlformats.org/drawingml/2006/main">
            <a:off x="609600" y="54102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5583C"/>
                </a:solidFill>
                <a:latin typeface="Arial"/>
                <a:ea typeface="Arial"/>
                <a:cs typeface="Arial"/>
              </a:defRPr>
            </a:pPr>
            <a:r>
              <a:rPr sz="1650" b="0">
                <a:solidFill>
                  <a:srgbClr val="35583C"/>
                </a:solidFill>
                <a:latin typeface="Arial"/>
                <a:ea typeface="Arial"/>
                <a:cs typeface="Arial"/>
              </a:rPr>
              <a:t>The first workflow links each processed lot to one source harvest batch. Participants supply the records.</a:t>
            </a:r>
          </a:p>
        </p:txBody>
      </p:sp>
    </p:spTree>
    <p:extLst>
      <p:ext uri="{BB962C8B-B14F-4D97-AF65-F5344CB8AC3E}">
        <p14:creationId xmlns:p14="http://schemas.microsoft.com/office/powerpoint/2010/main" val="1066398800"/>
      </p:ext>
    </p:extLst>
  </p:cSld>
</p:sld>
</file>

<file path=ppt/slides/slide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155930F-4DD6-460C-9715-D41E609870D5}"/>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Access across the ecosystem</a:t>
            </a:r>
          </a:p>
        </p:txBody>
      </p:sp>
      <p:sp>
        <p:nvSpPr>
          <p:cNvPr id="2" name="slide-subtitle">
            <a:extLst xmlns:a="http://schemas.openxmlformats.org/drawingml/2006/main">
              <a:ext uri="{FF2B5EF4-FFF2-40B4-BE49-F238E27FC236}">
                <a16:creationId xmlns:a16="http://schemas.microsoft.com/office/drawing/2014/main" id="{25BC920B-9561-4D23-961C-66F8DB990689}"/>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The cooperative approves visibility rules. Each participant edits only the records their role permits.</a:t>
            </a:r>
          </a:p>
        </p:txBody>
      </p:sp>
      <p:sp>
        <p:nvSpPr>
          <p:cNvPr id="3" name="footer">
            <a:extLst xmlns:a="http://schemas.openxmlformats.org/drawingml/2006/main">
              <a:ext uri="{FF2B5EF4-FFF2-40B4-BE49-F238E27FC236}">
                <a16:creationId xmlns:a16="http://schemas.microsoft.com/office/drawing/2014/main" id="{561BCB9C-8848-4734-B3D9-970F5255ABC7}"/>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54FD54E2-6271-44EC-B087-5C364BC35E43}"/>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04</a:t>
            </a:r>
          </a:p>
        </p:txBody>
      </p:sp>
      <p:graphicFrame>
        <p:nvGraphicFramePr>
          <p:cNvPr id="11" name=""/>
          <p:cNvGraphicFramePr/>
          <p:nvPr/>
        </p:nvGraphicFramePr>
        <p:xfrm>
          <a:off xmlns:a="http://schemas.openxmlformats.org/drawingml/2006/main" x="609600" y="2190750"/>
          <a:ext xmlns:a="http://schemas.openxmlformats.org/drawingml/2006/main" cx="10972800" cy="3943350"/>
        </p:xfrm>
        <a:graphic xmlns:a="http://schemas.openxmlformats.org/drawingml/2006/main">
          <a:graphicData uri="http://schemas.openxmlformats.org/drawingml/2006/table">
            <a:tbl>
              <a:tblPr firstRow="0" firstCol="0" bandRow="0"/>
              <a:tblGrid>
                <a:gridCol w="2352675"/>
                <a:gridCol w="3667125"/>
                <a:gridCol w="4953000"/>
              </a:tblGrid>
              <a:tr h="466725">
                <a:tc>
                  <a:txBody>
                    <a:bodyPr wrap="square">
                      <a:noAutofit/>
                    </a:bodyPr>
                    <a:lstStyle/>
                    <a:p>
                      <a:r>
                        <a:rPr sz="1500" b="1">
                          <a:solidFill>
                            <a:srgbClr val="FFFFFF"/>
                          </a:solidFill>
                          <a:latin typeface="Arial"/>
                          <a:ea typeface="Arial"/>
                          <a:cs typeface="Arial"/>
                        </a:rPr>
                        <a:t>Participant</a:t>
                      </a:r>
                    </a:p>
                  </a:txBody>
                  <a:tcPr marL="133350" marR="133350" marT="95250" marB="95250" anchor="t">
                    <a:solidFill>
                      <a:srgbClr val="35583C"/>
                    </a:solidFill>
                  </a:tcPr>
                </a:tc>
                <a:tc>
                  <a:txBody>
                    <a:bodyPr wrap="square">
                      <a:noAutofit/>
                    </a:bodyPr>
                    <a:lstStyle/>
                    <a:p>
                      <a:r>
                        <a:rPr sz="1500" b="1">
                          <a:solidFill>
                            <a:srgbClr val="FFFFFF"/>
                          </a:solidFill>
                          <a:latin typeface="Arial"/>
                          <a:ea typeface="Arial"/>
                          <a:cs typeface="Arial"/>
                        </a:rPr>
                        <a:t>Can view</a:t>
                      </a:r>
                    </a:p>
                  </a:txBody>
                  <a:tcPr marL="133350" marR="133350" marT="95250" marB="95250" anchor="t">
                    <a:solidFill>
                      <a:srgbClr val="35583C"/>
                    </a:solidFill>
                  </a:tcPr>
                </a:tc>
                <a:tc>
                  <a:txBody>
                    <a:bodyPr wrap="square">
                      <a:noAutofit/>
                    </a:bodyPr>
                    <a:lstStyle/>
                    <a:p>
                      <a:r>
                        <a:rPr sz="1500" b="1">
                          <a:solidFill>
                            <a:srgbClr val="FFFFFF"/>
                          </a:solidFill>
                          <a:latin typeface="Arial"/>
                          <a:ea typeface="Arial"/>
                          <a:cs typeface="Arial"/>
                        </a:rPr>
                        <a:t>Can manage</a:t>
                      </a:r>
                    </a:p>
                  </a:txBody>
                  <a:tcPr marL="133350" marR="133350" marT="95250" marB="95250" anchor="t">
                    <a:solidFill>
                      <a:srgbClr val="35583C"/>
                    </a:solidFill>
                  </a:tcPr>
                </a:tc>
              </a:tr>
              <a:tr h="695325">
                <a:tc>
                  <a:txBody>
                    <a:bodyPr wrap="square">
                      <a:noAutofit/>
                    </a:bodyPr>
                    <a:lstStyle/>
                    <a:p>
                      <a:r>
                        <a:rPr sz="1500" b="0">
                          <a:solidFill>
                            <a:srgbClr val="35583C"/>
                          </a:solidFill>
                          <a:latin typeface="Arial"/>
                          <a:ea typeface="Arial"/>
                          <a:cs typeface="Arial"/>
                        </a:rPr>
                        <a:t>Administrator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All ecosystem records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Users, farms, produce, corrections and publication</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Grower or farm team</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Permitted batch history</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Assigned growing and harvest records</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Processor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Permitted origin and harvest records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Assigned processing, lot links and recipients</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Brand owner or distributor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Permitted history of assigned batches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Assigned acknowledgement and own partner details</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Consumer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Published profiles and batch summaries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Read access without a backend account</a:t>
                      </a:r>
                    </a:p>
                  </a:txBody>
                  <a:tcPr marL="133350" marR="133350" marT="95250" marB="95250" anchor="t">
                    <a:solidFill>
                      <a:srgbClr val="F6F3EA"/>
                    </a:solidFill>
                  </a:tcPr>
                </a:tc>
              </a:tr>
            </a:tbl>
          </a:graphicData>
        </a:graphic>
      </p:graphicFrame>
      <p:sp>
        <p:nvSpPr>
          <p:cNvPr id="6" name="text-18">
            <a:extLst xmlns:a="http://schemas.openxmlformats.org/drawingml/2006/main">
              <a:ext uri="{FF2B5EF4-FFF2-40B4-BE49-F238E27FC236}">
                <a16:creationId xmlns:a16="http://schemas.microsoft.com/office/drawing/2014/main" id="{528C3CF6-EA21-4E9E-8416-924AB645AFB3}"/>
              </a:ext>
            </a:extLst>
          </p:cNvPr>
          <p:cNvSpPr>
            <a:spLocks xmlns:a="http://schemas.openxmlformats.org/drawingml/2006/main" noGrp="1"/>
          </p:cNvSpPr>
          <p:nvPr/>
        </p:nvSpPr>
        <p:spPr>
          <a:xfrm xmlns:a="http://schemas.openxmlformats.org/drawingml/2006/main">
            <a:off x="609600" y="623887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35583C"/>
                </a:solidFill>
                <a:latin typeface="Arial"/>
                <a:ea typeface="Arial"/>
                <a:cs typeface="Arial"/>
              </a:defRPr>
            </a:pPr>
            <a:r>
              <a:rPr sz="1350" b="0">
                <a:solidFill>
                  <a:srgbClr val="35583C"/>
                </a:solidFill>
                <a:latin typeface="Arial"/>
                <a:ea typeface="Arial"/>
                <a:cs typeface="Arial"/>
              </a:rPr>
              <a:t>Login, password recovery and server-side permission checks are part of the MVP.</a:t>
            </a:r>
          </a:p>
        </p:txBody>
      </p:sp>
    </p:spTree>
    <p:extLst>
      <p:ext uri="{BB962C8B-B14F-4D97-AF65-F5344CB8AC3E}">
        <p14:creationId xmlns:p14="http://schemas.microsoft.com/office/powerpoint/2010/main" val="347614761"/>
      </p:ext>
    </p:extLst>
  </p:cSld>
</p:sld>
</file>

<file path=ppt/slides/slide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6CE6E9EB-EFBD-4B14-AB4D-DC250BC6163B}"/>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A public QR summary for each batch</a:t>
            </a:r>
          </a:p>
        </p:txBody>
      </p:sp>
      <p:sp>
        <p:nvSpPr>
          <p:cNvPr id="2" name="slide-subtitle">
            <a:extLst xmlns:a="http://schemas.openxmlformats.org/drawingml/2006/main">
              <a:ext uri="{FF2B5EF4-FFF2-40B4-BE49-F238E27FC236}">
                <a16:creationId xmlns:a16="http://schemas.microsoft.com/office/drawing/2014/main" id="{6D3B526F-2775-4297-9054-DD300E2C4188}"/>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Consumers see an approved summary. Internal records stay in the protected portal.</a:t>
            </a:r>
          </a:p>
        </p:txBody>
      </p:sp>
      <p:sp>
        <p:nvSpPr>
          <p:cNvPr id="3" name="footer">
            <a:extLst xmlns:a="http://schemas.openxmlformats.org/drawingml/2006/main">
              <a:ext uri="{FF2B5EF4-FFF2-40B4-BE49-F238E27FC236}">
                <a16:creationId xmlns:a16="http://schemas.microsoft.com/office/drawing/2014/main" id="{D69F4192-D21C-4FD8-940F-F7B88CFB726F}"/>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B6F59BEF-6D87-499A-8263-63602AC00B3C}"/>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05</a:t>
            </a:r>
          </a:p>
        </p:txBody>
      </p:sp>
      <p:sp>
        <p:nvSpPr>
          <p:cNvPr id="5" name="text-19">
            <a:extLst xmlns:a="http://schemas.openxmlformats.org/drawingml/2006/main">
              <a:ext uri="{FF2B5EF4-FFF2-40B4-BE49-F238E27FC236}">
                <a16:creationId xmlns:a16="http://schemas.microsoft.com/office/drawing/2014/main" id="{CBE1BE92-5E83-4B7A-AEAF-81418633F33C}"/>
              </a:ext>
            </a:extLst>
          </p:cNvPr>
          <p:cNvSpPr>
            <a:spLocks xmlns:a="http://schemas.openxmlformats.org/drawingml/2006/main" noGrp="1"/>
          </p:cNvSpPr>
          <p:nvPr/>
        </p:nvSpPr>
        <p:spPr>
          <a:xfrm xmlns:a="http://schemas.openxmlformats.org/drawingml/2006/main">
            <a:off x="609600" y="25146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The consumer view</a:t>
            </a:r>
          </a:p>
        </p:txBody>
      </p:sp>
      <p:sp>
        <p:nvSpPr>
          <p:cNvPr id="6" name="text-20">
            <a:extLst xmlns:a="http://schemas.openxmlformats.org/drawingml/2006/main">
              <a:ext uri="{FF2B5EF4-FFF2-40B4-BE49-F238E27FC236}">
                <a16:creationId xmlns:a16="http://schemas.microsoft.com/office/drawing/2014/main" id="{A0D7518E-64D0-4A6F-8A0F-FA4C1C414ECB}"/>
              </a:ext>
            </a:extLst>
          </p:cNvPr>
          <p:cNvSpPr>
            <a:spLocks xmlns:a="http://schemas.openxmlformats.org/drawingml/2006/main" noGrp="1"/>
          </p:cNvSpPr>
          <p:nvPr/>
        </p:nvSpPr>
        <p:spPr>
          <a:xfrm xmlns:a="http://schemas.openxmlformats.org/drawingml/2006/main">
            <a:off x="609600" y="3209925"/>
            <a:ext cx="5105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Batch ID and produce</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Farm and approved location</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Growing summary and harvest date</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Approved processor and recipient names</a:t>
            </a:r>
          </a:p>
        </p:txBody>
      </p:sp>
      <p:sp>
        <p:nvSpPr>
          <p:cNvPr id="7" name="text-21">
            <a:extLst xmlns:a="http://schemas.openxmlformats.org/drawingml/2006/main">
              <a:ext uri="{FF2B5EF4-FFF2-40B4-BE49-F238E27FC236}">
                <a16:creationId xmlns:a16="http://schemas.microsoft.com/office/drawing/2014/main" id="{27772AC5-6E08-40A6-9AC4-8EC3559EB1BA}"/>
              </a:ext>
            </a:extLst>
          </p:cNvPr>
          <p:cNvSpPr>
            <a:spLocks xmlns:a="http://schemas.openxmlformats.org/drawingml/2006/main" noGrp="1"/>
          </p:cNvSpPr>
          <p:nvPr/>
        </p:nvSpPr>
        <p:spPr>
          <a:xfrm xmlns:a="http://schemas.openxmlformats.org/drawingml/2006/main">
            <a:off x="6534150" y="25146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Publication controls</a:t>
            </a:r>
          </a:p>
        </p:txBody>
      </p:sp>
      <p:sp>
        <p:nvSpPr>
          <p:cNvPr id="8" name="text-22">
            <a:extLst xmlns:a="http://schemas.openxmlformats.org/drawingml/2006/main">
              <a:ext uri="{FF2B5EF4-FFF2-40B4-BE49-F238E27FC236}">
                <a16:creationId xmlns:a16="http://schemas.microsoft.com/office/drawing/2014/main" id="{6C981750-EFC0-42AF-AE3D-C3A51BC3CDAD}"/>
              </a:ext>
            </a:extLst>
          </p:cNvPr>
          <p:cNvSpPr>
            <a:spLocks xmlns:a="http://schemas.openxmlformats.org/drawingml/2006/main" noGrp="1"/>
          </p:cNvSpPr>
          <p:nvPr/>
        </p:nvSpPr>
        <p:spPr>
          <a:xfrm xmlns:a="http://schemas.openxmlformats.org/drawingml/2006/main">
            <a:off x="6534150" y="3209925"/>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Administrator preview and approval</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Publish or unpublish a summary</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Stable URL for each batch</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Downloadable PNG and SVG QR artwork</a:t>
            </a:r>
          </a:p>
        </p:txBody>
      </p:sp>
      <p:sp>
        <p:nvSpPr>
          <p:cNvPr id="9" name="divider-23">
            <a:extLst xmlns:a="http://schemas.openxmlformats.org/drawingml/2006/main">
              <a:ext uri="{FF2B5EF4-FFF2-40B4-BE49-F238E27FC236}">
                <a16:creationId xmlns:a16="http://schemas.microsoft.com/office/drawing/2014/main" id="{80D999E1-7FFD-48B0-8AC1-75D1C234BC20}"/>
              </a:ext>
            </a:extLst>
          </p:cNvPr>
          <p:cNvSpPr>
            <a:spLocks xmlns:a="http://schemas.openxmlformats.org/drawingml/2006/main" noGrp="1"/>
          </p:cNvSpPr>
          <p:nvPr/>
        </p:nvSpPr>
        <p:spPr>
          <a:xfrm xmlns:a="http://schemas.openxmlformats.org/drawingml/2006/main">
            <a:off x="609600" y="5334000"/>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0" name="text-24">
            <a:extLst xmlns:a="http://schemas.openxmlformats.org/drawingml/2006/main">
              <a:ext uri="{FF2B5EF4-FFF2-40B4-BE49-F238E27FC236}">
                <a16:creationId xmlns:a16="http://schemas.microsoft.com/office/drawing/2014/main" id="{793D1549-C15C-4D15-8ACB-8A2EA7E28354}"/>
              </a:ext>
            </a:extLst>
          </p:cNvPr>
          <p:cNvSpPr>
            <a:spLocks xmlns:a="http://schemas.openxmlformats.org/drawingml/2006/main" noGrp="1"/>
          </p:cNvSpPr>
          <p:nvPr/>
        </p:nvSpPr>
        <p:spPr>
          <a:xfrm xmlns:a="http://schemas.openxmlformats.org/drawingml/2006/main">
            <a:off x="609600" y="56197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35583C"/>
                </a:solidFill>
                <a:latin typeface="Arial"/>
                <a:ea typeface="Arial"/>
                <a:cs typeface="Arial"/>
              </a:defRPr>
            </a:pPr>
            <a:r>
              <a:rPr sz="1725" b="1">
                <a:solidFill>
                  <a:srgbClr val="35583C"/>
                </a:solidFill>
                <a:latin typeface="Arial"/>
                <a:ea typeface="Arial"/>
                <a:cs typeface="Arial"/>
              </a:rPr>
              <a:t>Farm ID or QR opens a farm profile. Batch ID or QR opens that batch summary.</a:t>
            </a:r>
          </a:p>
        </p:txBody>
      </p:sp>
    </p:spTree>
    <p:extLst>
      <p:ext uri="{BB962C8B-B14F-4D97-AF65-F5344CB8AC3E}">
        <p14:creationId xmlns:p14="http://schemas.microsoft.com/office/powerpoint/2010/main" val="1493568227"/>
      </p:ext>
    </p:extLst>
  </p:cSld>
</p:sld>
</file>

<file path=ppt/slides/slide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7C02CA07-BB15-4C3B-BC42-AE3E5ACEFC44}"/>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From Root to Story</a:t>
            </a:r>
          </a:p>
        </p:txBody>
      </p:sp>
      <p:sp>
        <p:nvSpPr>
          <p:cNvPr id="2" name="slide-subtitle">
            <a:extLst xmlns:a="http://schemas.openxmlformats.org/drawingml/2006/main">
              <a:ext uri="{FF2B5EF4-FFF2-40B4-BE49-F238E27FC236}">
                <a16:creationId xmlns:a16="http://schemas.microsoft.com/office/drawing/2014/main" id="{1921DE91-55FD-4007-9502-3F28C2873ADB}"/>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The vine becomes the way into farm and batch discovery.</a:t>
            </a:r>
          </a:p>
        </p:txBody>
      </p:sp>
      <p:sp>
        <p:nvSpPr>
          <p:cNvPr id="3" name="footer">
            <a:extLst xmlns:a="http://schemas.openxmlformats.org/drawingml/2006/main">
              <a:ext uri="{FF2B5EF4-FFF2-40B4-BE49-F238E27FC236}">
                <a16:creationId xmlns:a16="http://schemas.microsoft.com/office/drawing/2014/main" id="{D5A72D9A-45B5-4950-8A8B-B03C0E4A2F3F}"/>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179AA84A-3EB7-49AC-8DBD-69AF753AA111}"/>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23444d55e634ea3"/>
          <a:stretch xmlns:a="http://schemas.openxmlformats.org/drawingml/2006/main"/>
        </p:blipFill>
        <p:spPr>
          <a:xfrm xmlns:a="http://schemas.openxmlformats.org/drawingml/2006/main">
            <a:off x="777240" y="2238375"/>
            <a:ext cx="6217920" cy="38862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cd07cadbb2d4c22"/>
          <a:stretch xmlns:a="http://schemas.openxmlformats.org/drawingml/2006/main"/>
        </p:blipFill>
        <p:spPr>
          <a:xfrm xmlns:a="http://schemas.openxmlformats.org/drawingml/2006/main">
            <a:off x="7372350" y="2295378"/>
            <a:ext cx="1743075" cy="3772193"/>
          </a:xfrm>
          <a:prstGeom xmlns:a="http://schemas.openxmlformats.org/drawingml/2006/main" prst="rect">
            <a:avLst/>
          </a:prstGeom>
        </p:spPr>
      </p:pic>
      <p:sp>
        <p:nvSpPr>
          <p:cNvPr id="7" name="text-25">
            <a:extLst xmlns:a="http://schemas.openxmlformats.org/drawingml/2006/main">
              <a:ext uri="{FF2B5EF4-FFF2-40B4-BE49-F238E27FC236}">
                <a16:creationId xmlns:a16="http://schemas.microsoft.com/office/drawing/2014/main" id="{E494BDAD-90A9-4543-BD7A-C1C1685D3E67}"/>
              </a:ext>
            </a:extLst>
          </p:cNvPr>
          <p:cNvSpPr>
            <a:spLocks xmlns:a="http://schemas.openxmlformats.org/drawingml/2006/main" noGrp="1"/>
          </p:cNvSpPr>
          <p:nvPr/>
        </p:nvSpPr>
        <p:spPr>
          <a:xfrm xmlns:a="http://schemas.openxmlformats.org/drawingml/2006/main">
            <a:off x="9410700" y="24003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583C"/>
                </a:solidFill>
                <a:latin typeface="Arial"/>
                <a:ea typeface="Arial"/>
                <a:cs typeface="Arial"/>
              </a:defRPr>
            </a:pPr>
            <a:r>
              <a:rPr sz="1800" b="1">
                <a:solidFill>
                  <a:srgbClr val="35583C"/>
                </a:solidFill>
                <a:latin typeface="Arial"/>
                <a:ea typeface="Arial"/>
                <a:cs typeface="Arial"/>
              </a:rPr>
              <a:t>MVP discovery</a:t>
            </a:r>
          </a:p>
        </p:txBody>
      </p:sp>
      <p:sp>
        <p:nvSpPr>
          <p:cNvPr id="8" name="text-26">
            <a:extLst xmlns:a="http://schemas.openxmlformats.org/drawingml/2006/main">
              <a:ext uri="{FF2B5EF4-FFF2-40B4-BE49-F238E27FC236}">
                <a16:creationId xmlns:a16="http://schemas.microsoft.com/office/drawing/2014/main" id="{9710F7AA-9EBC-42EB-B8D2-F7326A901FD7}"/>
              </a:ext>
            </a:extLst>
          </p:cNvPr>
          <p:cNvSpPr>
            <a:spLocks xmlns:a="http://schemas.openxmlformats.org/drawingml/2006/main" noGrp="1"/>
          </p:cNvSpPr>
          <p:nvPr/>
        </p:nvSpPr>
        <p:spPr>
          <a:xfrm xmlns:a="http://schemas.openxmlformats.org/drawingml/2006/main">
            <a:off x="9410700" y="2952750"/>
            <a:ext cx="21717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4233E"/>
                </a:solidFill>
                <a:latin typeface="Arial"/>
                <a:ea typeface="Arial"/>
                <a:cs typeface="Arial"/>
              </a:defRPr>
            </a:pPr>
            <a:r>
              <a:rPr sz="1575" b="0">
                <a:solidFill>
                  <a:srgbClr val="34233E"/>
                </a:solidFill>
                <a:latin typeface="Arial"/>
                <a:ea typeface="Arial"/>
                <a:cs typeface="Arial"/>
              </a:rPr>
              <a:t>Tip-leaf ID or QR lookup opens the correct profile or batch summary. Partner leaves lead into the public farm inventory.</a:t>
            </a:r>
          </a:p>
        </p:txBody>
      </p:sp>
      <p:sp>
        <p:nvSpPr>
          <p:cNvPr id="9" name="text-27">
            <a:extLst xmlns:a="http://schemas.openxmlformats.org/drawingml/2006/main">
              <a:ext uri="{FF2B5EF4-FFF2-40B4-BE49-F238E27FC236}">
                <a16:creationId xmlns:a16="http://schemas.microsoft.com/office/drawing/2014/main" id="{29A0198E-3C4C-484C-A14D-9BC84083ECF0}"/>
              </a:ext>
            </a:extLst>
          </p:cNvPr>
          <p:cNvSpPr>
            <a:spLocks xmlns:a="http://schemas.openxmlformats.org/drawingml/2006/main" noGrp="1"/>
          </p:cNvSpPr>
          <p:nvPr/>
        </p:nvSpPr>
        <p:spPr>
          <a:xfrm xmlns:a="http://schemas.openxmlformats.org/drawingml/2006/main">
            <a:off x="609600" y="62293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706B65"/>
                </a:solidFill>
                <a:latin typeface="Arial"/>
                <a:ea typeface="Arial"/>
                <a:cs typeface="Arial"/>
              </a:defRPr>
            </a:pPr>
            <a:r>
              <a:rPr sz="1275" b="0">
                <a:solidFill>
                  <a:srgbClr val="706B65"/>
                </a:solidFill>
                <a:latin typeface="Arial"/>
                <a:ea typeface="Arial"/>
                <a:cs typeface="Arial"/>
              </a:rPr>
              <a:t>Existing scroll prototype. Backend and batch features are planned.</a:t>
            </a:r>
          </a:p>
        </p:txBody>
      </p:sp>
    </p:spTree>
    <p:extLst>
      <p:ext uri="{BB962C8B-B14F-4D97-AF65-F5344CB8AC3E}">
        <p14:creationId xmlns:p14="http://schemas.microsoft.com/office/powerpoint/2010/main" val="1034126559"/>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6F3EA"/>
        </a:solidFill>
      </p:bgPr>
    </p:bg>
    <p:spTree>
      <p:nvGrpSpPr>
        <p:cNvPr id="1" name=""/>
        <p:cNvGrpSpPr/>
        <p:nvPr/>
      </p:nvGrpSpPr>
      <p:grpSpPr>
        <a:xfrm/>
      </p:grpSpPr>
      <p:sp>
        <p:nvSpPr>
          <p:cNvPr id="18" name="slide-title">
            <a:extLst>
              <a:ext uri="{FF2B5EF4-FFF2-40B4-BE49-F238E27FC236}">
                <ns2:creationId id="{CD0EEC12-F1C9-4DDA-8135-1B0EDAFD837E}"/>
              </a:ext>
            </a:extLst>
          </p:cNvPr>
          <p:cNvSpPr>
            <a:spLocks noGrp="1"/>
          </p:cNvSpPr>
          <p:nvPr/>
        </p:nvSpPr>
        <p:spPr>
          <a:xfrm>
            <a:off x="609600" y="495300"/>
            <a:ext cx="10972800" cy="781050"/>
          </a:xfrm>
          <a:prstGeom prst="rect">
            <a:avLst/>
          </a:prstGeom>
          <a:noFill/>
          <a:ln w="0">
            <a:noFill/>
          </a:ln>
        </p:spPr>
        <p:txBody>
          <a:bodyPr wrap="square" lIns="0" tIns="0" rIns="0" bIns="0" anchor="t">
            <a:noAutofit/>
          </a:bodyPr>
          <a:lstStyle/>
          <a:p>
            <a:pPr algn="l">
              <a:defRPr sz="3300" b="0">
                <a:solidFill>
                  <a:srgbClr val="542A69"/>
                </a:solidFill>
                <a:latin typeface="Georgia"/>
                <a:ea typeface="Georgia"/>
                <a:cs typeface="Georgia"/>
              </a:defRPr>
            </a:pPr>
            <a:r>
              <a:rPr sz="3300" b="0">
                <a:solidFill>
                  <a:srgbClr val="542A69"/>
                </a:solidFill>
                <a:latin typeface="Georgia"/>
                <a:ea typeface="Georgia"/>
                <a:cs typeface="Georgia"/>
              </a:rPr>
              <a:t>The connected plant journey</a:t>
            </a:r>
          </a:p>
        </p:txBody>
      </p:sp>
      <p:sp>
        <p:nvSpPr>
          <p:cNvPr id="2" name="slide-subtitle">
            <a:extLst>
              <a:ext uri="{FF2B5EF4-FFF2-40B4-BE49-F238E27FC236}">
                <ns2:creationId id="{1940BC4F-EA6E-4AC4-8B9C-9669E19020FB}"/>
              </a:ext>
            </a:extLst>
          </p:cNvPr>
          <p:cNvSpPr>
            <a:spLocks noGrp="1"/>
          </p:cNvSpPr>
          <p:nvPr/>
        </p:nvSpPr>
        <p:spPr>
          <a:xfrm>
            <a:off x="609600" y="1428750"/>
            <a:ext cx="10715625" cy="762000"/>
          </a:xfrm>
          <a:prstGeom prst="rect">
            <a:avLst/>
          </a:prstGeom>
          <a:noFill/>
          <a:ln w="0">
            <a:noFill/>
          </a:ln>
        </p:spPr>
        <p:txBody>
          <a:bodyPr wrap="square" lIns="0" tIns="0" rIns="0" bIns="0" anchor="t">
            <a:noAutofit/>
          </a:bodyPr>
          <a:lstStyle/>
          <a:p>
            <a:pPr algn="l">
              <a:defRPr sz="1725" b="0">
                <a:solidFill>
                  <a:srgbClr val="706B65"/>
                </a:solidFill>
                <a:latin typeface="Arial"/>
                <a:ea typeface="Arial"/>
                <a:cs typeface="Arial"/>
              </a:defRPr>
            </a:pPr>
            <a:r>
              <a:rPr sz="1725" b="0">
                <a:solidFill>
                  <a:srgbClr val="706B65"/>
                </a:solidFill>
                <a:latin typeface="Arial"/>
                <a:ea typeface="Arial"/>
                <a:cs typeface="Arial"/>
              </a:rPr>
              <a:t>The existing prototype shows the proposed visual foundation in motion.</a:t>
            </a:r>
          </a:p>
        </p:txBody>
      </p:sp>
      <p:sp>
        <p:nvSpPr>
          <p:cNvPr id="3" name="footer">
            <a:extLst>
              <a:ext uri="{FF2B5EF4-FFF2-40B4-BE49-F238E27FC236}">
                <ns2:creationId id="{5B4398ED-F259-49D6-8D1B-6BA53D71FDF0}"/>
              </a:ext>
            </a:extLst>
          </p:cNvPr>
          <p:cNvSpPr>
            <a:spLocks noGrp="1"/>
          </p:cNvSpPr>
          <p:nvPr/>
        </p:nvSpPr>
        <p:spPr>
          <a:xfrm>
            <a:off x="609600" y="6543675"/>
            <a:ext cx="7143750" cy="161925"/>
          </a:xfrm>
          <a:prstGeom prst="rect">
            <a:avLst/>
          </a:prstGeom>
          <a:noFill/>
          <a:ln w="0">
            <a:noFill/>
          </a:ln>
        </p:spPr>
        <p:txBody>
          <a:bodyPr wrap="square" lIns="0" tIns="0" rIns="0" bIns="0" anchor="t">
            <a:noAutofit/>
          </a:bodyPr>
          <a:lstStyle/>
          <a:p>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a:ext uri="{FF2B5EF4-FFF2-40B4-BE49-F238E27FC236}">
                <ns2:creationId id="{6109D46E-545C-4450-AC5B-A0232E3E52F3}"/>
              </a:ext>
            </a:extLst>
          </p:cNvPr>
          <p:cNvSpPr>
            <a:spLocks noGrp="1"/>
          </p:cNvSpPr>
          <p:nvPr/>
        </p:nvSpPr>
        <p:spPr>
          <a:xfrm>
            <a:off x="11106150" y="6505575"/>
            <a:ext cx="476250" cy="209550"/>
          </a:xfrm>
          <a:prstGeom prst="rect">
            <a:avLst/>
          </a:prstGeom>
          <a:noFill/>
          <a:ln w="0">
            <a:noFill/>
          </a:ln>
        </p:spPr>
        <p:txBody>
          <a:bodyPr wrap="square" lIns="0" tIns="0" rIns="0" bIns="0" anchor="t">
            <a:noAutofit/>
          </a:bodyPr>
          <a:lstStyle/>
          <a:p>
            <a:pPr algn="r">
              <a:defRPr sz="1125" b="0">
                <a:solidFill>
                  <a:srgbClr val="706B65"/>
                </a:solidFill>
                <a:latin typeface="Arial"/>
                <a:ea typeface="Arial"/>
                <a:cs typeface="Arial"/>
              </a:defRPr>
            </a:pPr>
            <a:r>
              <a:rPr sz="1125" b="0">
                <a:solidFill>
                  <a:srgbClr val="706B65"/>
                </a:solidFill>
                <a:latin typeface="Arial"/>
                <a:ea typeface="Arial"/>
                <a:cs typeface="Arial"/>
              </a:rPr>
              <a:t>07</a:t>
            </a:r>
          </a:p>
        </p:txBody>
      </p:sp>
      <p:sp>
        <p:nvSpPr>
          <p:cNvPr id="5" name="text-28">
            <a:extLst>
              <a:ext uri="{FF2B5EF4-FFF2-40B4-BE49-F238E27FC236}">
                <ns2:creationId id="{CD4C6E5C-1EDA-4A18-AB48-8D60CE914309}"/>
              </a:ext>
            </a:extLst>
          </p:cNvPr>
          <p:cNvSpPr>
            <a:spLocks noGrp="1"/>
          </p:cNvSpPr>
          <p:nvPr/>
        </p:nvSpPr>
        <p:spPr>
          <a:xfrm>
            <a:off x="7620000" y="2381250"/>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01</a:t>
            </a:r>
          </a:p>
        </p:txBody>
      </p:sp>
      <p:sp>
        <p:nvSpPr>
          <p:cNvPr id="6" name="text-29">
            <a:extLst>
              <a:ext uri="{FF2B5EF4-FFF2-40B4-BE49-F238E27FC236}">
                <ns2:creationId id="{58D447A6-25D7-46F0-9D0A-3D7D50E78BCC}"/>
              </a:ext>
            </a:extLst>
          </p:cNvPr>
          <p:cNvSpPr>
            <a:spLocks noGrp="1"/>
          </p:cNvSpPr>
          <p:nvPr/>
        </p:nvSpPr>
        <p:spPr>
          <a:xfrm>
            <a:off x="8115300" y="2381250"/>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Root and trellis</a:t>
            </a:r>
          </a:p>
        </p:txBody>
      </p:sp>
      <p:sp>
        <p:nvSpPr>
          <p:cNvPr id="7" name="text-30">
            <a:extLst>
              <a:ext uri="{FF2B5EF4-FFF2-40B4-BE49-F238E27FC236}">
                <ns2:creationId id="{13BB3B4B-2AC5-4EF0-8641-BF5550639E09}"/>
              </a:ext>
            </a:extLst>
          </p:cNvPr>
          <p:cNvSpPr>
            <a:spLocks noGrp="1"/>
          </p:cNvSpPr>
          <p:nvPr/>
        </p:nvSpPr>
        <p:spPr>
          <a:xfrm>
            <a:off x="8115300" y="2762250"/>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The root drops into the soil.</a:t>
            </a:r>
          </a:p>
        </p:txBody>
      </p:sp>
      <p:sp>
        <p:nvSpPr>
          <p:cNvPr id="8" name="text-31">
            <a:extLst>
              <a:ext uri="{FF2B5EF4-FFF2-40B4-BE49-F238E27FC236}">
                <ns2:creationId id="{6B7FD44E-CBC1-4B73-8A60-B7EF5D07A951}"/>
              </a:ext>
            </a:extLst>
          </p:cNvPr>
          <p:cNvSpPr>
            <a:spLocks noGrp="1"/>
          </p:cNvSpPr>
          <p:nvPr/>
        </p:nvSpPr>
        <p:spPr>
          <a:xfrm>
            <a:off x="7620000" y="3267075"/>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02</a:t>
            </a:r>
          </a:p>
        </p:txBody>
      </p:sp>
      <p:sp>
        <p:nvSpPr>
          <p:cNvPr id="9" name="text-32">
            <a:extLst>
              <a:ext uri="{FF2B5EF4-FFF2-40B4-BE49-F238E27FC236}">
                <ns2:creationId id="{1F63A4C1-C39F-4685-92B8-A502F8DA6273}"/>
              </a:ext>
            </a:extLst>
          </p:cNvPr>
          <p:cNvSpPr>
            <a:spLocks noGrp="1"/>
          </p:cNvSpPr>
          <p:nvPr/>
        </p:nvSpPr>
        <p:spPr>
          <a:xfrm>
            <a:off x="8115300" y="3267075"/>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Vine and tip leaf</a:t>
            </a:r>
          </a:p>
        </p:txBody>
      </p:sp>
      <p:sp>
        <p:nvSpPr>
          <p:cNvPr id="10" name="text-33">
            <a:extLst>
              <a:ext uri="{FF2B5EF4-FFF2-40B4-BE49-F238E27FC236}">
                <ns2:creationId id="{5B2CF40B-B065-4CAD-A46F-79424C4B1D1C}"/>
              </a:ext>
            </a:extLst>
          </p:cNvPr>
          <p:cNvSpPr>
            <a:spLocks noGrp="1"/>
          </p:cNvSpPr>
          <p:nvPr/>
        </p:nvSpPr>
        <p:spPr>
          <a:xfrm>
            <a:off x="8115300" y="3648075"/>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The growing vine reaches ID or QR lookup.</a:t>
            </a:r>
          </a:p>
        </p:txBody>
      </p:sp>
      <p:sp>
        <p:nvSpPr>
          <p:cNvPr id="11" name="text-34">
            <a:extLst>
              <a:ext uri="{FF2B5EF4-FFF2-40B4-BE49-F238E27FC236}">
                <ns2:creationId id="{33C612CA-A011-4FA5-B9E1-D9552C08B171}"/>
              </a:ext>
            </a:extLst>
          </p:cNvPr>
          <p:cNvSpPr>
            <a:spLocks noGrp="1"/>
          </p:cNvSpPr>
          <p:nvPr/>
        </p:nvSpPr>
        <p:spPr>
          <a:xfrm>
            <a:off x="7620000" y="4152900"/>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03</a:t>
            </a:r>
          </a:p>
        </p:txBody>
      </p:sp>
      <p:sp>
        <p:nvSpPr>
          <p:cNvPr id="12" name="text-35">
            <a:extLst>
              <a:ext uri="{FF2B5EF4-FFF2-40B4-BE49-F238E27FC236}">
                <ns2:creationId id="{90551CAB-658B-4D1F-A10F-AF0DA218D015}"/>
              </a:ext>
            </a:extLst>
          </p:cNvPr>
          <p:cNvSpPr>
            <a:spLocks noGrp="1"/>
          </p:cNvSpPr>
          <p:nvPr/>
        </p:nvSpPr>
        <p:spPr>
          <a:xfrm>
            <a:off x="8115300" y="4152900"/>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Stories during descent</a:t>
            </a:r>
          </a:p>
        </p:txBody>
      </p:sp>
      <p:sp>
        <p:nvSpPr>
          <p:cNvPr id="13" name="text-36">
            <a:extLst>
              <a:ext uri="{FF2B5EF4-FFF2-40B4-BE49-F238E27FC236}">
                <ns2:creationId id="{FD44EA7F-F245-4BC7-B1D2-D388F952C7F0}"/>
              </a:ext>
            </a:extLst>
          </p:cNvPr>
          <p:cNvSpPr>
            <a:spLocks noGrp="1"/>
          </p:cNvSpPr>
          <p:nvPr/>
        </p:nvSpPr>
        <p:spPr>
          <a:xfrm>
            <a:off x="8115300" y="4533900"/>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Company, growing and harvest details appear.</a:t>
            </a:r>
          </a:p>
        </p:txBody>
      </p:sp>
      <p:sp>
        <p:nvSpPr>
          <p:cNvPr id="14" name="text-37">
            <a:extLst>
              <a:ext uri="{FF2B5EF4-FFF2-40B4-BE49-F238E27FC236}">
                <ns2:creationId id="{F8980FDF-7812-4180-B4D2-0F77394DEFEB}"/>
              </a:ext>
            </a:extLst>
          </p:cNvPr>
          <p:cNvSpPr>
            <a:spLocks noGrp="1"/>
          </p:cNvSpPr>
          <p:nvPr/>
        </p:nvSpPr>
        <p:spPr>
          <a:xfrm>
            <a:off x="7620000" y="5038725"/>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04</a:t>
            </a:r>
          </a:p>
        </p:txBody>
      </p:sp>
      <p:sp>
        <p:nvSpPr>
          <p:cNvPr id="15" name="text-38">
            <a:extLst>
              <a:ext uri="{FF2B5EF4-FFF2-40B4-BE49-F238E27FC236}">
                <ns2:creationId id="{0BA4A209-7F80-4BD8-90FF-94ED3EA87848}"/>
              </a:ext>
            </a:extLst>
          </p:cNvPr>
          <p:cNvSpPr>
            <a:spLocks noGrp="1"/>
          </p:cNvSpPr>
          <p:nvPr/>
        </p:nvSpPr>
        <p:spPr>
          <a:xfrm>
            <a:off x="8115300" y="5038725"/>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Partners and leadership</a:t>
            </a:r>
          </a:p>
        </p:txBody>
      </p:sp>
      <p:sp>
        <p:nvSpPr>
          <p:cNvPr id="16" name="text-39">
            <a:extLst>
              <a:ext uri="{FF2B5EF4-FFF2-40B4-BE49-F238E27FC236}">
                <ns2:creationId id="{2EE9EABC-E7E9-4A19-947A-8AE82C36A0E9}"/>
              </a:ext>
            </a:extLst>
          </p:cNvPr>
          <p:cNvSpPr>
            <a:spLocks noGrp="1"/>
          </p:cNvSpPr>
          <p:nvPr/>
        </p:nvSpPr>
        <p:spPr>
          <a:xfrm>
            <a:off x="8115300" y="5419725"/>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Lower leaves reveal partners. The root becomes the leadership board.</a:t>
            </a:r>
          </a:p>
        </p:txBody>
      </p:sp>
      <p:sp>
        <p:nvSpPr>
          <p:cNvPr id="17" name="text-40">
            <a:extLst>
              <a:ext uri="{FF2B5EF4-FFF2-40B4-BE49-F238E27FC236}">
                <ns2:creationId id="{5F258CEA-3E88-41D2-AB00-7BCE161E56F2}"/>
              </a:ext>
            </a:extLst>
          </p:cNvPr>
          <p:cNvSpPr>
            <a:spLocks noGrp="1"/>
          </p:cNvSpPr>
          <p:nvPr/>
        </p:nvSpPr>
        <p:spPr>
          <a:xfrm>
            <a:off x="609600" y="6191250"/>
            <a:ext cx="6705600" cy="257175"/>
          </a:xfrm>
          <a:prstGeom prst="rect">
            <a:avLst/>
          </a:prstGeom>
          <a:noFill/>
          <a:ln w="0">
            <a:noFill/>
          </a:ln>
        </p:spPr>
        <p:txBody>
          <a:bodyPr wrap="square" lIns="0" tIns="0" rIns="0" bIns="0" anchor="t">
            <a:noAutofit/>
          </a:bodyPr>
          <a:lstStyle/>
          <a:p>
            <a:pPr algn="l">
              <a:defRPr sz="1275" b="0">
                <a:solidFill>
                  <a:srgbClr val="35583C"/>
                </a:solidFill>
                <a:latin typeface="Arial"/>
                <a:ea typeface="Arial"/>
                <a:cs typeface="Arial"/>
              </a:defRPr>
            </a:pPr>
            <a:r>
              <a:rPr sz="1275" b="0">
                <a:solidFill>
                  <a:srgbClr val="35583C"/>
                </a:solidFill>
                <a:latin typeface="Arial"/>
                <a:ea typeface="Arial"/>
                <a:cs typeface="Arial"/>
              </a:rPr>
              <a:t>Click the embedded video in PowerPoint to play the existing prototype.</a:t>
            </a:r>
          </a:p>
        </p:txBody>
      </p:sp>
      <p:pic>
        <p:nvPicPr>
          <p:cNvPr id="19" name="Existing From Root to Story prototype video">
            <a:hlinkClick action="ppaction://media"/>
          </p:cNvPr>
          <p:cNvPicPr>
            <a:picLocks noChangeAspect="1"/>
          </p:cNvPicPr>
          <p:nvPr>
            <a:videoFile r:link="rIdRooteVideo"/>
            <p:extLst>
              <p:ext uri="{DAA4B4D4-6D71-4841-9C94-3DE7FCFB9230}">
                <p14:media r:embed="rIdRooteMedia"/>
              </p:ext>
            </p:extLst>
          </p:nvPr>
        </p:nvPicPr>
        <p:blipFill>
          <a:blip r:embed="rIdRootePoster"/>
          <a:stretch>
            <a:fillRect/>
          </a:stretch>
        </p:blipFill>
        <p:spPr>
          <a:xfrm>
            <a:off x="609600" y="2381250"/>
            <a:ext cx="6667500" cy="3752850"/>
          </a:xfrm>
          <a:prstGeom prst="rect">
            <a:avLst/>
          </a:prstGeom>
        </p:spPr>
      </p:pic>
    </p:spTree>
    <p:extLst>
      <p:ext uri="{BB962C8B-B14F-4D97-AF65-F5344CB8AC3E}">
        <p14:creationId val="1223833944"/>
      </p:ext>
    </p:extLst>
  </p:cSld>
</p:sld>
</file>

<file path=ppt/slides/slide8.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42DEDE46-7E20-4475-A6BD-95B04D942BF7}"/>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Grown Together in Davao</a:t>
            </a:r>
          </a:p>
        </p:txBody>
      </p:sp>
      <p:sp>
        <p:nvSpPr>
          <p:cNvPr id="2" name="slide-subtitle">
            <a:extLst xmlns:a="http://schemas.openxmlformats.org/drawingml/2006/main">
              <a:ext uri="{FF2B5EF4-FFF2-40B4-BE49-F238E27FC236}">
                <a16:creationId xmlns:a16="http://schemas.microsoft.com/office/drawing/2014/main" id="{11A00C96-CB17-4BB8-9ED0-6D3D0114CD29}"/>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People and place lead visitors into the farm inventory.</a:t>
            </a:r>
          </a:p>
        </p:txBody>
      </p:sp>
      <p:sp>
        <p:nvSpPr>
          <p:cNvPr id="3" name="footer">
            <a:extLst xmlns:a="http://schemas.openxmlformats.org/drawingml/2006/main">
              <a:ext uri="{FF2B5EF4-FFF2-40B4-BE49-F238E27FC236}">
                <a16:creationId xmlns:a16="http://schemas.microsoft.com/office/drawing/2014/main" id="{18BBAE71-320F-43FE-8FF0-85EAFB5E430E}"/>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0F48796A-E566-4B1B-BB52-ACD86E18A576}"/>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08</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a2aa67f5fdc4403"/>
          <a:stretch xmlns:a="http://schemas.openxmlformats.org/drawingml/2006/main"/>
        </p:blipFill>
        <p:spPr>
          <a:xfrm xmlns:a="http://schemas.openxmlformats.org/drawingml/2006/main">
            <a:off x="1088136" y="2238375"/>
            <a:ext cx="5596128" cy="38862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537119c24904844"/>
          <a:stretch xmlns:a="http://schemas.openxmlformats.org/drawingml/2006/main"/>
        </p:blipFill>
        <p:spPr>
          <a:xfrm xmlns:a="http://schemas.openxmlformats.org/drawingml/2006/main">
            <a:off x="7372350" y="2295378"/>
            <a:ext cx="1743075" cy="3772193"/>
          </a:xfrm>
          <a:prstGeom xmlns:a="http://schemas.openxmlformats.org/drawingml/2006/main" prst="rect">
            <a:avLst/>
          </a:prstGeom>
        </p:spPr>
      </p:pic>
      <p:sp>
        <p:nvSpPr>
          <p:cNvPr id="7" name="text-41">
            <a:extLst xmlns:a="http://schemas.openxmlformats.org/drawingml/2006/main">
              <a:ext uri="{FF2B5EF4-FFF2-40B4-BE49-F238E27FC236}">
                <a16:creationId xmlns:a16="http://schemas.microsoft.com/office/drawing/2014/main" id="{EDC5CD0B-3955-4385-87BA-8FFFDDD0C398}"/>
              </a:ext>
            </a:extLst>
          </p:cNvPr>
          <p:cNvSpPr>
            <a:spLocks xmlns:a="http://schemas.openxmlformats.org/drawingml/2006/main" noGrp="1"/>
          </p:cNvSpPr>
          <p:nvPr/>
        </p:nvSpPr>
        <p:spPr>
          <a:xfrm xmlns:a="http://schemas.openxmlformats.org/drawingml/2006/main">
            <a:off x="9410700" y="24003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583C"/>
                </a:solidFill>
                <a:latin typeface="Arial"/>
                <a:ea typeface="Arial"/>
                <a:cs typeface="Arial"/>
              </a:defRPr>
            </a:pPr>
            <a:r>
              <a:rPr sz="1800" b="1">
                <a:solidFill>
                  <a:srgbClr val="35583C"/>
                </a:solidFill>
                <a:latin typeface="Arial"/>
                <a:ea typeface="Arial"/>
                <a:cs typeface="Arial"/>
              </a:rPr>
              <a:t>MVP discovery</a:t>
            </a:r>
          </a:p>
        </p:txBody>
      </p:sp>
      <p:sp>
        <p:nvSpPr>
          <p:cNvPr id="8" name="text-42">
            <a:extLst xmlns:a="http://schemas.openxmlformats.org/drawingml/2006/main">
              <a:ext uri="{FF2B5EF4-FFF2-40B4-BE49-F238E27FC236}">
                <a16:creationId xmlns:a16="http://schemas.microsoft.com/office/drawing/2014/main" id="{D94325A9-FCFB-4DDC-92F2-B8380937B1B8}"/>
              </a:ext>
            </a:extLst>
          </p:cNvPr>
          <p:cNvSpPr>
            <a:spLocks xmlns:a="http://schemas.openxmlformats.org/drawingml/2006/main" noGrp="1"/>
          </p:cNvSpPr>
          <p:nvPr/>
        </p:nvSpPr>
        <p:spPr>
          <a:xfrm xmlns:a="http://schemas.openxmlformats.org/drawingml/2006/main">
            <a:off x="9410700" y="2952750"/>
            <a:ext cx="21717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4233E"/>
                </a:solidFill>
                <a:latin typeface="Arial"/>
                <a:ea typeface="Arial"/>
                <a:cs typeface="Arial"/>
              </a:defRPr>
            </a:pPr>
            <a:r>
              <a:rPr sz="1575" b="0">
                <a:solidFill>
                  <a:srgbClr val="34233E"/>
                </a:solidFill>
                <a:latin typeface="Arial"/>
                <a:ea typeface="Arial"/>
                <a:cs typeface="Arial"/>
              </a:rPr>
              <a:t>Grower stories connect to farm cards. A clear lookup area supports farm IDs and published batch QR summaries.</a:t>
            </a:r>
          </a:p>
        </p:txBody>
      </p:sp>
      <p:sp>
        <p:nvSpPr>
          <p:cNvPr id="9" name="text-43">
            <a:extLst xmlns:a="http://schemas.openxmlformats.org/drawingml/2006/main">
              <a:ext uri="{FF2B5EF4-FFF2-40B4-BE49-F238E27FC236}">
                <a16:creationId xmlns:a16="http://schemas.microsoft.com/office/drawing/2014/main" id="{F4447B85-7260-4430-89FD-941A0FF33A44}"/>
              </a:ext>
            </a:extLst>
          </p:cNvPr>
          <p:cNvSpPr>
            <a:spLocks xmlns:a="http://schemas.openxmlformats.org/drawingml/2006/main" noGrp="1"/>
          </p:cNvSpPr>
          <p:nvPr/>
        </p:nvSpPr>
        <p:spPr>
          <a:xfrm xmlns:a="http://schemas.openxmlformats.org/drawingml/2006/main">
            <a:off x="609600" y="62293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706B65"/>
                </a:solidFill>
                <a:latin typeface="Arial"/>
                <a:ea typeface="Arial"/>
                <a:cs typeface="Arial"/>
              </a:defRPr>
            </a:pPr>
            <a:r>
              <a:rPr sz="1275" b="0">
                <a:solidFill>
                  <a:srgbClr val="706B65"/>
                </a:solidFill>
                <a:latin typeface="Arial"/>
                <a:ea typeface="Arial"/>
                <a:cs typeface="Arial"/>
              </a:rPr>
              <a:t>Design concept. Motion and system integration are proposed.</a:t>
            </a:r>
          </a:p>
        </p:txBody>
      </p:sp>
    </p:spTree>
    <p:extLst>
      <p:ext uri="{BB962C8B-B14F-4D97-AF65-F5344CB8AC3E}">
        <p14:creationId xmlns:p14="http://schemas.microsoft.com/office/powerpoint/2010/main" val="1582998357"/>
      </p:ext>
    </p:extLst>
  </p:cSld>
</p:sld>
</file>

<file path=ppt/slides/slide9.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46D044DD-8BF5-4848-99FD-D5C0BD4E5897}"/>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People, place and farm discovery</a:t>
            </a:r>
          </a:p>
        </p:txBody>
      </p:sp>
      <p:sp>
        <p:nvSpPr>
          <p:cNvPr id="2" name="slide-subtitle">
            <a:extLst xmlns:a="http://schemas.openxmlformats.org/drawingml/2006/main">
              <a:ext uri="{FF2B5EF4-FFF2-40B4-BE49-F238E27FC236}">
                <a16:creationId xmlns:a16="http://schemas.microsoft.com/office/drawing/2014/main" id="{3F04E4D5-E9B8-43E3-9619-8AF83DFBE98F}"/>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Photography and headlines move on separate planes. Chapters settle for reading as growing, harvest and farm discovery appear.</a:t>
            </a:r>
          </a:p>
        </p:txBody>
      </p:sp>
      <p:sp>
        <p:nvSpPr>
          <p:cNvPr id="3" name="footer">
            <a:extLst xmlns:a="http://schemas.openxmlformats.org/drawingml/2006/main">
              <a:ext uri="{FF2B5EF4-FFF2-40B4-BE49-F238E27FC236}">
                <a16:creationId xmlns:a16="http://schemas.microsoft.com/office/drawing/2014/main" id="{92727524-50FC-4F1C-B1C3-5609D7312762}"/>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D0E82BE9-BC68-4BCA-84FF-860C0400697A}"/>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09</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bccfaaa50cf4f8c"/>
          <a:stretch xmlns:a="http://schemas.openxmlformats.org/drawingml/2006/main"/>
        </p:blipFill>
        <p:spPr>
          <a:xfrm xmlns:a="http://schemas.openxmlformats.org/drawingml/2006/main">
            <a:off x="609600" y="2618317"/>
            <a:ext cx="3352800" cy="1792817"/>
          </a:xfrm>
          <a:prstGeom xmlns:a="http://schemas.openxmlformats.org/drawingml/2006/main" prst="rect">
            <a:avLst/>
          </a:prstGeom>
        </p:spPr>
      </p:pic>
      <p:sp>
        <p:nvSpPr>
          <p:cNvPr id="6" name="text-44">
            <a:extLst xmlns:a="http://schemas.openxmlformats.org/drawingml/2006/main">
              <a:ext uri="{FF2B5EF4-FFF2-40B4-BE49-F238E27FC236}">
                <a16:creationId xmlns:a16="http://schemas.microsoft.com/office/drawing/2014/main" id="{34948464-684E-4B08-ADF0-DE3FEC401719}"/>
              </a:ext>
            </a:extLst>
          </p:cNvPr>
          <p:cNvSpPr>
            <a:spLocks xmlns:a="http://schemas.openxmlformats.org/drawingml/2006/main" noGrp="1"/>
          </p:cNvSpPr>
          <p:nvPr/>
        </p:nvSpPr>
        <p:spPr>
          <a:xfrm xmlns:a="http://schemas.openxmlformats.org/drawingml/2006/main">
            <a:off x="60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People &amp; place</a:t>
            </a:r>
          </a:p>
        </p:txBody>
      </p:sp>
      <p:sp>
        <p:nvSpPr>
          <p:cNvPr id="7" name="text-45">
            <a:extLst xmlns:a="http://schemas.openxmlformats.org/drawingml/2006/main">
              <a:ext uri="{FF2B5EF4-FFF2-40B4-BE49-F238E27FC236}">
                <a16:creationId xmlns:a16="http://schemas.microsoft.com/office/drawing/2014/main" id="{0F9761A2-7AB4-4B4E-AF66-B1AD15752DB1}"/>
              </a:ext>
            </a:extLst>
          </p:cNvPr>
          <p:cNvSpPr>
            <a:spLocks xmlns:a="http://schemas.openxmlformats.org/drawingml/2006/main" noGrp="1"/>
          </p:cNvSpPr>
          <p:nvPr/>
        </p:nvSpPr>
        <p:spPr>
          <a:xfrm xmlns:a="http://schemas.openxmlformats.org/drawingml/2006/main">
            <a:off x="60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The opening arch reveals the field. Photographs and headlines move on separate planes, then settle for reading.</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206fcf47da04ee1"/>
          <a:stretch xmlns:a="http://schemas.openxmlformats.org/drawingml/2006/main"/>
        </p:blipFill>
        <p:spPr>
          <a:xfrm xmlns:a="http://schemas.openxmlformats.org/drawingml/2006/main">
            <a:off x="4419600" y="2886075"/>
            <a:ext cx="3352800" cy="1257300"/>
          </a:xfrm>
          <a:prstGeom xmlns:a="http://schemas.openxmlformats.org/drawingml/2006/main" prst="rect">
            <a:avLst/>
          </a:prstGeom>
        </p:spPr>
      </p:pic>
      <p:sp>
        <p:nvSpPr>
          <p:cNvPr id="9" name="text-46">
            <a:extLst xmlns:a="http://schemas.openxmlformats.org/drawingml/2006/main">
              <a:ext uri="{FF2B5EF4-FFF2-40B4-BE49-F238E27FC236}">
                <a16:creationId xmlns:a16="http://schemas.microsoft.com/office/drawing/2014/main" id="{B36CF7E5-88FE-45E8-86F5-E4576A275AF9}"/>
              </a:ext>
            </a:extLst>
          </p:cNvPr>
          <p:cNvSpPr>
            <a:spLocks xmlns:a="http://schemas.openxmlformats.org/drawingml/2006/main" noGrp="1"/>
          </p:cNvSpPr>
          <p:nvPr/>
        </p:nvSpPr>
        <p:spPr>
          <a:xfrm xmlns:a="http://schemas.openxmlformats.org/drawingml/2006/main">
            <a:off x="441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A connected growing story</a:t>
            </a:r>
          </a:p>
        </p:txBody>
      </p:sp>
      <p:sp>
        <p:nvSpPr>
          <p:cNvPr id="10" name="text-47">
            <a:extLst xmlns:a="http://schemas.openxmlformats.org/drawingml/2006/main">
              <a:ext uri="{FF2B5EF4-FFF2-40B4-BE49-F238E27FC236}">
                <a16:creationId xmlns:a16="http://schemas.microsoft.com/office/drawing/2014/main" id="{0BBAC98D-FDAB-4CD9-BD13-7C3556334378}"/>
              </a:ext>
            </a:extLst>
          </p:cNvPr>
          <p:cNvSpPr>
            <a:spLocks xmlns:a="http://schemas.openxmlformats.org/drawingml/2006/main" noGrp="1"/>
          </p:cNvSpPr>
          <p:nvPr/>
        </p:nvSpPr>
        <p:spPr>
          <a:xfrm xmlns:a="http://schemas.openxmlformats.org/drawingml/2006/main">
            <a:off x="441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A thin vine line leads into the soil, vine and harvest chapters. Each chapter arrives with a gentle upward reveal.</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b691cdb72e34e40"/>
          <a:stretch xmlns:a="http://schemas.openxmlformats.org/drawingml/2006/main"/>
        </p:blipFill>
        <p:spPr>
          <a:xfrm xmlns:a="http://schemas.openxmlformats.org/drawingml/2006/main">
            <a:off x="8229600" y="2714942"/>
            <a:ext cx="3352800" cy="1599565"/>
          </a:xfrm>
          <a:prstGeom xmlns:a="http://schemas.openxmlformats.org/drawingml/2006/main" prst="rect">
            <a:avLst/>
          </a:prstGeom>
        </p:spPr>
      </p:pic>
      <p:sp>
        <p:nvSpPr>
          <p:cNvPr id="12" name="text-48">
            <a:extLst xmlns:a="http://schemas.openxmlformats.org/drawingml/2006/main">
              <a:ext uri="{FF2B5EF4-FFF2-40B4-BE49-F238E27FC236}">
                <a16:creationId xmlns:a16="http://schemas.microsoft.com/office/drawing/2014/main" id="{AFC3F1BA-7ED5-4DEB-96FA-5C036501C061}"/>
              </a:ext>
            </a:extLst>
          </p:cNvPr>
          <p:cNvSpPr>
            <a:spLocks xmlns:a="http://schemas.openxmlformats.org/drawingml/2006/main" noGrp="1"/>
          </p:cNvSpPr>
          <p:nvPr/>
        </p:nvSpPr>
        <p:spPr>
          <a:xfrm xmlns:a="http://schemas.openxmlformats.org/drawingml/2006/main">
            <a:off x="822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Meet a partner farm</a:t>
            </a:r>
          </a:p>
        </p:txBody>
      </p:sp>
      <p:sp>
        <p:nvSpPr>
          <p:cNvPr id="13" name="text-49">
            <a:extLst xmlns:a="http://schemas.openxmlformats.org/drawingml/2006/main">
              <a:ext uri="{FF2B5EF4-FFF2-40B4-BE49-F238E27FC236}">
                <a16:creationId xmlns:a16="http://schemas.microsoft.com/office/drawing/2014/main" id="{F04F13D2-E732-420D-80F6-7589FFADDFF9}"/>
              </a:ext>
            </a:extLst>
          </p:cNvPr>
          <p:cNvSpPr>
            <a:spLocks xmlns:a="http://schemas.openxmlformats.org/drawingml/2006/main" noGrp="1"/>
          </p:cNvSpPr>
          <p:nvPr/>
        </p:nvSpPr>
        <p:spPr>
          <a:xfrm xmlns:a="http://schemas.openxmlformats.org/drawingml/2006/main">
            <a:off x="822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Farm profiles and published batch summaries resolve through the ID, QR or partner entry point.</a:t>
            </a:r>
          </a:p>
        </p:txBody>
      </p:sp>
    </p:spTree>
    <p:extLst>
      <p:ext uri="{BB962C8B-B14F-4D97-AF65-F5344CB8AC3E}">
        <p14:creationId xmlns:p14="http://schemas.microsoft.com/office/powerpoint/2010/main" val="51238699"/>
      </p:ext>
    </p:extLst>
  </p:cSld>
</p:sld>
</file>

<file path=ppt/slides/slide10.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86008263-0E53-4D20-AE91-CB9758330D9A}"/>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Purple to the World</a:t>
            </a:r>
          </a:p>
        </p:txBody>
      </p:sp>
      <p:sp>
        <p:nvSpPr>
          <p:cNvPr id="2" name="slide-subtitle">
            <a:extLst xmlns:a="http://schemas.openxmlformats.org/drawingml/2006/main">
              <a:ext uri="{FF2B5EF4-FFF2-40B4-BE49-F238E27FC236}">
                <a16:creationId xmlns:a16="http://schemas.microsoft.com/office/drawing/2014/main" id="{57C1AE47-BB2A-41A8-A794-38BB1677DE3F}"/>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Produce discovery leads into the crop and its origin.</a:t>
            </a:r>
          </a:p>
        </p:txBody>
      </p:sp>
      <p:sp>
        <p:nvSpPr>
          <p:cNvPr id="3" name="footer">
            <a:extLst xmlns:a="http://schemas.openxmlformats.org/drawingml/2006/main">
              <a:ext uri="{FF2B5EF4-FFF2-40B4-BE49-F238E27FC236}">
                <a16:creationId xmlns:a16="http://schemas.microsoft.com/office/drawing/2014/main" id="{1318FA67-6153-4CF0-9FA0-7AE79B067A73}"/>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53EE29F8-A56C-4901-BB87-4648F318F18D}"/>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0c0a19b3a1a4a48"/>
          <a:stretch xmlns:a="http://schemas.openxmlformats.org/drawingml/2006/main"/>
        </p:blipFill>
        <p:spPr>
          <a:xfrm xmlns:a="http://schemas.openxmlformats.org/drawingml/2006/main">
            <a:off x="1088136" y="2238375"/>
            <a:ext cx="5596128" cy="38862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32c9a2ece2a4870"/>
          <a:stretch xmlns:a="http://schemas.openxmlformats.org/drawingml/2006/main"/>
        </p:blipFill>
        <p:spPr>
          <a:xfrm xmlns:a="http://schemas.openxmlformats.org/drawingml/2006/main">
            <a:off x="7372350" y="2295378"/>
            <a:ext cx="1743075" cy="3772193"/>
          </a:xfrm>
          <a:prstGeom xmlns:a="http://schemas.openxmlformats.org/drawingml/2006/main" prst="rect">
            <a:avLst/>
          </a:prstGeom>
        </p:spPr>
      </p:pic>
      <p:sp>
        <p:nvSpPr>
          <p:cNvPr id="7" name="text-50">
            <a:extLst xmlns:a="http://schemas.openxmlformats.org/drawingml/2006/main">
              <a:ext uri="{FF2B5EF4-FFF2-40B4-BE49-F238E27FC236}">
                <a16:creationId xmlns:a16="http://schemas.microsoft.com/office/drawing/2014/main" id="{4C0620E6-E18C-4029-9F20-C2E96AB9C803}"/>
              </a:ext>
            </a:extLst>
          </p:cNvPr>
          <p:cNvSpPr>
            <a:spLocks xmlns:a="http://schemas.openxmlformats.org/drawingml/2006/main" noGrp="1"/>
          </p:cNvSpPr>
          <p:nvPr/>
        </p:nvSpPr>
        <p:spPr>
          <a:xfrm xmlns:a="http://schemas.openxmlformats.org/drawingml/2006/main">
            <a:off x="9410700" y="24003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583C"/>
                </a:solidFill>
                <a:latin typeface="Arial"/>
                <a:ea typeface="Arial"/>
                <a:cs typeface="Arial"/>
              </a:defRPr>
            </a:pPr>
            <a:r>
              <a:rPr sz="1800" b="1">
                <a:solidFill>
                  <a:srgbClr val="35583C"/>
                </a:solidFill>
                <a:latin typeface="Arial"/>
                <a:ea typeface="Arial"/>
                <a:cs typeface="Arial"/>
              </a:rPr>
              <a:t>MVP discovery</a:t>
            </a:r>
          </a:p>
        </p:txBody>
      </p:sp>
      <p:sp>
        <p:nvSpPr>
          <p:cNvPr id="8" name="text-51">
            <a:extLst xmlns:a="http://schemas.openxmlformats.org/drawingml/2006/main">
              <a:ext uri="{FF2B5EF4-FFF2-40B4-BE49-F238E27FC236}">
                <a16:creationId xmlns:a16="http://schemas.microsoft.com/office/drawing/2014/main" id="{8B9F0FFB-8F61-4E06-B758-06A23EBD8E8F}"/>
              </a:ext>
            </a:extLst>
          </p:cNvPr>
          <p:cNvSpPr>
            <a:spLocks xmlns:a="http://schemas.openxmlformats.org/drawingml/2006/main" noGrp="1"/>
          </p:cNvSpPr>
          <p:nvPr/>
        </p:nvSpPr>
        <p:spPr>
          <a:xfrm xmlns:a="http://schemas.openxmlformats.org/drawingml/2006/main">
            <a:off x="9410700" y="2952750"/>
            <a:ext cx="21717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4233E"/>
                </a:solidFill>
                <a:latin typeface="Arial"/>
                <a:ea typeface="Arial"/>
                <a:cs typeface="Arial"/>
              </a:defRPr>
            </a:pPr>
            <a:r>
              <a:rPr sz="1575" b="0">
                <a:solidFill>
                  <a:srgbClr val="34233E"/>
                </a:solidFill>
                <a:latin typeface="Arial"/>
                <a:ea typeface="Arial"/>
                <a:cs typeface="Arial"/>
              </a:rPr>
              <a:t>A bold product opening leads to produce filters, farm profiles and approved batch summaries for prospective partners.</a:t>
            </a:r>
          </a:p>
        </p:txBody>
      </p:sp>
      <p:sp>
        <p:nvSpPr>
          <p:cNvPr id="9" name="text-52">
            <a:extLst xmlns:a="http://schemas.openxmlformats.org/drawingml/2006/main">
              <a:ext uri="{FF2B5EF4-FFF2-40B4-BE49-F238E27FC236}">
                <a16:creationId xmlns:a16="http://schemas.microsoft.com/office/drawing/2014/main" id="{39275710-F961-4169-836C-9B2F6CAA34C3}"/>
              </a:ext>
            </a:extLst>
          </p:cNvPr>
          <p:cNvSpPr>
            <a:spLocks xmlns:a="http://schemas.openxmlformats.org/drawingml/2006/main" noGrp="1"/>
          </p:cNvSpPr>
          <p:nvPr/>
        </p:nvSpPr>
        <p:spPr>
          <a:xfrm xmlns:a="http://schemas.openxmlformats.org/drawingml/2006/main">
            <a:off x="609600" y="62293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706B65"/>
                </a:solidFill>
                <a:latin typeface="Arial"/>
                <a:ea typeface="Arial"/>
                <a:cs typeface="Arial"/>
              </a:defRPr>
            </a:pPr>
            <a:r>
              <a:rPr sz="1275" b="0">
                <a:solidFill>
                  <a:srgbClr val="706B65"/>
                </a:solidFill>
                <a:latin typeface="Arial"/>
                <a:ea typeface="Arial"/>
                <a:cs typeface="Arial"/>
              </a:rPr>
              <a:t>Design concept. Motion and system integration are proposed.</a:t>
            </a:r>
          </a:p>
        </p:txBody>
      </p:sp>
    </p:spTree>
    <p:extLst>
      <p:ext uri="{BB962C8B-B14F-4D97-AF65-F5344CB8AC3E}">
        <p14:creationId xmlns:p14="http://schemas.microsoft.com/office/powerpoint/2010/main" val="462002061"/>
      </p:ext>
    </p:extLst>
  </p:cSld>
</p:sld>
</file>

<file path=ppt/slides/slide1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9F2CEA5B-2C6F-4075-A2F5-3FCE9B3EC1DB}"/>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Produce, origin and batch discovery</a:t>
            </a:r>
          </a:p>
        </p:txBody>
      </p:sp>
      <p:sp>
        <p:nvSpPr>
          <p:cNvPr id="2" name="slide-subtitle">
            <a:extLst xmlns:a="http://schemas.openxmlformats.org/drawingml/2006/main">
              <a:ext uri="{FF2B5EF4-FFF2-40B4-BE49-F238E27FC236}">
                <a16:creationId xmlns:a16="http://schemas.microsoft.com/office/drawing/2014/main" id="{C1A2072E-A45F-4F5B-B927-FBCAFE98C090}"/>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The yam shifts as product information arrives. Purple and pale sections guide the visitor toward farm and batch discovery.</a:t>
            </a:r>
          </a:p>
        </p:txBody>
      </p:sp>
      <p:sp>
        <p:nvSpPr>
          <p:cNvPr id="3" name="footer">
            <a:extLst xmlns:a="http://schemas.openxmlformats.org/drawingml/2006/main">
              <a:ext uri="{FF2B5EF4-FFF2-40B4-BE49-F238E27FC236}">
                <a16:creationId xmlns:a16="http://schemas.microsoft.com/office/drawing/2014/main" id="{223DEBF6-7188-4497-9C4E-EFB4E774B2B5}"/>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4C9FD1A3-B2B9-4C99-82EC-3FF53AC939A9}"/>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11</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c5fd7fcefcf4170"/>
          <a:stretch xmlns:a="http://schemas.openxmlformats.org/drawingml/2006/main"/>
        </p:blipFill>
        <p:spPr>
          <a:xfrm xmlns:a="http://schemas.openxmlformats.org/drawingml/2006/main">
            <a:off x="609600" y="2728913"/>
            <a:ext cx="3352800" cy="1571625"/>
          </a:xfrm>
          <a:prstGeom xmlns:a="http://schemas.openxmlformats.org/drawingml/2006/main" prst="rect">
            <a:avLst/>
          </a:prstGeom>
        </p:spPr>
      </p:pic>
      <p:sp>
        <p:nvSpPr>
          <p:cNvPr id="6" name="text-53">
            <a:extLst xmlns:a="http://schemas.openxmlformats.org/drawingml/2006/main">
              <a:ext uri="{FF2B5EF4-FFF2-40B4-BE49-F238E27FC236}">
                <a16:creationId xmlns:a16="http://schemas.microsoft.com/office/drawing/2014/main" id="{4EA06380-AF2F-4B1E-98C3-5367287472A1}"/>
              </a:ext>
            </a:extLst>
          </p:cNvPr>
          <p:cNvSpPr>
            <a:spLocks xmlns:a="http://schemas.openxmlformats.org/drawingml/2006/main" noGrp="1"/>
          </p:cNvSpPr>
          <p:nvPr/>
        </p:nvSpPr>
        <p:spPr>
          <a:xfrm xmlns:a="http://schemas.openxmlformats.org/drawingml/2006/main">
            <a:off x="60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The crop comes forward</a:t>
            </a:r>
          </a:p>
        </p:txBody>
      </p:sp>
      <p:sp>
        <p:nvSpPr>
          <p:cNvPr id="7" name="text-54">
            <a:extLst xmlns:a="http://schemas.openxmlformats.org/drawingml/2006/main">
              <a:ext uri="{FF2B5EF4-FFF2-40B4-BE49-F238E27FC236}">
                <a16:creationId xmlns:a16="http://schemas.microsoft.com/office/drawing/2014/main" id="{04BA38D2-7410-4E18-A0A8-382B3AE709EF}"/>
              </a:ext>
            </a:extLst>
          </p:cNvPr>
          <p:cNvSpPr>
            <a:spLocks xmlns:a="http://schemas.openxmlformats.org/drawingml/2006/main" noGrp="1"/>
          </p:cNvSpPr>
          <p:nvPr/>
        </p:nvSpPr>
        <p:spPr>
          <a:xfrm xmlns:a="http://schemas.openxmlformats.org/drawingml/2006/main">
            <a:off x="60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The large yam turns slightly as the hero gives way to clear product and origin information.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42dcba50faf4243"/>
          <a:stretch xmlns:a="http://schemas.openxmlformats.org/drawingml/2006/main"/>
        </p:blipFill>
        <p:spPr>
          <a:xfrm xmlns:a="http://schemas.openxmlformats.org/drawingml/2006/main">
            <a:off x="4419600" y="2756853"/>
            <a:ext cx="3352800" cy="1515745"/>
          </a:xfrm>
          <a:prstGeom xmlns:a="http://schemas.openxmlformats.org/drawingml/2006/main" prst="rect">
            <a:avLst/>
          </a:prstGeom>
        </p:spPr>
      </p:pic>
      <p:sp>
        <p:nvSpPr>
          <p:cNvPr id="9" name="text-55">
            <a:extLst xmlns:a="http://schemas.openxmlformats.org/drawingml/2006/main">
              <a:ext uri="{FF2B5EF4-FFF2-40B4-BE49-F238E27FC236}">
                <a16:creationId xmlns:a16="http://schemas.microsoft.com/office/drawing/2014/main" id="{DEA887D1-6AB0-4E2B-94CF-709770196D60}"/>
              </a:ext>
            </a:extLst>
          </p:cNvPr>
          <p:cNvSpPr>
            <a:spLocks xmlns:a="http://schemas.openxmlformats.org/drawingml/2006/main" noGrp="1"/>
          </p:cNvSpPr>
          <p:nvPr/>
        </p:nvSpPr>
        <p:spPr>
          <a:xfrm xmlns:a="http://schemas.openxmlformats.org/drawingml/2006/main">
            <a:off x="441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Roots connect to growers</a:t>
            </a:r>
          </a:p>
        </p:txBody>
      </p:sp>
      <p:sp>
        <p:nvSpPr>
          <p:cNvPr id="10" name="text-56">
            <a:extLst xmlns:a="http://schemas.openxmlformats.org/drawingml/2006/main">
              <a:ext uri="{FF2B5EF4-FFF2-40B4-BE49-F238E27FC236}">
                <a16:creationId xmlns:a16="http://schemas.microsoft.com/office/drawing/2014/main" id="{EFBB7092-6310-4E85-9190-74AA823745AC}"/>
              </a:ext>
            </a:extLst>
          </p:cNvPr>
          <p:cNvSpPr>
            <a:spLocks xmlns:a="http://schemas.openxmlformats.org/drawingml/2006/main" noGrp="1"/>
          </p:cNvSpPr>
          <p:nvPr/>
        </p:nvSpPr>
        <p:spPr>
          <a:xfrm xmlns:a="http://schemas.openxmlformats.org/drawingml/2006/main">
            <a:off x="441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Purple and pale sections exchange focus. Grower photography enters as one bold visual panel.</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ad14c31b1964949"/>
          <a:stretch xmlns:a="http://schemas.openxmlformats.org/drawingml/2006/main"/>
        </p:blipFill>
        <p:spPr>
          <a:xfrm xmlns:a="http://schemas.openxmlformats.org/drawingml/2006/main">
            <a:off x="8229600" y="2714942"/>
            <a:ext cx="3352800" cy="1599565"/>
          </a:xfrm>
          <a:prstGeom xmlns:a="http://schemas.openxmlformats.org/drawingml/2006/main" prst="rect">
            <a:avLst/>
          </a:prstGeom>
        </p:spPr>
      </p:pic>
      <p:sp>
        <p:nvSpPr>
          <p:cNvPr id="12" name="text-57">
            <a:extLst xmlns:a="http://schemas.openxmlformats.org/drawingml/2006/main">
              <a:ext uri="{FF2B5EF4-FFF2-40B4-BE49-F238E27FC236}">
                <a16:creationId xmlns:a16="http://schemas.microsoft.com/office/drawing/2014/main" id="{DA8E073C-05B5-4B4B-83F5-C27654288A7B}"/>
              </a:ext>
            </a:extLst>
          </p:cNvPr>
          <p:cNvSpPr>
            <a:spLocks xmlns:a="http://schemas.openxmlformats.org/drawingml/2006/main" noGrp="1"/>
          </p:cNvSpPr>
          <p:nvPr/>
        </p:nvSpPr>
        <p:spPr>
          <a:xfrm xmlns:a="http://schemas.openxmlformats.org/drawingml/2006/main">
            <a:off x="822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From interest to discovery</a:t>
            </a:r>
          </a:p>
        </p:txBody>
      </p:sp>
      <p:sp>
        <p:nvSpPr>
          <p:cNvPr id="13" name="text-58">
            <a:extLst xmlns:a="http://schemas.openxmlformats.org/drawingml/2006/main">
              <a:ext uri="{FF2B5EF4-FFF2-40B4-BE49-F238E27FC236}">
                <a16:creationId xmlns:a16="http://schemas.microsoft.com/office/drawing/2014/main" id="{4CF57A1F-A9D1-4C35-BAFB-DB0914BF8313}"/>
              </a:ext>
            </a:extLst>
          </p:cNvPr>
          <p:cNvSpPr>
            <a:spLocks xmlns:a="http://schemas.openxmlformats.org/drawingml/2006/main" noGrp="1"/>
          </p:cNvSpPr>
          <p:nvPr/>
        </p:nvSpPr>
        <p:spPr>
          <a:xfrm xmlns:a="http://schemas.openxmlformats.org/drawingml/2006/main">
            <a:off x="822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Farm profiles and published batch summaries resolve through the ID, QR or partner entry point.</a:t>
            </a:r>
          </a:p>
        </p:txBody>
      </p:sp>
    </p:spTree>
    <p:extLst>
      <p:ext uri="{BB962C8B-B14F-4D97-AF65-F5344CB8AC3E}">
        <p14:creationId xmlns:p14="http://schemas.microsoft.com/office/powerpoint/2010/main" val="1240927650"/>
      </p:ext>
    </p:extLst>
  </p:cSld>
</p:sld>
</file>

<file path=ppt/slides/slide1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3B89615F-EE31-4951-A163-793CCD4D8F7F}"/>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Three designs, the same system</a:t>
            </a:r>
          </a:p>
        </p:txBody>
      </p:sp>
      <p:sp>
        <p:nvSpPr>
          <p:cNvPr id="2" name="slide-subtitle">
            <a:extLst xmlns:a="http://schemas.openxmlformats.org/drawingml/2006/main">
              <a:ext uri="{FF2B5EF4-FFF2-40B4-BE49-F238E27FC236}">
                <a16:creationId xmlns:a16="http://schemas.microsoft.com/office/drawing/2014/main" id="{5C6B0C35-8165-4480-9F54-B66ACCC50BDC}"/>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Choose the public experience. Every direction includes the agreed inventory, member portal and batch QR features.</a:t>
            </a:r>
          </a:p>
        </p:txBody>
      </p:sp>
      <p:sp>
        <p:nvSpPr>
          <p:cNvPr id="3" name="footer">
            <a:extLst xmlns:a="http://schemas.openxmlformats.org/drawingml/2006/main">
              <a:ext uri="{FF2B5EF4-FFF2-40B4-BE49-F238E27FC236}">
                <a16:creationId xmlns:a16="http://schemas.microsoft.com/office/drawing/2014/main" id="{EE0A7390-31EF-4CE9-A811-1A40EACEBDB0}"/>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400673FE-B9E6-444E-9AB4-499920491963}"/>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12</a:t>
            </a:r>
          </a:p>
        </p:txBody>
      </p:sp>
      <p:graphicFrame>
        <p:nvGraphicFramePr>
          <p:cNvPr id="11" name=""/>
          <p:cNvGraphicFramePr/>
          <p:nvPr/>
        </p:nvGraphicFramePr>
        <p:xfrm>
          <a:off xmlns:a="http://schemas.openxmlformats.org/drawingml/2006/main" x="609600" y="2447925"/>
          <a:ext xmlns:a="http://schemas.openxmlformats.org/drawingml/2006/main" cx="10972800" cy="2781300"/>
        </p:xfrm>
        <a:graphic xmlns:a="http://schemas.openxmlformats.org/drawingml/2006/main">
          <a:graphicData uri="http://schemas.openxmlformats.org/drawingml/2006/table">
            <a:tbl>
              <a:tblPr firstRow="0" firstCol="0" bandRow="0"/>
              <a:tblGrid>
                <a:gridCol w="2857500"/>
                <a:gridCol w="2476500"/>
                <a:gridCol w="2714625"/>
                <a:gridCol w="2924175"/>
              </a:tblGrid>
              <a:tr h="552450">
                <a:tc>
                  <a:txBody>
                    <a:bodyPr wrap="square">
                      <a:noAutofit/>
                    </a:bodyPr>
                    <a:lstStyle/>
                    <a:p>
                      <a:r>
                        <a:rPr sz="1650" b="1">
                          <a:solidFill>
                            <a:srgbClr val="FFFFFF"/>
                          </a:solidFill>
                          <a:latin typeface="Arial"/>
                          <a:ea typeface="Arial"/>
                          <a:cs typeface="Arial"/>
                        </a:rPr>
                        <a:t>Direction</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Main emphasis</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Scroll behavior</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MVP discovery</a:t>
                      </a:r>
                    </a:p>
                  </a:txBody>
                  <a:tcPr marL="133350" marR="133350" marT="95250" marB="95250" anchor="t">
                    <a:solidFill>
                      <a:srgbClr val="35583C"/>
                    </a:solidFill>
                  </a:tcPr>
                </a:tc>
              </a:tr>
              <a:tr h="742950">
                <a:tc>
                  <a:txBody>
                    <a:bodyPr wrap="square">
                      <a:noAutofit/>
                    </a:bodyPr>
                    <a:lstStyle/>
                    <a:p>
                      <a:r>
                        <a:rPr sz="1650" b="0">
                          <a:solidFill>
                            <a:srgbClr val="35583C"/>
                          </a:solidFill>
                          <a:latin typeface="Arial"/>
                          <a:ea typeface="Arial"/>
                          <a:cs typeface="Arial"/>
                        </a:rPr>
                        <a:t>From Root to Story</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Botanical storytelling</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Continuous plant journey</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Tip-leaf lookup and partner leaves</a:t>
                      </a:r>
                    </a:p>
                  </a:txBody>
                  <a:tcPr marL="133350" marR="133350" marT="95250" marB="95250" anchor="t">
                    <a:solidFill>
                      <a:srgbClr val="F6F3EA"/>
                    </a:solidFill>
                  </a:tcPr>
                </a:tc>
              </a:tr>
              <a:tr h="742950">
                <a:tc>
                  <a:txBody>
                    <a:bodyPr wrap="square">
                      <a:noAutofit/>
                    </a:bodyPr>
                    <a:lstStyle/>
                    <a:p>
                      <a:r>
                        <a:rPr sz="1650" b="0">
                          <a:solidFill>
                            <a:srgbClr val="35583C"/>
                          </a:solidFill>
                          <a:latin typeface="Arial"/>
                          <a:ea typeface="Arial"/>
                          <a:cs typeface="Arial"/>
                        </a:rPr>
                        <a:t>Grown Together in Davao</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Growers and place</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Readable editorial chapters</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Farm cards and a visible lookup area</a:t>
                      </a:r>
                    </a:p>
                  </a:txBody>
                  <a:tcPr marL="133350" marR="133350" marT="95250" marB="95250" anchor="t">
                    <a:solidFill>
                      <a:srgbClr val="F6F3EA"/>
                    </a:solidFill>
                  </a:tcPr>
                </a:tc>
              </a:tr>
              <a:tr h="742950">
                <a:tc>
                  <a:txBody>
                    <a:bodyPr wrap="square">
                      <a:noAutofit/>
                    </a:bodyPr>
                    <a:lstStyle/>
                    <a:p>
                      <a:r>
                        <a:rPr sz="1650" b="0">
                          <a:solidFill>
                            <a:srgbClr val="35583C"/>
                          </a:solidFill>
                          <a:latin typeface="Arial"/>
                          <a:ea typeface="Arial"/>
                          <a:cs typeface="Arial"/>
                        </a:rPr>
                        <a:t>Purple to the World</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Produce and prospective buyers</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Product movement and transitions</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Produce catalogue and origin links</a:t>
                      </a:r>
                    </a:p>
                  </a:txBody>
                  <a:tcPr marL="133350" marR="133350" marT="95250" marB="95250" anchor="t">
                    <a:solidFill>
                      <a:srgbClr val="F6F3EA"/>
                    </a:solidFill>
                  </a:tcPr>
                </a:tc>
              </a:tr>
            </a:tbl>
          </a:graphicData>
        </a:graphic>
      </p:graphicFrame>
      <p:sp>
        <p:nvSpPr>
          <p:cNvPr id="6" name="text-59">
            <a:extLst xmlns:a="http://schemas.openxmlformats.org/drawingml/2006/main">
              <a:ext uri="{FF2B5EF4-FFF2-40B4-BE49-F238E27FC236}">
                <a16:creationId xmlns:a16="http://schemas.microsoft.com/office/drawing/2014/main" id="{3F012561-8EFC-4E85-AA70-FF026BF70EA6}"/>
              </a:ext>
            </a:extLst>
          </p:cNvPr>
          <p:cNvSpPr>
            <a:spLocks xmlns:a="http://schemas.openxmlformats.org/drawingml/2006/main" noGrp="1"/>
          </p:cNvSpPr>
          <p:nvPr/>
        </p:nvSpPr>
        <p:spPr>
          <a:xfrm xmlns:a="http://schemas.openxmlformats.org/drawingml/2006/main">
            <a:off x="609600" y="55816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5583C"/>
                </a:solidFill>
                <a:latin typeface="Arial"/>
                <a:ea typeface="Arial"/>
                <a:cs typeface="Arial"/>
              </a:defRPr>
            </a:pPr>
            <a:r>
              <a:rPr sz="1725" b="0">
                <a:solidFill>
                  <a:srgbClr val="35583C"/>
                </a:solidFill>
                <a:latin typeface="Arial"/>
                <a:ea typeface="Arial"/>
                <a:cs typeface="Arial"/>
              </a:rPr>
              <a:t>The selected direction needs approved cooperative photography, copy and farm records.</a:t>
            </a:r>
          </a:p>
        </p:txBody>
      </p:sp>
    </p:spTree>
    <p:extLst>
      <p:ext uri="{BB962C8B-B14F-4D97-AF65-F5344CB8AC3E}">
        <p14:creationId xmlns:p14="http://schemas.microsoft.com/office/powerpoint/2010/main" val="1261002290"/>
      </p:ext>
    </p:extLst>
  </p:cSld>
</p:sld>
</file>

<file path=ppt/slides/slide1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EECF3F1B-9CDF-42FF-AA86-64AA7E6D0A92}"/>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MERN implementation</a:t>
            </a:r>
          </a:p>
        </p:txBody>
      </p:sp>
      <p:sp>
        <p:nvSpPr>
          <p:cNvPr id="2" name="slide-subtitle">
            <a:extLst xmlns:a="http://schemas.openxmlformats.org/drawingml/2006/main">
              <a:ext uri="{FF2B5EF4-FFF2-40B4-BE49-F238E27FC236}">
                <a16:creationId xmlns:a16="http://schemas.microsoft.com/office/drawing/2014/main" id="{00177001-34A3-4AEB-90F5-11DA499CAAD3}"/>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MongoDB, Express, React and Node.js 26, with TypeScript across the frontend and backend.</a:t>
            </a:r>
          </a:p>
        </p:txBody>
      </p:sp>
      <p:sp>
        <p:nvSpPr>
          <p:cNvPr id="3" name="footer">
            <a:extLst xmlns:a="http://schemas.openxmlformats.org/drawingml/2006/main">
              <a:ext uri="{FF2B5EF4-FFF2-40B4-BE49-F238E27FC236}">
                <a16:creationId xmlns:a16="http://schemas.microsoft.com/office/drawing/2014/main" id="{E205EFDD-AF77-41C2-A35B-C9F91ECCB48D}"/>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01F60E3C-589E-4733-A9D3-4801C2CEBFE4}"/>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13</a:t>
            </a:r>
          </a:p>
        </p:txBody>
      </p:sp>
      <p:sp>
        <p:nvSpPr>
          <p:cNvPr id="5" name="text-60">
            <a:extLst xmlns:a="http://schemas.openxmlformats.org/drawingml/2006/main">
              <a:ext uri="{FF2B5EF4-FFF2-40B4-BE49-F238E27FC236}">
                <a16:creationId xmlns:a16="http://schemas.microsoft.com/office/drawing/2014/main" id="{A87EE13A-D2BF-4F80-910C-2CEACF5EFF9A}"/>
              </a:ext>
            </a:extLst>
          </p:cNvPr>
          <p:cNvSpPr>
            <a:spLocks xmlns:a="http://schemas.openxmlformats.org/drawingml/2006/main" noGrp="1"/>
          </p:cNvSpPr>
          <p:nvPr/>
        </p:nvSpPr>
        <p:spPr>
          <a:xfrm xmlns:a="http://schemas.openxmlformats.org/drawingml/2006/main">
            <a:off x="609600" y="2524125"/>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React</a:t>
            </a:r>
          </a:p>
        </p:txBody>
      </p:sp>
      <p:sp>
        <p:nvSpPr>
          <p:cNvPr id="6" name="text-61">
            <a:extLst xmlns:a="http://schemas.openxmlformats.org/drawingml/2006/main">
              <a:ext uri="{FF2B5EF4-FFF2-40B4-BE49-F238E27FC236}">
                <a16:creationId xmlns:a16="http://schemas.microsoft.com/office/drawing/2014/main" id="{CE454DFE-0E9E-4034-ABEF-F6C4A01DA4D0}"/>
              </a:ext>
            </a:extLst>
          </p:cNvPr>
          <p:cNvSpPr>
            <a:spLocks xmlns:a="http://schemas.openxmlformats.org/drawingml/2006/main" noGrp="1"/>
          </p:cNvSpPr>
          <p:nvPr/>
        </p:nvSpPr>
        <p:spPr>
          <a:xfrm xmlns:a="http://schemas.openxmlformats.org/drawingml/2006/main">
            <a:off x="4181475" y="2543175"/>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Animated public website, farm inventory, batch summaries and the member dashboard.</a:t>
            </a:r>
          </a:p>
        </p:txBody>
      </p:sp>
      <p:sp>
        <p:nvSpPr>
          <p:cNvPr id="7" name="divider-62">
            <a:extLst xmlns:a="http://schemas.openxmlformats.org/drawingml/2006/main">
              <a:ext uri="{FF2B5EF4-FFF2-40B4-BE49-F238E27FC236}">
                <a16:creationId xmlns:a16="http://schemas.microsoft.com/office/drawing/2014/main" id="{0FC90491-1394-406C-8621-9875F198597F}"/>
              </a:ext>
            </a:extLst>
          </p:cNvPr>
          <p:cNvSpPr>
            <a:spLocks xmlns:a="http://schemas.openxmlformats.org/drawingml/2006/main" noGrp="1"/>
          </p:cNvSpPr>
          <p:nvPr/>
        </p:nvSpPr>
        <p:spPr>
          <a:xfrm xmlns:a="http://schemas.openxmlformats.org/drawingml/2006/main">
            <a:off x="609600" y="345757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8" name="text-63">
            <a:extLst xmlns:a="http://schemas.openxmlformats.org/drawingml/2006/main">
              <a:ext uri="{FF2B5EF4-FFF2-40B4-BE49-F238E27FC236}">
                <a16:creationId xmlns:a16="http://schemas.microsoft.com/office/drawing/2014/main" id="{A8D4843B-8FE8-43A5-92E2-3ABFCBE8D276}"/>
              </a:ext>
            </a:extLst>
          </p:cNvPr>
          <p:cNvSpPr>
            <a:spLocks xmlns:a="http://schemas.openxmlformats.org/drawingml/2006/main" noGrp="1"/>
          </p:cNvSpPr>
          <p:nvPr/>
        </p:nvSpPr>
        <p:spPr>
          <a:xfrm xmlns:a="http://schemas.openxmlformats.org/drawingml/2006/main">
            <a:off x="609600" y="360045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Express and Node.js 26</a:t>
            </a:r>
          </a:p>
        </p:txBody>
      </p:sp>
      <p:sp>
        <p:nvSpPr>
          <p:cNvPr id="9" name="text-64">
            <a:extLst xmlns:a="http://schemas.openxmlformats.org/drawingml/2006/main">
              <a:ext uri="{FF2B5EF4-FFF2-40B4-BE49-F238E27FC236}">
                <a16:creationId xmlns:a16="http://schemas.microsoft.com/office/drawing/2014/main" id="{8DDF0D09-CC86-4185-8E19-3B6AB791106D}"/>
              </a:ext>
            </a:extLst>
          </p:cNvPr>
          <p:cNvSpPr>
            <a:spLocks xmlns:a="http://schemas.openxmlformats.org/drawingml/2006/main" noGrp="1"/>
          </p:cNvSpPr>
          <p:nvPr/>
        </p:nvSpPr>
        <p:spPr>
          <a:xfrm xmlns:a="http://schemas.openxmlformats.org/drawingml/2006/main">
            <a:off x="4181475" y="361950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API validation, authenticated access, role permissions and publication controls.</a:t>
            </a:r>
          </a:p>
        </p:txBody>
      </p:sp>
      <p:sp>
        <p:nvSpPr>
          <p:cNvPr id="10" name="divider-65">
            <a:extLst xmlns:a="http://schemas.openxmlformats.org/drawingml/2006/main">
              <a:ext uri="{FF2B5EF4-FFF2-40B4-BE49-F238E27FC236}">
                <a16:creationId xmlns:a16="http://schemas.microsoft.com/office/drawing/2014/main" id="{E8BC511D-770B-485A-BB63-E11643C065DE}"/>
              </a:ext>
            </a:extLst>
          </p:cNvPr>
          <p:cNvSpPr>
            <a:spLocks xmlns:a="http://schemas.openxmlformats.org/drawingml/2006/main" noGrp="1"/>
          </p:cNvSpPr>
          <p:nvPr/>
        </p:nvSpPr>
        <p:spPr>
          <a:xfrm xmlns:a="http://schemas.openxmlformats.org/drawingml/2006/main">
            <a:off x="609600" y="4533900"/>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1" name="text-66">
            <a:extLst xmlns:a="http://schemas.openxmlformats.org/drawingml/2006/main">
              <a:ext uri="{FF2B5EF4-FFF2-40B4-BE49-F238E27FC236}">
                <a16:creationId xmlns:a16="http://schemas.microsoft.com/office/drawing/2014/main" id="{B3B8C143-E9E5-4F91-8BA1-F1EC20D3C0EE}"/>
              </a:ext>
            </a:extLst>
          </p:cNvPr>
          <p:cNvSpPr>
            <a:spLocks xmlns:a="http://schemas.openxmlformats.org/drawingml/2006/main" noGrp="1"/>
          </p:cNvSpPr>
          <p:nvPr/>
        </p:nvSpPr>
        <p:spPr>
          <a:xfrm xmlns:a="http://schemas.openxmlformats.org/drawingml/2006/main">
            <a:off x="609600" y="4676775"/>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MongoDB</a:t>
            </a:r>
          </a:p>
        </p:txBody>
      </p:sp>
      <p:sp>
        <p:nvSpPr>
          <p:cNvPr id="12" name="text-67">
            <a:extLst xmlns:a="http://schemas.openxmlformats.org/drawingml/2006/main">
              <a:ext uri="{FF2B5EF4-FFF2-40B4-BE49-F238E27FC236}">
                <a16:creationId xmlns:a16="http://schemas.microsoft.com/office/drawing/2014/main" id="{F95669EE-BD6E-45AD-9F11-1885E22D5BD3}"/>
              </a:ext>
            </a:extLst>
          </p:cNvPr>
          <p:cNvSpPr>
            <a:spLocks xmlns:a="http://schemas.openxmlformats.org/drawingml/2006/main" noGrp="1"/>
          </p:cNvSpPr>
          <p:nvPr/>
        </p:nvSpPr>
        <p:spPr>
          <a:xfrm xmlns:a="http://schemas.openxmlformats.org/drawingml/2006/main">
            <a:off x="4181475" y="4695825"/>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Farms, produce, members, batches, processing links, recipients and record history.</a:t>
            </a:r>
          </a:p>
        </p:txBody>
      </p:sp>
      <p:sp>
        <p:nvSpPr>
          <p:cNvPr id="13" name="divider-68">
            <a:extLst xmlns:a="http://schemas.openxmlformats.org/drawingml/2006/main">
              <a:ext uri="{FF2B5EF4-FFF2-40B4-BE49-F238E27FC236}">
                <a16:creationId xmlns:a16="http://schemas.microsoft.com/office/drawing/2014/main" id="{211ACD7D-23E5-4A8E-97C3-7B31471989DF}"/>
              </a:ext>
            </a:extLst>
          </p:cNvPr>
          <p:cNvSpPr>
            <a:spLocks xmlns:a="http://schemas.openxmlformats.org/drawingml/2006/main" noGrp="1"/>
          </p:cNvSpPr>
          <p:nvPr/>
        </p:nvSpPr>
        <p:spPr>
          <a:xfrm xmlns:a="http://schemas.openxmlformats.org/drawingml/2006/main">
            <a:off x="609600" y="5724525"/>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4" name="text-69">
            <a:extLst xmlns:a="http://schemas.openxmlformats.org/drawingml/2006/main">
              <a:ext uri="{FF2B5EF4-FFF2-40B4-BE49-F238E27FC236}">
                <a16:creationId xmlns:a16="http://schemas.microsoft.com/office/drawing/2014/main" id="{DF6222D2-E59E-4C82-9BA6-8F9DDFF2F551}"/>
              </a:ext>
            </a:extLst>
          </p:cNvPr>
          <p:cNvSpPr>
            <a:spLocks xmlns:a="http://schemas.openxmlformats.org/drawingml/2006/main" noGrp="1"/>
          </p:cNvSpPr>
          <p:nvPr/>
        </p:nvSpPr>
        <p:spPr>
          <a:xfrm xmlns:a="http://schemas.openxmlformats.org/drawingml/2006/main">
            <a:off x="609600" y="5953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5583C"/>
                </a:solidFill>
                <a:latin typeface="Arial"/>
                <a:ea typeface="Arial"/>
                <a:cs typeface="Arial"/>
              </a:defRPr>
            </a:pPr>
            <a:r>
              <a:rPr sz="1575" b="0">
                <a:solidFill>
                  <a:srgbClr val="35583C"/>
                </a:solidFill>
                <a:latin typeface="Arial"/>
                <a:ea typeface="Arial"/>
                <a:cs typeface="Arial"/>
              </a:rPr>
              <a:t>UI text and colors stay in constants. Operators edit farm and batch data through the protected dashboard.</a:t>
            </a:r>
          </a:p>
        </p:txBody>
      </p:sp>
    </p:spTree>
    <p:extLst>
      <p:ext uri="{BB962C8B-B14F-4D97-AF65-F5344CB8AC3E}">
        <p14:creationId xmlns:p14="http://schemas.microsoft.com/office/powerpoint/2010/main" val="443297329"/>
      </p:ext>
    </p:extLst>
  </p:cSld>
</p:sld>
</file>

<file path=ppt/slides/slide1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089AFC7-C5E1-4E5B-8743-59598EB6EADD}"/>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Delivery plan: Weeks 1 to 5</a:t>
            </a:r>
          </a:p>
        </p:txBody>
      </p:sp>
      <p:sp>
        <p:nvSpPr>
          <p:cNvPr id="2" name="slide-subtitle">
            <a:extLst xmlns:a="http://schemas.openxmlformats.org/drawingml/2006/main">
              <a:ext uri="{FF2B5EF4-FFF2-40B4-BE49-F238E27FC236}">
                <a16:creationId xmlns:a16="http://schemas.microsoft.com/office/drawing/2014/main" id="{41E9EFA5-6067-4525-A374-E2A16CFF1398}"/>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A target of 10 working weeks from the agreed kickoff.</a:t>
            </a:r>
          </a:p>
        </p:txBody>
      </p:sp>
      <p:sp>
        <p:nvSpPr>
          <p:cNvPr id="3" name="footer">
            <a:extLst xmlns:a="http://schemas.openxmlformats.org/drawingml/2006/main">
              <a:ext uri="{FF2B5EF4-FFF2-40B4-BE49-F238E27FC236}">
                <a16:creationId xmlns:a16="http://schemas.microsoft.com/office/drawing/2014/main" id="{2E7225E1-4E7D-493C-85B5-27DD462BD109}"/>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6539E605-6F6C-4113-8A80-A1AF849CA54E}"/>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14</a:t>
            </a:r>
          </a:p>
        </p:txBody>
      </p:sp>
      <p:graphicFrame>
        <p:nvGraphicFramePr>
          <p:cNvPr id="11" name=""/>
          <p:cNvGraphicFramePr/>
          <p:nvPr/>
        </p:nvGraphicFramePr>
        <p:xfrm>
          <a:off xmlns:a="http://schemas.openxmlformats.org/drawingml/2006/main" x="609600" y="2190750"/>
          <a:ext xmlns:a="http://schemas.openxmlformats.org/drawingml/2006/main" cx="10972800" cy="3895725"/>
        </p:xfrm>
        <a:graphic xmlns:a="http://schemas.openxmlformats.org/drawingml/2006/main">
          <a:graphicData uri="http://schemas.openxmlformats.org/drawingml/2006/table">
            <a:tbl>
              <a:tblPr firstRow="0" firstCol="0" bandRow="0"/>
              <a:tblGrid>
                <a:gridCol w="1095375"/>
                <a:gridCol w="3000375"/>
                <a:gridCol w="6877050"/>
              </a:tblGrid>
              <a:tr h="466725">
                <a:tc>
                  <a:txBody>
                    <a:bodyPr wrap="square">
                      <a:noAutofit/>
                    </a:bodyPr>
                    <a:lstStyle/>
                    <a:p>
                      <a:r>
                        <a:rPr sz="1575" b="1">
                          <a:solidFill>
                            <a:srgbClr val="FFFFFF"/>
                          </a:solidFill>
                          <a:latin typeface="Arial"/>
                          <a:ea typeface="Arial"/>
                          <a:cs typeface="Arial"/>
                        </a:rPr>
                        <a:t>Week</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Milestone</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Planned output</a:t>
                      </a:r>
                    </a:p>
                  </a:txBody>
                  <a:tcPr marL="133350" marR="133350" marT="95250" marB="95250" anchor="t">
                    <a:solidFill>
                      <a:srgbClr val="35583C"/>
                    </a:solidFill>
                  </a:tcPr>
                </a:tc>
              </a:tr>
              <a:tr h="685800">
                <a:tc>
                  <a:txBody>
                    <a:bodyPr wrap="square">
                      <a:noAutofit/>
                    </a:bodyPr>
                    <a:lstStyle/>
                    <a:p>
                      <a:r>
                        <a:rPr sz="1575" b="0">
                          <a:solidFill>
                            <a:srgbClr val="35583C"/>
                          </a:solidFill>
                          <a:latin typeface="Arial"/>
                          <a:ea typeface="Arial"/>
                          <a:cs typeface="Arial"/>
                        </a:rPr>
                        <a:t>Week 1</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Confirm the system</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Approve fields, roles, public/private rules, pilot data, one design direction and the batch workflow.</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2</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the foundation</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Set up MongoDB, the Express/Node.js API, authentication, environments and server-side access rules.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3</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Organize the ecosystem</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farm, produce, partner and account management; prepare the public inventory structure.</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4</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Capture farming details</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Implement planting, plot/site, care/input notes and authorized record editing.</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5</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Track harvest batches</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Implement batch IDs, harvest dates, quantities, availability/status and record history.</a:t>
                      </a:r>
                    </a:p>
                  </a:txBody>
                  <a:tcPr marL="133350" marR="133350" marT="95250" marB="95250" anchor="t">
                    <a:solidFill>
                      <a:srgbClr val="F6F3EA"/>
                    </a:solidFill>
                  </a:tcPr>
                </a:tc>
              </a:tr>
            </a:tbl>
          </a:graphicData>
        </a:graphic>
      </p:graphicFrame>
      <p:sp>
        <p:nvSpPr>
          <p:cNvPr id="6" name="text-70">
            <a:extLst xmlns:a="http://schemas.openxmlformats.org/drawingml/2006/main">
              <a:ext uri="{FF2B5EF4-FFF2-40B4-BE49-F238E27FC236}">
                <a16:creationId xmlns:a16="http://schemas.microsoft.com/office/drawing/2014/main" id="{C063DB3F-E36B-49ED-9CCE-B6389B571CB8}"/>
              </a:ext>
            </a:extLst>
          </p:cNvPr>
          <p:cNvSpPr>
            <a:spLocks xmlns:a="http://schemas.openxmlformats.org/drawingml/2006/main" noGrp="1"/>
          </p:cNvSpPr>
          <p:nvPr/>
        </p:nvSpPr>
        <p:spPr>
          <a:xfrm xmlns:a="http://schemas.openxmlformats.org/drawingml/2006/main">
            <a:off x="609600" y="62103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35583C"/>
                </a:solidFill>
                <a:latin typeface="Arial"/>
                <a:ea typeface="Arial"/>
                <a:cs typeface="Arial"/>
              </a:defRPr>
            </a:pPr>
            <a:r>
              <a:rPr sz="1350" b="0">
                <a:solidFill>
                  <a:srgbClr val="35583C"/>
                </a:solidFill>
                <a:latin typeface="Arial"/>
                <a:ea typeface="Arial"/>
                <a:cs typeface="Arial"/>
              </a:rPr>
              <a:t>Confirm scope, content, access rules and working availability before kickoff.</a:t>
            </a:r>
          </a:p>
        </p:txBody>
      </p:sp>
    </p:spTree>
    <p:extLst>
      <p:ext uri="{BB962C8B-B14F-4D97-AF65-F5344CB8AC3E}">
        <p14:creationId xmlns:p14="http://schemas.microsoft.com/office/powerpoint/2010/main" val="1747797361"/>
      </p:ext>
    </p:extLst>
  </p:cSld>
</p:sld>
</file>

<file path=ppt/slides/slide1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3E2EB32E-FF1F-47A4-919E-BB826B104906}"/>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Delivery plan: Weeks 6 to 10</a:t>
            </a:r>
          </a:p>
        </p:txBody>
      </p:sp>
      <p:sp>
        <p:nvSpPr>
          <p:cNvPr id="2" name="slide-subtitle">
            <a:extLst xmlns:a="http://schemas.openxmlformats.org/drawingml/2006/main">
              <a:ext uri="{FF2B5EF4-FFF2-40B4-BE49-F238E27FC236}">
                <a16:creationId xmlns:a16="http://schemas.microsoft.com/office/drawing/2014/main" id="{494444D8-A4CF-4B11-B95D-881558543776}"/>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A target of 10 working weeks from the agreed kickoff.</a:t>
            </a:r>
          </a:p>
        </p:txBody>
      </p:sp>
      <p:sp>
        <p:nvSpPr>
          <p:cNvPr id="3" name="footer">
            <a:extLst xmlns:a="http://schemas.openxmlformats.org/drawingml/2006/main">
              <a:ext uri="{FF2B5EF4-FFF2-40B4-BE49-F238E27FC236}">
                <a16:creationId xmlns:a16="http://schemas.microsoft.com/office/drawing/2014/main" id="{8B80B8E5-C4B4-4DE8-B457-7483703647BA}"/>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49E35E15-7294-4521-BCA3-CCEFCD987D54}"/>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15</a:t>
            </a:r>
          </a:p>
        </p:txBody>
      </p:sp>
      <p:graphicFrame>
        <p:nvGraphicFramePr>
          <p:cNvPr id="11" name=""/>
          <p:cNvGraphicFramePr/>
          <p:nvPr/>
        </p:nvGraphicFramePr>
        <p:xfrm>
          <a:off xmlns:a="http://schemas.openxmlformats.org/drawingml/2006/main" x="609600" y="2190750"/>
          <a:ext xmlns:a="http://schemas.openxmlformats.org/drawingml/2006/main" cx="10972800" cy="3895725"/>
        </p:xfrm>
        <a:graphic xmlns:a="http://schemas.openxmlformats.org/drawingml/2006/main">
          <a:graphicData uri="http://schemas.openxmlformats.org/drawingml/2006/table">
            <a:tbl>
              <a:tblPr firstRow="0" firstCol="0" bandRow="0"/>
              <a:tblGrid>
                <a:gridCol w="1095375"/>
                <a:gridCol w="3000375"/>
                <a:gridCol w="6877050"/>
              </a:tblGrid>
              <a:tr h="466725">
                <a:tc>
                  <a:txBody>
                    <a:bodyPr wrap="square">
                      <a:noAutofit/>
                    </a:bodyPr>
                    <a:lstStyle/>
                    <a:p>
                      <a:r>
                        <a:rPr sz="1575" b="1">
                          <a:solidFill>
                            <a:srgbClr val="FFFFFF"/>
                          </a:solidFill>
                          <a:latin typeface="Arial"/>
                          <a:ea typeface="Arial"/>
                          <a:cs typeface="Arial"/>
                        </a:rPr>
                        <a:t>Week</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Milestone</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Planned output</a:t>
                      </a:r>
                    </a:p>
                  </a:txBody>
                  <a:tcPr marL="133350" marR="133350" marT="95250" marB="95250" anchor="t">
                    <a:solidFill>
                      <a:srgbClr val="35583C"/>
                    </a:solidFill>
                  </a:tcPr>
                </a:tc>
              </a:tr>
              <a:tr h="685800">
                <a:tc>
                  <a:txBody>
                    <a:bodyPr wrap="square">
                      <a:noAutofit/>
                    </a:bodyPr>
                    <a:lstStyle/>
                    <a:p>
                      <a:r>
                        <a:rPr sz="1575" b="0">
                          <a:solidFill>
                            <a:srgbClr val="35583C"/>
                          </a:solidFill>
                          <a:latin typeface="Arial"/>
                          <a:ea typeface="Arial"/>
                          <a:cs typeface="Arial"/>
                        </a:rPr>
                        <a:t>Week 6</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Connect processing &amp; recipients</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Link processors, processed lots, brand owners and distributors to their source batches.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7</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Publish the consumer view</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approved batch summaries, publication controls, stable URLs and QR downloads.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8</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Connect the landing experience</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Integrate live public inventory, lookup and batch links; refine mobile and scroll behavior.</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9</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Review &amp; accept the pilot</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Run workflow, role, QR and device checks; complete two consolidated in-scope revision rounds.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10</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Launch &amp; transfer</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Configure HTTPS/backups, check restore, train operators, hand over source and start defect support.</a:t>
                      </a:r>
                    </a:p>
                  </a:txBody>
                  <a:tcPr marL="133350" marR="133350" marT="95250" marB="95250" anchor="t">
                    <a:solidFill>
                      <a:srgbClr val="F6F3EA"/>
                    </a:solidFill>
                  </a:tcPr>
                </a:tc>
              </a:tr>
            </a:tbl>
          </a:graphicData>
        </a:graphic>
      </p:graphicFrame>
      <p:sp>
        <p:nvSpPr>
          <p:cNvPr id="6" name="text-71">
            <a:extLst xmlns:a="http://schemas.openxmlformats.org/drawingml/2006/main">
              <a:ext uri="{FF2B5EF4-FFF2-40B4-BE49-F238E27FC236}">
                <a16:creationId xmlns:a16="http://schemas.microsoft.com/office/drawing/2014/main" id="{20DDD320-D102-471F-A1DA-9892DC1DD42E}"/>
              </a:ext>
            </a:extLst>
          </p:cNvPr>
          <p:cNvSpPr>
            <a:spLocks xmlns:a="http://schemas.openxmlformats.org/drawingml/2006/main" noGrp="1"/>
          </p:cNvSpPr>
          <p:nvPr/>
        </p:nvSpPr>
        <p:spPr>
          <a:xfrm xmlns:a="http://schemas.openxmlformats.org/drawingml/2006/main">
            <a:off x="609600" y="62103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35583C"/>
                </a:solidFill>
                <a:latin typeface="Arial"/>
                <a:ea typeface="Arial"/>
                <a:cs typeface="Arial"/>
              </a:defRPr>
            </a:pPr>
            <a:r>
              <a:rPr sz="1350" b="0">
                <a:solidFill>
                  <a:srgbClr val="35583C"/>
                </a:solidFill>
                <a:latin typeface="Arial"/>
                <a:ea typeface="Arial"/>
                <a:cs typeface="Arial"/>
              </a:rPr>
              <a:t>Client review, missing data or approved scope changes can move the target launch.</a:t>
            </a:r>
          </a:p>
        </p:txBody>
      </p:sp>
    </p:spTree>
    <p:extLst>
      <p:ext uri="{BB962C8B-B14F-4D97-AF65-F5344CB8AC3E}">
        <p14:creationId xmlns:p14="http://schemas.microsoft.com/office/powerpoint/2010/main" val="1069778330"/>
      </p:ext>
    </p:extLst>
  </p:cSld>
</p:sld>
</file>

<file path=ppt/slides/slide1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D1A46EE7-AEFF-4E83-A85B-D77F77F89DBD}"/>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Launch support and MVP boundaries</a:t>
            </a:r>
          </a:p>
        </p:txBody>
      </p:sp>
      <p:sp>
        <p:nvSpPr>
          <p:cNvPr id="2" name="slide-subtitle">
            <a:extLst xmlns:a="http://schemas.openxmlformats.org/drawingml/2006/main">
              <a:ext uri="{FF2B5EF4-FFF2-40B4-BE49-F238E27FC236}">
                <a16:creationId xmlns:a16="http://schemas.microsoft.com/office/drawing/2014/main" id="{823FDDE8-E750-4ACA-8517-6699AC0DCC03}"/>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The pilot delivers a public website and a new backend for the agreed workflow.</a:t>
            </a:r>
          </a:p>
        </p:txBody>
      </p:sp>
      <p:sp>
        <p:nvSpPr>
          <p:cNvPr id="3" name="footer">
            <a:extLst xmlns:a="http://schemas.openxmlformats.org/drawingml/2006/main">
              <a:ext uri="{FF2B5EF4-FFF2-40B4-BE49-F238E27FC236}">
                <a16:creationId xmlns:a16="http://schemas.microsoft.com/office/drawing/2014/main" id="{1019F267-9191-4D0D-BF9A-AA71FB4E5E31}"/>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C2BE7B1C-38CC-453F-AD45-451228A74AEF}"/>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16</a:t>
            </a:r>
          </a:p>
        </p:txBody>
      </p:sp>
      <p:sp>
        <p:nvSpPr>
          <p:cNvPr id="5" name="text-72">
            <a:extLst xmlns:a="http://schemas.openxmlformats.org/drawingml/2006/main">
              <a:ext uri="{FF2B5EF4-FFF2-40B4-BE49-F238E27FC236}">
                <a16:creationId xmlns:a16="http://schemas.microsoft.com/office/drawing/2014/main" id="{6D02D5A8-848A-478F-A17C-1974898824CE}"/>
              </a:ext>
            </a:extLst>
          </p:cNvPr>
          <p:cNvSpPr>
            <a:spLocks xmlns:a="http://schemas.openxmlformats.org/drawingml/2006/main" noGrp="1"/>
          </p:cNvSpPr>
          <p:nvPr/>
        </p:nvSpPr>
        <p:spPr>
          <a:xfrm xmlns:a="http://schemas.openxmlformats.org/drawingml/2006/main">
            <a:off x="609600" y="2495550"/>
            <a:ext cx="528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Included at launch</a:t>
            </a:r>
          </a:p>
        </p:txBody>
      </p:sp>
      <p:sp>
        <p:nvSpPr>
          <p:cNvPr id="6" name="text-73">
            <a:extLst xmlns:a="http://schemas.openxmlformats.org/drawingml/2006/main">
              <a:ext uri="{FF2B5EF4-FFF2-40B4-BE49-F238E27FC236}">
                <a16:creationId xmlns:a16="http://schemas.microsoft.com/office/drawing/2014/main" id="{42C7F16F-D1E7-412F-8F46-39C6D9273302}"/>
              </a:ext>
            </a:extLst>
          </p:cNvPr>
          <p:cNvSpPr>
            <a:spLocks xmlns:a="http://schemas.openxmlformats.org/drawingml/2006/main" noGrp="1"/>
          </p:cNvSpPr>
          <p:nvPr/>
        </p:nvSpPr>
        <p:spPr>
          <a:xfrm xmlns:a="http://schemas.openxmlformats.org/drawingml/2006/main">
            <a:off x="609600" y="321945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HTTPS production deployment</a:t>
            </a:r>
          </a:p>
        </p:txBody>
      </p:sp>
      <p:sp>
        <p:nvSpPr>
          <p:cNvPr id="7" name="text-74">
            <a:extLst xmlns:a="http://schemas.openxmlformats.org/drawingml/2006/main">
              <a:ext uri="{FF2B5EF4-FFF2-40B4-BE49-F238E27FC236}">
                <a16:creationId xmlns:a16="http://schemas.microsoft.com/office/drawing/2014/main" id="{19AB1176-CB75-49F7-9AE2-691CB38FFCE0}"/>
              </a:ext>
            </a:extLst>
          </p:cNvPr>
          <p:cNvSpPr>
            <a:spLocks xmlns:a="http://schemas.openxmlformats.org/drawingml/2006/main" noGrp="1"/>
          </p:cNvSpPr>
          <p:nvPr/>
        </p:nvSpPr>
        <p:spPr>
          <a:xfrm xmlns:a="http://schemas.openxmlformats.org/drawingml/2006/main">
            <a:off x="609600" y="369570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Database backups and one restore check</a:t>
            </a:r>
          </a:p>
        </p:txBody>
      </p:sp>
      <p:sp>
        <p:nvSpPr>
          <p:cNvPr id="8" name="text-75">
            <a:extLst xmlns:a="http://schemas.openxmlformats.org/drawingml/2006/main">
              <a:ext uri="{FF2B5EF4-FFF2-40B4-BE49-F238E27FC236}">
                <a16:creationId xmlns:a16="http://schemas.microsoft.com/office/drawing/2014/main" id="{1EC60EE4-F6DF-4E86-8742-3CE90B5B2180}"/>
              </a:ext>
            </a:extLst>
          </p:cNvPr>
          <p:cNvSpPr>
            <a:spLocks xmlns:a="http://schemas.openxmlformats.org/drawingml/2006/main" noGrp="1"/>
          </p:cNvSpPr>
          <p:nvPr/>
        </p:nvSpPr>
        <p:spPr>
          <a:xfrm xmlns:a="http://schemas.openxmlformats.org/drawingml/2006/main">
            <a:off x="609600" y="417195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Source files and operator documentation</a:t>
            </a:r>
          </a:p>
        </p:txBody>
      </p:sp>
      <p:sp>
        <p:nvSpPr>
          <p:cNvPr id="9" name="text-76">
            <a:extLst xmlns:a="http://schemas.openxmlformats.org/drawingml/2006/main">
              <a:ext uri="{FF2B5EF4-FFF2-40B4-BE49-F238E27FC236}">
                <a16:creationId xmlns:a16="http://schemas.microsoft.com/office/drawing/2014/main" id="{F4BB6F40-A195-4B14-AEED-63A3FB0BA442}"/>
              </a:ext>
            </a:extLst>
          </p:cNvPr>
          <p:cNvSpPr>
            <a:spLocks xmlns:a="http://schemas.openxmlformats.org/drawingml/2006/main" noGrp="1"/>
          </p:cNvSpPr>
          <p:nvPr/>
        </p:nvSpPr>
        <p:spPr>
          <a:xfrm xmlns:a="http://schemas.openxmlformats.org/drawingml/2006/main">
            <a:off x="609600" y="464820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One training session and two revision rounds</a:t>
            </a:r>
          </a:p>
        </p:txBody>
      </p:sp>
      <p:sp>
        <p:nvSpPr>
          <p:cNvPr id="10" name="text-77">
            <a:extLst xmlns:a="http://schemas.openxmlformats.org/drawingml/2006/main">
              <a:ext uri="{FF2B5EF4-FFF2-40B4-BE49-F238E27FC236}">
                <a16:creationId xmlns:a16="http://schemas.microsoft.com/office/drawing/2014/main" id="{14D3190F-EDCB-4884-AC0D-8A510F9E4E0F}"/>
              </a:ext>
            </a:extLst>
          </p:cNvPr>
          <p:cNvSpPr>
            <a:spLocks xmlns:a="http://schemas.openxmlformats.org/drawingml/2006/main" noGrp="1"/>
          </p:cNvSpPr>
          <p:nvPr/>
        </p:nvSpPr>
        <p:spPr>
          <a:xfrm xmlns:a="http://schemas.openxmlformats.org/drawingml/2006/main">
            <a:off x="609600" y="512445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30-day support for delivered defects</a:t>
            </a:r>
          </a:p>
        </p:txBody>
      </p:sp>
      <p:sp>
        <p:nvSpPr>
          <p:cNvPr id="11" name="text-78">
            <a:extLst xmlns:a="http://schemas.openxmlformats.org/drawingml/2006/main">
              <a:ext uri="{FF2B5EF4-FFF2-40B4-BE49-F238E27FC236}">
                <a16:creationId xmlns:a16="http://schemas.microsoft.com/office/drawing/2014/main" id="{F8130F52-453C-4817-B926-AAE16D4F3F03}"/>
              </a:ext>
            </a:extLst>
          </p:cNvPr>
          <p:cNvSpPr>
            <a:spLocks xmlns:a="http://schemas.openxmlformats.org/drawingml/2006/main" noGrp="1"/>
          </p:cNvSpPr>
          <p:nvPr/>
        </p:nvSpPr>
        <p:spPr>
          <a:xfrm xmlns:a="http://schemas.openxmlformats.org/drawingml/2006/main">
            <a:off x="6619875" y="2495550"/>
            <a:ext cx="4962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Initial pilot scope</a:t>
            </a:r>
          </a:p>
        </p:txBody>
      </p:sp>
      <p:sp>
        <p:nvSpPr>
          <p:cNvPr id="12" name="text-79">
            <a:extLst xmlns:a="http://schemas.openxmlformats.org/drawingml/2006/main">
              <a:ext uri="{FF2B5EF4-FFF2-40B4-BE49-F238E27FC236}">
                <a16:creationId xmlns:a16="http://schemas.microsoft.com/office/drawing/2014/main" id="{CDD545DB-BF91-479E-AB42-F25B779627F5}"/>
              </a:ext>
            </a:extLst>
          </p:cNvPr>
          <p:cNvSpPr>
            <a:spLocks xmlns:a="http://schemas.openxmlformats.org/drawingml/2006/main" noGrp="1"/>
          </p:cNvSpPr>
          <p:nvPr/>
        </p:nvSpPr>
        <p:spPr>
          <a:xfrm xmlns:a="http://schemas.openxmlformats.org/drawingml/2006/main">
            <a:off x="6619875" y="32194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Farm catalogue with manually recorded quantities and availability</a:t>
            </a:r>
          </a:p>
        </p:txBody>
      </p:sp>
      <p:sp>
        <p:nvSpPr>
          <p:cNvPr id="13" name="text-80">
            <a:extLst xmlns:a="http://schemas.openxmlformats.org/drawingml/2006/main">
              <a:ext uri="{FF2B5EF4-FFF2-40B4-BE49-F238E27FC236}">
                <a16:creationId xmlns:a16="http://schemas.microsoft.com/office/drawing/2014/main" id="{449E59F5-E464-4EB4-8F26-88DFC5B04DA1}"/>
              </a:ext>
            </a:extLst>
          </p:cNvPr>
          <p:cNvSpPr>
            <a:spLocks xmlns:a="http://schemas.openxmlformats.org/drawingml/2006/main" noGrp="1"/>
          </p:cNvSpPr>
          <p:nvPr/>
        </p:nvSpPr>
        <p:spPr>
          <a:xfrm xmlns:a="http://schemas.openxmlformats.org/drawingml/2006/main">
            <a:off x="6619875" y="38481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One source harvest batch per processed lot</a:t>
            </a:r>
          </a:p>
        </p:txBody>
      </p:sp>
      <p:sp>
        <p:nvSpPr>
          <p:cNvPr id="14" name="text-81">
            <a:extLst xmlns:a="http://schemas.openxmlformats.org/drawingml/2006/main">
              <a:ext uri="{FF2B5EF4-FFF2-40B4-BE49-F238E27FC236}">
                <a16:creationId xmlns:a16="http://schemas.microsoft.com/office/drawing/2014/main" id="{E66418BC-398E-4BC0-B8F9-C9609E3A8C4D}"/>
              </a:ext>
            </a:extLst>
          </p:cNvPr>
          <p:cNvSpPr>
            <a:spLocks xmlns:a="http://schemas.openxmlformats.org/drawingml/2006/main" noGrp="1"/>
          </p:cNvSpPr>
          <p:nvPr/>
        </p:nvSpPr>
        <p:spPr>
          <a:xfrm xmlns:a="http://schemas.openxmlformats.org/drawingml/2006/main">
            <a:off x="6619875" y="44767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QR artwork included. Partners handle physical printing</a:t>
            </a:r>
          </a:p>
        </p:txBody>
      </p:sp>
      <p:sp>
        <p:nvSpPr>
          <p:cNvPr id="15" name="text-82">
            <a:extLst xmlns:a="http://schemas.openxmlformats.org/drawingml/2006/main">
              <a:ext uri="{FF2B5EF4-FFF2-40B4-BE49-F238E27FC236}">
                <a16:creationId xmlns:a16="http://schemas.microsoft.com/office/drawing/2014/main" id="{BDC92B60-EC6A-4D59-A3C5-FF48BE5E6FB9}"/>
              </a:ext>
            </a:extLst>
          </p:cNvPr>
          <p:cNvSpPr>
            <a:spLocks xmlns:a="http://schemas.openxmlformats.org/drawingml/2006/main" noGrp="1"/>
          </p:cNvSpPr>
          <p:nvPr/>
        </p:nvSpPr>
        <p:spPr>
          <a:xfrm xmlns:a="http://schemas.openxmlformats.org/drawingml/2006/main">
            <a:off x="6619875" y="51054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E-commerce, full ERP stock control and external integrations need separate scope</a:t>
            </a:r>
          </a:p>
        </p:txBody>
      </p:sp>
      <p:sp>
        <p:nvSpPr>
          <p:cNvPr id="16" name="divider-83">
            <a:extLst xmlns:a="http://schemas.openxmlformats.org/drawingml/2006/main">
              <a:ext uri="{FF2B5EF4-FFF2-40B4-BE49-F238E27FC236}">
                <a16:creationId xmlns:a16="http://schemas.microsoft.com/office/drawing/2014/main" id="{5CC6A335-F804-4C44-BBD1-F8416E6F6441}"/>
              </a:ext>
            </a:extLst>
          </p:cNvPr>
          <p:cNvSpPr>
            <a:spLocks xmlns:a="http://schemas.openxmlformats.org/drawingml/2006/main" noGrp="1"/>
          </p:cNvSpPr>
          <p:nvPr/>
        </p:nvSpPr>
        <p:spPr>
          <a:xfrm xmlns:a="http://schemas.openxmlformats.org/drawingml/2006/main">
            <a:off x="609600" y="5791200"/>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7" name="text-84">
            <a:extLst xmlns:a="http://schemas.openxmlformats.org/drawingml/2006/main">
              <a:ext uri="{FF2B5EF4-FFF2-40B4-BE49-F238E27FC236}">
                <a16:creationId xmlns:a16="http://schemas.microsoft.com/office/drawing/2014/main" id="{AEF4470D-7B4F-4217-8770-F142E04F4A17}"/>
              </a:ext>
            </a:extLst>
          </p:cNvPr>
          <p:cNvSpPr>
            <a:spLocks xmlns:a="http://schemas.openxmlformats.org/drawingml/2006/main" noGrp="1"/>
          </p:cNvSpPr>
          <p:nvPr/>
        </p:nvSpPr>
        <p:spPr>
          <a:xfrm xmlns:a="http://schemas.openxmlformats.org/drawingml/2006/main">
            <a:off x="609600" y="60483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5583C"/>
                </a:solidFill>
                <a:latin typeface="Arial"/>
                <a:ea typeface="Arial"/>
                <a:cs typeface="Arial"/>
              </a:defRPr>
            </a:pPr>
            <a:r>
              <a:rPr sz="1575" b="0">
                <a:solidFill>
                  <a:srgbClr val="35583C"/>
                </a:solidFill>
                <a:latin typeface="Arial"/>
                <a:ea typeface="Arial"/>
                <a:cs typeface="Arial"/>
              </a:rPr>
              <a:t>Confirm any new feature or changed workflow through a separate scope agreement.</a:t>
            </a:r>
          </a:p>
        </p:txBody>
      </p:sp>
    </p:spTree>
    <p:extLst>
      <p:ext uri="{BB962C8B-B14F-4D97-AF65-F5344CB8AC3E}">
        <p14:creationId xmlns:p14="http://schemas.microsoft.com/office/powerpoint/2010/main" val="1490856377"/>
      </p:ext>
    </p:extLst>
  </p:cSld>
</p:sld>
</file>

<file path=ppt/slides/slide17.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15FEFD8C-CBB3-457A-A9A6-0284AC2098F0}"/>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Pilot acceptance and client inputs</a:t>
            </a:r>
          </a:p>
        </p:txBody>
      </p:sp>
      <p:sp>
        <p:nvSpPr>
          <p:cNvPr id="2" name="slide-subtitle">
            <a:extLst xmlns:a="http://schemas.openxmlformats.org/drawingml/2006/main">
              <a:ext uri="{FF2B5EF4-FFF2-40B4-BE49-F238E27FC236}">
                <a16:creationId xmlns:a16="http://schemas.microsoft.com/office/drawing/2014/main" id="{52BB53B5-3772-4B45-B578-A4D465A0DDE9}"/>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Review working features on staging before the production launch.</a:t>
            </a:r>
          </a:p>
        </p:txBody>
      </p:sp>
      <p:sp>
        <p:nvSpPr>
          <p:cNvPr id="3" name="footer">
            <a:extLst xmlns:a="http://schemas.openxmlformats.org/drawingml/2006/main">
              <a:ext uri="{FF2B5EF4-FFF2-40B4-BE49-F238E27FC236}">
                <a16:creationId xmlns:a16="http://schemas.microsoft.com/office/drawing/2014/main" id="{0D17ADFA-C211-47B7-9098-3C12A3FDC377}"/>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3B879E52-E59F-421F-82B7-932651CF90C5}"/>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17</a:t>
            </a:r>
          </a:p>
        </p:txBody>
      </p:sp>
      <p:sp>
        <p:nvSpPr>
          <p:cNvPr id="5" name="text-85">
            <a:extLst xmlns:a="http://schemas.openxmlformats.org/drawingml/2006/main">
              <a:ext uri="{FF2B5EF4-FFF2-40B4-BE49-F238E27FC236}">
                <a16:creationId xmlns:a16="http://schemas.microsoft.com/office/drawing/2014/main" id="{82D87ED1-CBAA-4E84-B134-D5F27C0B2967}"/>
              </a:ext>
            </a:extLst>
          </p:cNvPr>
          <p:cNvSpPr>
            <a:spLocks xmlns:a="http://schemas.openxmlformats.org/drawingml/2006/main" noGrp="1"/>
          </p:cNvSpPr>
          <p:nvPr/>
        </p:nvSpPr>
        <p:spPr>
          <a:xfrm xmlns:a="http://schemas.openxmlformats.org/drawingml/2006/main">
            <a:off x="609600" y="2495550"/>
            <a:ext cx="528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Acceptance checks</a:t>
            </a:r>
          </a:p>
        </p:txBody>
      </p:sp>
      <p:sp>
        <p:nvSpPr>
          <p:cNvPr id="6" name="text-86">
            <a:extLst xmlns:a="http://schemas.openxmlformats.org/drawingml/2006/main">
              <a:ext uri="{FF2B5EF4-FFF2-40B4-BE49-F238E27FC236}">
                <a16:creationId xmlns:a16="http://schemas.microsoft.com/office/drawing/2014/main" id="{A4899C46-29DF-49CE-B300-0A392528D172}"/>
              </a:ext>
            </a:extLst>
          </p:cNvPr>
          <p:cNvSpPr>
            <a:spLocks xmlns:a="http://schemas.openxmlformats.org/drawingml/2006/main" noGrp="1"/>
          </p:cNvSpPr>
          <p:nvPr/>
        </p:nvSpPr>
        <p:spPr>
          <a:xfrm xmlns:a="http://schemas.openxmlformats.org/drawingml/2006/main">
            <a:off x="609600" y="32194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 complete farming-to-recipient batch journey</a:t>
            </a:r>
          </a:p>
        </p:txBody>
      </p:sp>
      <p:sp>
        <p:nvSpPr>
          <p:cNvPr id="7" name="text-87">
            <a:extLst xmlns:a="http://schemas.openxmlformats.org/drawingml/2006/main">
              <a:ext uri="{FF2B5EF4-FFF2-40B4-BE49-F238E27FC236}">
                <a16:creationId xmlns:a16="http://schemas.microsoft.com/office/drawing/2014/main" id="{ABB86548-00C4-4E42-A99A-F78217E3BAB0}"/>
              </a:ext>
            </a:extLst>
          </p:cNvPr>
          <p:cNvSpPr>
            <a:spLocks xmlns:a="http://schemas.openxmlformats.org/drawingml/2006/main" noGrp="1"/>
          </p:cNvSpPr>
          <p:nvPr/>
        </p:nvSpPr>
        <p:spPr>
          <a:xfrm xmlns:a="http://schemas.openxmlformats.org/drawingml/2006/main">
            <a:off x="609600" y="37147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Saved records after refresh and re-login</a:t>
            </a:r>
          </a:p>
        </p:txBody>
      </p:sp>
      <p:sp>
        <p:nvSpPr>
          <p:cNvPr id="8" name="text-88">
            <a:extLst xmlns:a="http://schemas.openxmlformats.org/drawingml/2006/main">
              <a:ext uri="{FF2B5EF4-FFF2-40B4-BE49-F238E27FC236}">
                <a16:creationId xmlns:a16="http://schemas.microsoft.com/office/drawing/2014/main" id="{028347AD-D8C8-4F72-9EED-89985B433B09}"/>
              </a:ext>
            </a:extLst>
          </p:cNvPr>
          <p:cNvSpPr>
            <a:spLocks xmlns:a="http://schemas.openxmlformats.org/drawingml/2006/main" noGrp="1"/>
          </p:cNvSpPr>
          <p:nvPr/>
        </p:nvSpPr>
        <p:spPr>
          <a:xfrm xmlns:a="http://schemas.openxmlformats.org/drawingml/2006/main">
            <a:off x="609600" y="42100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Enforced public and private access</a:t>
            </a:r>
          </a:p>
        </p:txBody>
      </p:sp>
      <p:sp>
        <p:nvSpPr>
          <p:cNvPr id="9" name="text-89">
            <a:extLst xmlns:a="http://schemas.openxmlformats.org/drawingml/2006/main">
              <a:ext uri="{FF2B5EF4-FFF2-40B4-BE49-F238E27FC236}">
                <a16:creationId xmlns:a16="http://schemas.microsoft.com/office/drawing/2014/main" id="{02286ACA-E291-44EF-95F8-52753C8B03E9}"/>
              </a:ext>
            </a:extLst>
          </p:cNvPr>
          <p:cNvSpPr>
            <a:spLocks xmlns:a="http://schemas.openxmlformats.org/drawingml/2006/main" noGrp="1"/>
          </p:cNvSpPr>
          <p:nvPr/>
        </p:nvSpPr>
        <p:spPr>
          <a:xfrm xmlns:a="http://schemas.openxmlformats.org/drawingml/2006/main">
            <a:off x="609600" y="47053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Correct production QR destinations</a:t>
            </a:r>
          </a:p>
        </p:txBody>
      </p:sp>
      <p:sp>
        <p:nvSpPr>
          <p:cNvPr id="10" name="text-90">
            <a:extLst xmlns:a="http://schemas.openxmlformats.org/drawingml/2006/main">
              <a:ext uri="{FF2B5EF4-FFF2-40B4-BE49-F238E27FC236}">
                <a16:creationId xmlns:a16="http://schemas.microsoft.com/office/drawing/2014/main" id="{BF068C6C-DD48-4A46-A0AA-4899F9F88694}"/>
              </a:ext>
            </a:extLst>
          </p:cNvPr>
          <p:cNvSpPr>
            <a:spLocks xmlns:a="http://schemas.openxmlformats.org/drawingml/2006/main" noGrp="1"/>
          </p:cNvSpPr>
          <p:nvPr/>
        </p:nvSpPr>
        <p:spPr>
          <a:xfrm xmlns:a="http://schemas.openxmlformats.org/drawingml/2006/main">
            <a:off x="609600" y="52006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Mobile, keyboard and reduced-motion checks</a:t>
            </a:r>
          </a:p>
        </p:txBody>
      </p:sp>
      <p:sp>
        <p:nvSpPr>
          <p:cNvPr id="11" name="text-91">
            <a:extLst xmlns:a="http://schemas.openxmlformats.org/drawingml/2006/main">
              <a:ext uri="{FF2B5EF4-FFF2-40B4-BE49-F238E27FC236}">
                <a16:creationId xmlns:a16="http://schemas.microsoft.com/office/drawing/2014/main" id="{ADAF8F3B-51B7-477C-B209-0C3963F7EF9D}"/>
              </a:ext>
            </a:extLst>
          </p:cNvPr>
          <p:cNvSpPr>
            <a:spLocks xmlns:a="http://schemas.openxmlformats.org/drawingml/2006/main" noGrp="1"/>
          </p:cNvSpPr>
          <p:nvPr/>
        </p:nvSpPr>
        <p:spPr>
          <a:xfrm xmlns:a="http://schemas.openxmlformats.org/drawingml/2006/main">
            <a:off x="6619875" y="2495550"/>
            <a:ext cx="4962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Client inputs</a:t>
            </a:r>
          </a:p>
        </p:txBody>
      </p:sp>
      <p:sp>
        <p:nvSpPr>
          <p:cNvPr id="12" name="text-92">
            <a:extLst xmlns:a="http://schemas.openxmlformats.org/drawingml/2006/main">
              <a:ext uri="{FF2B5EF4-FFF2-40B4-BE49-F238E27FC236}">
                <a16:creationId xmlns:a16="http://schemas.microsoft.com/office/drawing/2014/main" id="{70A00C60-9E55-482D-8294-67760095F3BD}"/>
              </a:ext>
            </a:extLst>
          </p:cNvPr>
          <p:cNvSpPr>
            <a:spLocks xmlns:a="http://schemas.openxmlformats.org/drawingml/2006/main" noGrp="1"/>
          </p:cNvSpPr>
          <p:nvPr/>
        </p:nvSpPr>
        <p:spPr>
          <a:xfrm xmlns:a="http://schemas.openxmlformats.org/drawingml/2006/main">
            <a:off x="6619875" y="32194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Approved identity, photographs and leadership roles</a:t>
            </a:r>
          </a:p>
        </p:txBody>
      </p:sp>
      <p:sp>
        <p:nvSpPr>
          <p:cNvPr id="13" name="text-93">
            <a:extLst xmlns:a="http://schemas.openxmlformats.org/drawingml/2006/main">
              <a:ext uri="{FF2B5EF4-FFF2-40B4-BE49-F238E27FC236}">
                <a16:creationId xmlns:a16="http://schemas.microsoft.com/office/drawing/2014/main" id="{96382EB1-1B94-4C1A-9A29-C7A9E8CE44BE}"/>
              </a:ext>
            </a:extLst>
          </p:cNvPr>
          <p:cNvSpPr>
            <a:spLocks xmlns:a="http://schemas.openxmlformats.org/drawingml/2006/main" noGrp="1"/>
          </p:cNvSpPr>
          <p:nvPr/>
        </p:nvSpPr>
        <p:spPr>
          <a:xfrm xmlns:a="http://schemas.openxmlformats.org/drawingml/2006/main">
            <a:off x="6619875" y="38481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Farm, produce, batch and partner records</a:t>
            </a:r>
          </a:p>
        </p:txBody>
      </p:sp>
      <p:sp>
        <p:nvSpPr>
          <p:cNvPr id="14" name="text-94">
            <a:extLst xmlns:a="http://schemas.openxmlformats.org/drawingml/2006/main">
              <a:ext uri="{FF2B5EF4-FFF2-40B4-BE49-F238E27FC236}">
                <a16:creationId xmlns:a16="http://schemas.microsoft.com/office/drawing/2014/main" id="{3F4717F0-416D-4328-A57C-97B41BF8581C}"/>
              </a:ext>
            </a:extLst>
          </p:cNvPr>
          <p:cNvSpPr>
            <a:spLocks xmlns:a="http://schemas.openxmlformats.org/drawingml/2006/main" noGrp="1"/>
          </p:cNvSpPr>
          <p:nvPr/>
        </p:nvSpPr>
        <p:spPr>
          <a:xfrm xmlns:a="http://schemas.openxmlformats.org/drawingml/2006/main">
            <a:off x="6619875" y="44767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Role assignments and public-field approval</a:t>
            </a:r>
          </a:p>
        </p:txBody>
      </p:sp>
      <p:sp>
        <p:nvSpPr>
          <p:cNvPr id="15" name="text-95">
            <a:extLst xmlns:a="http://schemas.openxmlformats.org/drawingml/2006/main">
              <a:ext uri="{FF2B5EF4-FFF2-40B4-BE49-F238E27FC236}">
                <a16:creationId xmlns:a16="http://schemas.microsoft.com/office/drawing/2014/main" id="{57900974-8046-4169-8F1F-5EC3E614689A}"/>
              </a:ext>
            </a:extLst>
          </p:cNvPr>
          <p:cNvSpPr>
            <a:spLocks xmlns:a="http://schemas.openxmlformats.org/drawingml/2006/main" noGrp="1"/>
          </p:cNvSpPr>
          <p:nvPr/>
        </p:nvSpPr>
        <p:spPr>
          <a:xfrm xmlns:a="http://schemas.openxmlformats.org/drawingml/2006/main">
            <a:off x="6619875" y="51054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Client-owned deployment accounts and review feedback</a:t>
            </a:r>
          </a:p>
        </p:txBody>
      </p:sp>
      <p:sp>
        <p:nvSpPr>
          <p:cNvPr id="16" name="divider-96">
            <a:extLst xmlns:a="http://schemas.openxmlformats.org/drawingml/2006/main">
              <a:ext uri="{FF2B5EF4-FFF2-40B4-BE49-F238E27FC236}">
                <a16:creationId xmlns:a16="http://schemas.microsoft.com/office/drawing/2014/main" id="{12ECB1DB-9128-4198-9736-4B6F046B8C1E}"/>
              </a:ext>
            </a:extLst>
          </p:cNvPr>
          <p:cNvSpPr>
            <a:spLocks xmlns:a="http://schemas.openxmlformats.org/drawingml/2006/main" noGrp="1"/>
          </p:cNvSpPr>
          <p:nvPr/>
        </p:nvSpPr>
        <p:spPr>
          <a:xfrm xmlns:a="http://schemas.openxmlformats.org/drawingml/2006/main">
            <a:off x="609600" y="5791200"/>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7" name="text-97">
            <a:extLst xmlns:a="http://schemas.openxmlformats.org/drawingml/2006/main">
              <a:ext uri="{FF2B5EF4-FFF2-40B4-BE49-F238E27FC236}">
                <a16:creationId xmlns:a16="http://schemas.microsoft.com/office/drawing/2014/main" id="{89E7DB96-1800-4D51-A27C-98DFA34F1B45}"/>
              </a:ext>
            </a:extLst>
          </p:cNvPr>
          <p:cNvSpPr>
            <a:spLocks xmlns:a="http://schemas.openxmlformats.org/drawingml/2006/main" noGrp="1"/>
          </p:cNvSpPr>
          <p:nvPr/>
        </p:nvSpPr>
        <p:spPr>
          <a:xfrm xmlns:a="http://schemas.openxmlformats.org/drawingml/2006/main">
            <a:off x="609600" y="60483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5583C"/>
                </a:solidFill>
                <a:latin typeface="Arial"/>
                <a:ea typeface="Arial"/>
                <a:cs typeface="Arial"/>
              </a:defRPr>
            </a:pPr>
            <a:r>
              <a:rPr sz="1425" b="0">
                <a:solidFill>
                  <a:srgbClr val="35583C"/>
                </a:solidFill>
                <a:latin typeface="Arial"/>
                <a:ea typeface="Arial"/>
                <a:cs typeface="Arial"/>
              </a:rPr>
              <a:t>Assisted setup: 10 farms, 20 batches and 25 accounts. These are onboarding allowances, not record limits.</a:t>
            </a:r>
          </a:p>
        </p:txBody>
      </p:sp>
    </p:spTree>
    <p:extLst>
      <p:ext uri="{BB962C8B-B14F-4D97-AF65-F5344CB8AC3E}">
        <p14:creationId xmlns:p14="http://schemas.microsoft.com/office/powerpoint/2010/main" val="957812403"/>
      </p:ext>
    </p:extLst>
  </p:cSld>
</p:sld>
</file>

<file path=ppt/slides/slide18.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9D63C5D2-2B34-4A31-A15B-9F647481B123}"/>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How should we work together?</a:t>
            </a:r>
          </a:p>
        </p:txBody>
      </p:sp>
      <p:sp>
        <p:nvSpPr>
          <p:cNvPr id="2" name="footer">
            <a:extLst xmlns:a="http://schemas.openxmlformats.org/drawingml/2006/main">
              <a:ext uri="{FF2B5EF4-FFF2-40B4-BE49-F238E27FC236}">
                <a16:creationId xmlns:a16="http://schemas.microsoft.com/office/drawing/2014/main" id="{475E5603-7F60-49B0-91C3-F2DDB0F2E28A}"/>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3" name="slide-number">
            <a:extLst xmlns:a="http://schemas.openxmlformats.org/drawingml/2006/main">
              <a:ext uri="{FF2B5EF4-FFF2-40B4-BE49-F238E27FC236}">
                <a16:creationId xmlns:a16="http://schemas.microsoft.com/office/drawing/2014/main" id="{C36CB7CC-0302-4784-9CC6-23B852F9FC6F}"/>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18</a:t>
            </a:r>
          </a:p>
        </p:txBody>
      </p:sp>
      <p:sp>
        <p:nvSpPr>
          <p:cNvPr id="4" name="text-98">
            <a:extLst xmlns:a="http://schemas.openxmlformats.org/drawingml/2006/main">
              <a:ext uri="{FF2B5EF4-FFF2-40B4-BE49-F238E27FC236}">
                <a16:creationId xmlns:a16="http://schemas.microsoft.com/office/drawing/2014/main" id="{7E9C1695-3543-48E1-B646-E3DE8FC4F0B1}"/>
              </a:ext>
            </a:extLst>
          </p:cNvPr>
          <p:cNvSpPr>
            <a:spLocks xmlns:a="http://schemas.openxmlformats.org/drawingml/2006/main" noGrp="1"/>
          </p:cNvSpPr>
          <p:nvPr/>
        </p:nvSpPr>
        <p:spPr>
          <a:xfrm xmlns:a="http://schemas.openxmlformats.org/drawingml/2006/main">
            <a:off x="609600" y="1619250"/>
            <a:ext cx="1066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35583C"/>
                </a:solidFill>
                <a:latin typeface="Arial"/>
                <a:ea typeface="Arial"/>
                <a:cs typeface="Arial"/>
              </a:defRPr>
            </a:pPr>
            <a:r>
              <a:rPr sz="2625" b="0">
                <a:solidFill>
                  <a:srgbClr val="35583C"/>
                </a:solidFill>
                <a:latin typeface="Arial"/>
                <a:ea typeface="Arial"/>
                <a:cs typeface="Arial"/>
              </a:rPr>
              <a:t>Will this be project-based, a service contract for an agreed period, or direct employment?</a:t>
            </a:r>
          </a:p>
        </p:txBody>
      </p:sp>
      <p:sp>
        <p:nvSpPr>
          <p:cNvPr id="5" name="text-99">
            <a:extLst xmlns:a="http://schemas.openxmlformats.org/drawingml/2006/main">
              <a:ext uri="{FF2B5EF4-FFF2-40B4-BE49-F238E27FC236}">
                <a16:creationId xmlns:a16="http://schemas.microsoft.com/office/drawing/2014/main" id="{F882B0A5-A0CD-4DB6-B5FF-8060F6A3BE7F}"/>
              </a:ext>
            </a:extLst>
          </p:cNvPr>
          <p:cNvSpPr>
            <a:spLocks xmlns:a="http://schemas.openxmlformats.org/drawingml/2006/main" noGrp="1"/>
          </p:cNvSpPr>
          <p:nvPr/>
        </p:nvSpPr>
        <p:spPr>
          <a:xfrm xmlns:a="http://schemas.openxmlformats.org/drawingml/2006/main">
            <a:off x="609600" y="3314700"/>
            <a:ext cx="335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Project-based</a:t>
            </a:r>
          </a:p>
        </p:txBody>
      </p:sp>
      <p:sp>
        <p:nvSpPr>
          <p:cNvPr id="6" name="text-100">
            <a:extLst xmlns:a="http://schemas.openxmlformats.org/drawingml/2006/main">
              <a:ext uri="{FF2B5EF4-FFF2-40B4-BE49-F238E27FC236}">
                <a16:creationId xmlns:a16="http://schemas.microsoft.com/office/drawing/2014/main" id="{6BA59413-C01D-49E9-A95C-311C5F05C347}"/>
              </a:ext>
            </a:extLst>
          </p:cNvPr>
          <p:cNvSpPr>
            <a:spLocks xmlns:a="http://schemas.openxmlformats.org/drawingml/2006/main" noGrp="1"/>
          </p:cNvSpPr>
          <p:nvPr/>
        </p:nvSpPr>
        <p:spPr>
          <a:xfrm xmlns:a="http://schemas.openxmlformats.org/drawingml/2006/main">
            <a:off x="609600" y="4057650"/>
            <a:ext cx="335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Deliver the defined MVP through agreed milestones and a handover.</a:t>
            </a:r>
          </a:p>
        </p:txBody>
      </p:sp>
      <p:sp>
        <p:nvSpPr>
          <p:cNvPr id="7" name="divider-101">
            <a:extLst xmlns:a="http://schemas.openxmlformats.org/drawingml/2006/main">
              <a:ext uri="{FF2B5EF4-FFF2-40B4-BE49-F238E27FC236}">
                <a16:creationId xmlns:a16="http://schemas.microsoft.com/office/drawing/2014/main" id="{8E825BA9-ADD9-4582-AB1B-627C4F14D6CB}"/>
              </a:ext>
            </a:extLst>
          </p:cNvPr>
          <p:cNvSpPr>
            <a:spLocks xmlns:a="http://schemas.openxmlformats.org/drawingml/2006/main" noGrp="1"/>
          </p:cNvSpPr>
          <p:nvPr/>
        </p:nvSpPr>
        <p:spPr>
          <a:xfrm xmlns:a="http://schemas.openxmlformats.org/drawingml/2006/main">
            <a:off x="609600" y="5114925"/>
            <a:ext cx="335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8" name="text-102">
            <a:extLst xmlns:a="http://schemas.openxmlformats.org/drawingml/2006/main">
              <a:ext uri="{FF2B5EF4-FFF2-40B4-BE49-F238E27FC236}">
                <a16:creationId xmlns:a16="http://schemas.microsoft.com/office/drawing/2014/main" id="{0ED822E7-9261-4101-B7C5-2478559281D7}"/>
              </a:ext>
            </a:extLst>
          </p:cNvPr>
          <p:cNvSpPr>
            <a:spLocks xmlns:a="http://schemas.openxmlformats.org/drawingml/2006/main" noGrp="1"/>
          </p:cNvSpPr>
          <p:nvPr/>
        </p:nvSpPr>
        <p:spPr>
          <a:xfrm xmlns:a="http://schemas.openxmlformats.org/drawingml/2006/main">
            <a:off x="609600" y="5372100"/>
            <a:ext cx="335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5583C"/>
                </a:solidFill>
                <a:latin typeface="Arial"/>
                <a:ea typeface="Arial"/>
                <a:cs typeface="Arial"/>
              </a:defRPr>
            </a:pPr>
            <a:r>
              <a:rPr sz="1500" b="0">
                <a:solidFill>
                  <a:srgbClr val="35583C"/>
                </a:solidFill>
                <a:latin typeface="Arial"/>
                <a:ea typeface="Arial"/>
                <a:cs typeface="Arial"/>
              </a:rPr>
              <a:t>Does the engagement end after MVP acceptance and launch support?</a:t>
            </a:r>
          </a:p>
        </p:txBody>
      </p:sp>
      <p:sp>
        <p:nvSpPr>
          <p:cNvPr id="9" name="text-103">
            <a:extLst xmlns:a="http://schemas.openxmlformats.org/drawingml/2006/main">
              <a:ext uri="{FF2B5EF4-FFF2-40B4-BE49-F238E27FC236}">
                <a16:creationId xmlns:a16="http://schemas.microsoft.com/office/drawing/2014/main" id="{6C88525D-DF5C-41C1-89DF-FAAEB0FE2666}"/>
              </a:ext>
            </a:extLst>
          </p:cNvPr>
          <p:cNvSpPr>
            <a:spLocks xmlns:a="http://schemas.openxmlformats.org/drawingml/2006/main" noGrp="1"/>
          </p:cNvSpPr>
          <p:nvPr/>
        </p:nvSpPr>
        <p:spPr>
          <a:xfrm xmlns:a="http://schemas.openxmlformats.org/drawingml/2006/main">
            <a:off x="4419600" y="3314700"/>
            <a:ext cx="335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Service contract</a:t>
            </a:r>
          </a:p>
        </p:txBody>
      </p:sp>
      <p:sp>
        <p:nvSpPr>
          <p:cNvPr id="10" name="text-104">
            <a:extLst xmlns:a="http://schemas.openxmlformats.org/drawingml/2006/main">
              <a:ext uri="{FF2B5EF4-FFF2-40B4-BE49-F238E27FC236}">
                <a16:creationId xmlns:a16="http://schemas.microsoft.com/office/drawing/2014/main" id="{DC2CEFCB-BE1F-44AD-92EA-7A80BAF9C797}"/>
              </a:ext>
            </a:extLst>
          </p:cNvPr>
          <p:cNvSpPr>
            <a:spLocks xmlns:a="http://schemas.openxmlformats.org/drawingml/2006/main" noGrp="1"/>
          </p:cNvSpPr>
          <p:nvPr/>
        </p:nvSpPr>
        <p:spPr>
          <a:xfrm xmlns:a="http://schemas.openxmlformats.org/drawingml/2006/main">
            <a:off x="4419600" y="4057650"/>
            <a:ext cx="335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Provide development and support over an agreed period.</a:t>
            </a:r>
          </a:p>
        </p:txBody>
      </p:sp>
      <p:sp>
        <p:nvSpPr>
          <p:cNvPr id="11" name="divider-105">
            <a:extLst xmlns:a="http://schemas.openxmlformats.org/drawingml/2006/main">
              <a:ext uri="{FF2B5EF4-FFF2-40B4-BE49-F238E27FC236}">
                <a16:creationId xmlns:a16="http://schemas.microsoft.com/office/drawing/2014/main" id="{F822EAC3-138C-4644-B863-99563C35B92C}"/>
              </a:ext>
            </a:extLst>
          </p:cNvPr>
          <p:cNvSpPr>
            <a:spLocks xmlns:a="http://schemas.openxmlformats.org/drawingml/2006/main" noGrp="1"/>
          </p:cNvSpPr>
          <p:nvPr/>
        </p:nvSpPr>
        <p:spPr>
          <a:xfrm xmlns:a="http://schemas.openxmlformats.org/drawingml/2006/main">
            <a:off x="4419600" y="5114925"/>
            <a:ext cx="335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2" name="text-106">
            <a:extLst xmlns:a="http://schemas.openxmlformats.org/drawingml/2006/main">
              <a:ext uri="{FF2B5EF4-FFF2-40B4-BE49-F238E27FC236}">
                <a16:creationId xmlns:a16="http://schemas.microsoft.com/office/drawing/2014/main" id="{0DCA8F04-4286-4A62-890F-96F2E1DFC9C1}"/>
              </a:ext>
            </a:extLst>
          </p:cNvPr>
          <p:cNvSpPr>
            <a:spLocks xmlns:a="http://schemas.openxmlformats.org/drawingml/2006/main" noGrp="1"/>
          </p:cNvSpPr>
          <p:nvPr/>
        </p:nvSpPr>
        <p:spPr>
          <a:xfrm xmlns:a="http://schemas.openxmlformats.org/drawingml/2006/main">
            <a:off x="4419600" y="5372100"/>
            <a:ext cx="335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5583C"/>
                </a:solidFill>
                <a:latin typeface="Arial"/>
                <a:ea typeface="Arial"/>
                <a:cs typeface="Arial"/>
              </a:defRPr>
            </a:pPr>
            <a:r>
              <a:rPr sz="1500" b="0">
                <a:solidFill>
                  <a:srgbClr val="35583C"/>
                </a:solidFill>
                <a:latin typeface="Arial"/>
                <a:ea typeface="Arial"/>
                <a:cs typeface="Arial"/>
              </a:rPr>
              <a:t>What duration, work commitment and ongoing support do you expect?</a:t>
            </a:r>
          </a:p>
        </p:txBody>
      </p:sp>
      <p:sp>
        <p:nvSpPr>
          <p:cNvPr id="13" name="text-107">
            <a:extLst xmlns:a="http://schemas.openxmlformats.org/drawingml/2006/main">
              <a:ext uri="{FF2B5EF4-FFF2-40B4-BE49-F238E27FC236}">
                <a16:creationId xmlns:a16="http://schemas.microsoft.com/office/drawing/2014/main" id="{2062A643-E4DC-4AA0-B9E9-17CF0E9AA080}"/>
              </a:ext>
            </a:extLst>
          </p:cNvPr>
          <p:cNvSpPr>
            <a:spLocks xmlns:a="http://schemas.openxmlformats.org/drawingml/2006/main" noGrp="1"/>
          </p:cNvSpPr>
          <p:nvPr/>
        </p:nvSpPr>
        <p:spPr>
          <a:xfrm xmlns:a="http://schemas.openxmlformats.org/drawingml/2006/main">
            <a:off x="8229600" y="3314700"/>
            <a:ext cx="335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Direct employment</a:t>
            </a:r>
          </a:p>
        </p:txBody>
      </p:sp>
      <p:sp>
        <p:nvSpPr>
          <p:cNvPr id="14" name="text-108">
            <a:extLst xmlns:a="http://schemas.openxmlformats.org/drawingml/2006/main">
              <a:ext uri="{FF2B5EF4-FFF2-40B4-BE49-F238E27FC236}">
                <a16:creationId xmlns:a16="http://schemas.microsoft.com/office/drawing/2014/main" id="{1DB4DCA5-D524-46A6-BE5C-999CF8854C04}"/>
              </a:ext>
            </a:extLst>
          </p:cNvPr>
          <p:cNvSpPr>
            <a:spLocks xmlns:a="http://schemas.openxmlformats.org/drawingml/2006/main" noGrp="1"/>
          </p:cNvSpPr>
          <p:nvPr/>
        </p:nvSpPr>
        <p:spPr>
          <a:xfrm xmlns:a="http://schemas.openxmlformats.org/drawingml/2006/main">
            <a:off x="8229600" y="4057650"/>
            <a:ext cx="335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Join the team in a role that supports the system and broader priorities.</a:t>
            </a:r>
          </a:p>
        </p:txBody>
      </p:sp>
      <p:sp>
        <p:nvSpPr>
          <p:cNvPr id="15" name="divider-109">
            <a:extLst xmlns:a="http://schemas.openxmlformats.org/drawingml/2006/main">
              <a:ext uri="{FF2B5EF4-FFF2-40B4-BE49-F238E27FC236}">
                <a16:creationId xmlns:a16="http://schemas.microsoft.com/office/drawing/2014/main" id="{C97C5E86-AF32-4E2D-8D46-CD7891CFD4C4}"/>
              </a:ext>
            </a:extLst>
          </p:cNvPr>
          <p:cNvSpPr>
            <a:spLocks xmlns:a="http://schemas.openxmlformats.org/drawingml/2006/main" noGrp="1"/>
          </p:cNvSpPr>
          <p:nvPr/>
        </p:nvSpPr>
        <p:spPr>
          <a:xfrm xmlns:a="http://schemas.openxmlformats.org/drawingml/2006/main">
            <a:off x="8229600" y="5114925"/>
            <a:ext cx="335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6" name="text-110">
            <a:extLst xmlns:a="http://schemas.openxmlformats.org/drawingml/2006/main">
              <a:ext uri="{FF2B5EF4-FFF2-40B4-BE49-F238E27FC236}">
                <a16:creationId xmlns:a16="http://schemas.microsoft.com/office/drawing/2014/main" id="{626A5BCA-5F7E-4D52-9082-75CB66E61429}"/>
              </a:ext>
            </a:extLst>
          </p:cNvPr>
          <p:cNvSpPr>
            <a:spLocks xmlns:a="http://schemas.openxmlformats.org/drawingml/2006/main" noGrp="1"/>
          </p:cNvSpPr>
          <p:nvPr/>
        </p:nvSpPr>
        <p:spPr>
          <a:xfrm xmlns:a="http://schemas.openxmlformats.org/drawingml/2006/main">
            <a:off x="8229600" y="5372100"/>
            <a:ext cx="335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5583C"/>
                </a:solidFill>
                <a:latin typeface="Arial"/>
                <a:ea typeface="Arial"/>
                <a:cs typeface="Arial"/>
              </a:defRPr>
            </a:pPr>
            <a:r>
              <a:rPr sz="1500" b="0">
                <a:solidFill>
                  <a:srgbClr val="35583C"/>
                </a:solidFill>
                <a:latin typeface="Arial"/>
                <a:ea typeface="Arial"/>
                <a:cs typeface="Arial"/>
              </a:rPr>
              <a:t>What role, reporting line and responsibilities do you have in mind?</a:t>
            </a:r>
          </a:p>
        </p:txBody>
      </p:sp>
    </p:spTree>
    <p:extLst>
      <p:ext uri="{BB962C8B-B14F-4D97-AF65-F5344CB8AC3E}">
        <p14:creationId xmlns:p14="http://schemas.microsoft.com/office/powerpoint/2010/main" val="1713316878"/>
      </p:ext>
    </p:extLst>
  </p:cSld>
</p:sld>
</file>

<file path=ppt/slides/slide19.xml><?xml version="1.0" encoding="utf-8"?>
<p:sld xmlns:p="http://schemas.openxmlformats.org/presentationml/2006/main">
  <p:cSld>
    <p:bg>
      <p:bgPr>
        <a:solidFill xmlns:a="http://schemas.openxmlformats.org/drawingml/2006/main">
          <a:srgbClr val="542A69"/>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A774F1FF-504D-4FBB-88AE-8AA5A204283A}"/>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F6F3EA"/>
                </a:solidFill>
                <a:latin typeface="Georgia"/>
                <a:ea typeface="Georgia"/>
                <a:cs typeface="Georgia"/>
              </a:defRPr>
            </a:pPr>
            <a:r>
              <a:rPr sz="3300" b="0">
                <a:solidFill>
                  <a:srgbClr val="F6F3EA"/>
                </a:solidFill>
                <a:latin typeface="Georgia"/>
                <a:ea typeface="Georgia"/>
                <a:cs typeface="Georgia"/>
              </a:rPr>
              <a:t>Decisions for the client discussion</a:t>
            </a:r>
          </a:p>
        </p:txBody>
      </p:sp>
      <p:sp>
        <p:nvSpPr>
          <p:cNvPr id="2" name="footer">
            <a:extLst xmlns:a="http://schemas.openxmlformats.org/drawingml/2006/main">
              <a:ext uri="{FF2B5EF4-FFF2-40B4-BE49-F238E27FC236}">
                <a16:creationId xmlns:a16="http://schemas.microsoft.com/office/drawing/2014/main" id="{35BDE75C-14C2-4132-B1AD-B8347983C9FD}"/>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C2CE9F"/>
                </a:solidFill>
                <a:latin typeface="Arial"/>
                <a:ea typeface="Arial"/>
                <a:cs typeface="Arial"/>
              </a:defRPr>
            </a:pPr>
            <a:r>
              <a:rPr sz="900" b="0">
                <a:solidFill>
                  <a:srgbClr val="C2CE9F"/>
                </a:solidFill>
                <a:latin typeface="Arial"/>
                <a:ea typeface="Arial"/>
                <a:cs typeface="Arial"/>
              </a:rPr>
              <a:t>ROOTE ORIGIN SYSTEM</a:t>
            </a:r>
          </a:p>
        </p:txBody>
      </p:sp>
      <p:sp>
        <p:nvSpPr>
          <p:cNvPr id="3" name="slide-number">
            <a:extLst xmlns:a="http://schemas.openxmlformats.org/drawingml/2006/main">
              <a:ext uri="{FF2B5EF4-FFF2-40B4-BE49-F238E27FC236}">
                <a16:creationId xmlns:a16="http://schemas.microsoft.com/office/drawing/2014/main" id="{5C65FCBF-1EB2-436B-B0B5-64054B481F94}"/>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C2CE9F"/>
                </a:solidFill>
                <a:latin typeface="Arial"/>
                <a:ea typeface="Arial"/>
                <a:cs typeface="Arial"/>
              </a:defRPr>
            </a:pPr>
            <a:r>
              <a:rPr sz="1125" b="0">
                <a:solidFill>
                  <a:srgbClr val="C2CE9F"/>
                </a:solidFill>
                <a:latin typeface="Arial"/>
                <a:ea typeface="Arial"/>
                <a:cs typeface="Arial"/>
              </a:rPr>
              <a:t>19</a:t>
            </a:r>
          </a:p>
        </p:txBody>
      </p:sp>
      <p:sp>
        <p:nvSpPr>
          <p:cNvPr id="4" name="text-111">
            <a:extLst xmlns:a="http://schemas.openxmlformats.org/drawingml/2006/main">
              <a:ext uri="{FF2B5EF4-FFF2-40B4-BE49-F238E27FC236}">
                <a16:creationId xmlns:a16="http://schemas.microsoft.com/office/drawing/2014/main" id="{278657D7-8DE3-4DE3-9DC4-CE7DE7F5B4E7}"/>
              </a:ext>
            </a:extLst>
          </p:cNvPr>
          <p:cNvSpPr>
            <a:spLocks xmlns:a="http://schemas.openxmlformats.org/drawingml/2006/main" noGrp="1"/>
          </p:cNvSpPr>
          <p:nvPr/>
        </p:nvSpPr>
        <p:spPr>
          <a:xfrm xmlns:a="http://schemas.openxmlformats.org/drawingml/2006/main">
            <a:off x="609600" y="22574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Preferred design</a:t>
            </a:r>
          </a:p>
        </p:txBody>
      </p:sp>
      <p:sp>
        <p:nvSpPr>
          <p:cNvPr id="5" name="text-112">
            <a:extLst xmlns:a="http://schemas.openxmlformats.org/drawingml/2006/main">
              <a:ext uri="{FF2B5EF4-FFF2-40B4-BE49-F238E27FC236}">
                <a16:creationId xmlns:a16="http://schemas.microsoft.com/office/drawing/2014/main" id="{182D1BAB-AD15-4F00-9D8E-186ABCD4738C}"/>
              </a:ext>
            </a:extLst>
          </p:cNvPr>
          <p:cNvSpPr>
            <a:spLocks xmlns:a="http://schemas.openxmlformats.org/drawingml/2006/main" noGrp="1"/>
          </p:cNvSpPr>
          <p:nvPr/>
        </p:nvSpPr>
        <p:spPr>
          <a:xfrm xmlns:a="http://schemas.openxmlformats.org/drawingml/2006/main">
            <a:off x="609600" y="29337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Which of the three directions best represents the cooperative?</a:t>
            </a:r>
          </a:p>
        </p:txBody>
      </p:sp>
      <p:sp>
        <p:nvSpPr>
          <p:cNvPr id="6" name="text-113">
            <a:extLst xmlns:a="http://schemas.openxmlformats.org/drawingml/2006/main">
              <a:ext uri="{FF2B5EF4-FFF2-40B4-BE49-F238E27FC236}">
                <a16:creationId xmlns:a16="http://schemas.microsoft.com/office/drawing/2014/main" id="{2BB5656D-5C99-4524-86BE-83EEB247E774}"/>
              </a:ext>
            </a:extLst>
          </p:cNvPr>
          <p:cNvSpPr>
            <a:spLocks xmlns:a="http://schemas.openxmlformats.org/drawingml/2006/main" noGrp="1"/>
          </p:cNvSpPr>
          <p:nvPr/>
        </p:nvSpPr>
        <p:spPr>
          <a:xfrm xmlns:a="http://schemas.openxmlformats.org/drawingml/2006/main">
            <a:off x="6362700" y="22574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Pilot workflow</a:t>
            </a:r>
          </a:p>
        </p:txBody>
      </p:sp>
      <p:sp>
        <p:nvSpPr>
          <p:cNvPr id="7" name="text-114">
            <a:extLst xmlns:a="http://schemas.openxmlformats.org/drawingml/2006/main">
              <a:ext uri="{FF2B5EF4-FFF2-40B4-BE49-F238E27FC236}">
                <a16:creationId xmlns:a16="http://schemas.microsoft.com/office/drawing/2014/main" id="{127A386A-9749-423C-BBB4-8B68EBBBCBF4}"/>
              </a:ext>
            </a:extLst>
          </p:cNvPr>
          <p:cNvSpPr>
            <a:spLocks xmlns:a="http://schemas.openxmlformats.org/drawingml/2006/main" noGrp="1"/>
          </p:cNvSpPr>
          <p:nvPr/>
        </p:nvSpPr>
        <p:spPr>
          <a:xfrm xmlns:a="http://schemas.openxmlformats.org/drawingml/2006/main">
            <a:off x="6362700" y="29337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Who provides each batch record, and which details may consumers see?</a:t>
            </a:r>
          </a:p>
        </p:txBody>
      </p:sp>
      <p:sp>
        <p:nvSpPr>
          <p:cNvPr id="8" name="text-115">
            <a:extLst xmlns:a="http://schemas.openxmlformats.org/drawingml/2006/main">
              <a:ext uri="{FF2B5EF4-FFF2-40B4-BE49-F238E27FC236}">
                <a16:creationId xmlns:a16="http://schemas.microsoft.com/office/drawing/2014/main" id="{854D6830-DFF2-4202-B0FB-5B11802E1E99}"/>
              </a:ext>
            </a:extLst>
          </p:cNvPr>
          <p:cNvSpPr>
            <a:spLocks xmlns:a="http://schemas.openxmlformats.org/drawingml/2006/main" noGrp="1"/>
          </p:cNvSpPr>
          <p:nvPr/>
        </p:nvSpPr>
        <p:spPr>
          <a:xfrm xmlns:a="http://schemas.openxmlformats.org/drawingml/2006/main">
            <a:off x="609600" y="39528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Working arrangement</a:t>
            </a:r>
          </a:p>
        </p:txBody>
      </p:sp>
      <p:sp>
        <p:nvSpPr>
          <p:cNvPr id="9" name="text-116">
            <a:extLst xmlns:a="http://schemas.openxmlformats.org/drawingml/2006/main">
              <a:ext uri="{FF2B5EF4-FFF2-40B4-BE49-F238E27FC236}">
                <a16:creationId xmlns:a16="http://schemas.microsoft.com/office/drawing/2014/main" id="{BE441943-4E70-4FD0-A7BE-B3DCB86598ED}"/>
              </a:ext>
            </a:extLst>
          </p:cNvPr>
          <p:cNvSpPr>
            <a:spLocks xmlns:a="http://schemas.openxmlformats.org/drawingml/2006/main" noGrp="1"/>
          </p:cNvSpPr>
          <p:nvPr/>
        </p:nvSpPr>
        <p:spPr>
          <a:xfrm xmlns:a="http://schemas.openxmlformats.org/drawingml/2006/main">
            <a:off x="609600" y="46291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Project-based, a service contract for an agreed period, or direct employment?</a:t>
            </a:r>
          </a:p>
        </p:txBody>
      </p:sp>
      <p:sp>
        <p:nvSpPr>
          <p:cNvPr id="10" name="text-117">
            <a:extLst xmlns:a="http://schemas.openxmlformats.org/drawingml/2006/main">
              <a:ext uri="{FF2B5EF4-FFF2-40B4-BE49-F238E27FC236}">
                <a16:creationId xmlns:a16="http://schemas.microsoft.com/office/drawing/2014/main" id="{E8F84B49-A514-4454-B5AE-32B80E046EF6}"/>
              </a:ext>
            </a:extLst>
          </p:cNvPr>
          <p:cNvSpPr>
            <a:spLocks xmlns:a="http://schemas.openxmlformats.org/drawingml/2006/main" noGrp="1"/>
          </p:cNvSpPr>
          <p:nvPr/>
        </p:nvSpPr>
        <p:spPr>
          <a:xfrm xmlns:a="http://schemas.openxmlformats.org/drawingml/2006/main">
            <a:off x="6362700" y="39528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Kickoff readiness</a:t>
            </a:r>
          </a:p>
        </p:txBody>
      </p:sp>
      <p:sp>
        <p:nvSpPr>
          <p:cNvPr id="11" name="text-118">
            <a:extLst xmlns:a="http://schemas.openxmlformats.org/drawingml/2006/main">
              <a:ext uri="{FF2B5EF4-FFF2-40B4-BE49-F238E27FC236}">
                <a16:creationId xmlns:a16="http://schemas.microsoft.com/office/drawing/2014/main" id="{56E24A2A-AC4D-4ADF-B543-E33EF7EE5724}"/>
              </a:ext>
            </a:extLst>
          </p:cNvPr>
          <p:cNvSpPr>
            <a:spLocks xmlns:a="http://schemas.openxmlformats.org/drawingml/2006/main" noGrp="1"/>
          </p:cNvSpPr>
          <p:nvPr/>
        </p:nvSpPr>
        <p:spPr>
          <a:xfrm xmlns:a="http://schemas.openxmlformats.org/drawingml/2006/main">
            <a:off x="6362700" y="46291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Who approves the pilot data and reviews progress each week?</a:t>
            </a:r>
          </a:p>
        </p:txBody>
      </p:sp>
      <p:sp>
        <p:nvSpPr>
          <p:cNvPr id="12" name="text-119">
            <a:extLst xmlns:a="http://schemas.openxmlformats.org/drawingml/2006/main">
              <a:ext uri="{FF2B5EF4-FFF2-40B4-BE49-F238E27FC236}">
                <a16:creationId xmlns:a16="http://schemas.microsoft.com/office/drawing/2014/main" id="{722BA880-719D-4E63-B7CE-80ECAE9DC0CE}"/>
              </a:ext>
            </a:extLst>
          </p:cNvPr>
          <p:cNvSpPr>
            <a:spLocks xmlns:a="http://schemas.openxmlformats.org/drawingml/2006/main" noGrp="1"/>
          </p:cNvSpPr>
          <p:nvPr/>
        </p:nvSpPr>
        <p:spPr>
          <a:xfrm xmlns:a="http://schemas.openxmlformats.org/drawingml/2006/main">
            <a:off x="609600" y="6038850"/>
            <a:ext cx="10648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C2CE9F"/>
                </a:solidFill>
                <a:latin typeface="Arial"/>
                <a:ea typeface="Arial"/>
                <a:cs typeface="Arial"/>
              </a:defRPr>
            </a:pPr>
            <a:r>
              <a:rPr sz="1500" b="0">
                <a:solidFill>
                  <a:srgbClr val="C2CE9F"/>
                </a:solidFill>
                <a:latin typeface="Arial"/>
                <a:ea typeface="Arial"/>
                <a:cs typeface="Arial"/>
              </a:rPr>
              <a:t>The chosen design and confirmed workflow become the basis for implementation.</a:t>
            </a:r>
          </a:p>
        </p:txBody>
      </p:sp>
    </p:spTree>
    <p:extLst>
      <p:ext uri="{BB962C8B-B14F-4D97-AF65-F5344CB8AC3E}">
        <p14:creationId xmlns:p14="http://schemas.microsoft.com/office/powerpoint/2010/main" val="15373470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2026-10-03T09:22:43.1470000Z</dcterms:created>
  <dcterms:modified xsi:type="dcterms:W3CDTF">2026-10-03T09:22:43.1470000Z</dcterms:modified>
</coreProperties>
</file>