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how the cooperative should introduce itself: a memorable experience, a human story, or a confident product presence.
Draft identity and content. Confirm cooperative name, member photography, farm records and leadership roles before launch.
Concept preview. The farm photograph is AI-generated illustrative imagery, not actual cooperative members. Motion is proposed.
The cooperative descriptor is a proposed identity. The client can replace it with the registered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create three distinct visual directions for a growing Davao cooperative, keeping farm storytelling and ID / QR farm discovery.
Choose how the cooperative should introduce itself: a memorable experience, a human story, or a confident product presence.
All presentation farm records are static samples. This presentation makes no numerical sales, export or certification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Root to Story
A farm story that grows with you.
Audience: Visitors, buyers and anyone discovering the farm.
Tone: Magical, natural, distinctive.
Why choose it: The most memorable interactive experience.
Consideration: More animation to produce and maintain. A reading view supports simpler browsing.
Working prototype. The recording shows actual browser behavior. Sample copy and roles will need client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prototype. The recording shows actual browser behavior. Sample copy and roles will need client confirmation.
Play the embedded H.264 MP4 in PowerPoint. The video captures the actual local browser prototype, scrolling from root planting through the lookup, story, growing, harvest, partners and leadership.
The PDF shows a still. The complete package includes the MP4.
The video can also be played separately from media/01-root-to-story-scroll.mp4.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Grown Together in Davao
Good roots. Stronger together.
Audience: Cooperative partners, local communities and buyers.
Tone: Honest, welcoming, grounded.
Why choose it: Builds trust through people and place.
Consideration: Strongest with original photography of the cooperative and its members.
Concept preview. The farm photograph is AI-generated illustrative imagery, not actual cooperative members. Motion is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preview. The farm photograph is AI-generated illustrative imagery, not actual cooperative members. Motion is proposed.
Medium. Layered photos and readable chapters.
Meet the cooperative -&gt; Discover the people and place -&gt; Follow growing and harvest -&gt; Find a partner farm
People &amp; place: The opening arch reveals the field. Photographs and headlines move on separate planes, then settle for reading.
A connected growing story: A thin vine line leads into the soil, vine and harvest chapters. Each chapter arrives with a gentle upward reveal.
Meet a partner farm: Farm cards lift into place. Entering an ID, scanning a QR or choosing a partner opens the same farm profile.
Strongest with original photography of the cooperative and its members.
Reduced-motion visitors should see complete readable sections without the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Purple to the World
Davao roots. Global possibilities.
Audience: Prospective buyers and international partners.
Tone: Confident, modern, purposeful.
Why choose it: Makes the product and farm information easy to discover.
Consideration: Buyer-specific specifications and contact information need client-supplied content.
Concept preview. Global reach is a proposed brand direction, not a claim of existing export contracts or certification. Motion is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preview. Global reach is a proposed brand direction, not a claim of existing export contracts or certification. Motion is proposed.
Medium. Large product moves and clear transitions.
Purple yam takes center stage -&gt; Explore the crop and its origins -&gt; Meet the cooperative growers -&gt; Open a farm profile
The crop comes forward: The large yam turns slightly as the hero gives way to clear product and origin information.
Roots connect to growers: Purple and pale sections exchange focus. Grower photography enters as one bold visual panel.
From interest to discovery: The product journey resolves into farm lookup. ID, QR and partner links lead to the same farm profile.
Buyer-specific specifications and contact information need client-supplied content.
Reduced-motion visitors should see complete readable sections without the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recommendation: Grown Together in Davao
Its people and place focus makes the cooperative the center of the story. Purple to the World is a strong alternative when buyer discovery is the priority.
Root to Story is appropriate if the distinctive scroll experience is the main priority. Grown Together emphasizes cooperative trust. Purple to the World emphasizes product and buyer discovery. The client decides which should lead.
All three retain stories, farm partners and the same farm profile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the overall direction first, then confirm the photography, copy and final scroll behavior.
Confirm the direction, replace draft content with cooperative material, and build the approved scroll behavior.
Which design feels most like the cooperative?
Who should the homepage speak to first?
Which details should we carry into the final design?
Draft identity and content. Confirm cooperative name, member photography, farm records and leadership roles before launch.
Discuss the overall direction first. Record exact content and any details to borrow before approving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01</a:t>
            </a:r>
            <a:endParaRPr lang="en-US" sz="1000" dirty="0"/>
          </a:p>
        </p:txBody>
      </p:sp>
      <p:pic>
        <p:nvPicPr>
          <p:cNvPr id="4" name="Image 0" descr="cover-photo.jpg">    </p:cNvPr>
          <p:cNvPicPr>
            <a:picLocks noChangeAspect="1"/>
          </p:cNvPicPr>
          <p:nvPr/>
        </p:nvPicPr>
        <p:blipFill>
          <a:blip r:embed="rId1"/>
          <a:stretch>
            <a:fillRect/>
          </a:stretch>
        </p:blipFill>
        <p:spPr>
          <a:xfrm>
            <a:off x="6766560" y="963"/>
            <a:ext cx="5425440" cy="6856074"/>
          </a:xfrm>
          <a:prstGeom prst="rect">
            <a:avLst/>
          </a:prstGeom>
        </p:spPr>
      </p:pic>
      <p:sp>
        <p:nvSpPr>
          <p:cNvPr id="5" name="Shape 2"/>
          <p:cNvSpPr/>
          <p:nvPr/>
        </p:nvSpPr>
        <p:spPr>
          <a:xfrm>
            <a:off x="6766560" y="5742432"/>
            <a:ext cx="5425440" cy="1115568"/>
          </a:xfrm>
          <a:prstGeom prst="rect">
            <a:avLst/>
          </a:prstGeom>
          <a:solidFill>
            <a:srgbClr val="35583C"/>
          </a:solidFill>
          <a:ln w="7620">
            <a:solidFill>
              <a:srgbClr val="35583C"/>
            </a:solidFill>
            <a:prstDash val="solid"/>
          </a:ln>
        </p:spPr>
      </p:sp>
      <p:sp>
        <p:nvSpPr>
          <p:cNvPr id="6" name="Text 3"/>
          <p:cNvSpPr/>
          <p:nvPr/>
        </p:nvSpPr>
        <p:spPr>
          <a:xfrm>
            <a:off x="7159752" y="6099048"/>
            <a:ext cx="4498848" cy="365760"/>
          </a:xfrm>
          <a:prstGeom prst="rect">
            <a:avLst/>
          </a:prstGeom>
          <a:noFill/>
          <a:ln/>
        </p:spPr>
        <p:txBody>
          <a:bodyPr wrap="square" lIns="0" tIns="0" rIns="0" bIns="0" rtlCol="0" anchor="t"/>
          <a:lstStyle/>
          <a:p>
            <a:pPr indent="0" marL="0">
              <a:buNone/>
            </a:pPr>
            <a:r>
              <a:rPr lang="en-US" sz="1800" dirty="0">
                <a:solidFill>
                  <a:srgbClr val="FFFFFF"/>
                </a:solidFill>
                <a:latin typeface="Georgia" pitchFamily="34" charset="0"/>
                <a:ea typeface="Georgia" pitchFamily="34" charset="-122"/>
                <a:cs typeface="Georgia" pitchFamily="34" charset="-120"/>
              </a:rPr>
              <a:t>Rooted in Davao. Growing together.</a:t>
            </a:r>
            <a:endParaRPr lang="en-US" sz="1800" dirty="0"/>
          </a:p>
        </p:txBody>
      </p:sp>
      <p:sp>
        <p:nvSpPr>
          <p:cNvPr id="7" name="Text 4"/>
          <p:cNvSpPr/>
          <p:nvPr/>
        </p:nvSpPr>
        <p:spPr>
          <a:xfrm>
            <a:off x="7168896" y="6547104"/>
            <a:ext cx="4114800" cy="137160"/>
          </a:xfrm>
          <a:prstGeom prst="rect">
            <a:avLst/>
          </a:prstGeom>
          <a:noFill/>
          <a:ln/>
        </p:spPr>
        <p:txBody>
          <a:bodyPr wrap="square" lIns="0" tIns="0" rIns="0" bIns="0" rtlCol="0" anchor="t"/>
          <a:lstStyle/>
          <a:p>
            <a:pPr indent="0" marL="0">
              <a:buNone/>
            </a:pPr>
            <a:r>
              <a:rPr lang="en-US" sz="830" dirty="0">
                <a:solidFill>
                  <a:srgbClr val="FFFFFF"/>
                </a:solidFill>
                <a:latin typeface="Arial" pitchFamily="34" charset="0"/>
                <a:ea typeface="Arial" pitchFamily="34" charset="-122"/>
                <a:cs typeface="Arial" pitchFamily="34" charset="-120"/>
              </a:rPr>
              <a:t>Illustrative concept photo</a:t>
            </a:r>
            <a:endParaRPr lang="en-US" sz="830" dirty="0"/>
          </a:p>
        </p:txBody>
      </p:sp>
      <p:sp>
        <p:nvSpPr>
          <p:cNvPr id="8" name="Text 5"/>
          <p:cNvSpPr/>
          <p:nvPr/>
        </p:nvSpPr>
        <p:spPr>
          <a:xfrm>
            <a:off x="594360" y="594360"/>
            <a:ext cx="5669280" cy="228600"/>
          </a:xfrm>
          <a:prstGeom prst="rect">
            <a:avLst/>
          </a:prstGeom>
          <a:noFill/>
          <a:ln/>
        </p:spPr>
        <p:txBody>
          <a:bodyPr wrap="square" lIns="0" tIns="0" rIns="0" bIns="0" rtlCol="0" anchor="t"/>
          <a:lstStyle/>
          <a:p>
            <a:pPr indent="0" marL="0">
              <a:buNone/>
            </a:pPr>
            <a:r>
              <a:rPr lang="en-US" sz="1000" b="1" spc="110" kern="0" dirty="0">
                <a:solidFill>
                  <a:srgbClr val="35583C"/>
                </a:solidFill>
                <a:latin typeface="Arial" pitchFamily="34" charset="0"/>
                <a:ea typeface="Arial" pitchFamily="34" charset="-122"/>
                <a:cs typeface="Arial" pitchFamily="34" charset="-120"/>
              </a:rPr>
              <a:t>LANDING PAGE DESIGN DIRECTIONS</a:t>
            </a:r>
            <a:endParaRPr lang="en-US" sz="1000" dirty="0"/>
          </a:p>
        </p:txBody>
      </p:sp>
      <p:sp>
        <p:nvSpPr>
          <p:cNvPr id="9" name="Text 6"/>
          <p:cNvSpPr/>
          <p:nvPr/>
        </p:nvSpPr>
        <p:spPr>
          <a:xfrm>
            <a:off x="594360" y="1325880"/>
            <a:ext cx="5888736" cy="1600200"/>
          </a:xfrm>
          <a:prstGeom prst="rect">
            <a:avLst/>
          </a:prstGeom>
          <a:noFill/>
          <a:ln/>
        </p:spPr>
        <p:txBody>
          <a:bodyPr wrap="square" lIns="0" tIns="0" rIns="0" bIns="0" rtlCol="0" anchor="t"/>
          <a:lstStyle/>
          <a:p>
            <a:pPr indent="0" marL="0">
              <a:buNone/>
            </a:pPr>
            <a:r>
              <a:rPr lang="en-US" sz="4500" dirty="0">
                <a:solidFill>
                  <a:srgbClr val="542A69"/>
                </a:solidFill>
                <a:latin typeface="Georgia" pitchFamily="34" charset="0"/>
                <a:ea typeface="Georgia" pitchFamily="34" charset="-122"/>
                <a:cs typeface="Georgia" pitchFamily="34" charset="-120"/>
              </a:rPr>
              <a:t>Three ways to</a:t>
            </a:r>
            <a:endParaRPr lang="en-US" sz="4500" dirty="0"/>
          </a:p>
          <a:p>
            <a:pPr indent="0" marL="0">
              <a:buNone/>
            </a:pPr>
            <a:r>
              <a:rPr lang="en-US" sz="4500" dirty="0">
                <a:solidFill>
                  <a:srgbClr val="542A69"/>
                </a:solidFill>
                <a:latin typeface="Georgia" pitchFamily="34" charset="0"/>
                <a:ea typeface="Georgia" pitchFamily="34" charset="-122"/>
                <a:cs typeface="Georgia" pitchFamily="34" charset="-120"/>
              </a:rPr>
              <a:t>tell your story.</a:t>
            </a:r>
            <a:endParaRPr lang="en-US" sz="4500" dirty="0"/>
          </a:p>
        </p:txBody>
      </p:sp>
      <p:sp>
        <p:nvSpPr>
          <p:cNvPr id="10" name="Text 7"/>
          <p:cNvSpPr/>
          <p:nvPr/>
        </p:nvSpPr>
        <p:spPr>
          <a:xfrm>
            <a:off x="630936" y="3200400"/>
            <a:ext cx="5760720" cy="365760"/>
          </a:xfrm>
          <a:prstGeom prst="rect">
            <a:avLst/>
          </a:prstGeom>
          <a:noFill/>
          <a:ln/>
        </p:spPr>
        <p:txBody>
          <a:bodyPr wrap="square" lIns="0" tIns="0" rIns="0" bIns="0" rtlCol="0" anchor="t"/>
          <a:lstStyle/>
          <a:p>
            <a:pPr indent="0" marL="0">
              <a:buNone/>
            </a:pPr>
            <a:r>
              <a:rPr lang="en-US" sz="2000" dirty="0">
                <a:solidFill>
                  <a:srgbClr val="35583C"/>
                </a:solidFill>
                <a:latin typeface="Arial" pitchFamily="34" charset="0"/>
                <a:ea typeface="Arial" pitchFamily="34" charset="-122"/>
                <a:cs typeface="Arial" pitchFamily="34" charset="-120"/>
              </a:rPr>
              <a:t>Ube Farm · Davao cooperative</a:t>
            </a:r>
            <a:endParaRPr lang="en-US" sz="2000" dirty="0"/>
          </a:p>
        </p:txBody>
      </p:sp>
      <p:sp>
        <p:nvSpPr>
          <p:cNvPr id="11" name="Text 8"/>
          <p:cNvSpPr/>
          <p:nvPr/>
        </p:nvSpPr>
        <p:spPr>
          <a:xfrm>
            <a:off x="630936" y="3685032"/>
            <a:ext cx="5760720" cy="237744"/>
          </a:xfrm>
          <a:prstGeom prst="rect">
            <a:avLst/>
          </a:prstGeom>
          <a:noFill/>
          <a:ln/>
        </p:spPr>
        <p:txBody>
          <a:bodyPr wrap="square" lIns="0" tIns="0" rIns="0" bIns="0" rtlCol="0" anchor="t"/>
          <a:lstStyle/>
          <a:p>
            <a:pPr indent="0" marL="0">
              <a:buNone/>
            </a:pPr>
            <a:r>
              <a:rPr lang="en-US" sz="1250" dirty="0">
                <a:solidFill>
                  <a:srgbClr val="706B65"/>
                </a:solidFill>
                <a:latin typeface="Arial" pitchFamily="34" charset="0"/>
                <a:ea typeface="Arial" pitchFamily="34" charset="-122"/>
                <a:cs typeface="Arial" pitchFamily="34" charset="-120"/>
              </a:rPr>
              <a:t>Client design presentation · 1 October 2026</a:t>
            </a:r>
            <a:endParaRPr lang="en-US" sz="1250" dirty="0"/>
          </a:p>
        </p:txBody>
      </p:sp>
      <p:sp>
        <p:nvSpPr>
          <p:cNvPr id="12" name="Shape 9"/>
          <p:cNvSpPr/>
          <p:nvPr/>
        </p:nvSpPr>
        <p:spPr>
          <a:xfrm>
            <a:off x="630936" y="4297680"/>
            <a:ext cx="5303520" cy="0"/>
          </a:xfrm>
          <a:prstGeom prst="line">
            <a:avLst/>
          </a:prstGeom>
          <a:noFill/>
          <a:ln w="8890">
            <a:solidFill>
              <a:srgbClr val="D8D0BE"/>
            </a:solidFill>
            <a:prstDash val="solid"/>
          </a:ln>
        </p:spPr>
      </p:sp>
      <p:sp>
        <p:nvSpPr>
          <p:cNvPr id="13" name="Text 10"/>
          <p:cNvSpPr/>
          <p:nvPr/>
        </p:nvSpPr>
        <p:spPr>
          <a:xfrm>
            <a:off x="630936" y="4507992"/>
            <a:ext cx="365760" cy="237744"/>
          </a:xfrm>
          <a:prstGeom prst="rect">
            <a:avLst/>
          </a:prstGeom>
          <a:noFill/>
          <a:ln/>
        </p:spPr>
        <p:txBody>
          <a:bodyPr wrap="square" lIns="0" tIns="0" rIns="0" bIns="0" rtlCol="0" anchor="t"/>
          <a:lstStyle/>
          <a:p>
            <a:pPr indent="0" marL="0">
              <a:buNone/>
            </a:pPr>
            <a:r>
              <a:rPr lang="en-US" sz="1100" b="1" dirty="0">
                <a:solidFill>
                  <a:srgbClr val="35583C"/>
                </a:solidFill>
                <a:latin typeface="Arial" pitchFamily="34" charset="0"/>
                <a:ea typeface="Arial" pitchFamily="34" charset="-122"/>
                <a:cs typeface="Arial" pitchFamily="34" charset="-120"/>
              </a:rPr>
              <a:t>01</a:t>
            </a:r>
            <a:endParaRPr lang="en-US" sz="1100" dirty="0"/>
          </a:p>
        </p:txBody>
      </p:sp>
      <p:sp>
        <p:nvSpPr>
          <p:cNvPr id="14" name="Text 11"/>
          <p:cNvSpPr/>
          <p:nvPr/>
        </p:nvSpPr>
        <p:spPr>
          <a:xfrm>
            <a:off x="1188720" y="4453128"/>
            <a:ext cx="4846320" cy="347472"/>
          </a:xfrm>
          <a:prstGeom prst="rect">
            <a:avLst/>
          </a:prstGeom>
          <a:noFill/>
          <a:ln/>
        </p:spPr>
        <p:txBody>
          <a:bodyPr wrap="square" lIns="0" tIns="0" rIns="0" bIns="0" rtlCol="0" anchor="t"/>
          <a:lstStyle/>
          <a:p>
            <a:pPr indent="0" marL="0">
              <a:buNone/>
            </a:pPr>
            <a:r>
              <a:rPr lang="en-US" sz="1750" dirty="0">
                <a:solidFill>
                  <a:srgbClr val="542A69"/>
                </a:solidFill>
                <a:latin typeface="Georgia" pitchFamily="34" charset="0"/>
                <a:ea typeface="Georgia" pitchFamily="34" charset="-122"/>
                <a:cs typeface="Georgia" pitchFamily="34" charset="-120"/>
              </a:rPr>
              <a:t>From Root to Story</a:t>
            </a:r>
            <a:endParaRPr lang="en-US" sz="1750" dirty="0"/>
          </a:p>
        </p:txBody>
      </p:sp>
      <p:sp>
        <p:nvSpPr>
          <p:cNvPr id="15" name="Shape 12"/>
          <p:cNvSpPr/>
          <p:nvPr/>
        </p:nvSpPr>
        <p:spPr>
          <a:xfrm>
            <a:off x="630936" y="4882896"/>
            <a:ext cx="5303520" cy="0"/>
          </a:xfrm>
          <a:prstGeom prst="line">
            <a:avLst/>
          </a:prstGeom>
          <a:noFill/>
          <a:ln w="8890">
            <a:solidFill>
              <a:srgbClr val="D8D0BE"/>
            </a:solidFill>
            <a:prstDash val="solid"/>
          </a:ln>
        </p:spPr>
      </p:sp>
      <p:sp>
        <p:nvSpPr>
          <p:cNvPr id="16" name="Text 13"/>
          <p:cNvSpPr/>
          <p:nvPr/>
        </p:nvSpPr>
        <p:spPr>
          <a:xfrm>
            <a:off x="630936" y="5093208"/>
            <a:ext cx="365760" cy="237744"/>
          </a:xfrm>
          <a:prstGeom prst="rect">
            <a:avLst/>
          </a:prstGeom>
          <a:noFill/>
          <a:ln/>
        </p:spPr>
        <p:txBody>
          <a:bodyPr wrap="square" lIns="0" tIns="0" rIns="0" bIns="0" rtlCol="0" anchor="t"/>
          <a:lstStyle/>
          <a:p>
            <a:pPr indent="0" marL="0">
              <a:buNone/>
            </a:pPr>
            <a:r>
              <a:rPr lang="en-US" sz="1100" b="1" dirty="0">
                <a:solidFill>
                  <a:srgbClr val="35583C"/>
                </a:solidFill>
                <a:latin typeface="Arial" pitchFamily="34" charset="0"/>
                <a:ea typeface="Arial" pitchFamily="34" charset="-122"/>
                <a:cs typeface="Arial" pitchFamily="34" charset="-120"/>
              </a:rPr>
              <a:t>02</a:t>
            </a:r>
            <a:endParaRPr lang="en-US" sz="1100" dirty="0"/>
          </a:p>
        </p:txBody>
      </p:sp>
      <p:sp>
        <p:nvSpPr>
          <p:cNvPr id="17" name="Text 14"/>
          <p:cNvSpPr/>
          <p:nvPr/>
        </p:nvSpPr>
        <p:spPr>
          <a:xfrm>
            <a:off x="1188720" y="5038344"/>
            <a:ext cx="4846320" cy="347472"/>
          </a:xfrm>
          <a:prstGeom prst="rect">
            <a:avLst/>
          </a:prstGeom>
          <a:noFill/>
          <a:ln/>
        </p:spPr>
        <p:txBody>
          <a:bodyPr wrap="square" lIns="0" tIns="0" rIns="0" bIns="0" rtlCol="0" anchor="t"/>
          <a:lstStyle/>
          <a:p>
            <a:pPr indent="0" marL="0">
              <a:buNone/>
            </a:pPr>
            <a:r>
              <a:rPr lang="en-US" sz="1750" dirty="0">
                <a:solidFill>
                  <a:srgbClr val="542A69"/>
                </a:solidFill>
                <a:latin typeface="Georgia" pitchFamily="34" charset="0"/>
                <a:ea typeface="Georgia" pitchFamily="34" charset="-122"/>
                <a:cs typeface="Georgia" pitchFamily="34" charset="-120"/>
              </a:rPr>
              <a:t>Grown Together in Davao</a:t>
            </a:r>
            <a:endParaRPr lang="en-US" sz="1750" dirty="0"/>
          </a:p>
        </p:txBody>
      </p:sp>
      <p:sp>
        <p:nvSpPr>
          <p:cNvPr id="18" name="Shape 15"/>
          <p:cNvSpPr/>
          <p:nvPr/>
        </p:nvSpPr>
        <p:spPr>
          <a:xfrm>
            <a:off x="630936" y="5468112"/>
            <a:ext cx="5303520" cy="0"/>
          </a:xfrm>
          <a:prstGeom prst="line">
            <a:avLst/>
          </a:prstGeom>
          <a:noFill/>
          <a:ln w="8890">
            <a:solidFill>
              <a:srgbClr val="D8D0BE"/>
            </a:solidFill>
            <a:prstDash val="solid"/>
          </a:ln>
        </p:spPr>
      </p:sp>
      <p:sp>
        <p:nvSpPr>
          <p:cNvPr id="19" name="Text 16"/>
          <p:cNvSpPr/>
          <p:nvPr/>
        </p:nvSpPr>
        <p:spPr>
          <a:xfrm>
            <a:off x="630936" y="5678424"/>
            <a:ext cx="365760" cy="237744"/>
          </a:xfrm>
          <a:prstGeom prst="rect">
            <a:avLst/>
          </a:prstGeom>
          <a:noFill/>
          <a:ln/>
        </p:spPr>
        <p:txBody>
          <a:bodyPr wrap="square" lIns="0" tIns="0" rIns="0" bIns="0" rtlCol="0" anchor="t"/>
          <a:lstStyle/>
          <a:p>
            <a:pPr indent="0" marL="0">
              <a:buNone/>
            </a:pPr>
            <a:r>
              <a:rPr lang="en-US" sz="1100" b="1" dirty="0">
                <a:solidFill>
                  <a:srgbClr val="35583C"/>
                </a:solidFill>
                <a:latin typeface="Arial" pitchFamily="34" charset="0"/>
                <a:ea typeface="Arial" pitchFamily="34" charset="-122"/>
                <a:cs typeface="Arial" pitchFamily="34" charset="-120"/>
              </a:rPr>
              <a:t>03</a:t>
            </a:r>
            <a:endParaRPr lang="en-US" sz="1100" dirty="0"/>
          </a:p>
        </p:txBody>
      </p:sp>
      <p:sp>
        <p:nvSpPr>
          <p:cNvPr id="20" name="Text 17"/>
          <p:cNvSpPr/>
          <p:nvPr/>
        </p:nvSpPr>
        <p:spPr>
          <a:xfrm>
            <a:off x="1188720" y="5623560"/>
            <a:ext cx="4846320" cy="347472"/>
          </a:xfrm>
          <a:prstGeom prst="rect">
            <a:avLst/>
          </a:prstGeom>
          <a:noFill/>
          <a:ln/>
        </p:spPr>
        <p:txBody>
          <a:bodyPr wrap="square" lIns="0" tIns="0" rIns="0" bIns="0" rtlCol="0" anchor="t"/>
          <a:lstStyle/>
          <a:p>
            <a:pPr indent="0" marL="0">
              <a:buNone/>
            </a:pPr>
            <a:r>
              <a:rPr lang="en-US" sz="1750" dirty="0">
                <a:solidFill>
                  <a:srgbClr val="542A69"/>
                </a:solidFill>
                <a:latin typeface="Georgia" pitchFamily="34" charset="0"/>
                <a:ea typeface="Georgia" pitchFamily="34" charset="-122"/>
                <a:cs typeface="Georgia" pitchFamily="34" charset="-120"/>
              </a:rPr>
              <a:t>Purple to the World</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02</a:t>
            </a:r>
            <a:endParaRPr lang="en-US" sz="1000" dirty="0"/>
          </a:p>
        </p:txBody>
      </p:sp>
      <p:sp>
        <p:nvSpPr>
          <p:cNvPr id="4" name="Text 2"/>
          <p:cNvSpPr/>
          <p:nvPr/>
        </p:nvSpPr>
        <p:spPr>
          <a:xfrm>
            <a:off x="594360" y="457200"/>
            <a:ext cx="10058400" cy="201168"/>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LANDING PAGE DESIGN DIRECTIONS</a:t>
            </a:r>
            <a:endParaRPr lang="en-US" sz="950" dirty="0"/>
          </a:p>
        </p:txBody>
      </p:sp>
      <p:sp>
        <p:nvSpPr>
          <p:cNvPr id="5" name="Text 3"/>
          <p:cNvSpPr/>
          <p:nvPr/>
        </p:nvSpPr>
        <p:spPr>
          <a:xfrm>
            <a:off x="594360" y="1124712"/>
            <a:ext cx="4754880" cy="1755648"/>
          </a:xfrm>
          <a:prstGeom prst="rect">
            <a:avLst/>
          </a:prstGeom>
          <a:noFill/>
          <a:ln/>
        </p:spPr>
        <p:txBody>
          <a:bodyPr wrap="square" lIns="0" tIns="0" rIns="0" bIns="0" rtlCol="0" anchor="t"/>
          <a:lstStyle/>
          <a:p>
            <a:pPr indent="0" marL="0">
              <a:buNone/>
            </a:pPr>
            <a:r>
              <a:rPr lang="en-US" sz="3600" dirty="0">
                <a:solidFill>
                  <a:srgbClr val="542A69"/>
                </a:solidFill>
                <a:latin typeface="Georgia" pitchFamily="34" charset="0"/>
                <a:ea typeface="Georgia" pitchFamily="34" charset="-122"/>
                <a:cs typeface="Georgia" pitchFamily="34" charset="-120"/>
              </a:rPr>
              <a:t>One farm story.</a:t>
            </a:r>
            <a:endParaRPr lang="en-US" sz="3600" dirty="0"/>
          </a:p>
          <a:p>
            <a:pPr indent="0" marL="0">
              <a:buNone/>
            </a:pPr>
            <a:r>
              <a:rPr lang="en-US" sz="3600" dirty="0">
                <a:solidFill>
                  <a:srgbClr val="542A69"/>
                </a:solidFill>
                <a:latin typeface="Georgia" pitchFamily="34" charset="0"/>
                <a:ea typeface="Georgia" pitchFamily="34" charset="-122"/>
                <a:cs typeface="Georgia" pitchFamily="34" charset="-120"/>
              </a:rPr>
              <a:t>Three distinct directions.</a:t>
            </a:r>
            <a:endParaRPr lang="en-US" sz="3600" dirty="0"/>
          </a:p>
        </p:txBody>
      </p:sp>
      <p:sp>
        <p:nvSpPr>
          <p:cNvPr id="6" name="Text 4"/>
          <p:cNvSpPr/>
          <p:nvPr/>
        </p:nvSpPr>
        <p:spPr>
          <a:xfrm>
            <a:off x="594360" y="3081528"/>
            <a:ext cx="4526280" cy="850392"/>
          </a:xfrm>
          <a:prstGeom prst="rect">
            <a:avLst/>
          </a:prstGeom>
          <a:noFill/>
          <a:ln/>
        </p:spPr>
        <p:txBody>
          <a:bodyPr wrap="square" lIns="0" tIns="0" rIns="0" bIns="0" rtlCol="0" anchor="t"/>
          <a:lstStyle/>
          <a:p>
            <a:pPr indent="0" marL="0">
              <a:buNone/>
            </a:pPr>
            <a:r>
              <a:rPr lang="en-US" sz="1600" dirty="0">
                <a:solidFill>
                  <a:srgbClr val="706B65"/>
                </a:solidFill>
                <a:latin typeface="Arial" pitchFamily="34" charset="0"/>
                <a:ea typeface="Arial" pitchFamily="34" charset="-122"/>
                <a:cs typeface="Arial" pitchFamily="34" charset="-120"/>
              </a:rPr>
              <a:t>Choose how the cooperative should introduce itself: a memorable experience, a human story, or a confident product presence.</a:t>
            </a:r>
            <a:endParaRPr lang="en-US" sz="1600" dirty="0"/>
          </a:p>
        </p:txBody>
      </p:sp>
      <p:sp>
        <p:nvSpPr>
          <p:cNvPr id="7" name="Text 5"/>
          <p:cNvSpPr/>
          <p:nvPr/>
        </p:nvSpPr>
        <p:spPr>
          <a:xfrm>
            <a:off x="594360" y="4096512"/>
            <a:ext cx="4572000" cy="292608"/>
          </a:xfrm>
          <a:prstGeom prst="rect">
            <a:avLst/>
          </a:prstGeom>
          <a:noFill/>
          <a:ln/>
        </p:spPr>
        <p:txBody>
          <a:bodyPr wrap="square" lIns="0" tIns="0" rIns="0" bIns="0" rtlCol="0" anchor="t"/>
          <a:lstStyle/>
          <a:p>
            <a:pPr indent="0" marL="0">
              <a:buNone/>
            </a:pPr>
            <a:r>
              <a:rPr lang="en-US" sz="1350" b="1" dirty="0">
                <a:solidFill>
                  <a:srgbClr val="35583C"/>
                </a:solidFill>
                <a:latin typeface="Arial" pitchFamily="34" charset="0"/>
                <a:ea typeface="Arial" pitchFamily="34" charset="-122"/>
                <a:cs typeface="Arial" pitchFamily="34" charset="-120"/>
              </a:rPr>
              <a:t>Shared across all three directions</a:t>
            </a:r>
            <a:endParaRPr lang="en-US" sz="1350" dirty="0"/>
          </a:p>
        </p:txBody>
      </p:sp>
      <p:sp>
        <p:nvSpPr>
          <p:cNvPr id="8" name="Shape 6"/>
          <p:cNvSpPr/>
          <p:nvPr/>
        </p:nvSpPr>
        <p:spPr>
          <a:xfrm>
            <a:off x="630936" y="4599432"/>
            <a:ext cx="82296" cy="82296"/>
          </a:xfrm>
          <a:prstGeom prst="ellipse">
            <a:avLst/>
          </a:prstGeom>
          <a:solidFill>
            <a:srgbClr val="35583C"/>
          </a:solidFill>
          <a:ln w="12700">
            <a:solidFill>
              <a:srgbClr val="35583C"/>
            </a:solidFill>
            <a:prstDash val="solid"/>
          </a:ln>
        </p:spPr>
      </p:sp>
      <p:sp>
        <p:nvSpPr>
          <p:cNvPr id="9" name="Text 7"/>
          <p:cNvSpPr/>
          <p:nvPr/>
        </p:nvSpPr>
        <p:spPr>
          <a:xfrm>
            <a:off x="886968" y="4544568"/>
            <a:ext cx="4187952" cy="310896"/>
          </a:xfrm>
          <a:prstGeom prst="rect">
            <a:avLst/>
          </a:prstGeom>
          <a:noFill/>
          <a:ln/>
        </p:spPr>
        <p:txBody>
          <a:bodyPr wrap="square" lIns="0" tIns="0" rIns="0" bIns="0" rtlCol="0" anchor="t"/>
          <a:lstStyle/>
          <a:p>
            <a:pPr indent="0" marL="0">
              <a:buNone/>
            </a:pPr>
            <a:r>
              <a:rPr lang="en-US" sz="1330" dirty="0">
                <a:solidFill>
                  <a:srgbClr val="34233E"/>
                </a:solidFill>
                <a:latin typeface="Arial" pitchFamily="34" charset="0"/>
                <a:ea typeface="Arial" pitchFamily="34" charset="-122"/>
                <a:cs typeface="Arial" pitchFamily="34" charset="-120"/>
              </a:rPr>
              <a:t>A clear cooperative introduction</a:t>
            </a:r>
            <a:endParaRPr lang="en-US" sz="1330" dirty="0"/>
          </a:p>
        </p:txBody>
      </p:sp>
      <p:sp>
        <p:nvSpPr>
          <p:cNvPr id="10" name="Shape 8"/>
          <p:cNvSpPr/>
          <p:nvPr/>
        </p:nvSpPr>
        <p:spPr>
          <a:xfrm>
            <a:off x="630936" y="4965192"/>
            <a:ext cx="82296" cy="82296"/>
          </a:xfrm>
          <a:prstGeom prst="ellipse">
            <a:avLst/>
          </a:prstGeom>
          <a:solidFill>
            <a:srgbClr val="35583C"/>
          </a:solidFill>
          <a:ln w="12700">
            <a:solidFill>
              <a:srgbClr val="35583C"/>
            </a:solidFill>
            <a:prstDash val="solid"/>
          </a:ln>
        </p:spPr>
      </p:sp>
      <p:sp>
        <p:nvSpPr>
          <p:cNvPr id="11" name="Text 9"/>
          <p:cNvSpPr/>
          <p:nvPr/>
        </p:nvSpPr>
        <p:spPr>
          <a:xfrm>
            <a:off x="886968" y="4910328"/>
            <a:ext cx="4187952" cy="310896"/>
          </a:xfrm>
          <a:prstGeom prst="rect">
            <a:avLst/>
          </a:prstGeom>
          <a:noFill/>
          <a:ln/>
        </p:spPr>
        <p:txBody>
          <a:bodyPr wrap="square" lIns="0" tIns="0" rIns="0" bIns="0" rtlCol="0" anchor="t"/>
          <a:lstStyle/>
          <a:p>
            <a:pPr indent="0" marL="0">
              <a:buNone/>
            </a:pPr>
            <a:r>
              <a:rPr lang="en-US" sz="1330" dirty="0">
                <a:solidFill>
                  <a:srgbClr val="34233E"/>
                </a:solidFill>
                <a:latin typeface="Arial" pitchFamily="34" charset="0"/>
                <a:ea typeface="Arial" pitchFamily="34" charset="-122"/>
                <a:cs typeface="Arial" pitchFamily="34" charset="-120"/>
              </a:rPr>
              <a:t>Purple yam and growing stories</a:t>
            </a:r>
            <a:endParaRPr lang="en-US" sz="1330" dirty="0"/>
          </a:p>
        </p:txBody>
      </p:sp>
      <p:sp>
        <p:nvSpPr>
          <p:cNvPr id="12" name="Shape 10"/>
          <p:cNvSpPr/>
          <p:nvPr/>
        </p:nvSpPr>
        <p:spPr>
          <a:xfrm>
            <a:off x="630936" y="5330952"/>
            <a:ext cx="82296" cy="82296"/>
          </a:xfrm>
          <a:prstGeom prst="ellipse">
            <a:avLst/>
          </a:prstGeom>
          <a:solidFill>
            <a:srgbClr val="35583C"/>
          </a:solidFill>
          <a:ln w="12700">
            <a:solidFill>
              <a:srgbClr val="35583C"/>
            </a:solidFill>
            <a:prstDash val="solid"/>
          </a:ln>
        </p:spPr>
      </p:sp>
      <p:sp>
        <p:nvSpPr>
          <p:cNvPr id="13" name="Text 11"/>
          <p:cNvSpPr/>
          <p:nvPr/>
        </p:nvSpPr>
        <p:spPr>
          <a:xfrm>
            <a:off x="886968" y="5276088"/>
            <a:ext cx="4187952" cy="310896"/>
          </a:xfrm>
          <a:prstGeom prst="rect">
            <a:avLst/>
          </a:prstGeom>
          <a:noFill/>
          <a:ln/>
        </p:spPr>
        <p:txBody>
          <a:bodyPr wrap="square" lIns="0" tIns="0" rIns="0" bIns="0" rtlCol="0" anchor="t"/>
          <a:lstStyle/>
          <a:p>
            <a:pPr indent="0" marL="0">
              <a:buNone/>
            </a:pPr>
            <a:r>
              <a:rPr lang="en-US" sz="1330" dirty="0">
                <a:solidFill>
                  <a:srgbClr val="34233E"/>
                </a:solidFill>
                <a:latin typeface="Arial" pitchFamily="34" charset="0"/>
                <a:ea typeface="Arial" pitchFamily="34" charset="-122"/>
                <a:cs typeface="Arial" pitchFamily="34" charset="-120"/>
              </a:rPr>
              <a:t>Partner farms with ID / QR lookup</a:t>
            </a:r>
            <a:endParaRPr lang="en-US" sz="1330" dirty="0"/>
          </a:p>
        </p:txBody>
      </p:sp>
      <p:sp>
        <p:nvSpPr>
          <p:cNvPr id="14" name="Shape 12"/>
          <p:cNvSpPr/>
          <p:nvPr/>
        </p:nvSpPr>
        <p:spPr>
          <a:xfrm>
            <a:off x="630936" y="5696712"/>
            <a:ext cx="82296" cy="82296"/>
          </a:xfrm>
          <a:prstGeom prst="ellipse">
            <a:avLst/>
          </a:prstGeom>
          <a:solidFill>
            <a:srgbClr val="35583C"/>
          </a:solidFill>
          <a:ln w="12700">
            <a:solidFill>
              <a:srgbClr val="35583C"/>
            </a:solidFill>
            <a:prstDash val="solid"/>
          </a:ln>
        </p:spPr>
      </p:sp>
      <p:sp>
        <p:nvSpPr>
          <p:cNvPr id="15" name="Text 13"/>
          <p:cNvSpPr/>
          <p:nvPr/>
        </p:nvSpPr>
        <p:spPr>
          <a:xfrm>
            <a:off x="886968" y="5641848"/>
            <a:ext cx="4187952" cy="310896"/>
          </a:xfrm>
          <a:prstGeom prst="rect">
            <a:avLst/>
          </a:prstGeom>
          <a:noFill/>
          <a:ln/>
        </p:spPr>
        <p:txBody>
          <a:bodyPr wrap="square" lIns="0" tIns="0" rIns="0" bIns="0" rtlCol="0" anchor="t"/>
          <a:lstStyle/>
          <a:p>
            <a:pPr indent="0" marL="0">
              <a:buNone/>
            </a:pPr>
            <a:r>
              <a:rPr lang="en-US" sz="1330" dirty="0">
                <a:solidFill>
                  <a:srgbClr val="34233E"/>
                </a:solidFill>
                <a:latin typeface="Arial" pitchFamily="34" charset="0"/>
                <a:ea typeface="Arial" pitchFamily="34" charset="-122"/>
                <a:cs typeface="Arial" pitchFamily="34" charset="-120"/>
              </a:rPr>
              <a:t>Desktop and mobile layouts</a:t>
            </a:r>
            <a:endParaRPr lang="en-US" sz="1330" dirty="0"/>
          </a:p>
        </p:txBody>
      </p:sp>
      <p:sp>
        <p:nvSpPr>
          <p:cNvPr id="16" name="Shape 14"/>
          <p:cNvSpPr/>
          <p:nvPr/>
        </p:nvSpPr>
        <p:spPr>
          <a:xfrm>
            <a:off x="5650992" y="1051560"/>
            <a:ext cx="5943600" cy="1481328"/>
          </a:xfrm>
          <a:prstGeom prst="rect">
            <a:avLst/>
          </a:prstGeom>
          <a:solidFill>
            <a:srgbClr val="FFFFFF"/>
          </a:solidFill>
          <a:ln w="7620">
            <a:solidFill>
              <a:srgbClr val="D8D0BE"/>
            </a:solidFill>
            <a:prstDash val="solid"/>
          </a:ln>
        </p:spPr>
      </p:sp>
      <p:pic>
        <p:nvPicPr>
          <p:cNvPr id="17" name="Image 0" descr="01-root-to-story-desktop-hero.jpg">    </p:cNvPr>
          <p:cNvPicPr>
            <a:picLocks noChangeAspect="1"/>
          </p:cNvPicPr>
          <p:nvPr/>
        </p:nvPicPr>
        <p:blipFill>
          <a:blip r:embed="rId1"/>
          <a:stretch>
            <a:fillRect/>
          </a:stretch>
        </p:blipFill>
        <p:spPr>
          <a:xfrm>
            <a:off x="5732374" y="1115568"/>
            <a:ext cx="2150669" cy="1344168"/>
          </a:xfrm>
          <a:prstGeom prst="rect">
            <a:avLst/>
          </a:prstGeom>
        </p:spPr>
      </p:pic>
      <p:sp>
        <p:nvSpPr>
          <p:cNvPr id="18" name="Text 15"/>
          <p:cNvSpPr/>
          <p:nvPr/>
        </p:nvSpPr>
        <p:spPr>
          <a:xfrm>
            <a:off x="8165592" y="1225296"/>
            <a:ext cx="365760" cy="201168"/>
          </a:xfrm>
          <a:prstGeom prst="rect">
            <a:avLst/>
          </a:prstGeom>
          <a:noFill/>
          <a:ln/>
        </p:spPr>
        <p:txBody>
          <a:bodyPr wrap="square" lIns="0" tIns="0" rIns="0" bIns="0" rtlCol="0" anchor="t"/>
          <a:lstStyle/>
          <a:p>
            <a:pPr indent="0" marL="0">
              <a:buNone/>
            </a:pPr>
            <a:r>
              <a:rPr lang="en-US" sz="1000" b="1" dirty="0">
                <a:solidFill>
                  <a:srgbClr val="35583C"/>
                </a:solidFill>
                <a:latin typeface="Arial" pitchFamily="34" charset="0"/>
                <a:ea typeface="Arial" pitchFamily="34" charset="-122"/>
                <a:cs typeface="Arial" pitchFamily="34" charset="-120"/>
              </a:rPr>
              <a:t>01</a:t>
            </a:r>
            <a:endParaRPr lang="en-US" sz="1000" dirty="0"/>
          </a:p>
        </p:txBody>
      </p:sp>
      <p:sp>
        <p:nvSpPr>
          <p:cNvPr id="19" name="Text 16"/>
          <p:cNvSpPr/>
          <p:nvPr/>
        </p:nvSpPr>
        <p:spPr>
          <a:xfrm>
            <a:off x="8165592" y="1517904"/>
            <a:ext cx="3182112" cy="603504"/>
          </a:xfrm>
          <a:prstGeom prst="rect">
            <a:avLst/>
          </a:prstGeom>
          <a:noFill/>
          <a:ln/>
        </p:spPr>
        <p:txBody>
          <a:bodyPr wrap="square" lIns="0" tIns="0" rIns="0" bIns="0" rtlCol="0" anchor="t"/>
          <a:lstStyle/>
          <a:p>
            <a:pPr indent="0" marL="0">
              <a:buNone/>
            </a:pPr>
            <a:r>
              <a:rPr lang="en-US" sz="2200" dirty="0">
                <a:solidFill>
                  <a:srgbClr val="542A69"/>
                </a:solidFill>
                <a:latin typeface="Georgia" pitchFamily="34" charset="0"/>
                <a:ea typeface="Georgia" pitchFamily="34" charset="-122"/>
                <a:cs typeface="Georgia" pitchFamily="34" charset="-120"/>
              </a:rPr>
              <a:t>From Root to Story</a:t>
            </a:r>
            <a:endParaRPr lang="en-US" sz="2200" dirty="0"/>
          </a:p>
        </p:txBody>
      </p:sp>
      <p:sp>
        <p:nvSpPr>
          <p:cNvPr id="20" name="Text 17"/>
          <p:cNvSpPr/>
          <p:nvPr/>
        </p:nvSpPr>
        <p:spPr>
          <a:xfrm>
            <a:off x="8165592" y="2194560"/>
            <a:ext cx="3200400" cy="219456"/>
          </a:xfrm>
          <a:prstGeom prst="rect">
            <a:avLst/>
          </a:prstGeom>
          <a:noFill/>
          <a:ln/>
        </p:spPr>
        <p:txBody>
          <a:bodyPr wrap="square" lIns="0" tIns="0" rIns="0" bIns="0" rtlCol="0" anchor="t"/>
          <a:lstStyle/>
          <a:p>
            <a:pPr indent="0" marL="0">
              <a:buNone/>
            </a:pPr>
            <a:r>
              <a:rPr lang="en-US" sz="1170" dirty="0">
                <a:solidFill>
                  <a:srgbClr val="706B65"/>
                </a:solidFill>
                <a:latin typeface="Arial" pitchFamily="34" charset="0"/>
                <a:ea typeface="Arial" pitchFamily="34" charset="-122"/>
                <a:cs typeface="Arial" pitchFamily="34" charset="-120"/>
              </a:rPr>
              <a:t>Botanical &amp; immersive</a:t>
            </a:r>
            <a:endParaRPr lang="en-US" sz="1170" dirty="0"/>
          </a:p>
        </p:txBody>
      </p:sp>
      <p:sp>
        <p:nvSpPr>
          <p:cNvPr id="21" name="Shape 18"/>
          <p:cNvSpPr/>
          <p:nvPr/>
        </p:nvSpPr>
        <p:spPr>
          <a:xfrm>
            <a:off x="5650992" y="2788920"/>
            <a:ext cx="5943600" cy="1481328"/>
          </a:xfrm>
          <a:prstGeom prst="rect">
            <a:avLst/>
          </a:prstGeom>
          <a:solidFill>
            <a:srgbClr val="FFFFFF"/>
          </a:solidFill>
          <a:ln w="7620">
            <a:solidFill>
              <a:srgbClr val="D8D0BE"/>
            </a:solidFill>
            <a:prstDash val="solid"/>
          </a:ln>
        </p:spPr>
      </p:sp>
      <p:pic>
        <p:nvPicPr>
          <p:cNvPr id="22" name="Image 1" descr="02-grown-together-desktop-hero.jpg">    </p:cNvPr>
          <p:cNvPicPr>
            <a:picLocks noChangeAspect="1"/>
          </p:cNvPicPr>
          <p:nvPr/>
        </p:nvPicPr>
        <p:blipFill>
          <a:blip r:embed="rId2"/>
          <a:stretch>
            <a:fillRect/>
          </a:stretch>
        </p:blipFill>
        <p:spPr>
          <a:xfrm>
            <a:off x="5839907" y="2852928"/>
            <a:ext cx="1935602" cy="1344168"/>
          </a:xfrm>
          <a:prstGeom prst="rect">
            <a:avLst/>
          </a:prstGeom>
        </p:spPr>
      </p:pic>
      <p:sp>
        <p:nvSpPr>
          <p:cNvPr id="23" name="Text 19"/>
          <p:cNvSpPr/>
          <p:nvPr/>
        </p:nvSpPr>
        <p:spPr>
          <a:xfrm>
            <a:off x="8165592" y="2962656"/>
            <a:ext cx="365760" cy="201168"/>
          </a:xfrm>
          <a:prstGeom prst="rect">
            <a:avLst/>
          </a:prstGeom>
          <a:noFill/>
          <a:ln/>
        </p:spPr>
        <p:txBody>
          <a:bodyPr wrap="square" lIns="0" tIns="0" rIns="0" bIns="0" rtlCol="0" anchor="t"/>
          <a:lstStyle/>
          <a:p>
            <a:pPr indent="0" marL="0">
              <a:buNone/>
            </a:pPr>
            <a:r>
              <a:rPr lang="en-US" sz="1000" b="1" dirty="0">
                <a:solidFill>
                  <a:srgbClr val="35583C"/>
                </a:solidFill>
                <a:latin typeface="Arial" pitchFamily="34" charset="0"/>
                <a:ea typeface="Arial" pitchFamily="34" charset="-122"/>
                <a:cs typeface="Arial" pitchFamily="34" charset="-120"/>
              </a:rPr>
              <a:t>02</a:t>
            </a:r>
            <a:endParaRPr lang="en-US" sz="1000" dirty="0"/>
          </a:p>
        </p:txBody>
      </p:sp>
      <p:sp>
        <p:nvSpPr>
          <p:cNvPr id="24" name="Text 20"/>
          <p:cNvSpPr/>
          <p:nvPr/>
        </p:nvSpPr>
        <p:spPr>
          <a:xfrm>
            <a:off x="8165592" y="3255264"/>
            <a:ext cx="3182112" cy="603504"/>
          </a:xfrm>
          <a:prstGeom prst="rect">
            <a:avLst/>
          </a:prstGeom>
          <a:noFill/>
          <a:ln/>
        </p:spPr>
        <p:txBody>
          <a:bodyPr wrap="square" lIns="0" tIns="0" rIns="0" bIns="0" rtlCol="0" anchor="t"/>
          <a:lstStyle/>
          <a:p>
            <a:pPr indent="0" marL="0">
              <a:buNone/>
            </a:pPr>
            <a:r>
              <a:rPr lang="en-US" sz="2200" dirty="0">
                <a:solidFill>
                  <a:srgbClr val="542A69"/>
                </a:solidFill>
                <a:latin typeface="Georgia" pitchFamily="34" charset="0"/>
                <a:ea typeface="Georgia" pitchFamily="34" charset="-122"/>
                <a:cs typeface="Georgia" pitchFamily="34" charset="-120"/>
              </a:rPr>
              <a:t>Grown Together in Davao</a:t>
            </a:r>
            <a:endParaRPr lang="en-US" sz="2200" dirty="0"/>
          </a:p>
        </p:txBody>
      </p:sp>
      <p:sp>
        <p:nvSpPr>
          <p:cNvPr id="25" name="Text 21"/>
          <p:cNvSpPr/>
          <p:nvPr/>
        </p:nvSpPr>
        <p:spPr>
          <a:xfrm>
            <a:off x="8165592" y="3931920"/>
            <a:ext cx="3200400" cy="219456"/>
          </a:xfrm>
          <a:prstGeom prst="rect">
            <a:avLst/>
          </a:prstGeom>
          <a:noFill/>
          <a:ln/>
        </p:spPr>
        <p:txBody>
          <a:bodyPr wrap="square" lIns="0" tIns="0" rIns="0" bIns="0" rtlCol="0" anchor="t"/>
          <a:lstStyle/>
          <a:p>
            <a:pPr indent="0" marL="0">
              <a:buNone/>
            </a:pPr>
            <a:r>
              <a:rPr lang="en-US" sz="1170" dirty="0">
                <a:solidFill>
                  <a:srgbClr val="706B65"/>
                </a:solidFill>
                <a:latin typeface="Arial" pitchFamily="34" charset="0"/>
                <a:ea typeface="Arial" pitchFamily="34" charset="-122"/>
                <a:cs typeface="Arial" pitchFamily="34" charset="-120"/>
              </a:rPr>
              <a:t>Warm &amp; people led</a:t>
            </a:r>
            <a:endParaRPr lang="en-US" sz="1170" dirty="0"/>
          </a:p>
        </p:txBody>
      </p:sp>
      <p:sp>
        <p:nvSpPr>
          <p:cNvPr id="26" name="Shape 22"/>
          <p:cNvSpPr/>
          <p:nvPr/>
        </p:nvSpPr>
        <p:spPr>
          <a:xfrm>
            <a:off x="5650992" y="4526280"/>
            <a:ext cx="5943600" cy="1481328"/>
          </a:xfrm>
          <a:prstGeom prst="rect">
            <a:avLst/>
          </a:prstGeom>
          <a:solidFill>
            <a:srgbClr val="FFFFFF"/>
          </a:solidFill>
          <a:ln w="7620">
            <a:solidFill>
              <a:srgbClr val="D8D0BE"/>
            </a:solidFill>
            <a:prstDash val="solid"/>
          </a:ln>
        </p:spPr>
      </p:sp>
      <p:pic>
        <p:nvPicPr>
          <p:cNvPr id="27" name="Image 2" descr="03-purple-to-world-desktop-hero.jpg">    </p:cNvPr>
          <p:cNvPicPr>
            <a:picLocks noChangeAspect="1"/>
          </p:cNvPicPr>
          <p:nvPr/>
        </p:nvPicPr>
        <p:blipFill>
          <a:blip r:embed="rId3"/>
          <a:stretch>
            <a:fillRect/>
          </a:stretch>
        </p:blipFill>
        <p:spPr>
          <a:xfrm>
            <a:off x="5839907" y="4590288"/>
            <a:ext cx="1935602" cy="1344168"/>
          </a:xfrm>
          <a:prstGeom prst="rect">
            <a:avLst/>
          </a:prstGeom>
        </p:spPr>
      </p:pic>
      <p:sp>
        <p:nvSpPr>
          <p:cNvPr id="28" name="Text 23"/>
          <p:cNvSpPr/>
          <p:nvPr/>
        </p:nvSpPr>
        <p:spPr>
          <a:xfrm>
            <a:off x="8165592" y="4700016"/>
            <a:ext cx="365760" cy="201168"/>
          </a:xfrm>
          <a:prstGeom prst="rect">
            <a:avLst/>
          </a:prstGeom>
          <a:noFill/>
          <a:ln/>
        </p:spPr>
        <p:txBody>
          <a:bodyPr wrap="square" lIns="0" tIns="0" rIns="0" bIns="0" rtlCol="0" anchor="t"/>
          <a:lstStyle/>
          <a:p>
            <a:pPr indent="0" marL="0">
              <a:buNone/>
            </a:pPr>
            <a:r>
              <a:rPr lang="en-US" sz="1000" b="1" dirty="0">
                <a:solidFill>
                  <a:srgbClr val="35583C"/>
                </a:solidFill>
                <a:latin typeface="Arial" pitchFamily="34" charset="0"/>
                <a:ea typeface="Arial" pitchFamily="34" charset="-122"/>
                <a:cs typeface="Arial" pitchFamily="34" charset="-120"/>
              </a:rPr>
              <a:t>03</a:t>
            </a:r>
            <a:endParaRPr lang="en-US" sz="1000" dirty="0"/>
          </a:p>
        </p:txBody>
      </p:sp>
      <p:sp>
        <p:nvSpPr>
          <p:cNvPr id="29" name="Text 24"/>
          <p:cNvSpPr/>
          <p:nvPr/>
        </p:nvSpPr>
        <p:spPr>
          <a:xfrm>
            <a:off x="8165592" y="4992624"/>
            <a:ext cx="3182112" cy="603504"/>
          </a:xfrm>
          <a:prstGeom prst="rect">
            <a:avLst/>
          </a:prstGeom>
          <a:noFill/>
          <a:ln/>
        </p:spPr>
        <p:txBody>
          <a:bodyPr wrap="square" lIns="0" tIns="0" rIns="0" bIns="0" rtlCol="0" anchor="t"/>
          <a:lstStyle/>
          <a:p>
            <a:pPr indent="0" marL="0">
              <a:buNone/>
            </a:pPr>
            <a:r>
              <a:rPr lang="en-US" sz="2200" dirty="0">
                <a:solidFill>
                  <a:srgbClr val="542A69"/>
                </a:solidFill>
                <a:latin typeface="Georgia" pitchFamily="34" charset="0"/>
                <a:ea typeface="Georgia" pitchFamily="34" charset="-122"/>
                <a:cs typeface="Georgia" pitchFamily="34" charset="-120"/>
              </a:rPr>
              <a:t>Purple to the World</a:t>
            </a:r>
            <a:endParaRPr lang="en-US" sz="2200" dirty="0"/>
          </a:p>
        </p:txBody>
      </p:sp>
      <p:sp>
        <p:nvSpPr>
          <p:cNvPr id="30" name="Text 25"/>
          <p:cNvSpPr/>
          <p:nvPr/>
        </p:nvSpPr>
        <p:spPr>
          <a:xfrm>
            <a:off x="8165592" y="5669280"/>
            <a:ext cx="3200400" cy="219456"/>
          </a:xfrm>
          <a:prstGeom prst="rect">
            <a:avLst/>
          </a:prstGeom>
          <a:noFill/>
          <a:ln/>
        </p:spPr>
        <p:txBody>
          <a:bodyPr wrap="square" lIns="0" tIns="0" rIns="0" bIns="0" rtlCol="0" anchor="t"/>
          <a:lstStyle/>
          <a:p>
            <a:pPr indent="0" marL="0">
              <a:buNone/>
            </a:pPr>
            <a:r>
              <a:rPr lang="en-US" sz="1170" dirty="0">
                <a:solidFill>
                  <a:srgbClr val="706B65"/>
                </a:solidFill>
                <a:latin typeface="Arial" pitchFamily="34" charset="0"/>
                <a:ea typeface="Arial" pitchFamily="34" charset="-122"/>
                <a:cs typeface="Arial" pitchFamily="34" charset="-120"/>
              </a:rPr>
              <a:t>Bold &amp; buyer focused</a:t>
            </a:r>
            <a:endParaRPr lang="en-US" sz="11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03</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01 / BOTANICAL &amp; IMMERSIVE</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From Root to Story</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Plant an ube root, follow its vine into the sky, then discover the cooperative and its farms on connected leaves.</a:t>
            </a:r>
            <a:endParaRPr lang="en-US" sz="1440" dirty="0"/>
          </a:p>
        </p:txBody>
      </p:sp>
      <p:sp>
        <p:nvSpPr>
          <p:cNvPr id="7" name="Shape 5"/>
          <p:cNvSpPr/>
          <p:nvPr/>
        </p:nvSpPr>
        <p:spPr>
          <a:xfrm>
            <a:off x="562356" y="2235708"/>
            <a:ext cx="6601968" cy="3922776"/>
          </a:xfrm>
          <a:prstGeom prst="rect">
            <a:avLst/>
          </a:prstGeom>
          <a:solidFill>
            <a:srgbClr val="FFFFFF"/>
          </a:solidFill>
          <a:ln w="7620">
            <a:solidFill>
              <a:srgbClr val="D8D0BE"/>
            </a:solidFill>
            <a:prstDash val="solid"/>
          </a:ln>
        </p:spPr>
      </p:sp>
      <p:pic>
        <p:nvPicPr>
          <p:cNvPr id="8" name="Image 0" descr="01-root-to-story-desktop-hero.jpg">    </p:cNvPr>
          <p:cNvPicPr>
            <a:picLocks noChangeAspect="1"/>
          </p:cNvPicPr>
          <p:nvPr/>
        </p:nvPicPr>
        <p:blipFill>
          <a:blip r:embed="rId1"/>
          <a:stretch>
            <a:fillRect/>
          </a:stretch>
        </p:blipFill>
        <p:spPr>
          <a:xfrm>
            <a:off x="776326" y="2267712"/>
            <a:ext cx="6174029" cy="3858768"/>
          </a:xfrm>
          <a:prstGeom prst="rect">
            <a:avLst/>
          </a:prstGeom>
        </p:spPr>
      </p:pic>
      <p:sp>
        <p:nvSpPr>
          <p:cNvPr id="9" name="Shape 6"/>
          <p:cNvSpPr/>
          <p:nvPr/>
        </p:nvSpPr>
        <p:spPr>
          <a:xfrm>
            <a:off x="7319772" y="2235708"/>
            <a:ext cx="1847088" cy="3922776"/>
          </a:xfrm>
          <a:prstGeom prst="rect">
            <a:avLst/>
          </a:prstGeom>
          <a:solidFill>
            <a:srgbClr val="FFFFFF"/>
          </a:solidFill>
          <a:ln w="7620">
            <a:solidFill>
              <a:srgbClr val="D8D0BE"/>
            </a:solidFill>
            <a:prstDash val="solid"/>
          </a:ln>
        </p:spPr>
      </p:sp>
      <p:pic>
        <p:nvPicPr>
          <p:cNvPr id="10" name="Image 1" descr="01-root-to-story-mobile-hero.jpg">    </p:cNvPr>
          <p:cNvPicPr>
            <a:picLocks noChangeAspect="1"/>
          </p:cNvPicPr>
          <p:nvPr/>
        </p:nvPicPr>
        <p:blipFill>
          <a:blip r:embed="rId2"/>
          <a:stretch>
            <a:fillRect/>
          </a:stretch>
        </p:blipFill>
        <p:spPr>
          <a:xfrm>
            <a:off x="7351776" y="2267712"/>
            <a:ext cx="1783080" cy="3858768"/>
          </a:xfrm>
          <a:prstGeom prst="rect">
            <a:avLst/>
          </a:prstGeom>
        </p:spPr>
      </p:pic>
      <p:sp>
        <p:nvSpPr>
          <p:cNvPr id="11" name="Text 7"/>
          <p:cNvSpPr/>
          <p:nvPr/>
        </p:nvSpPr>
        <p:spPr>
          <a:xfrm>
            <a:off x="594360" y="6263640"/>
            <a:ext cx="6400800"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Desktop opening</a:t>
            </a:r>
            <a:endParaRPr lang="en-US" sz="930" dirty="0"/>
          </a:p>
        </p:txBody>
      </p:sp>
      <p:sp>
        <p:nvSpPr>
          <p:cNvPr id="12" name="Text 8"/>
          <p:cNvSpPr/>
          <p:nvPr/>
        </p:nvSpPr>
        <p:spPr>
          <a:xfrm>
            <a:off x="7351776" y="6263640"/>
            <a:ext cx="1792224"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Mobile opening</a:t>
            </a:r>
            <a:endParaRPr lang="en-US" sz="930" dirty="0"/>
          </a:p>
        </p:txBody>
      </p:sp>
      <p:sp>
        <p:nvSpPr>
          <p:cNvPr id="13" name="Text 9"/>
          <p:cNvSpPr/>
          <p:nvPr/>
        </p:nvSpPr>
        <p:spPr>
          <a:xfrm>
            <a:off x="9445752" y="2322576"/>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WHY CHOOSE IT</a:t>
            </a:r>
            <a:endParaRPr lang="en-US" sz="910" dirty="0"/>
          </a:p>
        </p:txBody>
      </p:sp>
      <p:sp>
        <p:nvSpPr>
          <p:cNvPr id="14" name="Text 10"/>
          <p:cNvSpPr/>
          <p:nvPr/>
        </p:nvSpPr>
        <p:spPr>
          <a:xfrm>
            <a:off x="9445752" y="2679192"/>
            <a:ext cx="2139696" cy="758952"/>
          </a:xfrm>
          <a:prstGeom prst="rect">
            <a:avLst/>
          </a:prstGeom>
          <a:noFill/>
          <a:ln/>
        </p:spPr>
        <p:txBody>
          <a:bodyPr wrap="square" lIns="0" tIns="0" rIns="0" bIns="0" rtlCol="0" anchor="t"/>
          <a:lstStyle/>
          <a:p>
            <a:pPr indent="0" marL="0">
              <a:buNone/>
            </a:pPr>
            <a:r>
              <a:rPr lang="en-US" sz="1510" dirty="0">
                <a:solidFill>
                  <a:srgbClr val="34233E"/>
                </a:solidFill>
                <a:latin typeface="Arial" pitchFamily="34" charset="0"/>
                <a:ea typeface="Arial" pitchFamily="34" charset="-122"/>
                <a:cs typeface="Arial" pitchFamily="34" charset="-120"/>
              </a:rPr>
              <a:t>The most memorable interactive experience.</a:t>
            </a:r>
            <a:endParaRPr lang="en-US" sz="1510" dirty="0"/>
          </a:p>
        </p:txBody>
      </p:sp>
      <p:sp>
        <p:nvSpPr>
          <p:cNvPr id="15" name="Shape 11"/>
          <p:cNvSpPr/>
          <p:nvPr/>
        </p:nvSpPr>
        <p:spPr>
          <a:xfrm>
            <a:off x="9445752" y="3584448"/>
            <a:ext cx="2139696" cy="0"/>
          </a:xfrm>
          <a:prstGeom prst="line">
            <a:avLst/>
          </a:prstGeom>
          <a:noFill/>
          <a:ln w="8890">
            <a:solidFill>
              <a:srgbClr val="D8D0BE"/>
            </a:solidFill>
            <a:prstDash val="solid"/>
          </a:ln>
        </p:spPr>
      </p:sp>
      <p:sp>
        <p:nvSpPr>
          <p:cNvPr id="16" name="Text 12"/>
          <p:cNvSpPr/>
          <p:nvPr/>
        </p:nvSpPr>
        <p:spPr>
          <a:xfrm>
            <a:off x="9445752" y="3813048"/>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DESIGNED FOR</a:t>
            </a:r>
            <a:endParaRPr lang="en-US" sz="910" dirty="0"/>
          </a:p>
        </p:txBody>
      </p:sp>
      <p:sp>
        <p:nvSpPr>
          <p:cNvPr id="17" name="Text 13"/>
          <p:cNvSpPr/>
          <p:nvPr/>
        </p:nvSpPr>
        <p:spPr>
          <a:xfrm>
            <a:off x="9445752" y="4133088"/>
            <a:ext cx="2139696" cy="886968"/>
          </a:xfrm>
          <a:prstGeom prst="rect">
            <a:avLst/>
          </a:prstGeom>
          <a:noFill/>
          <a:ln/>
        </p:spPr>
        <p:txBody>
          <a:bodyPr wrap="square" lIns="0" tIns="0" rIns="0" bIns="0" rtlCol="0" anchor="t"/>
          <a:lstStyle/>
          <a:p>
            <a:pPr indent="0" marL="0">
              <a:buNone/>
            </a:pPr>
            <a:r>
              <a:rPr lang="en-US" sz="1330" dirty="0">
                <a:solidFill>
                  <a:srgbClr val="706B65"/>
                </a:solidFill>
                <a:latin typeface="Arial" pitchFamily="34" charset="0"/>
                <a:ea typeface="Arial" pitchFamily="34" charset="-122"/>
                <a:cs typeface="Arial" pitchFamily="34" charset="-120"/>
              </a:rPr>
              <a:t>Visitors, buyers and anyone discovering the farm.</a:t>
            </a:r>
            <a:endParaRPr lang="en-US" sz="1330" dirty="0"/>
          </a:p>
        </p:txBody>
      </p:sp>
      <p:sp>
        <p:nvSpPr>
          <p:cNvPr id="18" name="Text 14"/>
          <p:cNvSpPr/>
          <p:nvPr/>
        </p:nvSpPr>
        <p:spPr>
          <a:xfrm>
            <a:off x="9445752" y="5340096"/>
            <a:ext cx="2139696" cy="164592"/>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COLOR DIRECTION</a:t>
            </a:r>
            <a:endParaRPr lang="en-US" sz="910" dirty="0"/>
          </a:p>
        </p:txBody>
      </p:sp>
      <p:sp>
        <p:nvSpPr>
          <p:cNvPr id="19" name="Shape 15"/>
          <p:cNvSpPr/>
          <p:nvPr/>
        </p:nvSpPr>
        <p:spPr>
          <a:xfrm>
            <a:off x="9445752" y="5669280"/>
            <a:ext cx="292608" cy="292608"/>
          </a:xfrm>
          <a:prstGeom prst="ellipse">
            <a:avLst/>
          </a:prstGeom>
          <a:solidFill>
            <a:srgbClr val="F6F3EA"/>
          </a:solidFill>
          <a:ln w="12700">
            <a:solidFill>
              <a:srgbClr val="F6F3EA"/>
            </a:solidFill>
            <a:prstDash val="solid"/>
          </a:ln>
        </p:spPr>
      </p:sp>
      <p:sp>
        <p:nvSpPr>
          <p:cNvPr id="20" name="Shape 16"/>
          <p:cNvSpPr/>
          <p:nvPr/>
        </p:nvSpPr>
        <p:spPr>
          <a:xfrm>
            <a:off x="9884664" y="5669280"/>
            <a:ext cx="292608" cy="292608"/>
          </a:xfrm>
          <a:prstGeom prst="ellipse">
            <a:avLst/>
          </a:prstGeom>
          <a:solidFill>
            <a:srgbClr val="542A69"/>
          </a:solidFill>
          <a:ln w="12700">
            <a:solidFill>
              <a:srgbClr val="542A69"/>
            </a:solidFill>
            <a:prstDash val="solid"/>
          </a:ln>
        </p:spPr>
      </p:sp>
      <p:sp>
        <p:nvSpPr>
          <p:cNvPr id="21" name="Shape 17"/>
          <p:cNvSpPr/>
          <p:nvPr/>
        </p:nvSpPr>
        <p:spPr>
          <a:xfrm>
            <a:off x="10323576" y="5669280"/>
            <a:ext cx="292608" cy="292608"/>
          </a:xfrm>
          <a:prstGeom prst="ellipse">
            <a:avLst/>
          </a:prstGeom>
          <a:solidFill>
            <a:srgbClr val="35583C"/>
          </a:solidFill>
          <a:ln w="12700">
            <a:solidFill>
              <a:srgbClr val="35583C"/>
            </a:solidFill>
            <a:prstDash val="solid"/>
          </a:ln>
        </p:spPr>
      </p:sp>
      <p:sp>
        <p:nvSpPr>
          <p:cNvPr id="22" name="Shape 18"/>
          <p:cNvSpPr/>
          <p:nvPr/>
        </p:nvSpPr>
        <p:spPr>
          <a:xfrm>
            <a:off x="10762488" y="5669280"/>
            <a:ext cx="292608" cy="292608"/>
          </a:xfrm>
          <a:prstGeom prst="ellipse">
            <a:avLst/>
          </a:prstGeom>
          <a:solidFill>
            <a:srgbClr val="C2CE9F"/>
          </a:solidFill>
          <a:ln w="12700">
            <a:solidFill>
              <a:srgbClr val="C2CE9F"/>
            </a:solidFill>
            <a:prstDash val="solid"/>
          </a:ln>
        </p:spPr>
      </p:sp>
      <p:sp>
        <p:nvSpPr>
          <p:cNvPr id="23" name="Shape 19"/>
          <p:cNvSpPr/>
          <p:nvPr/>
        </p:nvSpPr>
        <p:spPr>
          <a:xfrm>
            <a:off x="594360" y="1874520"/>
            <a:ext cx="1463040" cy="283464"/>
          </a:xfrm>
          <a:prstGeom prst="roundRect">
            <a:avLst>
              <a:gd name="adj" fmla="val 45161"/>
            </a:avLst>
          </a:prstGeom>
          <a:solidFill>
            <a:srgbClr val="35583C"/>
          </a:solidFill>
          <a:ln w="12700">
            <a:solidFill>
              <a:srgbClr val="35583C"/>
            </a:solidFill>
            <a:prstDash val="solid"/>
          </a:ln>
        </p:spPr>
      </p:sp>
      <p:sp>
        <p:nvSpPr>
          <p:cNvPr id="24" name="Text 20"/>
          <p:cNvSpPr/>
          <p:nvPr/>
        </p:nvSpPr>
        <p:spPr>
          <a:xfrm>
            <a:off x="704088" y="1938528"/>
            <a:ext cx="1243584" cy="155448"/>
          </a:xfrm>
          <a:prstGeom prst="rect">
            <a:avLst/>
          </a:prstGeom>
          <a:noFill/>
          <a:ln/>
        </p:spPr>
        <p:txBody>
          <a:bodyPr wrap="square" lIns="0" tIns="0" rIns="0" bIns="0" rtlCol="0" anchor="t"/>
          <a:lstStyle/>
          <a:p>
            <a:pPr indent="0" marL="0">
              <a:buNone/>
            </a:pPr>
            <a:r>
              <a:rPr lang="en-US" sz="870" b="1" dirty="0">
                <a:solidFill>
                  <a:srgbClr val="FFFFFF"/>
                </a:solidFill>
                <a:latin typeface="Arial" pitchFamily="34" charset="0"/>
                <a:ea typeface="Arial" pitchFamily="34" charset="-122"/>
                <a:cs typeface="Arial" pitchFamily="34" charset="-120"/>
              </a:rPr>
              <a:t>Working prototype</a:t>
            </a:r>
            <a:endParaRPr lang="en-US" sz="8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04</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01 / HOW THE JOURNEY UNFOLDS</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Plant. Grow. Discover.</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The same plant connects the introduction, farm lookup, stories, partner farms and leadership.</a:t>
            </a:r>
            <a:endParaRPr lang="en-US" sz="1440" dirty="0"/>
          </a:p>
        </p:txBody>
      </p:sp>
      <p:pic>
        <p:nvPicPr>
          <p:cNvPr id="3" name="Actual prototype scroll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94360" y="2286000"/>
            <a:ext cx="6693408" cy="3765499"/>
          </a:xfrm>
          <a:prstGeom prst="rect">
            <a:avLst/>
          </a:prstGeom>
        </p:spPr>
      </p:pic>
      <p:sp>
        <p:nvSpPr>
          <p:cNvPr id="8" name="Text 5"/>
          <p:cNvSpPr/>
          <p:nvPr/>
        </p:nvSpPr>
        <p:spPr>
          <a:xfrm>
            <a:off x="594360" y="6163056"/>
            <a:ext cx="6812280" cy="201168"/>
          </a:xfrm>
          <a:prstGeom prst="rect">
            <a:avLst/>
          </a:prstGeom>
          <a:noFill/>
          <a:ln/>
        </p:spPr>
        <p:txBody>
          <a:bodyPr wrap="square" lIns="0" tIns="0" rIns="0" bIns="0" rtlCol="0" anchor="t"/>
          <a:lstStyle/>
          <a:p>
            <a:pPr indent="0" marL="0">
              <a:buNone/>
            </a:pPr>
            <a:r>
              <a:rPr lang="en-US" sz="1050" b="1" dirty="0">
                <a:solidFill>
                  <a:srgbClr val="35583C"/>
                </a:solidFill>
                <a:latin typeface="Arial" pitchFamily="34" charset="0"/>
                <a:ea typeface="Arial" pitchFamily="34" charset="-122"/>
                <a:cs typeface="Arial" pitchFamily="34" charset="-120"/>
              </a:rPr>
              <a:t>Actual prototype recording · play this video in PowerPoint</a:t>
            </a:r>
            <a:endParaRPr lang="en-US" sz="1050" dirty="0"/>
          </a:p>
        </p:txBody>
      </p:sp>
      <p:sp>
        <p:nvSpPr>
          <p:cNvPr id="9" name="Shape 6"/>
          <p:cNvSpPr/>
          <p:nvPr/>
        </p:nvSpPr>
        <p:spPr>
          <a:xfrm>
            <a:off x="7662672" y="2267712"/>
            <a:ext cx="292608" cy="292608"/>
          </a:xfrm>
          <a:prstGeom prst="ellipse">
            <a:avLst/>
          </a:prstGeom>
          <a:solidFill>
            <a:srgbClr val="35583C"/>
          </a:solidFill>
          <a:ln w="12700">
            <a:solidFill>
              <a:srgbClr val="35583C"/>
            </a:solidFill>
            <a:prstDash val="solid"/>
          </a:ln>
        </p:spPr>
      </p:sp>
      <p:sp>
        <p:nvSpPr>
          <p:cNvPr id="10" name="Text 7"/>
          <p:cNvSpPr/>
          <p:nvPr/>
        </p:nvSpPr>
        <p:spPr>
          <a:xfrm>
            <a:off x="7662672" y="22997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8"/>
          <p:cNvSpPr/>
          <p:nvPr/>
        </p:nvSpPr>
        <p:spPr>
          <a:xfrm>
            <a:off x="8119872" y="22494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Root drops into the soil</a:t>
            </a:r>
            <a:endParaRPr lang="en-US" sz="1500" dirty="0"/>
          </a:p>
        </p:txBody>
      </p:sp>
      <p:sp>
        <p:nvSpPr>
          <p:cNvPr id="12" name="Text 9"/>
          <p:cNvSpPr/>
          <p:nvPr/>
        </p:nvSpPr>
        <p:spPr>
          <a:xfrm>
            <a:off x="8119872" y="26151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A purple yam drops beside the green trellis.</a:t>
            </a:r>
            <a:endParaRPr lang="en-US" sz="1290" dirty="0"/>
          </a:p>
        </p:txBody>
      </p:sp>
      <p:sp>
        <p:nvSpPr>
          <p:cNvPr id="13" name="Shape 10"/>
          <p:cNvSpPr/>
          <p:nvPr/>
        </p:nvSpPr>
        <p:spPr>
          <a:xfrm>
            <a:off x="7662672" y="3182112"/>
            <a:ext cx="292608" cy="292608"/>
          </a:xfrm>
          <a:prstGeom prst="ellipse">
            <a:avLst/>
          </a:prstGeom>
          <a:solidFill>
            <a:srgbClr val="35583C"/>
          </a:solidFill>
          <a:ln w="12700">
            <a:solidFill>
              <a:srgbClr val="35583C"/>
            </a:solidFill>
            <a:prstDash val="solid"/>
          </a:ln>
        </p:spPr>
      </p:sp>
      <p:sp>
        <p:nvSpPr>
          <p:cNvPr id="14" name="Text 11"/>
          <p:cNvSpPr/>
          <p:nvPr/>
        </p:nvSpPr>
        <p:spPr>
          <a:xfrm>
            <a:off x="7662672" y="32141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8119872" y="31638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Vine grows to the lookup leaf</a:t>
            </a:r>
            <a:endParaRPr lang="en-US" sz="1500" dirty="0"/>
          </a:p>
        </p:txBody>
      </p:sp>
      <p:sp>
        <p:nvSpPr>
          <p:cNvPr id="16" name="Text 13"/>
          <p:cNvSpPr/>
          <p:nvPr/>
        </p:nvSpPr>
        <p:spPr>
          <a:xfrm>
            <a:off x="8119872" y="35295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The vine grows upward to the tip-leaf farm search.</a:t>
            </a:r>
            <a:endParaRPr lang="en-US" sz="1290" dirty="0"/>
          </a:p>
        </p:txBody>
      </p:sp>
      <p:sp>
        <p:nvSpPr>
          <p:cNvPr id="17" name="Shape 14"/>
          <p:cNvSpPr/>
          <p:nvPr/>
        </p:nvSpPr>
        <p:spPr>
          <a:xfrm>
            <a:off x="7662672" y="4096512"/>
            <a:ext cx="292608" cy="292608"/>
          </a:xfrm>
          <a:prstGeom prst="ellipse">
            <a:avLst/>
          </a:prstGeom>
          <a:solidFill>
            <a:srgbClr val="35583C"/>
          </a:solidFill>
          <a:ln w="12700">
            <a:solidFill>
              <a:srgbClr val="35583C"/>
            </a:solidFill>
            <a:prstDash val="solid"/>
          </a:ln>
        </p:spPr>
      </p:sp>
      <p:sp>
        <p:nvSpPr>
          <p:cNvPr id="18" name="Text 15"/>
          <p:cNvSpPr/>
          <p:nvPr/>
        </p:nvSpPr>
        <p:spPr>
          <a:xfrm>
            <a:off x="7662672" y="41285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Text 16"/>
          <p:cNvSpPr/>
          <p:nvPr/>
        </p:nvSpPr>
        <p:spPr>
          <a:xfrm>
            <a:off x="8119872" y="40782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Stories unfold during descent</a:t>
            </a:r>
            <a:endParaRPr lang="en-US" sz="1500" dirty="0"/>
          </a:p>
        </p:txBody>
      </p:sp>
      <p:sp>
        <p:nvSpPr>
          <p:cNvPr id="20" name="Text 17"/>
          <p:cNvSpPr/>
          <p:nvPr/>
        </p:nvSpPr>
        <p:spPr>
          <a:xfrm>
            <a:off x="8119872" y="44439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Scroll down through company, growing and harvest stories.</a:t>
            </a:r>
            <a:endParaRPr lang="en-US" sz="1290" dirty="0"/>
          </a:p>
        </p:txBody>
      </p:sp>
      <p:sp>
        <p:nvSpPr>
          <p:cNvPr id="21" name="Shape 18"/>
          <p:cNvSpPr/>
          <p:nvPr/>
        </p:nvSpPr>
        <p:spPr>
          <a:xfrm>
            <a:off x="7662672" y="5010912"/>
            <a:ext cx="292608" cy="292608"/>
          </a:xfrm>
          <a:prstGeom prst="ellipse">
            <a:avLst/>
          </a:prstGeom>
          <a:solidFill>
            <a:srgbClr val="35583C"/>
          </a:solidFill>
          <a:ln w="12700">
            <a:solidFill>
              <a:srgbClr val="35583C"/>
            </a:solidFill>
            <a:prstDash val="solid"/>
          </a:ln>
        </p:spPr>
      </p:sp>
      <p:sp>
        <p:nvSpPr>
          <p:cNvPr id="22" name="Text 19"/>
          <p:cNvSpPr/>
          <p:nvPr/>
        </p:nvSpPr>
        <p:spPr>
          <a:xfrm>
            <a:off x="7662672" y="50429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3" name="Text 20"/>
          <p:cNvSpPr/>
          <p:nvPr/>
        </p:nvSpPr>
        <p:spPr>
          <a:xfrm>
            <a:off x="8119872" y="49926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Partners and leadership resolve</a:t>
            </a:r>
            <a:endParaRPr lang="en-US" sz="1500" dirty="0"/>
          </a:p>
        </p:txBody>
      </p:sp>
      <p:sp>
        <p:nvSpPr>
          <p:cNvPr id="24" name="Text 21"/>
          <p:cNvSpPr/>
          <p:nvPr/>
        </p:nvSpPr>
        <p:spPr>
          <a:xfrm>
            <a:off x="8119872" y="53583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Lower leaves reveal partners; the root becomes the leadership board.</a:t>
            </a:r>
            <a:endParaRPr lang="en-US" sz="12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05</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02 / WARM &amp; PEOPLE LED</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Grown Together in Davao</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A warm editorial website that introduces the cooperative through its people, Davao setting and shared growing story.</a:t>
            </a:r>
            <a:endParaRPr lang="en-US" sz="1440" dirty="0"/>
          </a:p>
        </p:txBody>
      </p:sp>
      <p:sp>
        <p:nvSpPr>
          <p:cNvPr id="7" name="Shape 5"/>
          <p:cNvSpPr/>
          <p:nvPr/>
        </p:nvSpPr>
        <p:spPr>
          <a:xfrm>
            <a:off x="562356" y="2235708"/>
            <a:ext cx="6601968" cy="3922776"/>
          </a:xfrm>
          <a:prstGeom prst="rect">
            <a:avLst/>
          </a:prstGeom>
          <a:solidFill>
            <a:srgbClr val="FFFFFF"/>
          </a:solidFill>
          <a:ln w="7620">
            <a:solidFill>
              <a:srgbClr val="D8D0BE"/>
            </a:solidFill>
            <a:prstDash val="solid"/>
          </a:ln>
        </p:spPr>
      </p:sp>
      <p:pic>
        <p:nvPicPr>
          <p:cNvPr id="8" name="Image 0" descr="02-grown-together-desktop-hero.jpg">    </p:cNvPr>
          <p:cNvPicPr>
            <a:picLocks noChangeAspect="1"/>
          </p:cNvPicPr>
          <p:nvPr/>
        </p:nvPicPr>
        <p:blipFill>
          <a:blip r:embed="rId1"/>
          <a:stretch>
            <a:fillRect/>
          </a:stretch>
        </p:blipFill>
        <p:spPr>
          <a:xfrm>
            <a:off x="1085027" y="2267712"/>
            <a:ext cx="5556626" cy="3858768"/>
          </a:xfrm>
          <a:prstGeom prst="rect">
            <a:avLst/>
          </a:prstGeom>
        </p:spPr>
      </p:pic>
      <p:sp>
        <p:nvSpPr>
          <p:cNvPr id="9" name="Shape 6"/>
          <p:cNvSpPr/>
          <p:nvPr/>
        </p:nvSpPr>
        <p:spPr>
          <a:xfrm>
            <a:off x="7319772" y="2235708"/>
            <a:ext cx="1847088" cy="3922776"/>
          </a:xfrm>
          <a:prstGeom prst="rect">
            <a:avLst/>
          </a:prstGeom>
          <a:solidFill>
            <a:srgbClr val="FFFFFF"/>
          </a:solidFill>
          <a:ln w="7620">
            <a:solidFill>
              <a:srgbClr val="D8D0BE"/>
            </a:solidFill>
            <a:prstDash val="solid"/>
          </a:ln>
        </p:spPr>
      </p:sp>
      <p:pic>
        <p:nvPicPr>
          <p:cNvPr id="10" name="Image 1" descr="02-grown-together-mobile-hero.jpg">    </p:cNvPr>
          <p:cNvPicPr>
            <a:picLocks noChangeAspect="1"/>
          </p:cNvPicPr>
          <p:nvPr/>
        </p:nvPicPr>
        <p:blipFill>
          <a:blip r:embed="rId2"/>
          <a:stretch>
            <a:fillRect/>
          </a:stretch>
        </p:blipFill>
        <p:spPr>
          <a:xfrm>
            <a:off x="7351776" y="2267712"/>
            <a:ext cx="1783080" cy="3858768"/>
          </a:xfrm>
          <a:prstGeom prst="rect">
            <a:avLst/>
          </a:prstGeom>
        </p:spPr>
      </p:pic>
      <p:sp>
        <p:nvSpPr>
          <p:cNvPr id="11" name="Text 7"/>
          <p:cNvSpPr/>
          <p:nvPr/>
        </p:nvSpPr>
        <p:spPr>
          <a:xfrm>
            <a:off x="594360" y="6263640"/>
            <a:ext cx="6400800"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Desktop opening · illustrative photography</a:t>
            </a:r>
            <a:endParaRPr lang="en-US" sz="930" dirty="0"/>
          </a:p>
        </p:txBody>
      </p:sp>
      <p:sp>
        <p:nvSpPr>
          <p:cNvPr id="12" name="Text 8"/>
          <p:cNvSpPr/>
          <p:nvPr/>
        </p:nvSpPr>
        <p:spPr>
          <a:xfrm>
            <a:off x="7351776" y="6263640"/>
            <a:ext cx="1792224"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Mobile opening</a:t>
            </a:r>
            <a:endParaRPr lang="en-US" sz="930" dirty="0"/>
          </a:p>
        </p:txBody>
      </p:sp>
      <p:sp>
        <p:nvSpPr>
          <p:cNvPr id="13" name="Text 9"/>
          <p:cNvSpPr/>
          <p:nvPr/>
        </p:nvSpPr>
        <p:spPr>
          <a:xfrm>
            <a:off x="9445752" y="2322576"/>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WHY CHOOSE IT</a:t>
            </a:r>
            <a:endParaRPr lang="en-US" sz="910" dirty="0"/>
          </a:p>
        </p:txBody>
      </p:sp>
      <p:sp>
        <p:nvSpPr>
          <p:cNvPr id="14" name="Text 10"/>
          <p:cNvSpPr/>
          <p:nvPr/>
        </p:nvSpPr>
        <p:spPr>
          <a:xfrm>
            <a:off x="9445752" y="2679192"/>
            <a:ext cx="2139696" cy="758952"/>
          </a:xfrm>
          <a:prstGeom prst="rect">
            <a:avLst/>
          </a:prstGeom>
          <a:noFill/>
          <a:ln/>
        </p:spPr>
        <p:txBody>
          <a:bodyPr wrap="square" lIns="0" tIns="0" rIns="0" bIns="0" rtlCol="0" anchor="t"/>
          <a:lstStyle/>
          <a:p>
            <a:pPr indent="0" marL="0">
              <a:buNone/>
            </a:pPr>
            <a:r>
              <a:rPr lang="en-US" sz="1510" dirty="0">
                <a:solidFill>
                  <a:srgbClr val="34233E"/>
                </a:solidFill>
                <a:latin typeface="Arial" pitchFamily="34" charset="0"/>
                <a:ea typeface="Arial" pitchFamily="34" charset="-122"/>
                <a:cs typeface="Arial" pitchFamily="34" charset="-120"/>
              </a:rPr>
              <a:t>Builds trust through people and place.</a:t>
            </a:r>
            <a:endParaRPr lang="en-US" sz="1510" dirty="0"/>
          </a:p>
        </p:txBody>
      </p:sp>
      <p:sp>
        <p:nvSpPr>
          <p:cNvPr id="15" name="Shape 11"/>
          <p:cNvSpPr/>
          <p:nvPr/>
        </p:nvSpPr>
        <p:spPr>
          <a:xfrm>
            <a:off x="9445752" y="3584448"/>
            <a:ext cx="2139696" cy="0"/>
          </a:xfrm>
          <a:prstGeom prst="line">
            <a:avLst/>
          </a:prstGeom>
          <a:noFill/>
          <a:ln w="8890">
            <a:solidFill>
              <a:srgbClr val="D8D0BE"/>
            </a:solidFill>
            <a:prstDash val="solid"/>
          </a:ln>
        </p:spPr>
      </p:sp>
      <p:sp>
        <p:nvSpPr>
          <p:cNvPr id="16" name="Text 12"/>
          <p:cNvSpPr/>
          <p:nvPr/>
        </p:nvSpPr>
        <p:spPr>
          <a:xfrm>
            <a:off x="9445752" y="3813048"/>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DESIGNED FOR</a:t>
            </a:r>
            <a:endParaRPr lang="en-US" sz="910" dirty="0"/>
          </a:p>
        </p:txBody>
      </p:sp>
      <p:sp>
        <p:nvSpPr>
          <p:cNvPr id="17" name="Text 13"/>
          <p:cNvSpPr/>
          <p:nvPr/>
        </p:nvSpPr>
        <p:spPr>
          <a:xfrm>
            <a:off x="9445752" y="4133088"/>
            <a:ext cx="2139696" cy="886968"/>
          </a:xfrm>
          <a:prstGeom prst="rect">
            <a:avLst/>
          </a:prstGeom>
          <a:noFill/>
          <a:ln/>
        </p:spPr>
        <p:txBody>
          <a:bodyPr wrap="square" lIns="0" tIns="0" rIns="0" bIns="0" rtlCol="0" anchor="t"/>
          <a:lstStyle/>
          <a:p>
            <a:pPr indent="0" marL="0">
              <a:buNone/>
            </a:pPr>
            <a:r>
              <a:rPr lang="en-US" sz="1330" dirty="0">
                <a:solidFill>
                  <a:srgbClr val="706B65"/>
                </a:solidFill>
                <a:latin typeface="Arial" pitchFamily="34" charset="0"/>
                <a:ea typeface="Arial" pitchFamily="34" charset="-122"/>
                <a:cs typeface="Arial" pitchFamily="34" charset="-120"/>
              </a:rPr>
              <a:t>Cooperative partners, local communities and buyers.</a:t>
            </a:r>
            <a:endParaRPr lang="en-US" sz="1330" dirty="0"/>
          </a:p>
        </p:txBody>
      </p:sp>
      <p:sp>
        <p:nvSpPr>
          <p:cNvPr id="18" name="Text 14"/>
          <p:cNvSpPr/>
          <p:nvPr/>
        </p:nvSpPr>
        <p:spPr>
          <a:xfrm>
            <a:off x="9445752" y="5340096"/>
            <a:ext cx="2139696" cy="164592"/>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COLOR DIRECTION</a:t>
            </a:r>
            <a:endParaRPr lang="en-US" sz="910" dirty="0"/>
          </a:p>
        </p:txBody>
      </p:sp>
      <p:sp>
        <p:nvSpPr>
          <p:cNvPr id="19" name="Shape 15"/>
          <p:cNvSpPr/>
          <p:nvPr/>
        </p:nvSpPr>
        <p:spPr>
          <a:xfrm>
            <a:off x="9445752" y="5669280"/>
            <a:ext cx="292608" cy="292608"/>
          </a:xfrm>
          <a:prstGeom prst="ellipse">
            <a:avLst/>
          </a:prstGeom>
          <a:solidFill>
            <a:srgbClr val="F3EFE4"/>
          </a:solidFill>
          <a:ln w="12700">
            <a:solidFill>
              <a:srgbClr val="F3EFE4"/>
            </a:solidFill>
            <a:prstDash val="solid"/>
          </a:ln>
        </p:spPr>
      </p:sp>
      <p:sp>
        <p:nvSpPr>
          <p:cNvPr id="20" name="Shape 16"/>
          <p:cNvSpPr/>
          <p:nvPr/>
        </p:nvSpPr>
        <p:spPr>
          <a:xfrm>
            <a:off x="9884664" y="5669280"/>
            <a:ext cx="292608" cy="292608"/>
          </a:xfrm>
          <a:prstGeom prst="ellipse">
            <a:avLst/>
          </a:prstGeom>
          <a:solidFill>
            <a:srgbClr val="283D30"/>
          </a:solidFill>
          <a:ln w="12700">
            <a:solidFill>
              <a:srgbClr val="283D30"/>
            </a:solidFill>
            <a:prstDash val="solid"/>
          </a:ln>
        </p:spPr>
      </p:sp>
      <p:sp>
        <p:nvSpPr>
          <p:cNvPr id="21" name="Shape 17"/>
          <p:cNvSpPr/>
          <p:nvPr/>
        </p:nvSpPr>
        <p:spPr>
          <a:xfrm>
            <a:off x="10323576" y="5669280"/>
            <a:ext cx="292608" cy="292608"/>
          </a:xfrm>
          <a:prstGeom prst="ellipse">
            <a:avLst/>
          </a:prstGeom>
          <a:solidFill>
            <a:srgbClr val="654073"/>
          </a:solidFill>
          <a:ln w="12700">
            <a:solidFill>
              <a:srgbClr val="654073"/>
            </a:solidFill>
            <a:prstDash val="solid"/>
          </a:ln>
        </p:spPr>
      </p:sp>
      <p:sp>
        <p:nvSpPr>
          <p:cNvPr id="22" name="Shape 18"/>
          <p:cNvSpPr/>
          <p:nvPr/>
        </p:nvSpPr>
        <p:spPr>
          <a:xfrm>
            <a:off x="10762488" y="5669280"/>
            <a:ext cx="292608" cy="292608"/>
          </a:xfrm>
          <a:prstGeom prst="ellipse">
            <a:avLst/>
          </a:prstGeom>
          <a:solidFill>
            <a:srgbClr val="D9D1BB"/>
          </a:solidFill>
          <a:ln w="12700">
            <a:solidFill>
              <a:srgbClr val="D9D1BB"/>
            </a:solidFill>
            <a:prstDash val="solid"/>
          </a:ln>
        </p:spPr>
      </p:sp>
      <p:sp>
        <p:nvSpPr>
          <p:cNvPr id="23" name="Shape 19"/>
          <p:cNvSpPr/>
          <p:nvPr/>
        </p:nvSpPr>
        <p:spPr>
          <a:xfrm>
            <a:off x="594360" y="1874520"/>
            <a:ext cx="2459736" cy="283464"/>
          </a:xfrm>
          <a:prstGeom prst="roundRect">
            <a:avLst>
              <a:gd name="adj" fmla="val 45161"/>
            </a:avLst>
          </a:prstGeom>
          <a:solidFill>
            <a:srgbClr val="35583C"/>
          </a:solidFill>
          <a:ln w="12700">
            <a:solidFill>
              <a:srgbClr val="35583C"/>
            </a:solidFill>
            <a:prstDash val="solid"/>
          </a:ln>
        </p:spPr>
      </p:sp>
      <p:sp>
        <p:nvSpPr>
          <p:cNvPr id="24" name="Text 20"/>
          <p:cNvSpPr/>
          <p:nvPr/>
        </p:nvSpPr>
        <p:spPr>
          <a:xfrm>
            <a:off x="704088" y="1938528"/>
            <a:ext cx="2240280" cy="155448"/>
          </a:xfrm>
          <a:prstGeom prst="rect">
            <a:avLst/>
          </a:prstGeom>
          <a:noFill/>
          <a:ln/>
        </p:spPr>
        <p:txBody>
          <a:bodyPr wrap="square" lIns="0" tIns="0" rIns="0" bIns="0" rtlCol="0" anchor="t"/>
          <a:lstStyle/>
          <a:p>
            <a:pPr indent="0" marL="0">
              <a:buNone/>
            </a:pPr>
            <a:r>
              <a:rPr lang="en-US" sz="870" b="1" dirty="0">
                <a:solidFill>
                  <a:srgbClr val="FFFFFF"/>
                </a:solidFill>
                <a:latin typeface="Arial" pitchFamily="34" charset="0"/>
                <a:ea typeface="Arial" pitchFamily="34" charset="-122"/>
                <a:cs typeface="Arial" pitchFamily="34" charset="-120"/>
              </a:rPr>
              <a:t>Concept preview · proposed motion</a:t>
            </a:r>
            <a:endParaRPr lang="en-US" sz="8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06</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02 / HOW THE JOURNEY UNFOLDS</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Let the people lead the story.</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Proposed scroll behavior. These previews show composition and content; photography is illustrative.</a:t>
            </a:r>
            <a:endParaRPr lang="en-US" sz="1440" dirty="0"/>
          </a:p>
        </p:txBody>
      </p:sp>
      <p:sp>
        <p:nvSpPr>
          <p:cNvPr id="7" name="Shape 5"/>
          <p:cNvSpPr/>
          <p:nvPr/>
        </p:nvSpPr>
        <p:spPr>
          <a:xfrm>
            <a:off x="562356" y="2281428"/>
            <a:ext cx="3511296" cy="2240280"/>
          </a:xfrm>
          <a:prstGeom prst="rect">
            <a:avLst/>
          </a:prstGeom>
          <a:solidFill>
            <a:srgbClr val="FFFFFF"/>
          </a:solidFill>
          <a:ln w="7620">
            <a:solidFill>
              <a:srgbClr val="D8D0BE"/>
            </a:solidFill>
            <a:prstDash val="solid"/>
          </a:ln>
        </p:spPr>
      </p:sp>
      <p:pic>
        <p:nvPicPr>
          <p:cNvPr id="8" name="Image 0" descr="02-grown-together-story-section.png">    </p:cNvPr>
          <p:cNvPicPr>
            <a:picLocks noChangeAspect="1"/>
          </p:cNvPicPr>
          <p:nvPr/>
        </p:nvPicPr>
        <p:blipFill>
          <a:blip r:embed="rId1"/>
          <a:stretch>
            <a:fillRect/>
          </a:stretch>
        </p:blipFill>
        <p:spPr>
          <a:xfrm>
            <a:off x="594360" y="2479897"/>
            <a:ext cx="3447288" cy="1843342"/>
          </a:xfrm>
          <a:prstGeom prst="rect">
            <a:avLst/>
          </a:prstGeom>
        </p:spPr>
      </p:pic>
      <p:sp>
        <p:nvSpPr>
          <p:cNvPr id="9" name="Text 6"/>
          <p:cNvSpPr/>
          <p:nvPr/>
        </p:nvSpPr>
        <p:spPr>
          <a:xfrm>
            <a:off x="594360"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01</a:t>
            </a:r>
            <a:endParaRPr lang="en-US" sz="1150" dirty="0"/>
          </a:p>
        </p:txBody>
      </p:sp>
      <p:sp>
        <p:nvSpPr>
          <p:cNvPr id="10" name="Text 7"/>
          <p:cNvSpPr/>
          <p:nvPr/>
        </p:nvSpPr>
        <p:spPr>
          <a:xfrm>
            <a:off x="1051560"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People &amp; place</a:t>
            </a:r>
            <a:endParaRPr lang="en-US" sz="1620" dirty="0"/>
          </a:p>
        </p:txBody>
      </p:sp>
      <p:sp>
        <p:nvSpPr>
          <p:cNvPr id="11" name="Text 8"/>
          <p:cNvSpPr/>
          <p:nvPr/>
        </p:nvSpPr>
        <p:spPr>
          <a:xfrm>
            <a:off x="594360"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The opening arch reveals the field. Photographs and headlines move on separate planes, then settle for reading.</a:t>
            </a:r>
            <a:endParaRPr lang="en-US" sz="1310" dirty="0"/>
          </a:p>
        </p:txBody>
      </p:sp>
      <p:sp>
        <p:nvSpPr>
          <p:cNvPr id="12" name="Shape 9"/>
          <p:cNvSpPr/>
          <p:nvPr/>
        </p:nvSpPr>
        <p:spPr>
          <a:xfrm>
            <a:off x="4338828" y="2281428"/>
            <a:ext cx="3511296" cy="2240280"/>
          </a:xfrm>
          <a:prstGeom prst="rect">
            <a:avLst/>
          </a:prstGeom>
          <a:solidFill>
            <a:srgbClr val="FFFFFF"/>
          </a:solidFill>
          <a:ln w="7620">
            <a:solidFill>
              <a:srgbClr val="D8D0BE"/>
            </a:solidFill>
            <a:prstDash val="solid"/>
          </a:ln>
        </p:spPr>
      </p:sp>
      <p:pic>
        <p:nvPicPr>
          <p:cNvPr id="13" name="Image 1" descr="02-grown-together-growing-section.png">    </p:cNvPr>
          <p:cNvPicPr>
            <a:picLocks noChangeAspect="1"/>
          </p:cNvPicPr>
          <p:nvPr/>
        </p:nvPicPr>
        <p:blipFill>
          <a:blip r:embed="rId2"/>
          <a:stretch>
            <a:fillRect/>
          </a:stretch>
        </p:blipFill>
        <p:spPr>
          <a:xfrm>
            <a:off x="4370832" y="2755201"/>
            <a:ext cx="3447288" cy="1292733"/>
          </a:xfrm>
          <a:prstGeom prst="rect">
            <a:avLst/>
          </a:prstGeom>
        </p:spPr>
      </p:pic>
      <p:sp>
        <p:nvSpPr>
          <p:cNvPr id="14" name="Text 10"/>
          <p:cNvSpPr/>
          <p:nvPr/>
        </p:nvSpPr>
        <p:spPr>
          <a:xfrm>
            <a:off x="4370832"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02</a:t>
            </a:r>
            <a:endParaRPr lang="en-US" sz="1150" dirty="0"/>
          </a:p>
        </p:txBody>
      </p:sp>
      <p:sp>
        <p:nvSpPr>
          <p:cNvPr id="15" name="Text 11"/>
          <p:cNvSpPr/>
          <p:nvPr/>
        </p:nvSpPr>
        <p:spPr>
          <a:xfrm>
            <a:off x="4828032"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A connected growing story</a:t>
            </a:r>
            <a:endParaRPr lang="en-US" sz="1620" dirty="0"/>
          </a:p>
        </p:txBody>
      </p:sp>
      <p:sp>
        <p:nvSpPr>
          <p:cNvPr id="16" name="Text 12"/>
          <p:cNvSpPr/>
          <p:nvPr/>
        </p:nvSpPr>
        <p:spPr>
          <a:xfrm>
            <a:off x="4370832"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A thin vine line leads into the soil, vine and harvest chapters. Each chapter arrives with a gentle upward reveal.</a:t>
            </a:r>
            <a:endParaRPr lang="en-US" sz="1310" dirty="0"/>
          </a:p>
        </p:txBody>
      </p:sp>
      <p:sp>
        <p:nvSpPr>
          <p:cNvPr id="17" name="Shape 13"/>
          <p:cNvSpPr/>
          <p:nvPr/>
        </p:nvSpPr>
        <p:spPr>
          <a:xfrm>
            <a:off x="8115300" y="2281428"/>
            <a:ext cx="3511296" cy="2240280"/>
          </a:xfrm>
          <a:prstGeom prst="rect">
            <a:avLst/>
          </a:prstGeom>
          <a:solidFill>
            <a:srgbClr val="FFFFFF"/>
          </a:solidFill>
          <a:ln w="7620">
            <a:solidFill>
              <a:srgbClr val="D8D0BE"/>
            </a:solidFill>
            <a:prstDash val="solid"/>
          </a:ln>
        </p:spPr>
      </p:sp>
      <p:pic>
        <p:nvPicPr>
          <p:cNvPr id="18" name="Image 2" descr="02-grown-together-lookup-section.png">    </p:cNvPr>
          <p:cNvPicPr>
            <a:picLocks noChangeAspect="1"/>
          </p:cNvPicPr>
          <p:nvPr/>
        </p:nvPicPr>
        <p:blipFill>
          <a:blip r:embed="rId3"/>
          <a:stretch>
            <a:fillRect/>
          </a:stretch>
        </p:blipFill>
        <p:spPr>
          <a:xfrm>
            <a:off x="8147304" y="2579246"/>
            <a:ext cx="3447288" cy="1644644"/>
          </a:xfrm>
          <a:prstGeom prst="rect">
            <a:avLst/>
          </a:prstGeom>
        </p:spPr>
      </p:pic>
      <p:sp>
        <p:nvSpPr>
          <p:cNvPr id="19" name="Text 14"/>
          <p:cNvSpPr/>
          <p:nvPr/>
        </p:nvSpPr>
        <p:spPr>
          <a:xfrm>
            <a:off x="8147304"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03</a:t>
            </a:r>
            <a:endParaRPr lang="en-US" sz="1150" dirty="0"/>
          </a:p>
        </p:txBody>
      </p:sp>
      <p:sp>
        <p:nvSpPr>
          <p:cNvPr id="20" name="Text 15"/>
          <p:cNvSpPr/>
          <p:nvPr/>
        </p:nvSpPr>
        <p:spPr>
          <a:xfrm>
            <a:off x="8604504"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Meet a partner farm</a:t>
            </a:r>
            <a:endParaRPr lang="en-US" sz="1620" dirty="0"/>
          </a:p>
        </p:txBody>
      </p:sp>
      <p:sp>
        <p:nvSpPr>
          <p:cNvPr id="21" name="Text 16"/>
          <p:cNvSpPr/>
          <p:nvPr/>
        </p:nvSpPr>
        <p:spPr>
          <a:xfrm>
            <a:off x="8147304"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Farm cards lift into place. Entering an ID, scanning a QR or choosing a partner opens the same farm profile.</a:t>
            </a:r>
            <a:endParaRPr lang="en-US" sz="13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07</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03 / BOLD &amp; BUYER FOCUSED</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Purple to the World</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A confident purple identity that brings the crop forward, then connects visitors to the people and farm information behind it.</a:t>
            </a:r>
            <a:endParaRPr lang="en-US" sz="1440" dirty="0"/>
          </a:p>
        </p:txBody>
      </p:sp>
      <p:sp>
        <p:nvSpPr>
          <p:cNvPr id="7" name="Shape 5"/>
          <p:cNvSpPr/>
          <p:nvPr/>
        </p:nvSpPr>
        <p:spPr>
          <a:xfrm>
            <a:off x="562356" y="2235708"/>
            <a:ext cx="6601968" cy="3922776"/>
          </a:xfrm>
          <a:prstGeom prst="rect">
            <a:avLst/>
          </a:prstGeom>
          <a:solidFill>
            <a:srgbClr val="FFFFFF"/>
          </a:solidFill>
          <a:ln w="7620">
            <a:solidFill>
              <a:srgbClr val="D8D0BE"/>
            </a:solidFill>
            <a:prstDash val="solid"/>
          </a:ln>
        </p:spPr>
      </p:sp>
      <p:pic>
        <p:nvPicPr>
          <p:cNvPr id="8" name="Image 0" descr="03-purple-to-world-desktop-hero.jpg">    </p:cNvPr>
          <p:cNvPicPr>
            <a:picLocks noChangeAspect="1"/>
          </p:cNvPicPr>
          <p:nvPr/>
        </p:nvPicPr>
        <p:blipFill>
          <a:blip r:embed="rId1"/>
          <a:stretch>
            <a:fillRect/>
          </a:stretch>
        </p:blipFill>
        <p:spPr>
          <a:xfrm>
            <a:off x="1085027" y="2267712"/>
            <a:ext cx="5556626" cy="3858768"/>
          </a:xfrm>
          <a:prstGeom prst="rect">
            <a:avLst/>
          </a:prstGeom>
        </p:spPr>
      </p:pic>
      <p:sp>
        <p:nvSpPr>
          <p:cNvPr id="9" name="Shape 6"/>
          <p:cNvSpPr/>
          <p:nvPr/>
        </p:nvSpPr>
        <p:spPr>
          <a:xfrm>
            <a:off x="7319772" y="2235708"/>
            <a:ext cx="1847088" cy="3922776"/>
          </a:xfrm>
          <a:prstGeom prst="rect">
            <a:avLst/>
          </a:prstGeom>
          <a:solidFill>
            <a:srgbClr val="FFFFFF"/>
          </a:solidFill>
          <a:ln w="7620">
            <a:solidFill>
              <a:srgbClr val="D8D0BE"/>
            </a:solidFill>
            <a:prstDash val="solid"/>
          </a:ln>
        </p:spPr>
      </p:sp>
      <p:pic>
        <p:nvPicPr>
          <p:cNvPr id="10" name="Image 1" descr="03-purple-to-world-mobile-hero.jpg">    </p:cNvPr>
          <p:cNvPicPr>
            <a:picLocks noChangeAspect="1"/>
          </p:cNvPicPr>
          <p:nvPr/>
        </p:nvPicPr>
        <p:blipFill>
          <a:blip r:embed="rId2"/>
          <a:stretch>
            <a:fillRect/>
          </a:stretch>
        </p:blipFill>
        <p:spPr>
          <a:xfrm>
            <a:off x="7351776" y="2267712"/>
            <a:ext cx="1783080" cy="3858768"/>
          </a:xfrm>
          <a:prstGeom prst="rect">
            <a:avLst/>
          </a:prstGeom>
        </p:spPr>
      </p:pic>
      <p:sp>
        <p:nvSpPr>
          <p:cNvPr id="11" name="Text 7"/>
          <p:cNvSpPr/>
          <p:nvPr/>
        </p:nvSpPr>
        <p:spPr>
          <a:xfrm>
            <a:off x="594360" y="6263640"/>
            <a:ext cx="6400800"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Desktop opening</a:t>
            </a:r>
            <a:endParaRPr lang="en-US" sz="930" dirty="0"/>
          </a:p>
        </p:txBody>
      </p:sp>
      <p:sp>
        <p:nvSpPr>
          <p:cNvPr id="12" name="Text 8"/>
          <p:cNvSpPr/>
          <p:nvPr/>
        </p:nvSpPr>
        <p:spPr>
          <a:xfrm>
            <a:off x="7351776" y="6263640"/>
            <a:ext cx="1792224"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Mobile opening</a:t>
            </a:r>
            <a:endParaRPr lang="en-US" sz="930" dirty="0"/>
          </a:p>
        </p:txBody>
      </p:sp>
      <p:sp>
        <p:nvSpPr>
          <p:cNvPr id="13" name="Text 9"/>
          <p:cNvSpPr/>
          <p:nvPr/>
        </p:nvSpPr>
        <p:spPr>
          <a:xfrm>
            <a:off x="9445752" y="2322576"/>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WHY CHOOSE IT</a:t>
            </a:r>
            <a:endParaRPr lang="en-US" sz="910" dirty="0"/>
          </a:p>
        </p:txBody>
      </p:sp>
      <p:sp>
        <p:nvSpPr>
          <p:cNvPr id="14" name="Text 10"/>
          <p:cNvSpPr/>
          <p:nvPr/>
        </p:nvSpPr>
        <p:spPr>
          <a:xfrm>
            <a:off x="9445752" y="2679192"/>
            <a:ext cx="2139696" cy="758952"/>
          </a:xfrm>
          <a:prstGeom prst="rect">
            <a:avLst/>
          </a:prstGeom>
          <a:noFill/>
          <a:ln/>
        </p:spPr>
        <p:txBody>
          <a:bodyPr wrap="square" lIns="0" tIns="0" rIns="0" bIns="0" rtlCol="0" anchor="t"/>
          <a:lstStyle/>
          <a:p>
            <a:pPr indent="0" marL="0">
              <a:buNone/>
            </a:pPr>
            <a:r>
              <a:rPr lang="en-US" sz="1510" dirty="0">
                <a:solidFill>
                  <a:srgbClr val="34233E"/>
                </a:solidFill>
                <a:latin typeface="Arial" pitchFamily="34" charset="0"/>
                <a:ea typeface="Arial" pitchFamily="34" charset="-122"/>
                <a:cs typeface="Arial" pitchFamily="34" charset="-120"/>
              </a:rPr>
              <a:t>Makes the product and farm information easy to discover.</a:t>
            </a:r>
            <a:endParaRPr lang="en-US" sz="1510" dirty="0"/>
          </a:p>
        </p:txBody>
      </p:sp>
      <p:sp>
        <p:nvSpPr>
          <p:cNvPr id="15" name="Shape 11"/>
          <p:cNvSpPr/>
          <p:nvPr/>
        </p:nvSpPr>
        <p:spPr>
          <a:xfrm>
            <a:off x="9445752" y="3584448"/>
            <a:ext cx="2139696" cy="0"/>
          </a:xfrm>
          <a:prstGeom prst="line">
            <a:avLst/>
          </a:prstGeom>
          <a:noFill/>
          <a:ln w="8890">
            <a:solidFill>
              <a:srgbClr val="D8D0BE"/>
            </a:solidFill>
            <a:prstDash val="solid"/>
          </a:ln>
        </p:spPr>
      </p:sp>
      <p:sp>
        <p:nvSpPr>
          <p:cNvPr id="16" name="Text 12"/>
          <p:cNvSpPr/>
          <p:nvPr/>
        </p:nvSpPr>
        <p:spPr>
          <a:xfrm>
            <a:off x="9445752" y="3813048"/>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DESIGNED FOR</a:t>
            </a:r>
            <a:endParaRPr lang="en-US" sz="910" dirty="0"/>
          </a:p>
        </p:txBody>
      </p:sp>
      <p:sp>
        <p:nvSpPr>
          <p:cNvPr id="17" name="Text 13"/>
          <p:cNvSpPr/>
          <p:nvPr/>
        </p:nvSpPr>
        <p:spPr>
          <a:xfrm>
            <a:off x="9445752" y="4133088"/>
            <a:ext cx="2139696" cy="886968"/>
          </a:xfrm>
          <a:prstGeom prst="rect">
            <a:avLst/>
          </a:prstGeom>
          <a:noFill/>
          <a:ln/>
        </p:spPr>
        <p:txBody>
          <a:bodyPr wrap="square" lIns="0" tIns="0" rIns="0" bIns="0" rtlCol="0" anchor="t"/>
          <a:lstStyle/>
          <a:p>
            <a:pPr indent="0" marL="0">
              <a:buNone/>
            </a:pPr>
            <a:r>
              <a:rPr lang="en-US" sz="1330" dirty="0">
                <a:solidFill>
                  <a:srgbClr val="706B65"/>
                </a:solidFill>
                <a:latin typeface="Arial" pitchFamily="34" charset="0"/>
                <a:ea typeface="Arial" pitchFamily="34" charset="-122"/>
                <a:cs typeface="Arial" pitchFamily="34" charset="-120"/>
              </a:rPr>
              <a:t>Prospective buyers and international partners.</a:t>
            </a:r>
            <a:endParaRPr lang="en-US" sz="1330" dirty="0"/>
          </a:p>
        </p:txBody>
      </p:sp>
      <p:sp>
        <p:nvSpPr>
          <p:cNvPr id="18" name="Text 14"/>
          <p:cNvSpPr/>
          <p:nvPr/>
        </p:nvSpPr>
        <p:spPr>
          <a:xfrm>
            <a:off x="9445752" y="5340096"/>
            <a:ext cx="2139696" cy="164592"/>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COLOR DIRECTION</a:t>
            </a:r>
            <a:endParaRPr lang="en-US" sz="910" dirty="0"/>
          </a:p>
        </p:txBody>
      </p:sp>
      <p:sp>
        <p:nvSpPr>
          <p:cNvPr id="19" name="Shape 15"/>
          <p:cNvSpPr/>
          <p:nvPr/>
        </p:nvSpPr>
        <p:spPr>
          <a:xfrm>
            <a:off x="9445752" y="5669280"/>
            <a:ext cx="292608" cy="292608"/>
          </a:xfrm>
          <a:prstGeom prst="ellipse">
            <a:avLst/>
          </a:prstGeom>
          <a:solidFill>
            <a:srgbClr val="311542"/>
          </a:solidFill>
          <a:ln w="12700">
            <a:solidFill>
              <a:srgbClr val="311542"/>
            </a:solidFill>
            <a:prstDash val="solid"/>
          </a:ln>
        </p:spPr>
      </p:sp>
      <p:sp>
        <p:nvSpPr>
          <p:cNvPr id="20" name="Shape 16"/>
          <p:cNvSpPr/>
          <p:nvPr/>
        </p:nvSpPr>
        <p:spPr>
          <a:xfrm>
            <a:off x="9884664" y="5669280"/>
            <a:ext cx="292608" cy="292608"/>
          </a:xfrm>
          <a:prstGeom prst="ellipse">
            <a:avLst/>
          </a:prstGeom>
          <a:solidFill>
            <a:srgbClr val="EDE5F1"/>
          </a:solidFill>
          <a:ln w="12700">
            <a:solidFill>
              <a:srgbClr val="EDE5F1"/>
            </a:solidFill>
            <a:prstDash val="solid"/>
          </a:ln>
        </p:spPr>
      </p:sp>
      <p:sp>
        <p:nvSpPr>
          <p:cNvPr id="21" name="Shape 17"/>
          <p:cNvSpPr/>
          <p:nvPr/>
        </p:nvSpPr>
        <p:spPr>
          <a:xfrm>
            <a:off x="10323576" y="5669280"/>
            <a:ext cx="292608" cy="292608"/>
          </a:xfrm>
          <a:prstGeom prst="ellipse">
            <a:avLst/>
          </a:prstGeom>
          <a:solidFill>
            <a:srgbClr val="FFFFFF"/>
          </a:solidFill>
          <a:ln w="12700">
            <a:solidFill>
              <a:srgbClr val="FFFFFF"/>
            </a:solidFill>
            <a:prstDash val="solid"/>
          </a:ln>
        </p:spPr>
      </p:sp>
      <p:sp>
        <p:nvSpPr>
          <p:cNvPr id="22" name="Shape 18"/>
          <p:cNvSpPr/>
          <p:nvPr/>
        </p:nvSpPr>
        <p:spPr>
          <a:xfrm>
            <a:off x="10762488" y="5669280"/>
            <a:ext cx="292608" cy="292608"/>
          </a:xfrm>
          <a:prstGeom prst="ellipse">
            <a:avLst/>
          </a:prstGeom>
          <a:solidFill>
            <a:srgbClr val="B6CF72"/>
          </a:solidFill>
          <a:ln w="12700">
            <a:solidFill>
              <a:srgbClr val="B6CF72"/>
            </a:solidFill>
            <a:prstDash val="solid"/>
          </a:ln>
        </p:spPr>
      </p:sp>
      <p:sp>
        <p:nvSpPr>
          <p:cNvPr id="23" name="Shape 19"/>
          <p:cNvSpPr/>
          <p:nvPr/>
        </p:nvSpPr>
        <p:spPr>
          <a:xfrm>
            <a:off x="594360" y="1874520"/>
            <a:ext cx="2459736" cy="283464"/>
          </a:xfrm>
          <a:prstGeom prst="roundRect">
            <a:avLst>
              <a:gd name="adj" fmla="val 45161"/>
            </a:avLst>
          </a:prstGeom>
          <a:solidFill>
            <a:srgbClr val="35583C"/>
          </a:solidFill>
          <a:ln w="12700">
            <a:solidFill>
              <a:srgbClr val="35583C"/>
            </a:solidFill>
            <a:prstDash val="solid"/>
          </a:ln>
        </p:spPr>
      </p:sp>
      <p:sp>
        <p:nvSpPr>
          <p:cNvPr id="24" name="Text 20"/>
          <p:cNvSpPr/>
          <p:nvPr/>
        </p:nvSpPr>
        <p:spPr>
          <a:xfrm>
            <a:off x="704088" y="1938528"/>
            <a:ext cx="2240280" cy="155448"/>
          </a:xfrm>
          <a:prstGeom prst="rect">
            <a:avLst/>
          </a:prstGeom>
          <a:noFill/>
          <a:ln/>
        </p:spPr>
        <p:txBody>
          <a:bodyPr wrap="square" lIns="0" tIns="0" rIns="0" bIns="0" rtlCol="0" anchor="t"/>
          <a:lstStyle/>
          <a:p>
            <a:pPr indent="0" marL="0">
              <a:buNone/>
            </a:pPr>
            <a:r>
              <a:rPr lang="en-US" sz="870" b="1" dirty="0">
                <a:solidFill>
                  <a:srgbClr val="FFFFFF"/>
                </a:solidFill>
                <a:latin typeface="Arial" pitchFamily="34" charset="0"/>
                <a:ea typeface="Arial" pitchFamily="34" charset="-122"/>
                <a:cs typeface="Arial" pitchFamily="34" charset="-120"/>
              </a:rPr>
              <a:t>Concept preview · proposed motion</a:t>
            </a:r>
            <a:endParaRPr lang="en-US" sz="8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08</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03 / HOW THE JOURNEY UNFOLDS</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Put purple yam in the spotlight.</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Proposed scroll behavior. These previews show composition and content; photography is illustrative.</a:t>
            </a:r>
            <a:endParaRPr lang="en-US" sz="1440" dirty="0"/>
          </a:p>
        </p:txBody>
      </p:sp>
      <p:sp>
        <p:nvSpPr>
          <p:cNvPr id="7" name="Shape 5"/>
          <p:cNvSpPr/>
          <p:nvPr/>
        </p:nvSpPr>
        <p:spPr>
          <a:xfrm>
            <a:off x="562356" y="2281428"/>
            <a:ext cx="3511296" cy="2240280"/>
          </a:xfrm>
          <a:prstGeom prst="rect">
            <a:avLst/>
          </a:prstGeom>
          <a:solidFill>
            <a:srgbClr val="FFFFFF"/>
          </a:solidFill>
          <a:ln w="7620">
            <a:solidFill>
              <a:srgbClr val="D8D0BE"/>
            </a:solidFill>
            <a:prstDash val="solid"/>
          </a:ln>
        </p:spPr>
      </p:sp>
      <p:pic>
        <p:nvPicPr>
          <p:cNvPr id="8" name="Image 0" descr="03-purple-to-world-growing-section.png">    </p:cNvPr>
          <p:cNvPicPr>
            <a:picLocks noChangeAspect="1"/>
          </p:cNvPicPr>
          <p:nvPr/>
        </p:nvPicPr>
        <p:blipFill>
          <a:blip r:embed="rId1"/>
          <a:stretch>
            <a:fillRect/>
          </a:stretch>
        </p:blipFill>
        <p:spPr>
          <a:xfrm>
            <a:off x="594360" y="2593610"/>
            <a:ext cx="3447288" cy="1615916"/>
          </a:xfrm>
          <a:prstGeom prst="rect">
            <a:avLst/>
          </a:prstGeom>
        </p:spPr>
      </p:pic>
      <p:sp>
        <p:nvSpPr>
          <p:cNvPr id="9" name="Text 6"/>
          <p:cNvSpPr/>
          <p:nvPr/>
        </p:nvSpPr>
        <p:spPr>
          <a:xfrm>
            <a:off x="594360"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01</a:t>
            </a:r>
            <a:endParaRPr lang="en-US" sz="1150" dirty="0"/>
          </a:p>
        </p:txBody>
      </p:sp>
      <p:sp>
        <p:nvSpPr>
          <p:cNvPr id="10" name="Text 7"/>
          <p:cNvSpPr/>
          <p:nvPr/>
        </p:nvSpPr>
        <p:spPr>
          <a:xfrm>
            <a:off x="1051560"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The crop comes forward</a:t>
            </a:r>
            <a:endParaRPr lang="en-US" sz="1620" dirty="0"/>
          </a:p>
        </p:txBody>
      </p:sp>
      <p:sp>
        <p:nvSpPr>
          <p:cNvPr id="11" name="Text 8"/>
          <p:cNvSpPr/>
          <p:nvPr/>
        </p:nvSpPr>
        <p:spPr>
          <a:xfrm>
            <a:off x="594360"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The large yam turns slightly as the hero gives way to clear product and origin information.</a:t>
            </a:r>
            <a:endParaRPr lang="en-US" sz="1310" dirty="0"/>
          </a:p>
        </p:txBody>
      </p:sp>
      <p:sp>
        <p:nvSpPr>
          <p:cNvPr id="12" name="Shape 9"/>
          <p:cNvSpPr/>
          <p:nvPr/>
        </p:nvSpPr>
        <p:spPr>
          <a:xfrm>
            <a:off x="4338828" y="2281428"/>
            <a:ext cx="3511296" cy="2240280"/>
          </a:xfrm>
          <a:prstGeom prst="rect">
            <a:avLst/>
          </a:prstGeom>
          <a:solidFill>
            <a:srgbClr val="FFFFFF"/>
          </a:solidFill>
          <a:ln w="7620">
            <a:solidFill>
              <a:srgbClr val="D8D0BE"/>
            </a:solidFill>
            <a:prstDash val="solid"/>
          </a:ln>
        </p:spPr>
      </p:sp>
      <p:pic>
        <p:nvPicPr>
          <p:cNvPr id="13" name="Image 1" descr="03-purple-to-world-story-section.png">    </p:cNvPr>
          <p:cNvPicPr>
            <a:picLocks noChangeAspect="1"/>
          </p:cNvPicPr>
          <p:nvPr/>
        </p:nvPicPr>
        <p:blipFill>
          <a:blip r:embed="rId2"/>
          <a:stretch>
            <a:fillRect/>
          </a:stretch>
        </p:blipFill>
        <p:spPr>
          <a:xfrm>
            <a:off x="4370832" y="2622337"/>
            <a:ext cx="3447288" cy="1558461"/>
          </a:xfrm>
          <a:prstGeom prst="rect">
            <a:avLst/>
          </a:prstGeom>
        </p:spPr>
      </p:pic>
      <p:sp>
        <p:nvSpPr>
          <p:cNvPr id="14" name="Text 10"/>
          <p:cNvSpPr/>
          <p:nvPr/>
        </p:nvSpPr>
        <p:spPr>
          <a:xfrm>
            <a:off x="4370832"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02</a:t>
            </a:r>
            <a:endParaRPr lang="en-US" sz="1150" dirty="0"/>
          </a:p>
        </p:txBody>
      </p:sp>
      <p:sp>
        <p:nvSpPr>
          <p:cNvPr id="15" name="Text 11"/>
          <p:cNvSpPr/>
          <p:nvPr/>
        </p:nvSpPr>
        <p:spPr>
          <a:xfrm>
            <a:off x="4828032"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Roots connect to growers</a:t>
            </a:r>
            <a:endParaRPr lang="en-US" sz="1620" dirty="0"/>
          </a:p>
        </p:txBody>
      </p:sp>
      <p:sp>
        <p:nvSpPr>
          <p:cNvPr id="16" name="Text 12"/>
          <p:cNvSpPr/>
          <p:nvPr/>
        </p:nvSpPr>
        <p:spPr>
          <a:xfrm>
            <a:off x="4370832"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Purple and pale sections exchange focus. Grower photography enters as one bold visual panel.</a:t>
            </a:r>
            <a:endParaRPr lang="en-US" sz="1310" dirty="0"/>
          </a:p>
        </p:txBody>
      </p:sp>
      <p:sp>
        <p:nvSpPr>
          <p:cNvPr id="17" name="Shape 13"/>
          <p:cNvSpPr/>
          <p:nvPr/>
        </p:nvSpPr>
        <p:spPr>
          <a:xfrm>
            <a:off x="8115300" y="2281428"/>
            <a:ext cx="3511296" cy="2240280"/>
          </a:xfrm>
          <a:prstGeom prst="rect">
            <a:avLst/>
          </a:prstGeom>
          <a:solidFill>
            <a:srgbClr val="FFFFFF"/>
          </a:solidFill>
          <a:ln w="7620">
            <a:solidFill>
              <a:srgbClr val="D8D0BE"/>
            </a:solidFill>
            <a:prstDash val="solid"/>
          </a:ln>
        </p:spPr>
      </p:sp>
      <p:pic>
        <p:nvPicPr>
          <p:cNvPr id="18" name="Image 2" descr="03-purple-to-world-lookup-section.png">    </p:cNvPr>
          <p:cNvPicPr>
            <a:picLocks noChangeAspect="1"/>
          </p:cNvPicPr>
          <p:nvPr/>
        </p:nvPicPr>
        <p:blipFill>
          <a:blip r:embed="rId3"/>
          <a:stretch>
            <a:fillRect/>
          </a:stretch>
        </p:blipFill>
        <p:spPr>
          <a:xfrm>
            <a:off x="8147304" y="2579246"/>
            <a:ext cx="3447288" cy="1644644"/>
          </a:xfrm>
          <a:prstGeom prst="rect">
            <a:avLst/>
          </a:prstGeom>
        </p:spPr>
      </p:pic>
      <p:sp>
        <p:nvSpPr>
          <p:cNvPr id="19" name="Text 14"/>
          <p:cNvSpPr/>
          <p:nvPr/>
        </p:nvSpPr>
        <p:spPr>
          <a:xfrm>
            <a:off x="8147304" y="4700016"/>
            <a:ext cx="338328" cy="237744"/>
          </a:xfrm>
          <a:prstGeom prst="rect">
            <a:avLst/>
          </a:prstGeom>
          <a:noFill/>
          <a:ln/>
        </p:spPr>
        <p:txBody>
          <a:bodyPr wrap="square" lIns="0" tIns="0" rIns="0" bIns="0" rtlCol="0" anchor="t"/>
          <a:lstStyle/>
          <a:p>
            <a:pPr indent="0" marL="0">
              <a:buNone/>
            </a:pPr>
            <a:r>
              <a:rPr lang="en-US" sz="1150" b="1" dirty="0">
                <a:solidFill>
                  <a:srgbClr val="35583C"/>
                </a:solidFill>
                <a:latin typeface="Arial" pitchFamily="34" charset="0"/>
                <a:ea typeface="Arial" pitchFamily="34" charset="-122"/>
                <a:cs typeface="Arial" pitchFamily="34" charset="-120"/>
              </a:rPr>
              <a:t>03</a:t>
            </a:r>
            <a:endParaRPr lang="en-US" sz="1150" dirty="0"/>
          </a:p>
        </p:txBody>
      </p:sp>
      <p:sp>
        <p:nvSpPr>
          <p:cNvPr id="20" name="Text 15"/>
          <p:cNvSpPr/>
          <p:nvPr/>
        </p:nvSpPr>
        <p:spPr>
          <a:xfrm>
            <a:off x="8604504" y="4645152"/>
            <a:ext cx="2990088" cy="521208"/>
          </a:xfrm>
          <a:prstGeom prst="rect">
            <a:avLst/>
          </a:prstGeom>
          <a:noFill/>
          <a:ln/>
        </p:spPr>
        <p:txBody>
          <a:bodyPr wrap="square" lIns="0" tIns="0" rIns="0" bIns="0" rtlCol="0" anchor="t"/>
          <a:lstStyle/>
          <a:p>
            <a:pPr indent="0" marL="0">
              <a:buNone/>
            </a:pPr>
            <a:r>
              <a:rPr lang="en-US" sz="1620" dirty="0">
                <a:solidFill>
                  <a:srgbClr val="542A69"/>
                </a:solidFill>
                <a:latin typeface="Georgia" pitchFamily="34" charset="0"/>
                <a:ea typeface="Georgia" pitchFamily="34" charset="-122"/>
                <a:cs typeface="Georgia" pitchFamily="34" charset="-120"/>
              </a:rPr>
              <a:t>From interest to discovery</a:t>
            </a:r>
            <a:endParaRPr lang="en-US" sz="1620" dirty="0"/>
          </a:p>
        </p:txBody>
      </p:sp>
      <p:sp>
        <p:nvSpPr>
          <p:cNvPr id="21" name="Text 16"/>
          <p:cNvSpPr/>
          <p:nvPr/>
        </p:nvSpPr>
        <p:spPr>
          <a:xfrm>
            <a:off x="8147304" y="5330952"/>
            <a:ext cx="3447288" cy="877824"/>
          </a:xfrm>
          <a:prstGeom prst="rect">
            <a:avLst/>
          </a:prstGeom>
          <a:noFill/>
          <a:ln/>
        </p:spPr>
        <p:txBody>
          <a:bodyPr wrap="square" lIns="0" tIns="0" rIns="0" bIns="0" rtlCol="0" anchor="t"/>
          <a:lstStyle/>
          <a:p>
            <a:pPr indent="0" marL="0">
              <a:buNone/>
            </a:pPr>
            <a:r>
              <a:rPr lang="en-US" sz="1310" dirty="0">
                <a:solidFill>
                  <a:srgbClr val="706B65"/>
                </a:solidFill>
                <a:latin typeface="Arial" pitchFamily="34" charset="0"/>
                <a:ea typeface="Arial" pitchFamily="34" charset="-122"/>
                <a:cs typeface="Arial" pitchFamily="34" charset="-120"/>
              </a:rPr>
              <a:t>The product journey resolves into farm lookup. ID, QR and partner links lead to the same farm profile.</a:t>
            </a:r>
            <a:endParaRPr lang="en-US" sz="13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09</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LANDING PAGE DESIGN DIRECTIONS</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Which direction fits the cooperative?</a:t>
            </a:r>
            <a:endParaRPr lang="en-US" sz="3300" dirty="0"/>
          </a:p>
        </p:txBody>
      </p:sp>
      <p:sp>
        <p:nvSpPr>
          <p:cNvPr id="6" name="Shape 4"/>
          <p:cNvSpPr/>
          <p:nvPr/>
        </p:nvSpPr>
        <p:spPr>
          <a:xfrm>
            <a:off x="562356" y="1677924"/>
            <a:ext cx="3511296" cy="1929384"/>
          </a:xfrm>
          <a:prstGeom prst="rect">
            <a:avLst/>
          </a:prstGeom>
          <a:solidFill>
            <a:srgbClr val="FFFFFF"/>
          </a:solidFill>
          <a:ln w="7620">
            <a:solidFill>
              <a:srgbClr val="D8D0BE"/>
            </a:solidFill>
            <a:prstDash val="solid"/>
          </a:ln>
        </p:spPr>
      </p:sp>
      <p:pic>
        <p:nvPicPr>
          <p:cNvPr id="7" name="Image 0" descr="01-root-to-story-desktop-hero.jpg">    </p:cNvPr>
          <p:cNvPicPr>
            <a:picLocks noChangeAspect="1"/>
          </p:cNvPicPr>
          <p:nvPr/>
        </p:nvPicPr>
        <p:blipFill>
          <a:blip r:embed="rId1"/>
          <a:stretch>
            <a:fillRect/>
          </a:stretch>
        </p:blipFill>
        <p:spPr>
          <a:xfrm>
            <a:off x="825703" y="1709928"/>
            <a:ext cx="2984602" cy="1865376"/>
          </a:xfrm>
          <a:prstGeom prst="rect">
            <a:avLst/>
          </a:prstGeom>
        </p:spPr>
      </p:pic>
      <p:sp>
        <p:nvSpPr>
          <p:cNvPr id="8" name="Text 5"/>
          <p:cNvSpPr/>
          <p:nvPr/>
        </p:nvSpPr>
        <p:spPr>
          <a:xfrm>
            <a:off x="594360" y="3694176"/>
            <a:ext cx="3447288" cy="731520"/>
          </a:xfrm>
          <a:prstGeom prst="rect">
            <a:avLst/>
          </a:prstGeom>
          <a:noFill/>
          <a:ln/>
        </p:spPr>
        <p:txBody>
          <a:bodyPr wrap="square" lIns="0" tIns="0" rIns="0" bIns="0" rtlCol="0" anchor="t"/>
          <a:lstStyle/>
          <a:p>
            <a:pPr indent="0" marL="0">
              <a:buNone/>
            </a:pPr>
            <a:r>
              <a:rPr lang="en-US" sz="2040" dirty="0">
                <a:solidFill>
                  <a:srgbClr val="542A69"/>
                </a:solidFill>
                <a:latin typeface="Georgia" pitchFamily="34" charset="0"/>
                <a:ea typeface="Georgia" pitchFamily="34" charset="-122"/>
                <a:cs typeface="Georgia" pitchFamily="34" charset="-120"/>
              </a:rPr>
              <a:t>01  From Root to Story</a:t>
            </a:r>
            <a:endParaRPr lang="en-US" sz="2040" dirty="0"/>
          </a:p>
        </p:txBody>
      </p:sp>
      <p:sp>
        <p:nvSpPr>
          <p:cNvPr id="9" name="Text 6"/>
          <p:cNvSpPr/>
          <p:nvPr/>
        </p:nvSpPr>
        <p:spPr>
          <a:xfrm>
            <a:off x="594360" y="4489704"/>
            <a:ext cx="3447288" cy="393192"/>
          </a:xfrm>
          <a:prstGeom prst="rect">
            <a:avLst/>
          </a:prstGeom>
          <a:noFill/>
          <a:ln/>
        </p:spPr>
        <p:txBody>
          <a:bodyPr wrap="square" lIns="0" tIns="0" rIns="0" bIns="0" rtlCol="0" anchor="t"/>
          <a:lstStyle/>
          <a:p>
            <a:pPr indent="0" marL="0">
              <a:buNone/>
            </a:pPr>
            <a:r>
              <a:rPr lang="en-US" sz="1430" b="1" dirty="0">
                <a:solidFill>
                  <a:srgbClr val="35583C"/>
                </a:solidFill>
                <a:latin typeface="Arial" pitchFamily="34" charset="0"/>
                <a:ea typeface="Arial" pitchFamily="34" charset="-122"/>
                <a:cs typeface="Arial" pitchFamily="34" charset="-120"/>
              </a:rPr>
              <a:t>A memorable introduction</a:t>
            </a:r>
            <a:endParaRPr lang="en-US" sz="1430" dirty="0"/>
          </a:p>
        </p:txBody>
      </p:sp>
      <p:sp>
        <p:nvSpPr>
          <p:cNvPr id="10" name="Text 7"/>
          <p:cNvSpPr/>
          <p:nvPr/>
        </p:nvSpPr>
        <p:spPr>
          <a:xfrm>
            <a:off x="594360" y="4937760"/>
            <a:ext cx="3447288" cy="475488"/>
          </a:xfrm>
          <a:prstGeom prst="rect">
            <a:avLst/>
          </a:prstGeom>
          <a:noFill/>
          <a:ln/>
        </p:spPr>
        <p:txBody>
          <a:bodyPr wrap="square" lIns="0" tIns="0" rIns="0" bIns="0" rtlCol="0" anchor="t"/>
          <a:lstStyle/>
          <a:p>
            <a:pPr indent="0" marL="0">
              <a:buNone/>
            </a:pPr>
            <a:r>
              <a:rPr lang="en-US" sz="1210" dirty="0">
                <a:solidFill>
                  <a:srgbClr val="706B65"/>
                </a:solidFill>
                <a:latin typeface="Arial" pitchFamily="34" charset="0"/>
                <a:ea typeface="Arial" pitchFamily="34" charset="-122"/>
                <a:cs typeface="Arial" pitchFamily="34" charset="-120"/>
              </a:rPr>
              <a:t>High motion · continuous plant journey</a:t>
            </a:r>
            <a:endParaRPr lang="en-US" sz="1210" dirty="0"/>
          </a:p>
        </p:txBody>
      </p:sp>
      <p:sp>
        <p:nvSpPr>
          <p:cNvPr id="11" name="Shape 8"/>
          <p:cNvSpPr/>
          <p:nvPr/>
        </p:nvSpPr>
        <p:spPr>
          <a:xfrm>
            <a:off x="4338828" y="1677924"/>
            <a:ext cx="3511296" cy="1929384"/>
          </a:xfrm>
          <a:prstGeom prst="rect">
            <a:avLst/>
          </a:prstGeom>
          <a:solidFill>
            <a:srgbClr val="FFFFFF"/>
          </a:solidFill>
          <a:ln w="7620">
            <a:solidFill>
              <a:srgbClr val="D8D0BE"/>
            </a:solidFill>
            <a:prstDash val="solid"/>
          </a:ln>
        </p:spPr>
      </p:sp>
      <p:pic>
        <p:nvPicPr>
          <p:cNvPr id="12" name="Image 1" descr="02-grown-together-desktop-hero.jpg">    </p:cNvPr>
          <p:cNvPicPr>
            <a:picLocks noChangeAspect="1"/>
          </p:cNvPicPr>
          <p:nvPr/>
        </p:nvPicPr>
        <p:blipFill>
          <a:blip r:embed="rId2"/>
          <a:stretch>
            <a:fillRect/>
          </a:stretch>
        </p:blipFill>
        <p:spPr>
          <a:xfrm>
            <a:off x="4751405" y="1709928"/>
            <a:ext cx="2686141" cy="1865376"/>
          </a:xfrm>
          <a:prstGeom prst="rect">
            <a:avLst/>
          </a:prstGeom>
        </p:spPr>
      </p:pic>
      <p:sp>
        <p:nvSpPr>
          <p:cNvPr id="13" name="Text 9"/>
          <p:cNvSpPr/>
          <p:nvPr/>
        </p:nvSpPr>
        <p:spPr>
          <a:xfrm>
            <a:off x="4370832" y="3694176"/>
            <a:ext cx="3447288" cy="731520"/>
          </a:xfrm>
          <a:prstGeom prst="rect">
            <a:avLst/>
          </a:prstGeom>
          <a:noFill/>
          <a:ln/>
        </p:spPr>
        <p:txBody>
          <a:bodyPr wrap="square" lIns="0" tIns="0" rIns="0" bIns="0" rtlCol="0" anchor="t"/>
          <a:lstStyle/>
          <a:p>
            <a:pPr indent="0" marL="0">
              <a:buNone/>
            </a:pPr>
            <a:r>
              <a:rPr lang="en-US" sz="2040" dirty="0">
                <a:solidFill>
                  <a:srgbClr val="542A69"/>
                </a:solidFill>
                <a:latin typeface="Georgia" pitchFamily="34" charset="0"/>
                <a:ea typeface="Georgia" pitchFamily="34" charset="-122"/>
                <a:cs typeface="Georgia" pitchFamily="34" charset="-120"/>
              </a:rPr>
              <a:t>02  Grown Together in Davao</a:t>
            </a:r>
            <a:endParaRPr lang="en-US" sz="2040" dirty="0"/>
          </a:p>
        </p:txBody>
      </p:sp>
      <p:sp>
        <p:nvSpPr>
          <p:cNvPr id="14" name="Text 10"/>
          <p:cNvSpPr/>
          <p:nvPr/>
        </p:nvSpPr>
        <p:spPr>
          <a:xfrm>
            <a:off x="4370832" y="4489704"/>
            <a:ext cx="3447288" cy="393192"/>
          </a:xfrm>
          <a:prstGeom prst="rect">
            <a:avLst/>
          </a:prstGeom>
          <a:noFill/>
          <a:ln/>
        </p:spPr>
        <p:txBody>
          <a:bodyPr wrap="square" lIns="0" tIns="0" rIns="0" bIns="0" rtlCol="0" anchor="t"/>
          <a:lstStyle/>
          <a:p>
            <a:pPr indent="0" marL="0">
              <a:buNone/>
            </a:pPr>
            <a:r>
              <a:rPr lang="en-US" sz="1430" b="1" dirty="0">
                <a:solidFill>
                  <a:srgbClr val="35583C"/>
                </a:solidFill>
                <a:latin typeface="Arial" pitchFamily="34" charset="0"/>
                <a:ea typeface="Arial" pitchFamily="34" charset="-122"/>
                <a:cs typeface="Arial" pitchFamily="34" charset="-120"/>
              </a:rPr>
              <a:t>Trust in people and place</a:t>
            </a:r>
            <a:endParaRPr lang="en-US" sz="1430" dirty="0"/>
          </a:p>
        </p:txBody>
      </p:sp>
      <p:sp>
        <p:nvSpPr>
          <p:cNvPr id="15" name="Text 11"/>
          <p:cNvSpPr/>
          <p:nvPr/>
        </p:nvSpPr>
        <p:spPr>
          <a:xfrm>
            <a:off x="4370832" y="4937760"/>
            <a:ext cx="3447288" cy="475488"/>
          </a:xfrm>
          <a:prstGeom prst="rect">
            <a:avLst/>
          </a:prstGeom>
          <a:noFill/>
          <a:ln/>
        </p:spPr>
        <p:txBody>
          <a:bodyPr wrap="square" lIns="0" tIns="0" rIns="0" bIns="0" rtlCol="0" anchor="t"/>
          <a:lstStyle/>
          <a:p>
            <a:pPr indent="0" marL="0">
              <a:buNone/>
            </a:pPr>
            <a:r>
              <a:rPr lang="en-US" sz="1210" dirty="0">
                <a:solidFill>
                  <a:srgbClr val="706B65"/>
                </a:solidFill>
                <a:latin typeface="Arial" pitchFamily="34" charset="0"/>
                <a:ea typeface="Arial" pitchFamily="34" charset="-122"/>
                <a:cs typeface="Arial" pitchFamily="34" charset="-120"/>
              </a:rPr>
              <a:t>Medium motion · editorial chapters</a:t>
            </a:r>
            <a:endParaRPr lang="en-US" sz="1210" dirty="0"/>
          </a:p>
        </p:txBody>
      </p:sp>
      <p:sp>
        <p:nvSpPr>
          <p:cNvPr id="16" name="Shape 12"/>
          <p:cNvSpPr/>
          <p:nvPr/>
        </p:nvSpPr>
        <p:spPr>
          <a:xfrm>
            <a:off x="8115300" y="1677924"/>
            <a:ext cx="3511296" cy="1929384"/>
          </a:xfrm>
          <a:prstGeom prst="rect">
            <a:avLst/>
          </a:prstGeom>
          <a:solidFill>
            <a:srgbClr val="FFFFFF"/>
          </a:solidFill>
          <a:ln w="7620">
            <a:solidFill>
              <a:srgbClr val="D8D0BE"/>
            </a:solidFill>
            <a:prstDash val="solid"/>
          </a:ln>
        </p:spPr>
      </p:sp>
      <p:pic>
        <p:nvPicPr>
          <p:cNvPr id="17" name="Image 2" descr="03-purple-to-world-desktop-hero.jpg">    </p:cNvPr>
          <p:cNvPicPr>
            <a:picLocks noChangeAspect="1"/>
          </p:cNvPicPr>
          <p:nvPr/>
        </p:nvPicPr>
        <p:blipFill>
          <a:blip r:embed="rId3"/>
          <a:stretch>
            <a:fillRect/>
          </a:stretch>
        </p:blipFill>
        <p:spPr>
          <a:xfrm>
            <a:off x="8527877" y="1709928"/>
            <a:ext cx="2686141" cy="1865376"/>
          </a:xfrm>
          <a:prstGeom prst="rect">
            <a:avLst/>
          </a:prstGeom>
        </p:spPr>
      </p:pic>
      <p:sp>
        <p:nvSpPr>
          <p:cNvPr id="18" name="Text 13"/>
          <p:cNvSpPr/>
          <p:nvPr/>
        </p:nvSpPr>
        <p:spPr>
          <a:xfrm>
            <a:off x="8147304" y="3694176"/>
            <a:ext cx="3447288" cy="731520"/>
          </a:xfrm>
          <a:prstGeom prst="rect">
            <a:avLst/>
          </a:prstGeom>
          <a:noFill/>
          <a:ln/>
        </p:spPr>
        <p:txBody>
          <a:bodyPr wrap="square" lIns="0" tIns="0" rIns="0" bIns="0" rtlCol="0" anchor="t"/>
          <a:lstStyle/>
          <a:p>
            <a:pPr indent="0" marL="0">
              <a:buNone/>
            </a:pPr>
            <a:r>
              <a:rPr lang="en-US" sz="2040" dirty="0">
                <a:solidFill>
                  <a:srgbClr val="542A69"/>
                </a:solidFill>
                <a:latin typeface="Georgia" pitchFamily="34" charset="0"/>
                <a:ea typeface="Georgia" pitchFamily="34" charset="-122"/>
                <a:cs typeface="Georgia" pitchFamily="34" charset="-120"/>
              </a:rPr>
              <a:t>03  Purple to the World</a:t>
            </a:r>
            <a:endParaRPr lang="en-US" sz="2040" dirty="0"/>
          </a:p>
        </p:txBody>
      </p:sp>
      <p:sp>
        <p:nvSpPr>
          <p:cNvPr id="19" name="Text 14"/>
          <p:cNvSpPr/>
          <p:nvPr/>
        </p:nvSpPr>
        <p:spPr>
          <a:xfrm>
            <a:off x="8147304" y="4489704"/>
            <a:ext cx="3447288" cy="393192"/>
          </a:xfrm>
          <a:prstGeom prst="rect">
            <a:avLst/>
          </a:prstGeom>
          <a:noFill/>
          <a:ln/>
        </p:spPr>
        <p:txBody>
          <a:bodyPr wrap="square" lIns="0" tIns="0" rIns="0" bIns="0" rtlCol="0" anchor="t"/>
          <a:lstStyle/>
          <a:p>
            <a:pPr indent="0" marL="0">
              <a:buNone/>
            </a:pPr>
            <a:r>
              <a:rPr lang="en-US" sz="1430" b="1" dirty="0">
                <a:solidFill>
                  <a:srgbClr val="35583C"/>
                </a:solidFill>
                <a:latin typeface="Arial" pitchFamily="34" charset="0"/>
                <a:ea typeface="Arial" pitchFamily="34" charset="-122"/>
                <a:cs typeface="Arial" pitchFamily="34" charset="-120"/>
              </a:rPr>
              <a:t>Product and buyer discovery</a:t>
            </a:r>
            <a:endParaRPr lang="en-US" sz="1430" dirty="0"/>
          </a:p>
        </p:txBody>
      </p:sp>
      <p:sp>
        <p:nvSpPr>
          <p:cNvPr id="20" name="Text 15"/>
          <p:cNvSpPr/>
          <p:nvPr/>
        </p:nvSpPr>
        <p:spPr>
          <a:xfrm>
            <a:off x="8147304" y="4937760"/>
            <a:ext cx="3447288" cy="475488"/>
          </a:xfrm>
          <a:prstGeom prst="rect">
            <a:avLst/>
          </a:prstGeom>
          <a:noFill/>
          <a:ln/>
        </p:spPr>
        <p:txBody>
          <a:bodyPr wrap="square" lIns="0" tIns="0" rIns="0" bIns="0" rtlCol="0" anchor="t"/>
          <a:lstStyle/>
          <a:p>
            <a:pPr indent="0" marL="0">
              <a:buNone/>
            </a:pPr>
            <a:r>
              <a:rPr lang="en-US" sz="1210" dirty="0">
                <a:solidFill>
                  <a:srgbClr val="706B65"/>
                </a:solidFill>
                <a:latin typeface="Arial" pitchFamily="34" charset="0"/>
                <a:ea typeface="Arial" pitchFamily="34" charset="-122"/>
                <a:cs typeface="Arial" pitchFamily="34" charset="-120"/>
              </a:rPr>
              <a:t>Medium motion · bold product transitions</a:t>
            </a:r>
            <a:endParaRPr lang="en-US" sz="1210" dirty="0"/>
          </a:p>
        </p:txBody>
      </p:sp>
      <p:sp>
        <p:nvSpPr>
          <p:cNvPr id="21" name="Shape 16"/>
          <p:cNvSpPr/>
          <p:nvPr/>
        </p:nvSpPr>
        <p:spPr>
          <a:xfrm>
            <a:off x="594360" y="5577840"/>
            <a:ext cx="11000232" cy="758952"/>
          </a:xfrm>
          <a:prstGeom prst="rect">
            <a:avLst/>
          </a:prstGeom>
          <a:solidFill>
            <a:srgbClr val="EBE5F0"/>
          </a:solidFill>
          <a:ln w="7620">
            <a:solidFill>
              <a:srgbClr val="EBE5F0"/>
            </a:solidFill>
            <a:prstDash val="solid"/>
          </a:ln>
        </p:spPr>
      </p:sp>
      <p:sp>
        <p:nvSpPr>
          <p:cNvPr id="22" name="Text 17"/>
          <p:cNvSpPr/>
          <p:nvPr/>
        </p:nvSpPr>
        <p:spPr>
          <a:xfrm>
            <a:off x="786384" y="5724144"/>
            <a:ext cx="10616184" cy="228600"/>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Starting recommendation: Grown Together in Davao</a:t>
            </a:r>
            <a:endParaRPr lang="en-US" sz="1500" dirty="0"/>
          </a:p>
        </p:txBody>
      </p:sp>
      <p:sp>
        <p:nvSpPr>
          <p:cNvPr id="23" name="Text 18"/>
          <p:cNvSpPr/>
          <p:nvPr/>
        </p:nvSpPr>
        <p:spPr>
          <a:xfrm>
            <a:off x="786384" y="6016752"/>
            <a:ext cx="10616184" cy="237744"/>
          </a:xfrm>
          <a:prstGeom prst="rect">
            <a:avLst/>
          </a:prstGeom>
          <a:noFill/>
          <a:ln/>
        </p:spPr>
        <p:txBody>
          <a:bodyPr wrap="square" lIns="0" tIns="0" rIns="0" bIns="0" rtlCol="0" anchor="t"/>
          <a:lstStyle/>
          <a:p>
            <a:pPr indent="0" marL="0">
              <a:buNone/>
            </a:pPr>
            <a:r>
              <a:rPr lang="en-US" sz="1080" dirty="0">
                <a:solidFill>
                  <a:srgbClr val="34233E"/>
                </a:solidFill>
                <a:latin typeface="Arial" pitchFamily="34" charset="0"/>
                <a:ea typeface="Arial" pitchFamily="34" charset="-122"/>
                <a:cs typeface="Arial" pitchFamily="34" charset="-120"/>
              </a:rPr>
              <a:t>Its people and place focus makes the cooperative the center of the story. Purple to the World is a strong alternative when buyer discovery is the priority.</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42A69"/>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F6F3EA"/>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F6F3EA"/>
                </a:solidFill>
                <a:latin typeface="Arial" pitchFamily="34" charset="0"/>
                <a:ea typeface="Arial" pitchFamily="34" charset="-122"/>
                <a:cs typeface="Arial" pitchFamily="34" charset="-120"/>
              </a:rPr>
              <a:t>10</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C2CE9F"/>
                </a:solidFill>
                <a:latin typeface="Arial" pitchFamily="34" charset="0"/>
                <a:ea typeface="Arial" pitchFamily="34" charset="-122"/>
                <a:cs typeface="Arial" pitchFamily="34" charset="-120"/>
              </a:rPr>
              <a:t>LANDING PAGE DESIGN DIRECTIONS</a:t>
            </a:r>
            <a:endParaRPr lang="en-US" sz="950" dirty="0"/>
          </a:p>
        </p:txBody>
      </p:sp>
      <p:sp>
        <p:nvSpPr>
          <p:cNvPr id="5" name="Text 3"/>
          <p:cNvSpPr/>
          <p:nvPr/>
        </p:nvSpPr>
        <p:spPr>
          <a:xfrm>
            <a:off x="594360" y="941832"/>
            <a:ext cx="10881360" cy="1517904"/>
          </a:xfrm>
          <a:prstGeom prst="rect">
            <a:avLst/>
          </a:prstGeom>
          <a:noFill/>
          <a:ln/>
        </p:spPr>
        <p:txBody>
          <a:bodyPr wrap="square" lIns="0" tIns="0" rIns="0" bIns="0" rtlCol="0" anchor="t"/>
          <a:lstStyle/>
          <a:p>
            <a:pPr indent="0" marL="0">
              <a:buNone/>
            </a:pPr>
            <a:r>
              <a:rPr lang="en-US" sz="3900" dirty="0">
                <a:solidFill>
                  <a:srgbClr val="F6F3EA"/>
                </a:solidFill>
                <a:latin typeface="Georgia" pitchFamily="34" charset="0"/>
                <a:ea typeface="Georgia" pitchFamily="34" charset="-122"/>
                <a:cs typeface="Georgia" pitchFamily="34" charset="-120"/>
              </a:rPr>
              <a:t>Choose a direction.</a:t>
            </a:r>
            <a:endParaRPr lang="en-US" sz="3900" dirty="0"/>
          </a:p>
          <a:p>
            <a:pPr indent="0" marL="0">
              <a:buNone/>
            </a:pPr>
            <a:r>
              <a:rPr lang="en-US" sz="3900" dirty="0">
                <a:solidFill>
                  <a:srgbClr val="F6F3EA"/>
                </a:solidFill>
                <a:latin typeface="Georgia" pitchFamily="34" charset="0"/>
                <a:ea typeface="Georgia" pitchFamily="34" charset="-122"/>
                <a:cs typeface="Georgia" pitchFamily="34" charset="-120"/>
              </a:rPr>
              <a:t>Shape the details.</a:t>
            </a:r>
            <a:endParaRPr lang="en-US" sz="3900" dirty="0"/>
          </a:p>
        </p:txBody>
      </p:sp>
      <p:sp>
        <p:nvSpPr>
          <p:cNvPr id="6" name="Text 4"/>
          <p:cNvSpPr/>
          <p:nvPr/>
        </p:nvSpPr>
        <p:spPr>
          <a:xfrm>
            <a:off x="594360" y="2679192"/>
            <a:ext cx="10881360" cy="347472"/>
          </a:xfrm>
          <a:prstGeom prst="rect">
            <a:avLst/>
          </a:prstGeom>
          <a:noFill/>
          <a:ln/>
        </p:spPr>
        <p:txBody>
          <a:bodyPr wrap="square" lIns="0" tIns="0" rIns="0" bIns="0" rtlCol="0" anchor="t"/>
          <a:lstStyle/>
          <a:p>
            <a:pPr indent="0" marL="0">
              <a:buNone/>
            </a:pPr>
            <a:r>
              <a:rPr lang="en-US" sz="1520" dirty="0">
                <a:solidFill>
                  <a:srgbClr val="F6F3EA"/>
                </a:solidFill>
                <a:latin typeface="Arial" pitchFamily="34" charset="0"/>
                <a:ea typeface="Arial" pitchFamily="34" charset="-122"/>
                <a:cs typeface="Arial" pitchFamily="34" charset="-120"/>
              </a:rPr>
              <a:t>Select one overall direction. Useful details from another can still be carried forward.</a:t>
            </a:r>
            <a:endParaRPr lang="en-US" sz="1520" dirty="0"/>
          </a:p>
        </p:txBody>
      </p:sp>
      <p:sp>
        <p:nvSpPr>
          <p:cNvPr id="7" name="Shape 5"/>
          <p:cNvSpPr/>
          <p:nvPr/>
        </p:nvSpPr>
        <p:spPr>
          <a:xfrm>
            <a:off x="594360" y="3273552"/>
            <a:ext cx="3447288" cy="1353312"/>
          </a:xfrm>
          <a:prstGeom prst="rect">
            <a:avLst/>
          </a:prstGeom>
          <a:solidFill>
            <a:srgbClr val="F6F3EA"/>
          </a:solidFill>
          <a:ln w="7620">
            <a:solidFill>
              <a:srgbClr val="F6F3EA"/>
            </a:solidFill>
            <a:prstDash val="solid"/>
          </a:ln>
        </p:spPr>
      </p:sp>
      <p:sp>
        <p:nvSpPr>
          <p:cNvPr id="8" name="Shape 6"/>
          <p:cNvSpPr/>
          <p:nvPr/>
        </p:nvSpPr>
        <p:spPr>
          <a:xfrm>
            <a:off x="777240" y="3502152"/>
            <a:ext cx="265176" cy="265176"/>
          </a:xfrm>
          <a:prstGeom prst="ellipse">
            <a:avLst/>
          </a:prstGeom>
          <a:solidFill>
            <a:srgbClr val="F6F3EA"/>
          </a:solidFill>
          <a:ln w="13970">
            <a:solidFill>
              <a:srgbClr val="542A69"/>
            </a:solidFill>
            <a:prstDash val="solid"/>
          </a:ln>
        </p:spPr>
      </p:sp>
      <p:sp>
        <p:nvSpPr>
          <p:cNvPr id="9" name="Text 7"/>
          <p:cNvSpPr/>
          <p:nvPr/>
        </p:nvSpPr>
        <p:spPr>
          <a:xfrm>
            <a:off x="1234440" y="3438144"/>
            <a:ext cx="2633472" cy="731520"/>
          </a:xfrm>
          <a:prstGeom prst="rect">
            <a:avLst/>
          </a:prstGeom>
          <a:noFill/>
          <a:ln/>
        </p:spPr>
        <p:txBody>
          <a:bodyPr wrap="square" lIns="0" tIns="0" rIns="0" bIns="0" rtlCol="0" anchor="t"/>
          <a:lstStyle/>
          <a:p>
            <a:pPr indent="0" marL="0">
              <a:buNone/>
            </a:pPr>
            <a:r>
              <a:rPr lang="en-US" sz="2000" dirty="0">
                <a:solidFill>
                  <a:srgbClr val="542A69"/>
                </a:solidFill>
                <a:latin typeface="Georgia" pitchFamily="34" charset="0"/>
                <a:ea typeface="Georgia" pitchFamily="34" charset="-122"/>
                <a:cs typeface="Georgia" pitchFamily="34" charset="-120"/>
              </a:rPr>
              <a:t>From Root to Story</a:t>
            </a:r>
            <a:endParaRPr lang="en-US" sz="2000" dirty="0"/>
          </a:p>
        </p:txBody>
      </p:sp>
      <p:sp>
        <p:nvSpPr>
          <p:cNvPr id="10" name="Text 8"/>
          <p:cNvSpPr/>
          <p:nvPr/>
        </p:nvSpPr>
        <p:spPr>
          <a:xfrm>
            <a:off x="1234440" y="4279392"/>
            <a:ext cx="2560320" cy="228600"/>
          </a:xfrm>
          <a:prstGeom prst="rect">
            <a:avLst/>
          </a:prstGeom>
          <a:noFill/>
          <a:ln/>
        </p:spPr>
        <p:txBody>
          <a:bodyPr wrap="square" lIns="0" tIns="0" rIns="0" bIns="0" rtlCol="0" anchor="t"/>
          <a:lstStyle/>
          <a:p>
            <a:pPr indent="0" marL="0">
              <a:buNone/>
            </a:pPr>
            <a:r>
              <a:rPr lang="en-US" sz="1150" dirty="0">
                <a:solidFill>
                  <a:srgbClr val="35583C"/>
                </a:solidFill>
                <a:latin typeface="Arial" pitchFamily="34" charset="0"/>
                <a:ea typeface="Arial" pitchFamily="34" charset="-122"/>
                <a:cs typeface="Arial" pitchFamily="34" charset="-120"/>
              </a:rPr>
              <a:t>Botanical &amp; immersive</a:t>
            </a:r>
            <a:endParaRPr lang="en-US" sz="1150" dirty="0"/>
          </a:p>
        </p:txBody>
      </p:sp>
      <p:sp>
        <p:nvSpPr>
          <p:cNvPr id="11" name="Shape 9"/>
          <p:cNvSpPr/>
          <p:nvPr/>
        </p:nvSpPr>
        <p:spPr>
          <a:xfrm>
            <a:off x="4370832" y="3273552"/>
            <a:ext cx="3447288" cy="1353312"/>
          </a:xfrm>
          <a:prstGeom prst="rect">
            <a:avLst/>
          </a:prstGeom>
          <a:solidFill>
            <a:srgbClr val="F6F3EA"/>
          </a:solidFill>
          <a:ln w="7620">
            <a:solidFill>
              <a:srgbClr val="F6F3EA"/>
            </a:solidFill>
            <a:prstDash val="solid"/>
          </a:ln>
        </p:spPr>
      </p:sp>
      <p:sp>
        <p:nvSpPr>
          <p:cNvPr id="12" name="Shape 10"/>
          <p:cNvSpPr/>
          <p:nvPr/>
        </p:nvSpPr>
        <p:spPr>
          <a:xfrm>
            <a:off x="4553712" y="3502152"/>
            <a:ext cx="265176" cy="265176"/>
          </a:xfrm>
          <a:prstGeom prst="ellipse">
            <a:avLst/>
          </a:prstGeom>
          <a:solidFill>
            <a:srgbClr val="F6F3EA"/>
          </a:solidFill>
          <a:ln w="13970">
            <a:solidFill>
              <a:srgbClr val="542A69"/>
            </a:solidFill>
            <a:prstDash val="solid"/>
          </a:ln>
        </p:spPr>
      </p:sp>
      <p:sp>
        <p:nvSpPr>
          <p:cNvPr id="13" name="Text 11"/>
          <p:cNvSpPr/>
          <p:nvPr/>
        </p:nvSpPr>
        <p:spPr>
          <a:xfrm>
            <a:off x="5010912" y="3438144"/>
            <a:ext cx="2633472" cy="731520"/>
          </a:xfrm>
          <a:prstGeom prst="rect">
            <a:avLst/>
          </a:prstGeom>
          <a:noFill/>
          <a:ln/>
        </p:spPr>
        <p:txBody>
          <a:bodyPr wrap="square" lIns="0" tIns="0" rIns="0" bIns="0" rtlCol="0" anchor="t"/>
          <a:lstStyle/>
          <a:p>
            <a:pPr indent="0" marL="0">
              <a:buNone/>
            </a:pPr>
            <a:r>
              <a:rPr lang="en-US" sz="2000" dirty="0">
                <a:solidFill>
                  <a:srgbClr val="542A69"/>
                </a:solidFill>
                <a:latin typeface="Georgia" pitchFamily="34" charset="0"/>
                <a:ea typeface="Georgia" pitchFamily="34" charset="-122"/>
                <a:cs typeface="Georgia" pitchFamily="34" charset="-120"/>
              </a:rPr>
              <a:t>Grown Together in Davao</a:t>
            </a:r>
            <a:endParaRPr lang="en-US" sz="2000" dirty="0"/>
          </a:p>
        </p:txBody>
      </p:sp>
      <p:sp>
        <p:nvSpPr>
          <p:cNvPr id="14" name="Text 12"/>
          <p:cNvSpPr/>
          <p:nvPr/>
        </p:nvSpPr>
        <p:spPr>
          <a:xfrm>
            <a:off x="5010912" y="4279392"/>
            <a:ext cx="2560320" cy="228600"/>
          </a:xfrm>
          <a:prstGeom prst="rect">
            <a:avLst/>
          </a:prstGeom>
          <a:noFill/>
          <a:ln/>
        </p:spPr>
        <p:txBody>
          <a:bodyPr wrap="square" lIns="0" tIns="0" rIns="0" bIns="0" rtlCol="0" anchor="t"/>
          <a:lstStyle/>
          <a:p>
            <a:pPr indent="0" marL="0">
              <a:buNone/>
            </a:pPr>
            <a:r>
              <a:rPr lang="en-US" sz="1150" dirty="0">
                <a:solidFill>
                  <a:srgbClr val="35583C"/>
                </a:solidFill>
                <a:latin typeface="Arial" pitchFamily="34" charset="0"/>
                <a:ea typeface="Arial" pitchFamily="34" charset="-122"/>
                <a:cs typeface="Arial" pitchFamily="34" charset="-120"/>
              </a:rPr>
              <a:t>Warm &amp; people led</a:t>
            </a:r>
            <a:endParaRPr lang="en-US" sz="1150" dirty="0"/>
          </a:p>
        </p:txBody>
      </p:sp>
      <p:sp>
        <p:nvSpPr>
          <p:cNvPr id="15" name="Shape 13"/>
          <p:cNvSpPr/>
          <p:nvPr/>
        </p:nvSpPr>
        <p:spPr>
          <a:xfrm>
            <a:off x="8147304" y="3273552"/>
            <a:ext cx="3447288" cy="1353312"/>
          </a:xfrm>
          <a:prstGeom prst="rect">
            <a:avLst/>
          </a:prstGeom>
          <a:solidFill>
            <a:srgbClr val="F6F3EA"/>
          </a:solidFill>
          <a:ln w="7620">
            <a:solidFill>
              <a:srgbClr val="F6F3EA"/>
            </a:solidFill>
            <a:prstDash val="solid"/>
          </a:ln>
        </p:spPr>
      </p:sp>
      <p:sp>
        <p:nvSpPr>
          <p:cNvPr id="16" name="Shape 14"/>
          <p:cNvSpPr/>
          <p:nvPr/>
        </p:nvSpPr>
        <p:spPr>
          <a:xfrm>
            <a:off x="8330184" y="3502152"/>
            <a:ext cx="265176" cy="265176"/>
          </a:xfrm>
          <a:prstGeom prst="ellipse">
            <a:avLst/>
          </a:prstGeom>
          <a:solidFill>
            <a:srgbClr val="F6F3EA"/>
          </a:solidFill>
          <a:ln w="13970">
            <a:solidFill>
              <a:srgbClr val="542A69"/>
            </a:solidFill>
            <a:prstDash val="solid"/>
          </a:ln>
        </p:spPr>
      </p:sp>
      <p:sp>
        <p:nvSpPr>
          <p:cNvPr id="17" name="Text 15"/>
          <p:cNvSpPr/>
          <p:nvPr/>
        </p:nvSpPr>
        <p:spPr>
          <a:xfrm>
            <a:off x="8787384" y="3438144"/>
            <a:ext cx="2633472" cy="731520"/>
          </a:xfrm>
          <a:prstGeom prst="rect">
            <a:avLst/>
          </a:prstGeom>
          <a:noFill/>
          <a:ln/>
        </p:spPr>
        <p:txBody>
          <a:bodyPr wrap="square" lIns="0" tIns="0" rIns="0" bIns="0" rtlCol="0" anchor="t"/>
          <a:lstStyle/>
          <a:p>
            <a:pPr indent="0" marL="0">
              <a:buNone/>
            </a:pPr>
            <a:r>
              <a:rPr lang="en-US" sz="2000" dirty="0">
                <a:solidFill>
                  <a:srgbClr val="542A69"/>
                </a:solidFill>
                <a:latin typeface="Georgia" pitchFamily="34" charset="0"/>
                <a:ea typeface="Georgia" pitchFamily="34" charset="-122"/>
                <a:cs typeface="Georgia" pitchFamily="34" charset="-120"/>
              </a:rPr>
              <a:t>Purple to the World</a:t>
            </a:r>
            <a:endParaRPr lang="en-US" sz="2000" dirty="0"/>
          </a:p>
        </p:txBody>
      </p:sp>
      <p:sp>
        <p:nvSpPr>
          <p:cNvPr id="18" name="Text 16"/>
          <p:cNvSpPr/>
          <p:nvPr/>
        </p:nvSpPr>
        <p:spPr>
          <a:xfrm>
            <a:off x="8787384" y="4279392"/>
            <a:ext cx="2560320" cy="228600"/>
          </a:xfrm>
          <a:prstGeom prst="rect">
            <a:avLst/>
          </a:prstGeom>
          <a:noFill/>
          <a:ln/>
        </p:spPr>
        <p:txBody>
          <a:bodyPr wrap="square" lIns="0" tIns="0" rIns="0" bIns="0" rtlCol="0" anchor="t"/>
          <a:lstStyle/>
          <a:p>
            <a:pPr indent="0" marL="0">
              <a:buNone/>
            </a:pPr>
            <a:r>
              <a:rPr lang="en-US" sz="1150" dirty="0">
                <a:solidFill>
                  <a:srgbClr val="35583C"/>
                </a:solidFill>
                <a:latin typeface="Arial" pitchFamily="34" charset="0"/>
                <a:ea typeface="Arial" pitchFamily="34" charset="-122"/>
                <a:cs typeface="Arial" pitchFamily="34" charset="-120"/>
              </a:rPr>
              <a:t>Bold &amp; buyer focused</a:t>
            </a:r>
            <a:endParaRPr lang="en-US" sz="1150" dirty="0"/>
          </a:p>
        </p:txBody>
      </p:sp>
      <p:sp>
        <p:nvSpPr>
          <p:cNvPr id="19" name="Text 17"/>
          <p:cNvSpPr/>
          <p:nvPr/>
        </p:nvSpPr>
        <p:spPr>
          <a:xfrm>
            <a:off x="594360" y="4919472"/>
            <a:ext cx="10789920" cy="292608"/>
          </a:xfrm>
          <a:prstGeom prst="rect">
            <a:avLst/>
          </a:prstGeom>
          <a:noFill/>
          <a:ln/>
        </p:spPr>
        <p:txBody>
          <a:bodyPr wrap="square" lIns="0" tIns="0" rIns="0" bIns="0" rtlCol="0" anchor="t"/>
          <a:lstStyle/>
          <a:p>
            <a:pPr indent="0" marL="0">
              <a:buNone/>
            </a:pPr>
            <a:r>
              <a:rPr lang="en-US" sz="1510" dirty="0">
                <a:solidFill>
                  <a:srgbClr val="F6F3EA"/>
                </a:solidFill>
                <a:latin typeface="Arial" pitchFamily="34" charset="0"/>
                <a:ea typeface="Arial" pitchFamily="34" charset="-122"/>
                <a:cs typeface="Arial" pitchFamily="34" charset="-120"/>
              </a:rPr>
              <a:t>01    Which design feels most like the cooperative?</a:t>
            </a:r>
            <a:endParaRPr lang="en-US" sz="1510" dirty="0"/>
          </a:p>
        </p:txBody>
      </p:sp>
      <p:sp>
        <p:nvSpPr>
          <p:cNvPr id="20" name="Text 18"/>
          <p:cNvSpPr/>
          <p:nvPr/>
        </p:nvSpPr>
        <p:spPr>
          <a:xfrm>
            <a:off x="594360" y="5340096"/>
            <a:ext cx="10789920" cy="292608"/>
          </a:xfrm>
          <a:prstGeom prst="rect">
            <a:avLst/>
          </a:prstGeom>
          <a:noFill/>
          <a:ln/>
        </p:spPr>
        <p:txBody>
          <a:bodyPr wrap="square" lIns="0" tIns="0" rIns="0" bIns="0" rtlCol="0" anchor="t"/>
          <a:lstStyle/>
          <a:p>
            <a:pPr indent="0" marL="0">
              <a:buNone/>
            </a:pPr>
            <a:r>
              <a:rPr lang="en-US" sz="1510" dirty="0">
                <a:solidFill>
                  <a:srgbClr val="F6F3EA"/>
                </a:solidFill>
                <a:latin typeface="Arial" pitchFamily="34" charset="0"/>
                <a:ea typeface="Arial" pitchFamily="34" charset="-122"/>
                <a:cs typeface="Arial" pitchFamily="34" charset="-120"/>
              </a:rPr>
              <a:t>02    Who should the homepage speak to first?</a:t>
            </a:r>
            <a:endParaRPr lang="en-US" sz="1510" dirty="0"/>
          </a:p>
        </p:txBody>
      </p:sp>
      <p:sp>
        <p:nvSpPr>
          <p:cNvPr id="21" name="Text 19"/>
          <p:cNvSpPr/>
          <p:nvPr/>
        </p:nvSpPr>
        <p:spPr>
          <a:xfrm>
            <a:off x="594360" y="5760720"/>
            <a:ext cx="10789920" cy="292608"/>
          </a:xfrm>
          <a:prstGeom prst="rect">
            <a:avLst/>
          </a:prstGeom>
          <a:noFill/>
          <a:ln/>
        </p:spPr>
        <p:txBody>
          <a:bodyPr wrap="square" lIns="0" tIns="0" rIns="0" bIns="0" rtlCol="0" anchor="t"/>
          <a:lstStyle/>
          <a:p>
            <a:pPr indent="0" marL="0">
              <a:buNone/>
            </a:pPr>
            <a:r>
              <a:rPr lang="en-US" sz="1510" dirty="0">
                <a:solidFill>
                  <a:srgbClr val="F6F3EA"/>
                </a:solidFill>
                <a:latin typeface="Arial" pitchFamily="34" charset="0"/>
                <a:ea typeface="Arial" pitchFamily="34" charset="-122"/>
                <a:cs typeface="Arial" pitchFamily="34" charset="-120"/>
              </a:rPr>
              <a:t>03    Which details should we carry into the final design?</a:t>
            </a:r>
            <a:endParaRPr lang="en-US" sz="1510" dirty="0"/>
          </a:p>
        </p:txBody>
      </p:sp>
      <p:sp>
        <p:nvSpPr>
          <p:cNvPr id="22" name="Text 20"/>
          <p:cNvSpPr/>
          <p:nvPr/>
        </p:nvSpPr>
        <p:spPr>
          <a:xfrm>
            <a:off x="594360" y="6263640"/>
            <a:ext cx="10881360" cy="182880"/>
          </a:xfrm>
          <a:prstGeom prst="rect">
            <a:avLst/>
          </a:prstGeom>
          <a:noFill/>
          <a:ln/>
        </p:spPr>
        <p:txBody>
          <a:bodyPr wrap="square" lIns="0" tIns="0" rIns="0" bIns="0" rtlCol="0" anchor="t"/>
          <a:lstStyle/>
          <a:p>
            <a:pPr indent="0" marL="0">
              <a:buNone/>
            </a:pPr>
            <a:r>
              <a:rPr lang="en-US" sz="920" dirty="0">
                <a:solidFill>
                  <a:srgbClr val="C2CE9F"/>
                </a:solidFill>
                <a:latin typeface="Arial" pitchFamily="34" charset="0"/>
                <a:ea typeface="Arial" pitchFamily="34" charset="-122"/>
                <a:cs typeface="Arial" pitchFamily="34" charset="-120"/>
              </a:rPr>
              <a:t>Draft identity and content. Confirm cooperative name, member photography, farm records and leadership roles before launch.</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ube farm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 Farm — Three Design Directions</dc:title>
  <dc:subject>Three landing page design directions for a Davao cooperative</dc:subject>
  <dc:creator>Ube Farm design presentation</dc:creator>
  <cp:lastModifiedBy>Ube Farm design presentation</cp:lastModifiedBy>
  <cp:revision>1</cp:revision>
  <dcterms:created xsi:type="dcterms:W3CDTF">2026-10-01T08:53:14Z</dcterms:created>
  <dcterms:modified xsi:type="dcterms:W3CDTF">2026-10-01T08:53:14Z</dcterms:modified>
</cp:coreProperties>
</file>